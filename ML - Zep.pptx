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50" r:id="rId25"/>
    <p:sldId id="279" r:id="rId26"/>
    <p:sldId id="365" r:id="rId27"/>
    <p:sldId id="366" r:id="rId28"/>
    <p:sldId id="367" r:id="rId29"/>
    <p:sldId id="368" r:id="rId30"/>
    <p:sldId id="369" r:id="rId31"/>
    <p:sldId id="376" r:id="rId32"/>
    <p:sldId id="377" r:id="rId33"/>
    <p:sldId id="378" r:id="rId34"/>
    <p:sldId id="382" r:id="rId35"/>
    <p:sldId id="383" r:id="rId36"/>
    <p:sldId id="380" r:id="rId37"/>
    <p:sldId id="384" r:id="rId38"/>
    <p:sldId id="280" r:id="rId39"/>
    <p:sldId id="370" r:id="rId40"/>
    <p:sldId id="371" r:id="rId41"/>
    <p:sldId id="372" r:id="rId42"/>
    <p:sldId id="373" r:id="rId43"/>
    <p:sldId id="374" r:id="rId44"/>
    <p:sldId id="375" r:id="rId45"/>
    <p:sldId id="385" r:id="rId46"/>
    <p:sldId id="387" r:id="rId47"/>
    <p:sldId id="386" r:id="rId48"/>
    <p:sldId id="281" r:id="rId49"/>
    <p:sldId id="282" r:id="rId50"/>
    <p:sldId id="283" r:id="rId51"/>
    <p:sldId id="388" r:id="rId52"/>
    <p:sldId id="389" r:id="rId53"/>
    <p:sldId id="390" r:id="rId54"/>
    <p:sldId id="391" r:id="rId55"/>
    <p:sldId id="392" r:id="rId56"/>
    <p:sldId id="393" r:id="rId57"/>
    <p:sldId id="394" r:id="rId58"/>
    <p:sldId id="398" r:id="rId59"/>
    <p:sldId id="399" r:id="rId60"/>
    <p:sldId id="395" r:id="rId61"/>
    <p:sldId id="396" r:id="rId62"/>
    <p:sldId id="397" r:id="rId63"/>
    <p:sldId id="284" r:id="rId64"/>
    <p:sldId id="285" r:id="rId65"/>
    <p:sldId id="286" r:id="rId66"/>
    <p:sldId id="352" r:id="rId67"/>
    <p:sldId id="351" r:id="rId68"/>
    <p:sldId id="353" r:id="rId69"/>
    <p:sldId id="354" r:id="rId70"/>
    <p:sldId id="287" r:id="rId71"/>
    <p:sldId id="288" r:id="rId72"/>
    <p:sldId id="289" r:id="rId73"/>
    <p:sldId id="355" r:id="rId74"/>
    <p:sldId id="356" r:id="rId75"/>
    <p:sldId id="357" r:id="rId76"/>
    <p:sldId id="358" r:id="rId77"/>
    <p:sldId id="359" r:id="rId78"/>
    <p:sldId id="360" r:id="rId79"/>
    <p:sldId id="361" r:id="rId80"/>
    <p:sldId id="363" r:id="rId81"/>
    <p:sldId id="364" r:id="rId82"/>
    <p:sldId id="362" r:id="rId83"/>
    <p:sldId id="290" r:id="rId84"/>
    <p:sldId id="291" r:id="rId85"/>
    <p:sldId id="292" r:id="rId86"/>
    <p:sldId id="293" r:id="rId87"/>
    <p:sldId id="294" r:id="rId88"/>
    <p:sldId id="295" r:id="rId89"/>
    <p:sldId id="296" r:id="rId90"/>
    <p:sldId id="297" r:id="rId91"/>
    <p:sldId id="298" r:id="rId92"/>
    <p:sldId id="299" r:id="rId93"/>
    <p:sldId id="300" r:id="rId94"/>
    <p:sldId id="301" r:id="rId95"/>
    <p:sldId id="302" r:id="rId96"/>
    <p:sldId id="303" r:id="rId97"/>
    <p:sldId id="304" r:id="rId98"/>
    <p:sldId id="305" r:id="rId99"/>
    <p:sldId id="306" r:id="rId100"/>
    <p:sldId id="307" r:id="rId101"/>
    <p:sldId id="308" r:id="rId102"/>
    <p:sldId id="309" r:id="rId103"/>
    <p:sldId id="310" r:id="rId104"/>
    <p:sldId id="311" r:id="rId105"/>
    <p:sldId id="312" r:id="rId106"/>
    <p:sldId id="313" r:id="rId107"/>
    <p:sldId id="314" r:id="rId108"/>
    <p:sldId id="315" r:id="rId109"/>
    <p:sldId id="316" r:id="rId110"/>
    <p:sldId id="317" r:id="rId111"/>
    <p:sldId id="318" r:id="rId112"/>
    <p:sldId id="319" r:id="rId113"/>
    <p:sldId id="320" r:id="rId114"/>
    <p:sldId id="321" r:id="rId115"/>
    <p:sldId id="322" r:id="rId116"/>
    <p:sldId id="323" r:id="rId117"/>
    <p:sldId id="324" r:id="rId118"/>
    <p:sldId id="325" r:id="rId119"/>
    <p:sldId id="326" r:id="rId120"/>
    <p:sldId id="327" r:id="rId121"/>
    <p:sldId id="328" r:id="rId122"/>
    <p:sldId id="329" r:id="rId123"/>
    <p:sldId id="330" r:id="rId124"/>
    <p:sldId id="331" r:id="rId125"/>
    <p:sldId id="332" r:id="rId126"/>
    <p:sldId id="333" r:id="rId127"/>
    <p:sldId id="334" r:id="rId128"/>
    <p:sldId id="335" r:id="rId129"/>
    <p:sldId id="336" r:id="rId130"/>
    <p:sldId id="337" r:id="rId131"/>
    <p:sldId id="338" r:id="rId132"/>
    <p:sldId id="339" r:id="rId133"/>
    <p:sldId id="340" r:id="rId134"/>
    <p:sldId id="341" r:id="rId135"/>
    <p:sldId id="342" r:id="rId136"/>
    <p:sldId id="343" r:id="rId137"/>
    <p:sldId id="344" r:id="rId138"/>
    <p:sldId id="345" r:id="rId139"/>
    <p:sldId id="346" r:id="rId140"/>
    <p:sldId id="347" r:id="rId141"/>
    <p:sldId id="348" r:id="rId142"/>
    <p:sldId id="349" r:id="rId143"/>
  </p:sldIdLst>
  <p:sldSz cx="9144000" cy="5143500" type="screen16x9"/>
  <p:notesSz cx="6858000" cy="9144000"/>
  <p:embeddedFontLst>
    <p:embeddedFont>
      <p:font typeface="字由点字典黑 45J" panose="020B0604020202020204" charset="-122"/>
      <p:regular r:id="rId144"/>
    </p:embeddedFont>
    <p:embeddedFont>
      <p:font typeface="29LT Bukra Bold" panose="020B0604020202020204" charset="-78"/>
      <p:regular r:id="rId145"/>
    </p:embeddedFont>
    <p:embeddedFont>
      <p:font typeface="29LT Bukra Medium" panose="020B0604020202020204" charset="-78"/>
      <p:regular r:id="rId146"/>
    </p:embeddedFont>
    <p:embeddedFont>
      <p:font typeface="Cambria Math" panose="02040503050406030204" pitchFamily="18" charset="0"/>
      <p:regular r:id="rId147"/>
    </p:embeddedFont>
    <p:embeddedFont>
      <p:font typeface="Heading Now 11-18" panose="020B0604020202020204" charset="0"/>
      <p:regular r:id="rId148"/>
    </p:embeddedFont>
    <p:embeddedFont>
      <p:font typeface="Heading Now 11-18 Italics" panose="020B0604020202020204" charset="0"/>
      <p:regular r:id="rId149"/>
    </p:embeddedFont>
    <p:embeddedFont>
      <p:font typeface="Heading Now 31-38" panose="020B0604020202020204" charset="0"/>
      <p:regular r:id="rId150"/>
    </p:embeddedFont>
    <p:embeddedFont>
      <p:font typeface="Heading Now 31-38 Italics" panose="020B0604020202020204" charset="0"/>
      <p:regular r:id="rId151"/>
    </p:embeddedFont>
    <p:embeddedFont>
      <p:font typeface="IBM Plex Sans" panose="020B0503050203000203" pitchFamily="34" charset="0"/>
      <p:regular r:id="rId152"/>
      <p:bold r:id="rId153"/>
      <p:italic r:id="rId154"/>
      <p:boldItalic r:id="rId155"/>
    </p:embeddedFont>
    <p:embeddedFont>
      <p:font typeface="IBM Plex Sans Bold" panose="020B0803050203000203" charset="0"/>
      <p:regular r:id="rId156"/>
    </p:embeddedFont>
    <p:embeddedFont>
      <p:font typeface="Montserrat" panose="00000500000000000000" pitchFamily="2" charset="0"/>
      <p:regular r:id="rId157"/>
      <p:bold r:id="rId158"/>
      <p:italic r:id="rId159"/>
      <p:boldItalic r:id="rId160"/>
    </p:embeddedFont>
    <p:embeddedFont>
      <p:font typeface="Montserrat Bold" panose="00000800000000000000" charset="0"/>
      <p:regular r:id="rId1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408" y="2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6.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6.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17.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7.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2.fntdata"/><Relationship Id="rId16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8.fntdata"/><Relationship Id="rId156" Type="http://schemas.openxmlformats.org/officeDocument/2006/relationships/font" Target="fonts/font13.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0.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5.fntdata"/><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1.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fntdata"/><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2.fntdata"/></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536D70-DD29-4646-8675-2C4D8BE01CC8}"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5C9534FA-7E4C-40A4-8C07-E57957004665}">
      <dgm:prSet/>
      <dgm:spPr/>
      <dgm:t>
        <a:bodyPr/>
        <a:lstStyle/>
        <a:p>
          <a:r>
            <a:rPr lang="en-IN" b="1" dirty="0"/>
            <a:t> Step 1: Import necessary libraries</a:t>
          </a:r>
          <a:endParaRPr lang="en-US" b="1" dirty="0"/>
        </a:p>
      </dgm:t>
    </dgm:pt>
    <dgm:pt modelId="{FBA7BB33-F6B7-46B4-9A3F-2009DCF0606A}" type="parTrans" cxnId="{488AB61D-7DA8-42B8-9A4F-153750150377}">
      <dgm:prSet/>
      <dgm:spPr/>
      <dgm:t>
        <a:bodyPr/>
        <a:lstStyle/>
        <a:p>
          <a:endParaRPr lang="en-US"/>
        </a:p>
      </dgm:t>
    </dgm:pt>
    <dgm:pt modelId="{200E80E6-978A-4238-999C-534572122EDC}" type="sibTrans" cxnId="{488AB61D-7DA8-42B8-9A4F-153750150377}">
      <dgm:prSet/>
      <dgm:spPr/>
      <dgm:t>
        <a:bodyPr/>
        <a:lstStyle/>
        <a:p>
          <a:endParaRPr lang="en-US"/>
        </a:p>
      </dgm:t>
    </dgm:pt>
    <dgm:pt modelId="{B27E0C88-F1BF-4BE9-8526-4FA0A7DDE791}">
      <dgm:prSet/>
      <dgm:spPr/>
      <dgm:t>
        <a:bodyPr/>
        <a:lstStyle/>
        <a:p>
          <a:r>
            <a:rPr lang="en-IN" dirty="0"/>
            <a:t>import pandas as pd                      </a:t>
          </a:r>
          <a:r>
            <a:rPr lang="en-IN" b="1" dirty="0"/>
            <a:t>For data manipulation</a:t>
          </a:r>
          <a:endParaRPr lang="en-US" b="1" dirty="0"/>
        </a:p>
      </dgm:t>
    </dgm:pt>
    <dgm:pt modelId="{8CEF62C4-AFD1-4EE6-B0F7-36B811522270}" type="parTrans" cxnId="{03D7BEB4-691B-43F8-AB5F-FA9F8ACF2A9C}">
      <dgm:prSet/>
      <dgm:spPr/>
      <dgm:t>
        <a:bodyPr/>
        <a:lstStyle/>
        <a:p>
          <a:endParaRPr lang="en-US"/>
        </a:p>
      </dgm:t>
    </dgm:pt>
    <dgm:pt modelId="{A6034110-0A20-45C2-A376-34331004CD8D}" type="sibTrans" cxnId="{03D7BEB4-691B-43F8-AB5F-FA9F8ACF2A9C}">
      <dgm:prSet/>
      <dgm:spPr/>
      <dgm:t>
        <a:bodyPr/>
        <a:lstStyle/>
        <a:p>
          <a:endParaRPr lang="en-US"/>
        </a:p>
      </dgm:t>
    </dgm:pt>
    <dgm:pt modelId="{E1BA6C9D-C1BE-434B-8B9B-AAC49A478384}">
      <dgm:prSet/>
      <dgm:spPr/>
      <dgm:t>
        <a:bodyPr/>
        <a:lstStyle/>
        <a:p>
          <a:r>
            <a:rPr lang="en-IN" dirty="0"/>
            <a:t>import </a:t>
          </a:r>
          <a:r>
            <a:rPr lang="en-IN" dirty="0" err="1"/>
            <a:t>numpy</a:t>
          </a:r>
          <a:r>
            <a:rPr lang="en-IN" dirty="0"/>
            <a:t> as np                        </a:t>
          </a:r>
          <a:r>
            <a:rPr lang="en-IN" b="1" dirty="0"/>
            <a:t>For numerical operations</a:t>
          </a:r>
          <a:endParaRPr lang="en-US" b="1" dirty="0"/>
        </a:p>
      </dgm:t>
    </dgm:pt>
    <dgm:pt modelId="{3F77180B-8D2C-4739-8BF3-1ED17C24C5E6}" type="parTrans" cxnId="{C55F4541-FAE9-484B-BCC5-EA8814524811}">
      <dgm:prSet/>
      <dgm:spPr/>
      <dgm:t>
        <a:bodyPr/>
        <a:lstStyle/>
        <a:p>
          <a:endParaRPr lang="en-US"/>
        </a:p>
      </dgm:t>
    </dgm:pt>
    <dgm:pt modelId="{B590D11A-AC83-4AC6-AA7C-8FBD095B69B1}" type="sibTrans" cxnId="{C55F4541-FAE9-484B-BCC5-EA8814524811}">
      <dgm:prSet/>
      <dgm:spPr/>
      <dgm:t>
        <a:bodyPr/>
        <a:lstStyle/>
        <a:p>
          <a:endParaRPr lang="en-US"/>
        </a:p>
      </dgm:t>
    </dgm:pt>
    <dgm:pt modelId="{7822225F-6BA1-4296-9825-52D6BEA92563}">
      <dgm:prSet/>
      <dgm:spPr/>
      <dgm:t>
        <a:bodyPr/>
        <a:lstStyle/>
        <a:p>
          <a:r>
            <a:rPr lang="en-IN" dirty="0"/>
            <a:t>import </a:t>
          </a:r>
          <a:r>
            <a:rPr lang="en-IN" dirty="0" err="1"/>
            <a:t>matplotlib.pyplot</a:t>
          </a:r>
          <a:r>
            <a:rPr lang="en-IN" dirty="0"/>
            <a:t> as </a:t>
          </a:r>
          <a:r>
            <a:rPr lang="en-IN" dirty="0" err="1"/>
            <a:t>plt</a:t>
          </a:r>
          <a:r>
            <a:rPr lang="en-IN" dirty="0"/>
            <a:t>          </a:t>
          </a:r>
          <a:r>
            <a:rPr lang="en-IN" b="1" dirty="0"/>
            <a:t>For data visualization</a:t>
          </a:r>
          <a:endParaRPr lang="en-US" b="1" dirty="0"/>
        </a:p>
      </dgm:t>
    </dgm:pt>
    <dgm:pt modelId="{1E630330-DCFA-44B2-A934-5F83A852D474}" type="parTrans" cxnId="{A5BF3CBC-731B-4824-8751-1E91A75797F6}">
      <dgm:prSet/>
      <dgm:spPr/>
      <dgm:t>
        <a:bodyPr/>
        <a:lstStyle/>
        <a:p>
          <a:endParaRPr lang="en-US"/>
        </a:p>
      </dgm:t>
    </dgm:pt>
    <dgm:pt modelId="{33EC06FC-350B-482A-99B8-E5657862377E}" type="sibTrans" cxnId="{A5BF3CBC-731B-4824-8751-1E91A75797F6}">
      <dgm:prSet/>
      <dgm:spPr/>
      <dgm:t>
        <a:bodyPr/>
        <a:lstStyle/>
        <a:p>
          <a:endParaRPr lang="en-US"/>
        </a:p>
      </dgm:t>
    </dgm:pt>
    <dgm:pt modelId="{5AC29FB4-615F-4EAF-89D2-46E0688B1660}">
      <dgm:prSet/>
      <dgm:spPr/>
      <dgm:t>
        <a:bodyPr/>
        <a:lstStyle/>
        <a:p>
          <a:r>
            <a:rPr lang="en-IN" b="1" dirty="0"/>
            <a:t>Step 2: Load the dataset</a:t>
          </a:r>
          <a:endParaRPr lang="en-US" b="1" dirty="0"/>
        </a:p>
      </dgm:t>
    </dgm:pt>
    <dgm:pt modelId="{5F26A747-6061-469D-BBE0-B0B4859C8118}" type="parTrans" cxnId="{B1298536-911D-4DE5-A0F5-8A0BB0406EED}">
      <dgm:prSet/>
      <dgm:spPr/>
      <dgm:t>
        <a:bodyPr/>
        <a:lstStyle/>
        <a:p>
          <a:endParaRPr lang="en-US"/>
        </a:p>
      </dgm:t>
    </dgm:pt>
    <dgm:pt modelId="{711D012A-2B86-48A1-B026-0B711844ECED}" type="sibTrans" cxnId="{B1298536-911D-4DE5-A0F5-8A0BB0406EED}">
      <dgm:prSet/>
      <dgm:spPr/>
      <dgm:t>
        <a:bodyPr/>
        <a:lstStyle/>
        <a:p>
          <a:endParaRPr lang="en-US"/>
        </a:p>
      </dgm:t>
    </dgm:pt>
    <dgm:pt modelId="{60168F6B-72C4-4B7A-98BE-27E7C6AAD81E}">
      <dgm:prSet/>
      <dgm:spPr/>
      <dgm:t>
        <a:bodyPr/>
        <a:lstStyle/>
        <a:p>
          <a:r>
            <a:rPr lang="en-IN" dirty="0" err="1"/>
            <a:t>df</a:t>
          </a:r>
          <a:r>
            <a:rPr lang="en-IN" dirty="0"/>
            <a:t> = </a:t>
          </a:r>
          <a:r>
            <a:rPr lang="en-IN" dirty="0" err="1"/>
            <a:t>pd.read_csv</a:t>
          </a:r>
          <a:r>
            <a:rPr lang="en-IN" dirty="0"/>
            <a:t>('50_Startups.csv')      </a:t>
          </a:r>
          <a:r>
            <a:rPr lang="en-IN" b="1" dirty="0"/>
            <a:t>Read CSV file into a </a:t>
          </a:r>
          <a:r>
            <a:rPr lang="en-IN" b="1" dirty="0" err="1"/>
            <a:t>DataFrame</a:t>
          </a:r>
          <a:endParaRPr lang="en-US" b="1" dirty="0"/>
        </a:p>
      </dgm:t>
    </dgm:pt>
    <dgm:pt modelId="{B1397155-AA80-4DE5-91F6-4C836B64F21E}" type="parTrans" cxnId="{2A496B19-AFAC-4625-A44A-E90E72FFA165}">
      <dgm:prSet/>
      <dgm:spPr/>
      <dgm:t>
        <a:bodyPr/>
        <a:lstStyle/>
        <a:p>
          <a:endParaRPr lang="en-US"/>
        </a:p>
      </dgm:t>
    </dgm:pt>
    <dgm:pt modelId="{737167C3-E4FD-4097-BFA0-DC0857761D95}" type="sibTrans" cxnId="{2A496B19-AFAC-4625-A44A-E90E72FFA165}">
      <dgm:prSet/>
      <dgm:spPr/>
      <dgm:t>
        <a:bodyPr/>
        <a:lstStyle/>
        <a:p>
          <a:endParaRPr lang="en-US"/>
        </a:p>
      </dgm:t>
    </dgm:pt>
    <dgm:pt modelId="{0907482D-F16D-43D0-A86A-2E4C18EF8877}">
      <dgm:prSet/>
      <dgm:spPr/>
      <dgm:t>
        <a:bodyPr/>
        <a:lstStyle/>
        <a:p>
          <a:r>
            <a:rPr lang="en-IN" dirty="0"/>
            <a:t>print(</a:t>
          </a:r>
          <a:r>
            <a:rPr lang="en-IN" dirty="0" err="1"/>
            <a:t>df.head</a:t>
          </a:r>
          <a:r>
            <a:rPr lang="en-IN" dirty="0"/>
            <a:t>(5))                        </a:t>
          </a:r>
          <a:r>
            <a:rPr lang="en-IN" b="1" dirty="0"/>
            <a:t>Display first 5 rows</a:t>
          </a:r>
          <a:endParaRPr lang="en-US" b="1" dirty="0"/>
        </a:p>
      </dgm:t>
    </dgm:pt>
    <dgm:pt modelId="{D9F40CBF-170B-4CB6-ADE2-54DC610C8969}" type="parTrans" cxnId="{26D745E9-27C4-4423-88A6-0952566DBC83}">
      <dgm:prSet/>
      <dgm:spPr/>
      <dgm:t>
        <a:bodyPr/>
        <a:lstStyle/>
        <a:p>
          <a:endParaRPr lang="en-US"/>
        </a:p>
      </dgm:t>
    </dgm:pt>
    <dgm:pt modelId="{FC12A3E3-C7C5-48D3-9107-F36EBCB881C9}" type="sibTrans" cxnId="{26D745E9-27C4-4423-88A6-0952566DBC83}">
      <dgm:prSet/>
      <dgm:spPr/>
      <dgm:t>
        <a:bodyPr/>
        <a:lstStyle/>
        <a:p>
          <a:endParaRPr lang="en-US"/>
        </a:p>
      </dgm:t>
    </dgm:pt>
    <dgm:pt modelId="{EFC6773A-14A3-44FE-AD43-004B378478D0}">
      <dgm:prSet/>
      <dgm:spPr/>
      <dgm:t>
        <a:bodyPr/>
        <a:lstStyle/>
        <a:p>
          <a:r>
            <a:rPr lang="en-IN" dirty="0"/>
            <a:t>print(df.info())                         </a:t>
          </a:r>
          <a:r>
            <a:rPr lang="en-IN" b="1" dirty="0"/>
            <a:t>Show data types and null values</a:t>
          </a:r>
          <a:endParaRPr lang="en-US" b="1" dirty="0"/>
        </a:p>
      </dgm:t>
    </dgm:pt>
    <dgm:pt modelId="{2EC8D9C1-0052-4822-BBC1-5C241389D0D3}" type="parTrans" cxnId="{5F411E95-118F-49FB-BFBB-C91315747802}">
      <dgm:prSet/>
      <dgm:spPr/>
      <dgm:t>
        <a:bodyPr/>
        <a:lstStyle/>
        <a:p>
          <a:endParaRPr lang="en-US"/>
        </a:p>
      </dgm:t>
    </dgm:pt>
    <dgm:pt modelId="{011A37B8-41C6-4A41-8479-E31A83508DE5}" type="sibTrans" cxnId="{5F411E95-118F-49FB-BFBB-C91315747802}">
      <dgm:prSet/>
      <dgm:spPr/>
      <dgm:t>
        <a:bodyPr/>
        <a:lstStyle/>
        <a:p>
          <a:endParaRPr lang="en-US"/>
        </a:p>
      </dgm:t>
    </dgm:pt>
    <dgm:pt modelId="{3F0D28A7-5562-4A06-8254-658C791C9500}">
      <dgm:prSet/>
      <dgm:spPr/>
      <dgm:t>
        <a:bodyPr/>
        <a:lstStyle/>
        <a:p>
          <a:r>
            <a:rPr lang="en-IN" dirty="0"/>
            <a:t>print(</a:t>
          </a:r>
          <a:r>
            <a:rPr lang="en-IN" dirty="0" err="1"/>
            <a:t>df.describe</a:t>
          </a:r>
          <a:r>
            <a:rPr lang="en-IN" dirty="0"/>
            <a:t>())                      </a:t>
          </a:r>
          <a:r>
            <a:rPr lang="en-IN" b="1" dirty="0"/>
            <a:t>Summary statistics of numerical columns</a:t>
          </a:r>
          <a:endParaRPr lang="en-US" b="1" dirty="0"/>
        </a:p>
      </dgm:t>
    </dgm:pt>
    <dgm:pt modelId="{95476B8F-9FAE-48CC-9AC0-E5E7DFF95266}" type="parTrans" cxnId="{6D341FDE-940C-44F4-86BA-7F0DFCB588AB}">
      <dgm:prSet/>
      <dgm:spPr/>
      <dgm:t>
        <a:bodyPr/>
        <a:lstStyle/>
        <a:p>
          <a:endParaRPr lang="en-US"/>
        </a:p>
      </dgm:t>
    </dgm:pt>
    <dgm:pt modelId="{8812C995-2E22-4A81-B364-3780A9F3FC5F}" type="sibTrans" cxnId="{6D341FDE-940C-44F4-86BA-7F0DFCB588AB}">
      <dgm:prSet/>
      <dgm:spPr/>
      <dgm:t>
        <a:bodyPr/>
        <a:lstStyle/>
        <a:p>
          <a:endParaRPr lang="en-US"/>
        </a:p>
      </dgm:t>
    </dgm:pt>
    <dgm:pt modelId="{DFF4320D-91ED-4810-A228-725947768B76}">
      <dgm:prSet/>
      <dgm:spPr/>
      <dgm:t>
        <a:bodyPr/>
        <a:lstStyle/>
        <a:p>
          <a:r>
            <a:rPr lang="en-IN" b="1" dirty="0"/>
            <a:t>Step 3: Divide the data into dependent vs independent / Select features and target variable</a:t>
          </a:r>
          <a:endParaRPr lang="en-US" b="1" dirty="0"/>
        </a:p>
      </dgm:t>
    </dgm:pt>
    <dgm:pt modelId="{5591D6B4-2E9A-4544-B451-E6285A23F4BE}" type="parTrans" cxnId="{6064054D-9E98-49A0-A78A-F78CF1F2A24C}">
      <dgm:prSet/>
      <dgm:spPr/>
      <dgm:t>
        <a:bodyPr/>
        <a:lstStyle/>
        <a:p>
          <a:endParaRPr lang="en-US"/>
        </a:p>
      </dgm:t>
    </dgm:pt>
    <dgm:pt modelId="{675593C5-1527-4568-97E8-A1AE1379817E}" type="sibTrans" cxnId="{6064054D-9E98-49A0-A78A-F78CF1F2A24C}">
      <dgm:prSet/>
      <dgm:spPr/>
      <dgm:t>
        <a:bodyPr/>
        <a:lstStyle/>
        <a:p>
          <a:endParaRPr lang="en-US"/>
        </a:p>
      </dgm:t>
    </dgm:pt>
    <dgm:pt modelId="{9EE9FDAE-6980-4192-A280-E851B7982EFB}">
      <dgm:prSet/>
      <dgm:spPr/>
      <dgm:t>
        <a:bodyPr/>
        <a:lstStyle/>
        <a:p>
          <a:r>
            <a:rPr lang="en-IN" dirty="0"/>
            <a:t>X = </a:t>
          </a:r>
          <a:r>
            <a:rPr lang="en-IN" dirty="0" err="1"/>
            <a:t>df.iloc</a:t>
          </a:r>
          <a:r>
            <a:rPr lang="en-IN" dirty="0"/>
            <a:t>[:, 0].values                 </a:t>
          </a:r>
          <a:r>
            <a:rPr lang="en-IN" b="1" dirty="0"/>
            <a:t>Select first column as independent variable</a:t>
          </a:r>
          <a:endParaRPr lang="en-US" b="1" dirty="0"/>
        </a:p>
      </dgm:t>
    </dgm:pt>
    <dgm:pt modelId="{98A4F42B-79F2-418D-9608-D7F286BFFF84}" type="parTrans" cxnId="{D5C9F4A4-867D-4EB1-8FAB-78ADF873E771}">
      <dgm:prSet/>
      <dgm:spPr/>
      <dgm:t>
        <a:bodyPr/>
        <a:lstStyle/>
        <a:p>
          <a:endParaRPr lang="en-US"/>
        </a:p>
      </dgm:t>
    </dgm:pt>
    <dgm:pt modelId="{51B66DB9-CE74-4317-8777-9AD2C6B0EA3E}" type="sibTrans" cxnId="{D5C9F4A4-867D-4EB1-8FAB-78ADF873E771}">
      <dgm:prSet/>
      <dgm:spPr/>
      <dgm:t>
        <a:bodyPr/>
        <a:lstStyle/>
        <a:p>
          <a:endParaRPr lang="en-US"/>
        </a:p>
      </dgm:t>
    </dgm:pt>
    <dgm:pt modelId="{1C7A5956-B1C9-4BCC-BA8D-D12CEF2C41C1}">
      <dgm:prSet/>
      <dgm:spPr/>
      <dgm:t>
        <a:bodyPr/>
        <a:lstStyle/>
        <a:p>
          <a:r>
            <a:rPr lang="en-IN" dirty="0"/>
            <a:t>y = </a:t>
          </a:r>
          <a:r>
            <a:rPr lang="en-IN" dirty="0" err="1"/>
            <a:t>df.iloc</a:t>
          </a:r>
          <a:r>
            <a:rPr lang="en-IN" dirty="0"/>
            <a:t>[:, -1].values                 </a:t>
          </a:r>
          <a:r>
            <a:rPr lang="en-IN" b="1" dirty="0"/>
            <a:t>Select last column as dependent variable (target)</a:t>
          </a:r>
          <a:endParaRPr lang="en-US" b="1" dirty="0"/>
        </a:p>
      </dgm:t>
    </dgm:pt>
    <dgm:pt modelId="{6684C95A-8C7D-4F49-8F72-326ED179608B}" type="parTrans" cxnId="{B8437F80-954B-4C17-B6FF-F7A4701FE251}">
      <dgm:prSet/>
      <dgm:spPr/>
      <dgm:t>
        <a:bodyPr/>
        <a:lstStyle/>
        <a:p>
          <a:endParaRPr lang="en-US"/>
        </a:p>
      </dgm:t>
    </dgm:pt>
    <dgm:pt modelId="{5D51E98E-C314-4F76-9830-8699A019BA31}" type="sibTrans" cxnId="{B8437F80-954B-4C17-B6FF-F7A4701FE251}">
      <dgm:prSet/>
      <dgm:spPr/>
      <dgm:t>
        <a:bodyPr/>
        <a:lstStyle/>
        <a:p>
          <a:endParaRPr lang="en-US"/>
        </a:p>
      </dgm:t>
    </dgm:pt>
    <dgm:pt modelId="{96F7FDFD-D82F-4810-B4F8-218C009D6BB8}" type="pres">
      <dgm:prSet presAssocID="{41536D70-DD29-4646-8675-2C4D8BE01CC8}" presName="vert0" presStyleCnt="0">
        <dgm:presLayoutVars>
          <dgm:dir/>
          <dgm:animOne val="branch"/>
          <dgm:animLvl val="lvl"/>
        </dgm:presLayoutVars>
      </dgm:prSet>
      <dgm:spPr/>
    </dgm:pt>
    <dgm:pt modelId="{DE70FDED-B741-4427-AB0F-405D9AEE5B3A}" type="pres">
      <dgm:prSet presAssocID="{5C9534FA-7E4C-40A4-8C07-E57957004665}" presName="thickLine" presStyleLbl="alignNode1" presStyleIdx="0" presStyleCnt="12"/>
      <dgm:spPr/>
    </dgm:pt>
    <dgm:pt modelId="{F9FC5A47-FC43-423E-94F6-741C143A0F73}" type="pres">
      <dgm:prSet presAssocID="{5C9534FA-7E4C-40A4-8C07-E57957004665}" presName="horz1" presStyleCnt="0"/>
      <dgm:spPr/>
    </dgm:pt>
    <dgm:pt modelId="{2828F099-98B8-4914-8B5E-6C5594DBB6CB}" type="pres">
      <dgm:prSet presAssocID="{5C9534FA-7E4C-40A4-8C07-E57957004665}" presName="tx1" presStyleLbl="revTx" presStyleIdx="0" presStyleCnt="12"/>
      <dgm:spPr/>
    </dgm:pt>
    <dgm:pt modelId="{1E6EAE0C-19EF-4E6E-B57B-3D6512DEE337}" type="pres">
      <dgm:prSet presAssocID="{5C9534FA-7E4C-40A4-8C07-E57957004665}" presName="vert1" presStyleCnt="0"/>
      <dgm:spPr/>
    </dgm:pt>
    <dgm:pt modelId="{3AE791D5-7DD3-4AB5-83D1-04DC205CE6A3}" type="pres">
      <dgm:prSet presAssocID="{B27E0C88-F1BF-4BE9-8526-4FA0A7DDE791}" presName="thickLine" presStyleLbl="alignNode1" presStyleIdx="1" presStyleCnt="12"/>
      <dgm:spPr/>
    </dgm:pt>
    <dgm:pt modelId="{16D36363-4F64-4AA2-9C7A-BD4127EB6157}" type="pres">
      <dgm:prSet presAssocID="{B27E0C88-F1BF-4BE9-8526-4FA0A7DDE791}" presName="horz1" presStyleCnt="0"/>
      <dgm:spPr/>
    </dgm:pt>
    <dgm:pt modelId="{2A4200BA-289D-48E5-96EC-D5F812E09D29}" type="pres">
      <dgm:prSet presAssocID="{B27E0C88-F1BF-4BE9-8526-4FA0A7DDE791}" presName="tx1" presStyleLbl="revTx" presStyleIdx="1" presStyleCnt="12"/>
      <dgm:spPr/>
    </dgm:pt>
    <dgm:pt modelId="{0E5AA2EE-CC5B-4A90-9B93-916BBB521221}" type="pres">
      <dgm:prSet presAssocID="{B27E0C88-F1BF-4BE9-8526-4FA0A7DDE791}" presName="vert1" presStyleCnt="0"/>
      <dgm:spPr/>
    </dgm:pt>
    <dgm:pt modelId="{7643D263-A310-40C0-8C32-3659D0C5C050}" type="pres">
      <dgm:prSet presAssocID="{E1BA6C9D-C1BE-434B-8B9B-AAC49A478384}" presName="thickLine" presStyleLbl="alignNode1" presStyleIdx="2" presStyleCnt="12"/>
      <dgm:spPr/>
    </dgm:pt>
    <dgm:pt modelId="{58E749E7-D05A-47B5-AF0E-24D9925AFB82}" type="pres">
      <dgm:prSet presAssocID="{E1BA6C9D-C1BE-434B-8B9B-AAC49A478384}" presName="horz1" presStyleCnt="0"/>
      <dgm:spPr/>
    </dgm:pt>
    <dgm:pt modelId="{C94C55FE-1DFE-4D93-8DD0-0324B736C379}" type="pres">
      <dgm:prSet presAssocID="{E1BA6C9D-C1BE-434B-8B9B-AAC49A478384}" presName="tx1" presStyleLbl="revTx" presStyleIdx="2" presStyleCnt="12"/>
      <dgm:spPr/>
    </dgm:pt>
    <dgm:pt modelId="{4F476338-5970-4475-832F-2A51F4BEAF1B}" type="pres">
      <dgm:prSet presAssocID="{E1BA6C9D-C1BE-434B-8B9B-AAC49A478384}" presName="vert1" presStyleCnt="0"/>
      <dgm:spPr/>
    </dgm:pt>
    <dgm:pt modelId="{5B53137F-9C10-4872-B532-5804BD2D8C38}" type="pres">
      <dgm:prSet presAssocID="{7822225F-6BA1-4296-9825-52D6BEA92563}" presName="thickLine" presStyleLbl="alignNode1" presStyleIdx="3" presStyleCnt="12"/>
      <dgm:spPr/>
    </dgm:pt>
    <dgm:pt modelId="{F60A1A3A-48AA-4D9E-AE64-D2156E9C48A9}" type="pres">
      <dgm:prSet presAssocID="{7822225F-6BA1-4296-9825-52D6BEA92563}" presName="horz1" presStyleCnt="0"/>
      <dgm:spPr/>
    </dgm:pt>
    <dgm:pt modelId="{805EC351-A603-4FE9-AE65-415F48BE8719}" type="pres">
      <dgm:prSet presAssocID="{7822225F-6BA1-4296-9825-52D6BEA92563}" presName="tx1" presStyleLbl="revTx" presStyleIdx="3" presStyleCnt="12"/>
      <dgm:spPr/>
    </dgm:pt>
    <dgm:pt modelId="{3D80A672-5FA1-40B1-AAB6-0C3CE3017D9A}" type="pres">
      <dgm:prSet presAssocID="{7822225F-6BA1-4296-9825-52D6BEA92563}" presName="vert1" presStyleCnt="0"/>
      <dgm:spPr/>
    </dgm:pt>
    <dgm:pt modelId="{2855CDB1-86EA-4099-B1EC-F4C81C995896}" type="pres">
      <dgm:prSet presAssocID="{5AC29FB4-615F-4EAF-89D2-46E0688B1660}" presName="thickLine" presStyleLbl="alignNode1" presStyleIdx="4" presStyleCnt="12"/>
      <dgm:spPr/>
    </dgm:pt>
    <dgm:pt modelId="{CFB5419C-BC83-4973-A5DC-C107848A6D4F}" type="pres">
      <dgm:prSet presAssocID="{5AC29FB4-615F-4EAF-89D2-46E0688B1660}" presName="horz1" presStyleCnt="0"/>
      <dgm:spPr/>
    </dgm:pt>
    <dgm:pt modelId="{BFE77DCB-5D79-43DB-971D-36C8CD8AD513}" type="pres">
      <dgm:prSet presAssocID="{5AC29FB4-615F-4EAF-89D2-46E0688B1660}" presName="tx1" presStyleLbl="revTx" presStyleIdx="4" presStyleCnt="12"/>
      <dgm:spPr/>
    </dgm:pt>
    <dgm:pt modelId="{F3A93CED-B408-4453-94BF-D32FBE63C27C}" type="pres">
      <dgm:prSet presAssocID="{5AC29FB4-615F-4EAF-89D2-46E0688B1660}" presName="vert1" presStyleCnt="0"/>
      <dgm:spPr/>
    </dgm:pt>
    <dgm:pt modelId="{FD5AF881-167C-44ED-A7B9-C452DDED5E23}" type="pres">
      <dgm:prSet presAssocID="{60168F6B-72C4-4B7A-98BE-27E7C6AAD81E}" presName="thickLine" presStyleLbl="alignNode1" presStyleIdx="5" presStyleCnt="12"/>
      <dgm:spPr/>
    </dgm:pt>
    <dgm:pt modelId="{850D1226-F5AD-4584-9987-855A7C09B4D2}" type="pres">
      <dgm:prSet presAssocID="{60168F6B-72C4-4B7A-98BE-27E7C6AAD81E}" presName="horz1" presStyleCnt="0"/>
      <dgm:spPr/>
    </dgm:pt>
    <dgm:pt modelId="{C9726C0B-905A-4BCA-9F3E-8917D4D6C490}" type="pres">
      <dgm:prSet presAssocID="{60168F6B-72C4-4B7A-98BE-27E7C6AAD81E}" presName="tx1" presStyleLbl="revTx" presStyleIdx="5" presStyleCnt="12"/>
      <dgm:spPr/>
    </dgm:pt>
    <dgm:pt modelId="{BBDA4B21-54E7-4A37-9709-96DCC1C2B466}" type="pres">
      <dgm:prSet presAssocID="{60168F6B-72C4-4B7A-98BE-27E7C6AAD81E}" presName="vert1" presStyleCnt="0"/>
      <dgm:spPr/>
    </dgm:pt>
    <dgm:pt modelId="{AA664C32-EC33-4343-9474-1169023EDA94}" type="pres">
      <dgm:prSet presAssocID="{0907482D-F16D-43D0-A86A-2E4C18EF8877}" presName="thickLine" presStyleLbl="alignNode1" presStyleIdx="6" presStyleCnt="12"/>
      <dgm:spPr/>
    </dgm:pt>
    <dgm:pt modelId="{89811818-65D8-49D6-8CAF-DEE84C89EC77}" type="pres">
      <dgm:prSet presAssocID="{0907482D-F16D-43D0-A86A-2E4C18EF8877}" presName="horz1" presStyleCnt="0"/>
      <dgm:spPr/>
    </dgm:pt>
    <dgm:pt modelId="{33727FF3-AFFE-4750-BDE0-2C62B1E05558}" type="pres">
      <dgm:prSet presAssocID="{0907482D-F16D-43D0-A86A-2E4C18EF8877}" presName="tx1" presStyleLbl="revTx" presStyleIdx="6" presStyleCnt="12"/>
      <dgm:spPr/>
    </dgm:pt>
    <dgm:pt modelId="{989AF189-2BA4-4A0B-B644-FC6A865F10C3}" type="pres">
      <dgm:prSet presAssocID="{0907482D-F16D-43D0-A86A-2E4C18EF8877}" presName="vert1" presStyleCnt="0"/>
      <dgm:spPr/>
    </dgm:pt>
    <dgm:pt modelId="{ECA8745F-6DD5-449D-AA30-3DDC68451EEB}" type="pres">
      <dgm:prSet presAssocID="{EFC6773A-14A3-44FE-AD43-004B378478D0}" presName="thickLine" presStyleLbl="alignNode1" presStyleIdx="7" presStyleCnt="12"/>
      <dgm:spPr/>
    </dgm:pt>
    <dgm:pt modelId="{C0F67B4D-6927-43BE-B3E9-80FAD39898CC}" type="pres">
      <dgm:prSet presAssocID="{EFC6773A-14A3-44FE-AD43-004B378478D0}" presName="horz1" presStyleCnt="0"/>
      <dgm:spPr/>
    </dgm:pt>
    <dgm:pt modelId="{4556C2CE-E9C5-4BA9-AA16-2C1595473CCB}" type="pres">
      <dgm:prSet presAssocID="{EFC6773A-14A3-44FE-AD43-004B378478D0}" presName="tx1" presStyleLbl="revTx" presStyleIdx="7" presStyleCnt="12"/>
      <dgm:spPr/>
    </dgm:pt>
    <dgm:pt modelId="{B3857467-6C09-4A5F-B9AE-21A3612E2D5B}" type="pres">
      <dgm:prSet presAssocID="{EFC6773A-14A3-44FE-AD43-004B378478D0}" presName="vert1" presStyleCnt="0"/>
      <dgm:spPr/>
    </dgm:pt>
    <dgm:pt modelId="{733B55C9-8DB7-4D09-95CF-F7AB23888EE3}" type="pres">
      <dgm:prSet presAssocID="{3F0D28A7-5562-4A06-8254-658C791C9500}" presName="thickLine" presStyleLbl="alignNode1" presStyleIdx="8" presStyleCnt="12"/>
      <dgm:spPr/>
    </dgm:pt>
    <dgm:pt modelId="{B7752AE4-7038-495C-906B-3A4C7D373210}" type="pres">
      <dgm:prSet presAssocID="{3F0D28A7-5562-4A06-8254-658C791C9500}" presName="horz1" presStyleCnt="0"/>
      <dgm:spPr/>
    </dgm:pt>
    <dgm:pt modelId="{A8CD1755-F114-488D-8816-D022805A1230}" type="pres">
      <dgm:prSet presAssocID="{3F0D28A7-5562-4A06-8254-658C791C9500}" presName="tx1" presStyleLbl="revTx" presStyleIdx="8" presStyleCnt="12"/>
      <dgm:spPr/>
    </dgm:pt>
    <dgm:pt modelId="{7D0A86C1-E8BF-4C68-AC52-8607235BC1D7}" type="pres">
      <dgm:prSet presAssocID="{3F0D28A7-5562-4A06-8254-658C791C9500}" presName="vert1" presStyleCnt="0"/>
      <dgm:spPr/>
    </dgm:pt>
    <dgm:pt modelId="{EAA32CD0-4087-4455-9425-4F623A06054C}" type="pres">
      <dgm:prSet presAssocID="{DFF4320D-91ED-4810-A228-725947768B76}" presName="thickLine" presStyleLbl="alignNode1" presStyleIdx="9" presStyleCnt="12"/>
      <dgm:spPr/>
    </dgm:pt>
    <dgm:pt modelId="{14B48965-FCA4-4A93-BEB1-A1CEFD33C89A}" type="pres">
      <dgm:prSet presAssocID="{DFF4320D-91ED-4810-A228-725947768B76}" presName="horz1" presStyleCnt="0"/>
      <dgm:spPr/>
    </dgm:pt>
    <dgm:pt modelId="{9A77986A-25E9-4746-9B06-F12782D64C75}" type="pres">
      <dgm:prSet presAssocID="{DFF4320D-91ED-4810-A228-725947768B76}" presName="tx1" presStyleLbl="revTx" presStyleIdx="9" presStyleCnt="12"/>
      <dgm:spPr/>
    </dgm:pt>
    <dgm:pt modelId="{3893F13F-5B19-4EA4-8297-8E26E7C1BC11}" type="pres">
      <dgm:prSet presAssocID="{DFF4320D-91ED-4810-A228-725947768B76}" presName="vert1" presStyleCnt="0"/>
      <dgm:spPr/>
    </dgm:pt>
    <dgm:pt modelId="{7F481FF2-3E4F-432F-93B9-37C1F31F5B5B}" type="pres">
      <dgm:prSet presAssocID="{9EE9FDAE-6980-4192-A280-E851B7982EFB}" presName="thickLine" presStyleLbl="alignNode1" presStyleIdx="10" presStyleCnt="12"/>
      <dgm:spPr/>
    </dgm:pt>
    <dgm:pt modelId="{BF6BB550-4BE3-4A2D-B19E-8B7D7EAD9919}" type="pres">
      <dgm:prSet presAssocID="{9EE9FDAE-6980-4192-A280-E851B7982EFB}" presName="horz1" presStyleCnt="0"/>
      <dgm:spPr/>
    </dgm:pt>
    <dgm:pt modelId="{600BDD6B-FE46-4D7D-BF01-F37E79F4554A}" type="pres">
      <dgm:prSet presAssocID="{9EE9FDAE-6980-4192-A280-E851B7982EFB}" presName="tx1" presStyleLbl="revTx" presStyleIdx="10" presStyleCnt="12"/>
      <dgm:spPr/>
    </dgm:pt>
    <dgm:pt modelId="{11DA713A-D034-4E10-BD3C-AC26DEAB27E2}" type="pres">
      <dgm:prSet presAssocID="{9EE9FDAE-6980-4192-A280-E851B7982EFB}" presName="vert1" presStyleCnt="0"/>
      <dgm:spPr/>
    </dgm:pt>
    <dgm:pt modelId="{BFA98B16-F24A-4449-9C33-F0C8B6B6C455}" type="pres">
      <dgm:prSet presAssocID="{1C7A5956-B1C9-4BCC-BA8D-D12CEF2C41C1}" presName="thickLine" presStyleLbl="alignNode1" presStyleIdx="11" presStyleCnt="12"/>
      <dgm:spPr/>
    </dgm:pt>
    <dgm:pt modelId="{429E1900-43E8-4184-99D8-57191B829466}" type="pres">
      <dgm:prSet presAssocID="{1C7A5956-B1C9-4BCC-BA8D-D12CEF2C41C1}" presName="horz1" presStyleCnt="0"/>
      <dgm:spPr/>
    </dgm:pt>
    <dgm:pt modelId="{3ED41461-3AFC-4ADE-97C7-45DD507EA498}" type="pres">
      <dgm:prSet presAssocID="{1C7A5956-B1C9-4BCC-BA8D-D12CEF2C41C1}" presName="tx1" presStyleLbl="revTx" presStyleIdx="11" presStyleCnt="12"/>
      <dgm:spPr/>
    </dgm:pt>
    <dgm:pt modelId="{2E99917F-08F4-46CA-A258-A913B0E3D114}" type="pres">
      <dgm:prSet presAssocID="{1C7A5956-B1C9-4BCC-BA8D-D12CEF2C41C1}" presName="vert1" presStyleCnt="0"/>
      <dgm:spPr/>
    </dgm:pt>
  </dgm:ptLst>
  <dgm:cxnLst>
    <dgm:cxn modelId="{2A496B19-AFAC-4625-A44A-E90E72FFA165}" srcId="{41536D70-DD29-4646-8675-2C4D8BE01CC8}" destId="{60168F6B-72C4-4B7A-98BE-27E7C6AAD81E}" srcOrd="5" destOrd="0" parTransId="{B1397155-AA80-4DE5-91F6-4C836B64F21E}" sibTransId="{737167C3-E4FD-4097-BFA0-DC0857761D95}"/>
    <dgm:cxn modelId="{FD3B8519-E6A3-4C8B-AE3E-F498242F7B71}" type="presOf" srcId="{5AC29FB4-615F-4EAF-89D2-46E0688B1660}" destId="{BFE77DCB-5D79-43DB-971D-36C8CD8AD513}" srcOrd="0" destOrd="0" presId="urn:microsoft.com/office/officeart/2008/layout/LinedList"/>
    <dgm:cxn modelId="{488AB61D-7DA8-42B8-9A4F-153750150377}" srcId="{41536D70-DD29-4646-8675-2C4D8BE01CC8}" destId="{5C9534FA-7E4C-40A4-8C07-E57957004665}" srcOrd="0" destOrd="0" parTransId="{FBA7BB33-F6B7-46B4-9A3F-2009DCF0606A}" sibTransId="{200E80E6-978A-4238-999C-534572122EDC}"/>
    <dgm:cxn modelId="{17796A2C-1681-4590-B95A-CBDEE7413246}" type="presOf" srcId="{3F0D28A7-5562-4A06-8254-658C791C9500}" destId="{A8CD1755-F114-488D-8816-D022805A1230}" srcOrd="0" destOrd="0" presId="urn:microsoft.com/office/officeart/2008/layout/LinedList"/>
    <dgm:cxn modelId="{DA50912D-3240-416F-A03B-2665EA1824B2}" type="presOf" srcId="{60168F6B-72C4-4B7A-98BE-27E7C6AAD81E}" destId="{C9726C0B-905A-4BCA-9F3E-8917D4D6C490}" srcOrd="0" destOrd="0" presId="urn:microsoft.com/office/officeart/2008/layout/LinedList"/>
    <dgm:cxn modelId="{99CE6A31-62F4-4E31-BDE6-25D8280A1E55}" type="presOf" srcId="{1C7A5956-B1C9-4BCC-BA8D-D12CEF2C41C1}" destId="{3ED41461-3AFC-4ADE-97C7-45DD507EA498}" srcOrd="0" destOrd="0" presId="urn:microsoft.com/office/officeart/2008/layout/LinedList"/>
    <dgm:cxn modelId="{B1298536-911D-4DE5-A0F5-8A0BB0406EED}" srcId="{41536D70-DD29-4646-8675-2C4D8BE01CC8}" destId="{5AC29FB4-615F-4EAF-89D2-46E0688B1660}" srcOrd="4" destOrd="0" parTransId="{5F26A747-6061-469D-BBE0-B0B4859C8118}" sibTransId="{711D012A-2B86-48A1-B026-0B711844ECED}"/>
    <dgm:cxn modelId="{C55F4541-FAE9-484B-BCC5-EA8814524811}" srcId="{41536D70-DD29-4646-8675-2C4D8BE01CC8}" destId="{E1BA6C9D-C1BE-434B-8B9B-AAC49A478384}" srcOrd="2" destOrd="0" parTransId="{3F77180B-8D2C-4739-8BF3-1ED17C24C5E6}" sibTransId="{B590D11A-AC83-4AC6-AA7C-8FBD095B69B1}"/>
    <dgm:cxn modelId="{A5346A46-15B8-495F-9C7A-751E8452A175}" type="presOf" srcId="{E1BA6C9D-C1BE-434B-8B9B-AAC49A478384}" destId="{C94C55FE-1DFE-4D93-8DD0-0324B736C379}" srcOrd="0" destOrd="0" presId="urn:microsoft.com/office/officeart/2008/layout/LinedList"/>
    <dgm:cxn modelId="{5D5F1E67-F1CC-4EB5-B894-C0493F53A8AB}" type="presOf" srcId="{EFC6773A-14A3-44FE-AD43-004B378478D0}" destId="{4556C2CE-E9C5-4BA9-AA16-2C1595473CCB}" srcOrd="0" destOrd="0" presId="urn:microsoft.com/office/officeart/2008/layout/LinedList"/>
    <dgm:cxn modelId="{6064054D-9E98-49A0-A78A-F78CF1F2A24C}" srcId="{41536D70-DD29-4646-8675-2C4D8BE01CC8}" destId="{DFF4320D-91ED-4810-A228-725947768B76}" srcOrd="9" destOrd="0" parTransId="{5591D6B4-2E9A-4544-B451-E6285A23F4BE}" sibTransId="{675593C5-1527-4568-97E8-A1AE1379817E}"/>
    <dgm:cxn modelId="{A4D8F575-49F2-46E3-A4C8-CA8AB1B193EB}" type="presOf" srcId="{B27E0C88-F1BF-4BE9-8526-4FA0A7DDE791}" destId="{2A4200BA-289D-48E5-96EC-D5F812E09D29}" srcOrd="0" destOrd="0" presId="urn:microsoft.com/office/officeart/2008/layout/LinedList"/>
    <dgm:cxn modelId="{CE620359-755B-4995-8802-732F668A2D5B}" type="presOf" srcId="{41536D70-DD29-4646-8675-2C4D8BE01CC8}" destId="{96F7FDFD-D82F-4810-B4F8-218C009D6BB8}" srcOrd="0" destOrd="0" presId="urn:microsoft.com/office/officeart/2008/layout/LinedList"/>
    <dgm:cxn modelId="{783BA67D-B341-4521-A620-54C13FA0B97F}" type="presOf" srcId="{DFF4320D-91ED-4810-A228-725947768B76}" destId="{9A77986A-25E9-4746-9B06-F12782D64C75}" srcOrd="0" destOrd="0" presId="urn:microsoft.com/office/officeart/2008/layout/LinedList"/>
    <dgm:cxn modelId="{B8437F80-954B-4C17-B6FF-F7A4701FE251}" srcId="{41536D70-DD29-4646-8675-2C4D8BE01CC8}" destId="{1C7A5956-B1C9-4BCC-BA8D-D12CEF2C41C1}" srcOrd="11" destOrd="0" parTransId="{6684C95A-8C7D-4F49-8F72-326ED179608B}" sibTransId="{5D51E98E-C314-4F76-9830-8699A019BA31}"/>
    <dgm:cxn modelId="{5F411E95-118F-49FB-BFBB-C91315747802}" srcId="{41536D70-DD29-4646-8675-2C4D8BE01CC8}" destId="{EFC6773A-14A3-44FE-AD43-004B378478D0}" srcOrd="7" destOrd="0" parTransId="{2EC8D9C1-0052-4822-BBC1-5C241389D0D3}" sibTransId="{011A37B8-41C6-4A41-8479-E31A83508DE5}"/>
    <dgm:cxn modelId="{04559FA4-5B74-4CDC-876B-CCB88FFD0AD4}" type="presOf" srcId="{7822225F-6BA1-4296-9825-52D6BEA92563}" destId="{805EC351-A603-4FE9-AE65-415F48BE8719}" srcOrd="0" destOrd="0" presId="urn:microsoft.com/office/officeart/2008/layout/LinedList"/>
    <dgm:cxn modelId="{D5C9F4A4-867D-4EB1-8FAB-78ADF873E771}" srcId="{41536D70-DD29-4646-8675-2C4D8BE01CC8}" destId="{9EE9FDAE-6980-4192-A280-E851B7982EFB}" srcOrd="10" destOrd="0" parTransId="{98A4F42B-79F2-418D-9608-D7F286BFFF84}" sibTransId="{51B66DB9-CE74-4317-8777-9AD2C6B0EA3E}"/>
    <dgm:cxn modelId="{AE7835A8-E343-49A7-9780-900449F49A87}" type="presOf" srcId="{9EE9FDAE-6980-4192-A280-E851B7982EFB}" destId="{600BDD6B-FE46-4D7D-BF01-F37E79F4554A}" srcOrd="0" destOrd="0" presId="urn:microsoft.com/office/officeart/2008/layout/LinedList"/>
    <dgm:cxn modelId="{03D7BEB4-691B-43F8-AB5F-FA9F8ACF2A9C}" srcId="{41536D70-DD29-4646-8675-2C4D8BE01CC8}" destId="{B27E0C88-F1BF-4BE9-8526-4FA0A7DDE791}" srcOrd="1" destOrd="0" parTransId="{8CEF62C4-AFD1-4EE6-B0F7-36B811522270}" sibTransId="{A6034110-0A20-45C2-A376-34331004CD8D}"/>
    <dgm:cxn modelId="{A5BF3CBC-731B-4824-8751-1E91A75797F6}" srcId="{41536D70-DD29-4646-8675-2C4D8BE01CC8}" destId="{7822225F-6BA1-4296-9825-52D6BEA92563}" srcOrd="3" destOrd="0" parTransId="{1E630330-DCFA-44B2-A934-5F83A852D474}" sibTransId="{33EC06FC-350B-482A-99B8-E5657862377E}"/>
    <dgm:cxn modelId="{BA7903C2-A90F-4247-A608-74282B36A343}" type="presOf" srcId="{0907482D-F16D-43D0-A86A-2E4C18EF8877}" destId="{33727FF3-AFFE-4750-BDE0-2C62B1E05558}" srcOrd="0" destOrd="0" presId="urn:microsoft.com/office/officeart/2008/layout/LinedList"/>
    <dgm:cxn modelId="{3510D0DC-3F15-4413-9AB9-E4A7DC3F924D}" type="presOf" srcId="{5C9534FA-7E4C-40A4-8C07-E57957004665}" destId="{2828F099-98B8-4914-8B5E-6C5594DBB6CB}" srcOrd="0" destOrd="0" presId="urn:microsoft.com/office/officeart/2008/layout/LinedList"/>
    <dgm:cxn modelId="{6D341FDE-940C-44F4-86BA-7F0DFCB588AB}" srcId="{41536D70-DD29-4646-8675-2C4D8BE01CC8}" destId="{3F0D28A7-5562-4A06-8254-658C791C9500}" srcOrd="8" destOrd="0" parTransId="{95476B8F-9FAE-48CC-9AC0-E5E7DFF95266}" sibTransId="{8812C995-2E22-4A81-B364-3780A9F3FC5F}"/>
    <dgm:cxn modelId="{26D745E9-27C4-4423-88A6-0952566DBC83}" srcId="{41536D70-DD29-4646-8675-2C4D8BE01CC8}" destId="{0907482D-F16D-43D0-A86A-2E4C18EF8877}" srcOrd="6" destOrd="0" parTransId="{D9F40CBF-170B-4CB6-ADE2-54DC610C8969}" sibTransId="{FC12A3E3-C7C5-48D3-9107-F36EBCB881C9}"/>
    <dgm:cxn modelId="{0658060C-FE25-44C6-99B2-2298274042D0}" type="presParOf" srcId="{96F7FDFD-D82F-4810-B4F8-218C009D6BB8}" destId="{DE70FDED-B741-4427-AB0F-405D9AEE5B3A}" srcOrd="0" destOrd="0" presId="urn:microsoft.com/office/officeart/2008/layout/LinedList"/>
    <dgm:cxn modelId="{22BAD71A-562F-4BE6-8221-BEA7238DA5E0}" type="presParOf" srcId="{96F7FDFD-D82F-4810-B4F8-218C009D6BB8}" destId="{F9FC5A47-FC43-423E-94F6-741C143A0F73}" srcOrd="1" destOrd="0" presId="urn:microsoft.com/office/officeart/2008/layout/LinedList"/>
    <dgm:cxn modelId="{85F073C0-4CB2-4CBC-AEAA-B88897F38507}" type="presParOf" srcId="{F9FC5A47-FC43-423E-94F6-741C143A0F73}" destId="{2828F099-98B8-4914-8B5E-6C5594DBB6CB}" srcOrd="0" destOrd="0" presId="urn:microsoft.com/office/officeart/2008/layout/LinedList"/>
    <dgm:cxn modelId="{ABBEF107-2DF3-4532-9C66-25A6D3FDAFAF}" type="presParOf" srcId="{F9FC5A47-FC43-423E-94F6-741C143A0F73}" destId="{1E6EAE0C-19EF-4E6E-B57B-3D6512DEE337}" srcOrd="1" destOrd="0" presId="urn:microsoft.com/office/officeart/2008/layout/LinedList"/>
    <dgm:cxn modelId="{7D92FD4C-5217-45EE-9D0C-709CD78D7923}" type="presParOf" srcId="{96F7FDFD-D82F-4810-B4F8-218C009D6BB8}" destId="{3AE791D5-7DD3-4AB5-83D1-04DC205CE6A3}" srcOrd="2" destOrd="0" presId="urn:microsoft.com/office/officeart/2008/layout/LinedList"/>
    <dgm:cxn modelId="{60184BE8-28A5-4404-9090-8CA83E713DAA}" type="presParOf" srcId="{96F7FDFD-D82F-4810-B4F8-218C009D6BB8}" destId="{16D36363-4F64-4AA2-9C7A-BD4127EB6157}" srcOrd="3" destOrd="0" presId="urn:microsoft.com/office/officeart/2008/layout/LinedList"/>
    <dgm:cxn modelId="{09DEEC78-BE70-4187-8876-52E4B63E1C56}" type="presParOf" srcId="{16D36363-4F64-4AA2-9C7A-BD4127EB6157}" destId="{2A4200BA-289D-48E5-96EC-D5F812E09D29}" srcOrd="0" destOrd="0" presId="urn:microsoft.com/office/officeart/2008/layout/LinedList"/>
    <dgm:cxn modelId="{53E2FEC4-098E-41B7-940F-DAE2DDF76BB6}" type="presParOf" srcId="{16D36363-4F64-4AA2-9C7A-BD4127EB6157}" destId="{0E5AA2EE-CC5B-4A90-9B93-916BBB521221}" srcOrd="1" destOrd="0" presId="urn:microsoft.com/office/officeart/2008/layout/LinedList"/>
    <dgm:cxn modelId="{BDBDFFB8-EAC8-48F5-837B-8C65C5A6D5CF}" type="presParOf" srcId="{96F7FDFD-D82F-4810-B4F8-218C009D6BB8}" destId="{7643D263-A310-40C0-8C32-3659D0C5C050}" srcOrd="4" destOrd="0" presId="urn:microsoft.com/office/officeart/2008/layout/LinedList"/>
    <dgm:cxn modelId="{C391B226-EEAB-4E95-A1DB-3B228348116F}" type="presParOf" srcId="{96F7FDFD-D82F-4810-B4F8-218C009D6BB8}" destId="{58E749E7-D05A-47B5-AF0E-24D9925AFB82}" srcOrd="5" destOrd="0" presId="urn:microsoft.com/office/officeart/2008/layout/LinedList"/>
    <dgm:cxn modelId="{CB576C5A-D58A-4A0E-8191-9D3A89E67FA1}" type="presParOf" srcId="{58E749E7-D05A-47B5-AF0E-24D9925AFB82}" destId="{C94C55FE-1DFE-4D93-8DD0-0324B736C379}" srcOrd="0" destOrd="0" presId="urn:microsoft.com/office/officeart/2008/layout/LinedList"/>
    <dgm:cxn modelId="{5B92E35E-8A2D-4862-99AF-0189748307AF}" type="presParOf" srcId="{58E749E7-D05A-47B5-AF0E-24D9925AFB82}" destId="{4F476338-5970-4475-832F-2A51F4BEAF1B}" srcOrd="1" destOrd="0" presId="urn:microsoft.com/office/officeart/2008/layout/LinedList"/>
    <dgm:cxn modelId="{B5028B48-5F45-43B1-BE42-F5ECE17C9BE8}" type="presParOf" srcId="{96F7FDFD-D82F-4810-B4F8-218C009D6BB8}" destId="{5B53137F-9C10-4872-B532-5804BD2D8C38}" srcOrd="6" destOrd="0" presId="urn:microsoft.com/office/officeart/2008/layout/LinedList"/>
    <dgm:cxn modelId="{3D57F4A5-902E-47AF-8313-CE482E9716F8}" type="presParOf" srcId="{96F7FDFD-D82F-4810-B4F8-218C009D6BB8}" destId="{F60A1A3A-48AA-4D9E-AE64-D2156E9C48A9}" srcOrd="7" destOrd="0" presId="urn:microsoft.com/office/officeart/2008/layout/LinedList"/>
    <dgm:cxn modelId="{DAE0B086-758E-43FC-9414-1800AAC08C73}" type="presParOf" srcId="{F60A1A3A-48AA-4D9E-AE64-D2156E9C48A9}" destId="{805EC351-A603-4FE9-AE65-415F48BE8719}" srcOrd="0" destOrd="0" presId="urn:microsoft.com/office/officeart/2008/layout/LinedList"/>
    <dgm:cxn modelId="{4163009B-5BB9-4A56-8662-948B6C8FF2B5}" type="presParOf" srcId="{F60A1A3A-48AA-4D9E-AE64-D2156E9C48A9}" destId="{3D80A672-5FA1-40B1-AAB6-0C3CE3017D9A}" srcOrd="1" destOrd="0" presId="urn:microsoft.com/office/officeart/2008/layout/LinedList"/>
    <dgm:cxn modelId="{6CB50F9A-CA17-4735-ABA8-759299B5AEDC}" type="presParOf" srcId="{96F7FDFD-D82F-4810-B4F8-218C009D6BB8}" destId="{2855CDB1-86EA-4099-B1EC-F4C81C995896}" srcOrd="8" destOrd="0" presId="urn:microsoft.com/office/officeart/2008/layout/LinedList"/>
    <dgm:cxn modelId="{644B4ACD-3424-4B19-8DB8-276C378317E3}" type="presParOf" srcId="{96F7FDFD-D82F-4810-B4F8-218C009D6BB8}" destId="{CFB5419C-BC83-4973-A5DC-C107848A6D4F}" srcOrd="9" destOrd="0" presId="urn:microsoft.com/office/officeart/2008/layout/LinedList"/>
    <dgm:cxn modelId="{CF593A78-B03F-4B5E-9BA5-774804608E70}" type="presParOf" srcId="{CFB5419C-BC83-4973-A5DC-C107848A6D4F}" destId="{BFE77DCB-5D79-43DB-971D-36C8CD8AD513}" srcOrd="0" destOrd="0" presId="urn:microsoft.com/office/officeart/2008/layout/LinedList"/>
    <dgm:cxn modelId="{2D835BE9-933F-42E3-BD7B-D4A0898E3360}" type="presParOf" srcId="{CFB5419C-BC83-4973-A5DC-C107848A6D4F}" destId="{F3A93CED-B408-4453-94BF-D32FBE63C27C}" srcOrd="1" destOrd="0" presId="urn:microsoft.com/office/officeart/2008/layout/LinedList"/>
    <dgm:cxn modelId="{EDB55AE6-2654-47CE-B0C9-13502DB45D6E}" type="presParOf" srcId="{96F7FDFD-D82F-4810-B4F8-218C009D6BB8}" destId="{FD5AF881-167C-44ED-A7B9-C452DDED5E23}" srcOrd="10" destOrd="0" presId="urn:microsoft.com/office/officeart/2008/layout/LinedList"/>
    <dgm:cxn modelId="{3FD10CD8-40F3-427B-B9E5-7C207E67B063}" type="presParOf" srcId="{96F7FDFD-D82F-4810-B4F8-218C009D6BB8}" destId="{850D1226-F5AD-4584-9987-855A7C09B4D2}" srcOrd="11" destOrd="0" presId="urn:microsoft.com/office/officeart/2008/layout/LinedList"/>
    <dgm:cxn modelId="{CE032837-DF15-4D1B-91AE-C9A96AE74CCC}" type="presParOf" srcId="{850D1226-F5AD-4584-9987-855A7C09B4D2}" destId="{C9726C0B-905A-4BCA-9F3E-8917D4D6C490}" srcOrd="0" destOrd="0" presId="urn:microsoft.com/office/officeart/2008/layout/LinedList"/>
    <dgm:cxn modelId="{07D5C957-482F-4C96-9B04-6F4ECA89E42A}" type="presParOf" srcId="{850D1226-F5AD-4584-9987-855A7C09B4D2}" destId="{BBDA4B21-54E7-4A37-9709-96DCC1C2B466}" srcOrd="1" destOrd="0" presId="urn:microsoft.com/office/officeart/2008/layout/LinedList"/>
    <dgm:cxn modelId="{1DFA37EF-4070-4B45-8E23-7E0CD201B713}" type="presParOf" srcId="{96F7FDFD-D82F-4810-B4F8-218C009D6BB8}" destId="{AA664C32-EC33-4343-9474-1169023EDA94}" srcOrd="12" destOrd="0" presId="urn:microsoft.com/office/officeart/2008/layout/LinedList"/>
    <dgm:cxn modelId="{32EE5B6A-AB7A-4E59-B850-F7CF51CC3E1B}" type="presParOf" srcId="{96F7FDFD-D82F-4810-B4F8-218C009D6BB8}" destId="{89811818-65D8-49D6-8CAF-DEE84C89EC77}" srcOrd="13" destOrd="0" presId="urn:microsoft.com/office/officeart/2008/layout/LinedList"/>
    <dgm:cxn modelId="{67AEA65E-69EF-4469-9327-9869E0273E9A}" type="presParOf" srcId="{89811818-65D8-49D6-8CAF-DEE84C89EC77}" destId="{33727FF3-AFFE-4750-BDE0-2C62B1E05558}" srcOrd="0" destOrd="0" presId="urn:microsoft.com/office/officeart/2008/layout/LinedList"/>
    <dgm:cxn modelId="{E294E6FC-2A57-4B43-BE95-E685F0F7BC52}" type="presParOf" srcId="{89811818-65D8-49D6-8CAF-DEE84C89EC77}" destId="{989AF189-2BA4-4A0B-B644-FC6A865F10C3}" srcOrd="1" destOrd="0" presId="urn:microsoft.com/office/officeart/2008/layout/LinedList"/>
    <dgm:cxn modelId="{F1DCC001-08E1-4CAC-8F7D-CA2534CBCECA}" type="presParOf" srcId="{96F7FDFD-D82F-4810-B4F8-218C009D6BB8}" destId="{ECA8745F-6DD5-449D-AA30-3DDC68451EEB}" srcOrd="14" destOrd="0" presId="urn:microsoft.com/office/officeart/2008/layout/LinedList"/>
    <dgm:cxn modelId="{14936090-89B6-40ED-AFCE-BDC5241DB74A}" type="presParOf" srcId="{96F7FDFD-D82F-4810-B4F8-218C009D6BB8}" destId="{C0F67B4D-6927-43BE-B3E9-80FAD39898CC}" srcOrd="15" destOrd="0" presId="urn:microsoft.com/office/officeart/2008/layout/LinedList"/>
    <dgm:cxn modelId="{9B7933E6-0B35-422D-ADD8-0C13749B8FDE}" type="presParOf" srcId="{C0F67B4D-6927-43BE-B3E9-80FAD39898CC}" destId="{4556C2CE-E9C5-4BA9-AA16-2C1595473CCB}" srcOrd="0" destOrd="0" presId="urn:microsoft.com/office/officeart/2008/layout/LinedList"/>
    <dgm:cxn modelId="{851A6E66-92EA-42E8-8CE0-E1AEE666B9B8}" type="presParOf" srcId="{C0F67B4D-6927-43BE-B3E9-80FAD39898CC}" destId="{B3857467-6C09-4A5F-B9AE-21A3612E2D5B}" srcOrd="1" destOrd="0" presId="urn:microsoft.com/office/officeart/2008/layout/LinedList"/>
    <dgm:cxn modelId="{F6BE071C-A033-4DED-89E6-41A29656895A}" type="presParOf" srcId="{96F7FDFD-D82F-4810-B4F8-218C009D6BB8}" destId="{733B55C9-8DB7-4D09-95CF-F7AB23888EE3}" srcOrd="16" destOrd="0" presId="urn:microsoft.com/office/officeart/2008/layout/LinedList"/>
    <dgm:cxn modelId="{A9532434-617B-475A-A5E2-9141AC24724B}" type="presParOf" srcId="{96F7FDFD-D82F-4810-B4F8-218C009D6BB8}" destId="{B7752AE4-7038-495C-906B-3A4C7D373210}" srcOrd="17" destOrd="0" presId="urn:microsoft.com/office/officeart/2008/layout/LinedList"/>
    <dgm:cxn modelId="{9CB6CDDB-484F-47CE-99EF-85A0E6699662}" type="presParOf" srcId="{B7752AE4-7038-495C-906B-3A4C7D373210}" destId="{A8CD1755-F114-488D-8816-D022805A1230}" srcOrd="0" destOrd="0" presId="urn:microsoft.com/office/officeart/2008/layout/LinedList"/>
    <dgm:cxn modelId="{41A85903-7149-4D95-B812-25C5E51EF3B5}" type="presParOf" srcId="{B7752AE4-7038-495C-906B-3A4C7D373210}" destId="{7D0A86C1-E8BF-4C68-AC52-8607235BC1D7}" srcOrd="1" destOrd="0" presId="urn:microsoft.com/office/officeart/2008/layout/LinedList"/>
    <dgm:cxn modelId="{CADDC430-2D79-443B-BE9B-6C065247AB33}" type="presParOf" srcId="{96F7FDFD-D82F-4810-B4F8-218C009D6BB8}" destId="{EAA32CD0-4087-4455-9425-4F623A06054C}" srcOrd="18" destOrd="0" presId="urn:microsoft.com/office/officeart/2008/layout/LinedList"/>
    <dgm:cxn modelId="{42F00E3E-0911-462F-AC13-2214F89CD3F3}" type="presParOf" srcId="{96F7FDFD-D82F-4810-B4F8-218C009D6BB8}" destId="{14B48965-FCA4-4A93-BEB1-A1CEFD33C89A}" srcOrd="19" destOrd="0" presId="urn:microsoft.com/office/officeart/2008/layout/LinedList"/>
    <dgm:cxn modelId="{22ABBB50-A8D2-46BB-AE90-77D251C7448B}" type="presParOf" srcId="{14B48965-FCA4-4A93-BEB1-A1CEFD33C89A}" destId="{9A77986A-25E9-4746-9B06-F12782D64C75}" srcOrd="0" destOrd="0" presId="urn:microsoft.com/office/officeart/2008/layout/LinedList"/>
    <dgm:cxn modelId="{03FEB0D3-718A-45D8-859B-145CD09ED6AB}" type="presParOf" srcId="{14B48965-FCA4-4A93-BEB1-A1CEFD33C89A}" destId="{3893F13F-5B19-4EA4-8297-8E26E7C1BC11}" srcOrd="1" destOrd="0" presId="urn:microsoft.com/office/officeart/2008/layout/LinedList"/>
    <dgm:cxn modelId="{D1F4CF30-FB22-436F-B856-A28BA165629C}" type="presParOf" srcId="{96F7FDFD-D82F-4810-B4F8-218C009D6BB8}" destId="{7F481FF2-3E4F-432F-93B9-37C1F31F5B5B}" srcOrd="20" destOrd="0" presId="urn:microsoft.com/office/officeart/2008/layout/LinedList"/>
    <dgm:cxn modelId="{2360B22B-08D6-433A-B7D6-E7E3EFDF7BD0}" type="presParOf" srcId="{96F7FDFD-D82F-4810-B4F8-218C009D6BB8}" destId="{BF6BB550-4BE3-4A2D-B19E-8B7D7EAD9919}" srcOrd="21" destOrd="0" presId="urn:microsoft.com/office/officeart/2008/layout/LinedList"/>
    <dgm:cxn modelId="{3EE7C268-B752-49FA-BD52-AB87B07B921E}" type="presParOf" srcId="{BF6BB550-4BE3-4A2D-B19E-8B7D7EAD9919}" destId="{600BDD6B-FE46-4D7D-BF01-F37E79F4554A}" srcOrd="0" destOrd="0" presId="urn:microsoft.com/office/officeart/2008/layout/LinedList"/>
    <dgm:cxn modelId="{E3ED441C-0BCC-4CEC-B37B-F8F39A8471DA}" type="presParOf" srcId="{BF6BB550-4BE3-4A2D-B19E-8B7D7EAD9919}" destId="{11DA713A-D034-4E10-BD3C-AC26DEAB27E2}" srcOrd="1" destOrd="0" presId="urn:microsoft.com/office/officeart/2008/layout/LinedList"/>
    <dgm:cxn modelId="{EF67911E-1DED-494C-85EC-DEE857F82260}" type="presParOf" srcId="{96F7FDFD-D82F-4810-B4F8-218C009D6BB8}" destId="{BFA98B16-F24A-4449-9C33-F0C8B6B6C455}" srcOrd="22" destOrd="0" presId="urn:microsoft.com/office/officeart/2008/layout/LinedList"/>
    <dgm:cxn modelId="{E0C7330D-7082-4EDD-8B92-7E699C22527E}" type="presParOf" srcId="{96F7FDFD-D82F-4810-B4F8-218C009D6BB8}" destId="{429E1900-43E8-4184-99D8-57191B829466}" srcOrd="23" destOrd="0" presId="urn:microsoft.com/office/officeart/2008/layout/LinedList"/>
    <dgm:cxn modelId="{C3B28741-BD2B-4563-A515-22DBE985AD2A}" type="presParOf" srcId="{429E1900-43E8-4184-99D8-57191B829466}" destId="{3ED41461-3AFC-4ADE-97C7-45DD507EA498}" srcOrd="0" destOrd="0" presId="urn:microsoft.com/office/officeart/2008/layout/LinedList"/>
    <dgm:cxn modelId="{7C1631EF-A05A-4923-8776-65B54CF85A82}" type="presParOf" srcId="{429E1900-43E8-4184-99D8-57191B829466}" destId="{2E99917F-08F4-46CA-A258-A913B0E3D11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DB8C3F-EA76-4A03-B614-C08BE9DA02B8}"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408D6DEA-2E3E-48C5-83D7-4C76DF28B31F}">
      <dgm:prSet/>
      <dgm:spPr/>
      <dgm:t>
        <a:bodyPr/>
        <a:lstStyle/>
        <a:p>
          <a:r>
            <a:rPr lang="en-IN" b="1" dirty="0"/>
            <a:t>Step 4: Split data into training and testing sets</a:t>
          </a:r>
          <a:endParaRPr lang="en-US" b="1" dirty="0"/>
        </a:p>
      </dgm:t>
    </dgm:pt>
    <dgm:pt modelId="{FCB58AEA-F168-40AD-A4CA-CC45652C700E}" type="parTrans" cxnId="{B4BCE11B-0F27-42F2-B3A7-38B10BE996E0}">
      <dgm:prSet/>
      <dgm:spPr/>
      <dgm:t>
        <a:bodyPr/>
        <a:lstStyle/>
        <a:p>
          <a:endParaRPr lang="en-US" sz="1400"/>
        </a:p>
      </dgm:t>
    </dgm:pt>
    <dgm:pt modelId="{A5E99A50-6B4D-44EA-9782-4990A4AC6107}" type="sibTrans" cxnId="{B4BCE11B-0F27-42F2-B3A7-38B10BE996E0}">
      <dgm:prSet/>
      <dgm:spPr/>
      <dgm:t>
        <a:bodyPr/>
        <a:lstStyle/>
        <a:p>
          <a:endParaRPr lang="en-US"/>
        </a:p>
      </dgm:t>
    </dgm:pt>
    <dgm:pt modelId="{4E5A8FBC-1880-4E1D-B57F-F2CD836F0E53}">
      <dgm:prSet/>
      <dgm:spPr/>
      <dgm:t>
        <a:bodyPr/>
        <a:lstStyle/>
        <a:p>
          <a:r>
            <a:rPr lang="en-IN" dirty="0"/>
            <a:t>from </a:t>
          </a:r>
          <a:r>
            <a:rPr lang="en-IN" dirty="0" err="1"/>
            <a:t>sklearn.model_selection</a:t>
          </a:r>
          <a:r>
            <a:rPr lang="en-IN" dirty="0"/>
            <a:t> import </a:t>
          </a:r>
          <a:r>
            <a:rPr lang="en-IN" dirty="0" err="1"/>
            <a:t>train_test_split</a:t>
          </a:r>
          <a:endParaRPr lang="en-US" dirty="0"/>
        </a:p>
      </dgm:t>
    </dgm:pt>
    <dgm:pt modelId="{1463F0A5-D3F1-4AD0-BF81-C02B340C334E}" type="parTrans" cxnId="{A28DAF0A-25AE-4F3E-B8AA-6A5D280E8229}">
      <dgm:prSet/>
      <dgm:spPr/>
      <dgm:t>
        <a:bodyPr/>
        <a:lstStyle/>
        <a:p>
          <a:endParaRPr lang="en-US" sz="1400"/>
        </a:p>
      </dgm:t>
    </dgm:pt>
    <dgm:pt modelId="{A953FFE8-3D84-4E17-A0E3-EC2EC4ABB1CE}" type="sibTrans" cxnId="{A28DAF0A-25AE-4F3E-B8AA-6A5D280E8229}">
      <dgm:prSet/>
      <dgm:spPr/>
      <dgm:t>
        <a:bodyPr/>
        <a:lstStyle/>
        <a:p>
          <a:endParaRPr lang="en-US"/>
        </a:p>
      </dgm:t>
    </dgm:pt>
    <dgm:pt modelId="{FC9457BB-CD5F-442D-9972-C9C2233D3567}">
      <dgm:prSet/>
      <dgm:spPr/>
      <dgm:t>
        <a:bodyPr/>
        <a:lstStyle/>
        <a:p>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train_test_split</a:t>
          </a:r>
          <a:r>
            <a:rPr lang="en-IN" dirty="0"/>
            <a:t>(X, y, </a:t>
          </a:r>
          <a:r>
            <a:rPr lang="en-IN" dirty="0" err="1"/>
            <a:t>test_size</a:t>
          </a:r>
          <a:r>
            <a:rPr lang="en-IN" dirty="0"/>
            <a:t>=0.2)  </a:t>
          </a:r>
          <a:r>
            <a:rPr lang="en-IN" b="1" dirty="0"/>
            <a:t>80% train, 20% test</a:t>
          </a:r>
          <a:endParaRPr lang="en-US" b="1" dirty="0"/>
        </a:p>
      </dgm:t>
    </dgm:pt>
    <dgm:pt modelId="{F712BA6E-FED1-4663-95B1-DF63CF760C77}" type="parTrans" cxnId="{3239960B-A71A-486F-A1BF-1A60D19CA3C7}">
      <dgm:prSet/>
      <dgm:spPr/>
      <dgm:t>
        <a:bodyPr/>
        <a:lstStyle/>
        <a:p>
          <a:endParaRPr lang="en-US" sz="1400"/>
        </a:p>
      </dgm:t>
    </dgm:pt>
    <dgm:pt modelId="{1DDBBE2D-4C5A-48D7-B60B-1C6BE4D23171}" type="sibTrans" cxnId="{3239960B-A71A-486F-A1BF-1A60D19CA3C7}">
      <dgm:prSet/>
      <dgm:spPr/>
      <dgm:t>
        <a:bodyPr/>
        <a:lstStyle/>
        <a:p>
          <a:endParaRPr lang="en-US"/>
        </a:p>
      </dgm:t>
    </dgm:pt>
    <dgm:pt modelId="{0C23F663-8068-4539-838F-9B6AA2AB36DB}">
      <dgm:prSet/>
      <dgm:spPr/>
      <dgm:t>
        <a:bodyPr/>
        <a:lstStyle/>
        <a:p>
          <a:r>
            <a:rPr lang="en-IN" b="1" dirty="0"/>
            <a:t>Step 5: Reshape data for model compatibility</a:t>
          </a:r>
          <a:endParaRPr lang="en-US" b="1" dirty="0"/>
        </a:p>
      </dgm:t>
    </dgm:pt>
    <dgm:pt modelId="{5B9D5221-3CB6-43A5-912A-21976E681BA4}" type="parTrans" cxnId="{709E2529-E842-4EA8-BA92-D81B6C4E64FF}">
      <dgm:prSet/>
      <dgm:spPr/>
      <dgm:t>
        <a:bodyPr/>
        <a:lstStyle/>
        <a:p>
          <a:endParaRPr lang="en-US" sz="1400"/>
        </a:p>
      </dgm:t>
    </dgm:pt>
    <dgm:pt modelId="{099FD7B9-7B71-4FDB-A4B4-74BF4767C339}" type="sibTrans" cxnId="{709E2529-E842-4EA8-BA92-D81B6C4E64FF}">
      <dgm:prSet/>
      <dgm:spPr/>
      <dgm:t>
        <a:bodyPr/>
        <a:lstStyle/>
        <a:p>
          <a:endParaRPr lang="en-US"/>
        </a:p>
      </dgm:t>
    </dgm:pt>
    <dgm:pt modelId="{6AA066EE-926E-42C5-B534-C4D593A46BA7}">
      <dgm:prSet/>
      <dgm:spPr/>
      <dgm:t>
        <a:bodyPr/>
        <a:lstStyle/>
        <a:p>
          <a:r>
            <a:rPr lang="en-IN" dirty="0" err="1"/>
            <a:t>X_train</a:t>
          </a:r>
          <a:r>
            <a:rPr lang="en-IN" dirty="0"/>
            <a:t> = </a:t>
          </a:r>
          <a:r>
            <a:rPr lang="en-IN" dirty="0" err="1"/>
            <a:t>X_train.reshape</a:t>
          </a:r>
          <a:r>
            <a:rPr lang="en-IN" dirty="0"/>
            <a:t>(-1, 1)         </a:t>
          </a:r>
          <a:r>
            <a:rPr lang="en-IN" b="1" dirty="0"/>
            <a:t>Convert 1D array to 2D for training</a:t>
          </a:r>
          <a:endParaRPr lang="en-US" b="1" dirty="0"/>
        </a:p>
      </dgm:t>
    </dgm:pt>
    <dgm:pt modelId="{DF22E824-4C84-4840-9927-DBA3BA4849E5}" type="parTrans" cxnId="{E5362248-9D06-4E68-907E-8CD82538B409}">
      <dgm:prSet/>
      <dgm:spPr/>
      <dgm:t>
        <a:bodyPr/>
        <a:lstStyle/>
        <a:p>
          <a:endParaRPr lang="en-US" sz="1400"/>
        </a:p>
      </dgm:t>
    </dgm:pt>
    <dgm:pt modelId="{02A42049-C6E1-4C60-80B3-A3AD5F4F0B07}" type="sibTrans" cxnId="{E5362248-9D06-4E68-907E-8CD82538B409}">
      <dgm:prSet/>
      <dgm:spPr/>
      <dgm:t>
        <a:bodyPr/>
        <a:lstStyle/>
        <a:p>
          <a:endParaRPr lang="en-US"/>
        </a:p>
      </dgm:t>
    </dgm:pt>
    <dgm:pt modelId="{6E3F9695-3362-434D-841F-A528FA8DA19D}">
      <dgm:prSet/>
      <dgm:spPr/>
      <dgm:t>
        <a:bodyPr/>
        <a:lstStyle/>
        <a:p>
          <a:r>
            <a:rPr lang="en-IN" dirty="0" err="1"/>
            <a:t>X_test</a:t>
          </a:r>
          <a:r>
            <a:rPr lang="en-IN" dirty="0"/>
            <a:t> = </a:t>
          </a:r>
          <a:r>
            <a:rPr lang="en-IN" dirty="0" err="1"/>
            <a:t>X_test.reshape</a:t>
          </a:r>
          <a:r>
            <a:rPr lang="en-IN" dirty="0"/>
            <a:t>(-1, 1)           </a:t>
          </a:r>
          <a:r>
            <a:rPr lang="en-IN" b="1" dirty="0"/>
            <a:t>Convert 1D array to 2D for testing</a:t>
          </a:r>
          <a:endParaRPr lang="en-US" b="1" dirty="0"/>
        </a:p>
      </dgm:t>
    </dgm:pt>
    <dgm:pt modelId="{52DF5A7E-3091-4DAB-B3BD-6C603D5B6997}" type="parTrans" cxnId="{F25AE577-2D10-467D-9238-926C12677073}">
      <dgm:prSet/>
      <dgm:spPr/>
      <dgm:t>
        <a:bodyPr/>
        <a:lstStyle/>
        <a:p>
          <a:endParaRPr lang="en-US" sz="1400"/>
        </a:p>
      </dgm:t>
    </dgm:pt>
    <dgm:pt modelId="{EBF5239F-9673-44D7-806F-B4B61155BB6D}" type="sibTrans" cxnId="{F25AE577-2D10-467D-9238-926C12677073}">
      <dgm:prSet/>
      <dgm:spPr/>
      <dgm:t>
        <a:bodyPr/>
        <a:lstStyle/>
        <a:p>
          <a:endParaRPr lang="en-US"/>
        </a:p>
      </dgm:t>
    </dgm:pt>
    <dgm:pt modelId="{015FAB05-4691-4FFD-B025-AEE6DC6DC655}">
      <dgm:prSet/>
      <dgm:spPr/>
      <dgm:t>
        <a:bodyPr/>
        <a:lstStyle/>
        <a:p>
          <a:r>
            <a:rPr lang="en-IN" b="1" dirty="0"/>
            <a:t>Step 6: Feature scaling (standardization)</a:t>
          </a:r>
          <a:endParaRPr lang="en-US" b="1" dirty="0"/>
        </a:p>
      </dgm:t>
    </dgm:pt>
    <dgm:pt modelId="{DF2B5241-299A-4315-9A06-CE0BEA82BAA8}" type="parTrans" cxnId="{B7DF7A00-6AB3-4128-AA35-3E6D0F478B79}">
      <dgm:prSet/>
      <dgm:spPr/>
      <dgm:t>
        <a:bodyPr/>
        <a:lstStyle/>
        <a:p>
          <a:endParaRPr lang="en-US" sz="1400"/>
        </a:p>
      </dgm:t>
    </dgm:pt>
    <dgm:pt modelId="{252DC604-0431-4BE6-9D57-7149EBA6487C}" type="sibTrans" cxnId="{B7DF7A00-6AB3-4128-AA35-3E6D0F478B79}">
      <dgm:prSet/>
      <dgm:spPr/>
      <dgm:t>
        <a:bodyPr/>
        <a:lstStyle/>
        <a:p>
          <a:endParaRPr lang="en-US"/>
        </a:p>
      </dgm:t>
    </dgm:pt>
    <dgm:pt modelId="{E86A4694-A899-4EB7-93E9-A4C77D47C11A}">
      <dgm:prSet/>
      <dgm:spPr/>
      <dgm:t>
        <a:bodyPr/>
        <a:lstStyle/>
        <a:p>
          <a:r>
            <a:rPr lang="en-IN"/>
            <a:t>from sklearn.preprocessing import StandardScaler</a:t>
          </a:r>
          <a:endParaRPr lang="en-US"/>
        </a:p>
      </dgm:t>
    </dgm:pt>
    <dgm:pt modelId="{AD9E720C-9E51-4A14-9836-542B239BA137}" type="parTrans" cxnId="{159BDF3B-C98A-46F8-9613-4E1CCC9088C8}">
      <dgm:prSet/>
      <dgm:spPr/>
      <dgm:t>
        <a:bodyPr/>
        <a:lstStyle/>
        <a:p>
          <a:endParaRPr lang="en-US" sz="1400"/>
        </a:p>
      </dgm:t>
    </dgm:pt>
    <dgm:pt modelId="{BABF67DB-9063-4294-9BE7-F4231DF61762}" type="sibTrans" cxnId="{159BDF3B-C98A-46F8-9613-4E1CCC9088C8}">
      <dgm:prSet/>
      <dgm:spPr/>
      <dgm:t>
        <a:bodyPr/>
        <a:lstStyle/>
        <a:p>
          <a:endParaRPr lang="en-US"/>
        </a:p>
      </dgm:t>
    </dgm:pt>
    <dgm:pt modelId="{2CB71B25-8D94-4B56-A7B6-CB54A10704BE}">
      <dgm:prSet/>
      <dgm:spPr/>
      <dgm:t>
        <a:bodyPr/>
        <a:lstStyle/>
        <a:p>
          <a:r>
            <a:rPr lang="en-IN"/>
            <a:t>sc = StandardScaler()                    </a:t>
          </a:r>
          <a:r>
            <a:rPr lang="en-IN" b="1"/>
            <a:t> Create scaler object</a:t>
          </a:r>
          <a:endParaRPr lang="en-US" b="1"/>
        </a:p>
      </dgm:t>
    </dgm:pt>
    <dgm:pt modelId="{0FE9E635-2608-45E8-9090-4CA3BF6EF8A6}" type="parTrans" cxnId="{642E64F6-71E2-4323-8C49-2C217CE31E02}">
      <dgm:prSet/>
      <dgm:spPr/>
      <dgm:t>
        <a:bodyPr/>
        <a:lstStyle/>
        <a:p>
          <a:endParaRPr lang="en-US" sz="1400"/>
        </a:p>
      </dgm:t>
    </dgm:pt>
    <dgm:pt modelId="{DFA871D9-90F8-450A-9B16-266BCFE90174}" type="sibTrans" cxnId="{642E64F6-71E2-4323-8C49-2C217CE31E02}">
      <dgm:prSet/>
      <dgm:spPr/>
      <dgm:t>
        <a:bodyPr/>
        <a:lstStyle/>
        <a:p>
          <a:endParaRPr lang="en-US"/>
        </a:p>
      </dgm:t>
    </dgm:pt>
    <dgm:pt modelId="{3955ACF7-13EA-4591-BC49-418F1D1A7D33}">
      <dgm:prSet/>
      <dgm:spPr/>
      <dgm:t>
        <a:bodyPr/>
        <a:lstStyle/>
        <a:p>
          <a:r>
            <a:rPr lang="en-IN"/>
            <a:t>X_train = sc.fit_transform(X_train)      </a:t>
          </a:r>
          <a:r>
            <a:rPr lang="en-IN" b="1"/>
            <a:t> Fit and transform training data</a:t>
          </a:r>
          <a:endParaRPr lang="en-US" b="1"/>
        </a:p>
      </dgm:t>
    </dgm:pt>
    <dgm:pt modelId="{F7AC53BD-9388-4E9D-90CC-99376C23A491}" type="parTrans" cxnId="{463FC1D5-2B91-47AF-B454-56BEA2806B8D}">
      <dgm:prSet/>
      <dgm:spPr/>
      <dgm:t>
        <a:bodyPr/>
        <a:lstStyle/>
        <a:p>
          <a:endParaRPr lang="en-US" sz="1400"/>
        </a:p>
      </dgm:t>
    </dgm:pt>
    <dgm:pt modelId="{055B61C6-BEA4-4B6F-824D-37B0CAEACB9A}" type="sibTrans" cxnId="{463FC1D5-2B91-47AF-B454-56BEA2806B8D}">
      <dgm:prSet/>
      <dgm:spPr/>
      <dgm:t>
        <a:bodyPr/>
        <a:lstStyle/>
        <a:p>
          <a:endParaRPr lang="en-US"/>
        </a:p>
      </dgm:t>
    </dgm:pt>
    <dgm:pt modelId="{BB0ADB5C-9CB3-4115-8DA7-B12090D652B3}">
      <dgm:prSet/>
      <dgm:spPr/>
      <dgm:t>
        <a:bodyPr/>
        <a:lstStyle/>
        <a:p>
          <a:r>
            <a:rPr lang="en-IN"/>
            <a:t>X_test = sc.transform(X_test)            </a:t>
          </a:r>
          <a:r>
            <a:rPr lang="en-IN" b="1"/>
            <a:t>Transform test data using same scaler</a:t>
          </a:r>
          <a:endParaRPr lang="en-US" b="1"/>
        </a:p>
      </dgm:t>
    </dgm:pt>
    <dgm:pt modelId="{B367A411-7C2B-4E56-B950-BF1110D0B7A8}" type="parTrans" cxnId="{1B5058AB-99AB-4237-A23F-7E85AD44F99A}">
      <dgm:prSet/>
      <dgm:spPr/>
      <dgm:t>
        <a:bodyPr/>
        <a:lstStyle/>
        <a:p>
          <a:endParaRPr lang="en-US" sz="1400"/>
        </a:p>
      </dgm:t>
    </dgm:pt>
    <dgm:pt modelId="{83529873-3BB9-4600-8751-945321DB53C6}" type="sibTrans" cxnId="{1B5058AB-99AB-4237-A23F-7E85AD44F99A}">
      <dgm:prSet/>
      <dgm:spPr/>
      <dgm:t>
        <a:bodyPr/>
        <a:lstStyle/>
        <a:p>
          <a:endParaRPr lang="en-US"/>
        </a:p>
      </dgm:t>
    </dgm:pt>
    <dgm:pt modelId="{1365585A-48DE-42BB-A4EF-20D1E4CB980D}" type="pres">
      <dgm:prSet presAssocID="{31DB8C3F-EA76-4A03-B614-C08BE9DA02B8}" presName="vert0" presStyleCnt="0">
        <dgm:presLayoutVars>
          <dgm:dir/>
          <dgm:animOne val="branch"/>
          <dgm:animLvl val="lvl"/>
        </dgm:presLayoutVars>
      </dgm:prSet>
      <dgm:spPr/>
    </dgm:pt>
    <dgm:pt modelId="{AD98F44D-E0E6-44BA-9AFC-141EDC91858B}" type="pres">
      <dgm:prSet presAssocID="{408D6DEA-2E3E-48C5-83D7-4C76DF28B31F}" presName="thickLine" presStyleLbl="alignNode1" presStyleIdx="0" presStyleCnt="11"/>
      <dgm:spPr/>
    </dgm:pt>
    <dgm:pt modelId="{FE3E5E74-0992-439B-8A4B-731162FA584A}" type="pres">
      <dgm:prSet presAssocID="{408D6DEA-2E3E-48C5-83D7-4C76DF28B31F}" presName="horz1" presStyleCnt="0"/>
      <dgm:spPr/>
    </dgm:pt>
    <dgm:pt modelId="{B864E2E5-387F-4DFD-A07B-2BAB9377C608}" type="pres">
      <dgm:prSet presAssocID="{408D6DEA-2E3E-48C5-83D7-4C76DF28B31F}" presName="tx1" presStyleLbl="revTx" presStyleIdx="0" presStyleCnt="11"/>
      <dgm:spPr/>
    </dgm:pt>
    <dgm:pt modelId="{49CA24F2-E4FD-4794-AFAF-DCD811FE5328}" type="pres">
      <dgm:prSet presAssocID="{408D6DEA-2E3E-48C5-83D7-4C76DF28B31F}" presName="vert1" presStyleCnt="0"/>
      <dgm:spPr/>
    </dgm:pt>
    <dgm:pt modelId="{D1C989A8-FC61-4862-8B86-1D57BDB68357}" type="pres">
      <dgm:prSet presAssocID="{4E5A8FBC-1880-4E1D-B57F-F2CD836F0E53}" presName="thickLine" presStyleLbl="alignNode1" presStyleIdx="1" presStyleCnt="11"/>
      <dgm:spPr/>
    </dgm:pt>
    <dgm:pt modelId="{BAF6FD17-5F75-4D31-8F2A-38D93C52CAB3}" type="pres">
      <dgm:prSet presAssocID="{4E5A8FBC-1880-4E1D-B57F-F2CD836F0E53}" presName="horz1" presStyleCnt="0"/>
      <dgm:spPr/>
    </dgm:pt>
    <dgm:pt modelId="{075EA10B-9856-4D8D-88AF-B38F62644761}" type="pres">
      <dgm:prSet presAssocID="{4E5A8FBC-1880-4E1D-B57F-F2CD836F0E53}" presName="tx1" presStyleLbl="revTx" presStyleIdx="1" presStyleCnt="11"/>
      <dgm:spPr/>
    </dgm:pt>
    <dgm:pt modelId="{B2C009BB-78C2-444A-BBD3-86E9138FB706}" type="pres">
      <dgm:prSet presAssocID="{4E5A8FBC-1880-4E1D-B57F-F2CD836F0E53}" presName="vert1" presStyleCnt="0"/>
      <dgm:spPr/>
    </dgm:pt>
    <dgm:pt modelId="{C6FE86B1-7F9A-475A-A5C3-31E8FE33BDEC}" type="pres">
      <dgm:prSet presAssocID="{FC9457BB-CD5F-442D-9972-C9C2233D3567}" presName="thickLine" presStyleLbl="alignNode1" presStyleIdx="2" presStyleCnt="11"/>
      <dgm:spPr/>
    </dgm:pt>
    <dgm:pt modelId="{C2663DAA-1458-4647-95FD-B2A5FA386DAF}" type="pres">
      <dgm:prSet presAssocID="{FC9457BB-CD5F-442D-9972-C9C2233D3567}" presName="horz1" presStyleCnt="0"/>
      <dgm:spPr/>
    </dgm:pt>
    <dgm:pt modelId="{6871E072-F2DB-472A-8008-16A02EF0A553}" type="pres">
      <dgm:prSet presAssocID="{FC9457BB-CD5F-442D-9972-C9C2233D3567}" presName="tx1" presStyleLbl="revTx" presStyleIdx="2" presStyleCnt="11"/>
      <dgm:spPr/>
    </dgm:pt>
    <dgm:pt modelId="{AAA17C53-FE59-4CD7-8C0F-7F280BF946EC}" type="pres">
      <dgm:prSet presAssocID="{FC9457BB-CD5F-442D-9972-C9C2233D3567}" presName="vert1" presStyleCnt="0"/>
      <dgm:spPr/>
    </dgm:pt>
    <dgm:pt modelId="{264C4180-2BB2-4A1F-A463-74BC751AFA04}" type="pres">
      <dgm:prSet presAssocID="{0C23F663-8068-4539-838F-9B6AA2AB36DB}" presName="thickLine" presStyleLbl="alignNode1" presStyleIdx="3" presStyleCnt="11"/>
      <dgm:spPr/>
    </dgm:pt>
    <dgm:pt modelId="{94B9CC1F-0862-4F45-B008-A72398FAE123}" type="pres">
      <dgm:prSet presAssocID="{0C23F663-8068-4539-838F-9B6AA2AB36DB}" presName="horz1" presStyleCnt="0"/>
      <dgm:spPr/>
    </dgm:pt>
    <dgm:pt modelId="{6F20A32B-EE64-4B23-9DF9-1AF13A1CFFB4}" type="pres">
      <dgm:prSet presAssocID="{0C23F663-8068-4539-838F-9B6AA2AB36DB}" presName="tx1" presStyleLbl="revTx" presStyleIdx="3" presStyleCnt="11"/>
      <dgm:spPr/>
    </dgm:pt>
    <dgm:pt modelId="{4C2B21F6-ACCC-4A8C-8430-87B7E7734239}" type="pres">
      <dgm:prSet presAssocID="{0C23F663-8068-4539-838F-9B6AA2AB36DB}" presName="vert1" presStyleCnt="0"/>
      <dgm:spPr/>
    </dgm:pt>
    <dgm:pt modelId="{164F7AE6-3B48-4AD9-AF67-51023D3BEF3E}" type="pres">
      <dgm:prSet presAssocID="{6AA066EE-926E-42C5-B534-C4D593A46BA7}" presName="thickLine" presStyleLbl="alignNode1" presStyleIdx="4" presStyleCnt="11"/>
      <dgm:spPr/>
    </dgm:pt>
    <dgm:pt modelId="{83B3893B-4706-47CB-ACD3-CEF8652C923B}" type="pres">
      <dgm:prSet presAssocID="{6AA066EE-926E-42C5-B534-C4D593A46BA7}" presName="horz1" presStyleCnt="0"/>
      <dgm:spPr/>
    </dgm:pt>
    <dgm:pt modelId="{382F40A3-B118-4B29-8F21-354A31202123}" type="pres">
      <dgm:prSet presAssocID="{6AA066EE-926E-42C5-B534-C4D593A46BA7}" presName="tx1" presStyleLbl="revTx" presStyleIdx="4" presStyleCnt="11"/>
      <dgm:spPr/>
    </dgm:pt>
    <dgm:pt modelId="{FD2E880C-1948-4FD9-A76D-E9854AEE3D05}" type="pres">
      <dgm:prSet presAssocID="{6AA066EE-926E-42C5-B534-C4D593A46BA7}" presName="vert1" presStyleCnt="0"/>
      <dgm:spPr/>
    </dgm:pt>
    <dgm:pt modelId="{C595E663-742D-4509-9F10-F2F6F0F34479}" type="pres">
      <dgm:prSet presAssocID="{6E3F9695-3362-434D-841F-A528FA8DA19D}" presName="thickLine" presStyleLbl="alignNode1" presStyleIdx="5" presStyleCnt="11"/>
      <dgm:spPr/>
    </dgm:pt>
    <dgm:pt modelId="{64633C4C-52C9-463E-A000-4698850358ED}" type="pres">
      <dgm:prSet presAssocID="{6E3F9695-3362-434D-841F-A528FA8DA19D}" presName="horz1" presStyleCnt="0"/>
      <dgm:spPr/>
    </dgm:pt>
    <dgm:pt modelId="{B4832F2F-128D-4DDA-9163-16587F637DE8}" type="pres">
      <dgm:prSet presAssocID="{6E3F9695-3362-434D-841F-A528FA8DA19D}" presName="tx1" presStyleLbl="revTx" presStyleIdx="5" presStyleCnt="11"/>
      <dgm:spPr/>
    </dgm:pt>
    <dgm:pt modelId="{A18DCE75-C520-440F-AEED-04D29C5757F2}" type="pres">
      <dgm:prSet presAssocID="{6E3F9695-3362-434D-841F-A528FA8DA19D}" presName="vert1" presStyleCnt="0"/>
      <dgm:spPr/>
    </dgm:pt>
    <dgm:pt modelId="{29DC461E-5461-4207-88CB-CBD9D63DABCF}" type="pres">
      <dgm:prSet presAssocID="{015FAB05-4691-4FFD-B025-AEE6DC6DC655}" presName="thickLine" presStyleLbl="alignNode1" presStyleIdx="6" presStyleCnt="11"/>
      <dgm:spPr/>
    </dgm:pt>
    <dgm:pt modelId="{BB229B45-AE97-4560-9170-B8842D4C509D}" type="pres">
      <dgm:prSet presAssocID="{015FAB05-4691-4FFD-B025-AEE6DC6DC655}" presName="horz1" presStyleCnt="0"/>
      <dgm:spPr/>
    </dgm:pt>
    <dgm:pt modelId="{8B54FAE4-86A5-42BE-9D4B-E2EC3DD1A352}" type="pres">
      <dgm:prSet presAssocID="{015FAB05-4691-4FFD-B025-AEE6DC6DC655}" presName="tx1" presStyleLbl="revTx" presStyleIdx="6" presStyleCnt="11"/>
      <dgm:spPr/>
    </dgm:pt>
    <dgm:pt modelId="{3A7EE76C-73EE-411C-8973-756E83A1A037}" type="pres">
      <dgm:prSet presAssocID="{015FAB05-4691-4FFD-B025-AEE6DC6DC655}" presName="vert1" presStyleCnt="0"/>
      <dgm:spPr/>
    </dgm:pt>
    <dgm:pt modelId="{6740ACD1-8B47-437C-BAF2-D88D73FD5047}" type="pres">
      <dgm:prSet presAssocID="{E86A4694-A899-4EB7-93E9-A4C77D47C11A}" presName="thickLine" presStyleLbl="alignNode1" presStyleIdx="7" presStyleCnt="11"/>
      <dgm:spPr/>
    </dgm:pt>
    <dgm:pt modelId="{3DDD85D6-7B58-478D-9948-5E00A857A656}" type="pres">
      <dgm:prSet presAssocID="{E86A4694-A899-4EB7-93E9-A4C77D47C11A}" presName="horz1" presStyleCnt="0"/>
      <dgm:spPr/>
    </dgm:pt>
    <dgm:pt modelId="{4272D9F3-D1B3-4E2A-8D5B-24861D2F62E3}" type="pres">
      <dgm:prSet presAssocID="{E86A4694-A899-4EB7-93E9-A4C77D47C11A}" presName="tx1" presStyleLbl="revTx" presStyleIdx="7" presStyleCnt="11"/>
      <dgm:spPr/>
    </dgm:pt>
    <dgm:pt modelId="{C3E2D5BF-800F-4F93-BB24-9BDFDB5C7AA0}" type="pres">
      <dgm:prSet presAssocID="{E86A4694-A899-4EB7-93E9-A4C77D47C11A}" presName="vert1" presStyleCnt="0"/>
      <dgm:spPr/>
    </dgm:pt>
    <dgm:pt modelId="{402C4266-982E-4F8E-A8C6-3E887C286FC3}" type="pres">
      <dgm:prSet presAssocID="{2CB71B25-8D94-4B56-A7B6-CB54A10704BE}" presName="thickLine" presStyleLbl="alignNode1" presStyleIdx="8" presStyleCnt="11"/>
      <dgm:spPr/>
    </dgm:pt>
    <dgm:pt modelId="{75BA45F8-5A24-438D-8404-D5CE4364AFFD}" type="pres">
      <dgm:prSet presAssocID="{2CB71B25-8D94-4B56-A7B6-CB54A10704BE}" presName="horz1" presStyleCnt="0"/>
      <dgm:spPr/>
    </dgm:pt>
    <dgm:pt modelId="{8D6C5DF1-097D-4CD2-8D98-E2BE313B4798}" type="pres">
      <dgm:prSet presAssocID="{2CB71B25-8D94-4B56-A7B6-CB54A10704BE}" presName="tx1" presStyleLbl="revTx" presStyleIdx="8" presStyleCnt="11"/>
      <dgm:spPr/>
    </dgm:pt>
    <dgm:pt modelId="{C080691C-D111-4C9B-BC29-D6C595CD8B69}" type="pres">
      <dgm:prSet presAssocID="{2CB71B25-8D94-4B56-A7B6-CB54A10704BE}" presName="vert1" presStyleCnt="0"/>
      <dgm:spPr/>
    </dgm:pt>
    <dgm:pt modelId="{3816C0C2-57A1-41AA-ACCE-46E159D552FE}" type="pres">
      <dgm:prSet presAssocID="{3955ACF7-13EA-4591-BC49-418F1D1A7D33}" presName="thickLine" presStyleLbl="alignNode1" presStyleIdx="9" presStyleCnt="11"/>
      <dgm:spPr/>
    </dgm:pt>
    <dgm:pt modelId="{2F42FB9D-4920-4A90-8152-6126956457D4}" type="pres">
      <dgm:prSet presAssocID="{3955ACF7-13EA-4591-BC49-418F1D1A7D33}" presName="horz1" presStyleCnt="0"/>
      <dgm:spPr/>
    </dgm:pt>
    <dgm:pt modelId="{BC2E51E1-03F3-4E3B-8931-8BA54417256D}" type="pres">
      <dgm:prSet presAssocID="{3955ACF7-13EA-4591-BC49-418F1D1A7D33}" presName="tx1" presStyleLbl="revTx" presStyleIdx="9" presStyleCnt="11"/>
      <dgm:spPr/>
    </dgm:pt>
    <dgm:pt modelId="{E78BA341-947E-4E89-8CCE-A4B2F282AE61}" type="pres">
      <dgm:prSet presAssocID="{3955ACF7-13EA-4591-BC49-418F1D1A7D33}" presName="vert1" presStyleCnt="0"/>
      <dgm:spPr/>
    </dgm:pt>
    <dgm:pt modelId="{7573FB1B-5C6D-438E-82C5-FB162ECF7F0D}" type="pres">
      <dgm:prSet presAssocID="{BB0ADB5C-9CB3-4115-8DA7-B12090D652B3}" presName="thickLine" presStyleLbl="alignNode1" presStyleIdx="10" presStyleCnt="11"/>
      <dgm:spPr/>
    </dgm:pt>
    <dgm:pt modelId="{454168B0-775B-4306-B034-08B2D9AC5546}" type="pres">
      <dgm:prSet presAssocID="{BB0ADB5C-9CB3-4115-8DA7-B12090D652B3}" presName="horz1" presStyleCnt="0"/>
      <dgm:spPr/>
    </dgm:pt>
    <dgm:pt modelId="{D3E8E915-699A-4BB8-91F1-0E269F298D6E}" type="pres">
      <dgm:prSet presAssocID="{BB0ADB5C-9CB3-4115-8DA7-B12090D652B3}" presName="tx1" presStyleLbl="revTx" presStyleIdx="10" presStyleCnt="11"/>
      <dgm:spPr/>
    </dgm:pt>
    <dgm:pt modelId="{6E9AA3D6-F01C-4EBE-9112-FC09BFAC5D97}" type="pres">
      <dgm:prSet presAssocID="{BB0ADB5C-9CB3-4115-8DA7-B12090D652B3}" presName="vert1" presStyleCnt="0"/>
      <dgm:spPr/>
    </dgm:pt>
  </dgm:ptLst>
  <dgm:cxnLst>
    <dgm:cxn modelId="{B7DF7A00-6AB3-4128-AA35-3E6D0F478B79}" srcId="{31DB8C3F-EA76-4A03-B614-C08BE9DA02B8}" destId="{015FAB05-4691-4FFD-B025-AEE6DC6DC655}" srcOrd="6" destOrd="0" parTransId="{DF2B5241-299A-4315-9A06-CE0BEA82BAA8}" sibTransId="{252DC604-0431-4BE6-9D57-7149EBA6487C}"/>
    <dgm:cxn modelId="{A28DAF0A-25AE-4F3E-B8AA-6A5D280E8229}" srcId="{31DB8C3F-EA76-4A03-B614-C08BE9DA02B8}" destId="{4E5A8FBC-1880-4E1D-B57F-F2CD836F0E53}" srcOrd="1" destOrd="0" parTransId="{1463F0A5-D3F1-4AD0-BF81-C02B340C334E}" sibTransId="{A953FFE8-3D84-4E17-A0E3-EC2EC4ABB1CE}"/>
    <dgm:cxn modelId="{3239960B-A71A-486F-A1BF-1A60D19CA3C7}" srcId="{31DB8C3F-EA76-4A03-B614-C08BE9DA02B8}" destId="{FC9457BB-CD5F-442D-9972-C9C2233D3567}" srcOrd="2" destOrd="0" parTransId="{F712BA6E-FED1-4663-95B1-DF63CF760C77}" sibTransId="{1DDBBE2D-4C5A-48D7-B60B-1C6BE4D23171}"/>
    <dgm:cxn modelId="{B4BCE11B-0F27-42F2-B3A7-38B10BE996E0}" srcId="{31DB8C3F-EA76-4A03-B614-C08BE9DA02B8}" destId="{408D6DEA-2E3E-48C5-83D7-4C76DF28B31F}" srcOrd="0" destOrd="0" parTransId="{FCB58AEA-F168-40AD-A4CA-CC45652C700E}" sibTransId="{A5E99A50-6B4D-44EA-9782-4990A4AC6107}"/>
    <dgm:cxn modelId="{709E2529-E842-4EA8-BA92-D81B6C4E64FF}" srcId="{31DB8C3F-EA76-4A03-B614-C08BE9DA02B8}" destId="{0C23F663-8068-4539-838F-9B6AA2AB36DB}" srcOrd="3" destOrd="0" parTransId="{5B9D5221-3CB6-43A5-912A-21976E681BA4}" sibTransId="{099FD7B9-7B71-4FDB-A4B4-74BF4767C339}"/>
    <dgm:cxn modelId="{4BD2252C-22BE-42EF-8DED-7C5F948DFF8F}" type="presOf" srcId="{4E5A8FBC-1880-4E1D-B57F-F2CD836F0E53}" destId="{075EA10B-9856-4D8D-88AF-B38F62644761}" srcOrd="0" destOrd="0" presId="urn:microsoft.com/office/officeart/2008/layout/LinedList"/>
    <dgm:cxn modelId="{6EB8FF2C-E910-49A1-8E3D-A05FA5C313B0}" type="presOf" srcId="{6AA066EE-926E-42C5-B534-C4D593A46BA7}" destId="{382F40A3-B118-4B29-8F21-354A31202123}" srcOrd="0" destOrd="0" presId="urn:microsoft.com/office/officeart/2008/layout/LinedList"/>
    <dgm:cxn modelId="{A3CE2635-1C2D-4251-A8A2-F5813B00368E}" type="presOf" srcId="{BB0ADB5C-9CB3-4115-8DA7-B12090D652B3}" destId="{D3E8E915-699A-4BB8-91F1-0E269F298D6E}" srcOrd="0" destOrd="0" presId="urn:microsoft.com/office/officeart/2008/layout/LinedList"/>
    <dgm:cxn modelId="{159BDF3B-C98A-46F8-9613-4E1CCC9088C8}" srcId="{31DB8C3F-EA76-4A03-B614-C08BE9DA02B8}" destId="{E86A4694-A899-4EB7-93E9-A4C77D47C11A}" srcOrd="7" destOrd="0" parTransId="{AD9E720C-9E51-4A14-9836-542B239BA137}" sibTransId="{BABF67DB-9063-4294-9BE7-F4231DF61762}"/>
    <dgm:cxn modelId="{30C8245C-3D1B-42D8-B31B-7D4314C3C8EB}" type="presOf" srcId="{E86A4694-A899-4EB7-93E9-A4C77D47C11A}" destId="{4272D9F3-D1B3-4E2A-8D5B-24861D2F62E3}" srcOrd="0" destOrd="0" presId="urn:microsoft.com/office/officeart/2008/layout/LinedList"/>
    <dgm:cxn modelId="{E5362248-9D06-4E68-907E-8CD82538B409}" srcId="{31DB8C3F-EA76-4A03-B614-C08BE9DA02B8}" destId="{6AA066EE-926E-42C5-B534-C4D593A46BA7}" srcOrd="4" destOrd="0" parTransId="{DF22E824-4C84-4840-9927-DBA3BA4849E5}" sibTransId="{02A42049-C6E1-4C60-80B3-A3AD5F4F0B07}"/>
    <dgm:cxn modelId="{F25AE577-2D10-467D-9238-926C12677073}" srcId="{31DB8C3F-EA76-4A03-B614-C08BE9DA02B8}" destId="{6E3F9695-3362-434D-841F-A528FA8DA19D}" srcOrd="5" destOrd="0" parTransId="{52DF5A7E-3091-4DAB-B3BD-6C603D5B6997}" sibTransId="{EBF5239F-9673-44D7-806F-B4B61155BB6D}"/>
    <dgm:cxn modelId="{08D93E7A-5673-487F-89CD-ECF160334D7B}" type="presOf" srcId="{2CB71B25-8D94-4B56-A7B6-CB54A10704BE}" destId="{8D6C5DF1-097D-4CD2-8D98-E2BE313B4798}" srcOrd="0" destOrd="0" presId="urn:microsoft.com/office/officeart/2008/layout/LinedList"/>
    <dgm:cxn modelId="{714F0695-16A6-4BE0-8A68-E053F9AA6FE5}" type="presOf" srcId="{408D6DEA-2E3E-48C5-83D7-4C76DF28B31F}" destId="{B864E2E5-387F-4DFD-A07B-2BAB9377C608}" srcOrd="0" destOrd="0" presId="urn:microsoft.com/office/officeart/2008/layout/LinedList"/>
    <dgm:cxn modelId="{7871CBA5-0734-480A-952C-23EBCD3372D7}" type="presOf" srcId="{3955ACF7-13EA-4591-BC49-418F1D1A7D33}" destId="{BC2E51E1-03F3-4E3B-8931-8BA54417256D}" srcOrd="0" destOrd="0" presId="urn:microsoft.com/office/officeart/2008/layout/LinedList"/>
    <dgm:cxn modelId="{1B5058AB-99AB-4237-A23F-7E85AD44F99A}" srcId="{31DB8C3F-EA76-4A03-B614-C08BE9DA02B8}" destId="{BB0ADB5C-9CB3-4115-8DA7-B12090D652B3}" srcOrd="10" destOrd="0" parTransId="{B367A411-7C2B-4E56-B950-BF1110D0B7A8}" sibTransId="{83529873-3BB9-4600-8751-945321DB53C6}"/>
    <dgm:cxn modelId="{AB7879BD-9E62-4968-ADF1-2FA2ABF2BE82}" type="presOf" srcId="{31DB8C3F-EA76-4A03-B614-C08BE9DA02B8}" destId="{1365585A-48DE-42BB-A4EF-20D1E4CB980D}" srcOrd="0" destOrd="0" presId="urn:microsoft.com/office/officeart/2008/layout/LinedList"/>
    <dgm:cxn modelId="{6E89C4BD-6C26-4D24-B441-F2D0C8749E75}" type="presOf" srcId="{0C23F663-8068-4539-838F-9B6AA2AB36DB}" destId="{6F20A32B-EE64-4B23-9DF9-1AF13A1CFFB4}" srcOrd="0" destOrd="0" presId="urn:microsoft.com/office/officeart/2008/layout/LinedList"/>
    <dgm:cxn modelId="{463FC1D5-2B91-47AF-B454-56BEA2806B8D}" srcId="{31DB8C3F-EA76-4A03-B614-C08BE9DA02B8}" destId="{3955ACF7-13EA-4591-BC49-418F1D1A7D33}" srcOrd="9" destOrd="0" parTransId="{F7AC53BD-9388-4E9D-90CC-99376C23A491}" sibTransId="{055B61C6-BEA4-4B6F-824D-37B0CAEACB9A}"/>
    <dgm:cxn modelId="{A1BADDD5-F7BB-4CC1-A3E8-051B06953343}" type="presOf" srcId="{FC9457BB-CD5F-442D-9972-C9C2233D3567}" destId="{6871E072-F2DB-472A-8008-16A02EF0A553}" srcOrd="0" destOrd="0" presId="urn:microsoft.com/office/officeart/2008/layout/LinedList"/>
    <dgm:cxn modelId="{72C5ECF2-2388-4EC9-85E5-F1B870AEA725}" type="presOf" srcId="{6E3F9695-3362-434D-841F-A528FA8DA19D}" destId="{B4832F2F-128D-4DDA-9163-16587F637DE8}" srcOrd="0" destOrd="0" presId="urn:microsoft.com/office/officeart/2008/layout/LinedList"/>
    <dgm:cxn modelId="{642E64F6-71E2-4323-8C49-2C217CE31E02}" srcId="{31DB8C3F-EA76-4A03-B614-C08BE9DA02B8}" destId="{2CB71B25-8D94-4B56-A7B6-CB54A10704BE}" srcOrd="8" destOrd="0" parTransId="{0FE9E635-2608-45E8-9090-4CA3BF6EF8A6}" sibTransId="{DFA871D9-90F8-450A-9B16-266BCFE90174}"/>
    <dgm:cxn modelId="{4CD2C3F8-E634-4816-A289-49F6A0A42DE0}" type="presOf" srcId="{015FAB05-4691-4FFD-B025-AEE6DC6DC655}" destId="{8B54FAE4-86A5-42BE-9D4B-E2EC3DD1A352}" srcOrd="0" destOrd="0" presId="urn:microsoft.com/office/officeart/2008/layout/LinedList"/>
    <dgm:cxn modelId="{A63E6D8F-C8EB-4F9A-B21B-E41CBA3534E5}" type="presParOf" srcId="{1365585A-48DE-42BB-A4EF-20D1E4CB980D}" destId="{AD98F44D-E0E6-44BA-9AFC-141EDC91858B}" srcOrd="0" destOrd="0" presId="urn:microsoft.com/office/officeart/2008/layout/LinedList"/>
    <dgm:cxn modelId="{7D863253-CC5F-4482-AA39-298EAE3818E4}" type="presParOf" srcId="{1365585A-48DE-42BB-A4EF-20D1E4CB980D}" destId="{FE3E5E74-0992-439B-8A4B-731162FA584A}" srcOrd="1" destOrd="0" presId="urn:microsoft.com/office/officeart/2008/layout/LinedList"/>
    <dgm:cxn modelId="{39C5E5DB-C6EB-4E20-A970-9A4696F3D858}" type="presParOf" srcId="{FE3E5E74-0992-439B-8A4B-731162FA584A}" destId="{B864E2E5-387F-4DFD-A07B-2BAB9377C608}" srcOrd="0" destOrd="0" presId="urn:microsoft.com/office/officeart/2008/layout/LinedList"/>
    <dgm:cxn modelId="{86CCF528-E3DC-4318-A371-6A6DBBA67511}" type="presParOf" srcId="{FE3E5E74-0992-439B-8A4B-731162FA584A}" destId="{49CA24F2-E4FD-4794-AFAF-DCD811FE5328}" srcOrd="1" destOrd="0" presId="urn:microsoft.com/office/officeart/2008/layout/LinedList"/>
    <dgm:cxn modelId="{F09F768E-3028-4AF5-9C51-AB7F37DEC2F9}" type="presParOf" srcId="{1365585A-48DE-42BB-A4EF-20D1E4CB980D}" destId="{D1C989A8-FC61-4862-8B86-1D57BDB68357}" srcOrd="2" destOrd="0" presId="urn:microsoft.com/office/officeart/2008/layout/LinedList"/>
    <dgm:cxn modelId="{2D0F905D-A860-4D50-A9EA-3B4CFC8916E7}" type="presParOf" srcId="{1365585A-48DE-42BB-A4EF-20D1E4CB980D}" destId="{BAF6FD17-5F75-4D31-8F2A-38D93C52CAB3}" srcOrd="3" destOrd="0" presId="urn:microsoft.com/office/officeart/2008/layout/LinedList"/>
    <dgm:cxn modelId="{43FB05EB-6D58-4A6F-94D7-406146924C40}" type="presParOf" srcId="{BAF6FD17-5F75-4D31-8F2A-38D93C52CAB3}" destId="{075EA10B-9856-4D8D-88AF-B38F62644761}" srcOrd="0" destOrd="0" presId="urn:microsoft.com/office/officeart/2008/layout/LinedList"/>
    <dgm:cxn modelId="{36FDC7C0-37BB-485F-B473-F5CBA2035519}" type="presParOf" srcId="{BAF6FD17-5F75-4D31-8F2A-38D93C52CAB3}" destId="{B2C009BB-78C2-444A-BBD3-86E9138FB706}" srcOrd="1" destOrd="0" presId="urn:microsoft.com/office/officeart/2008/layout/LinedList"/>
    <dgm:cxn modelId="{B47EEC98-B505-4B66-B8B8-13D1E2327A45}" type="presParOf" srcId="{1365585A-48DE-42BB-A4EF-20D1E4CB980D}" destId="{C6FE86B1-7F9A-475A-A5C3-31E8FE33BDEC}" srcOrd="4" destOrd="0" presId="urn:microsoft.com/office/officeart/2008/layout/LinedList"/>
    <dgm:cxn modelId="{42A400C1-53C0-4C2D-82BD-00725EB5CFEE}" type="presParOf" srcId="{1365585A-48DE-42BB-A4EF-20D1E4CB980D}" destId="{C2663DAA-1458-4647-95FD-B2A5FA386DAF}" srcOrd="5" destOrd="0" presId="urn:microsoft.com/office/officeart/2008/layout/LinedList"/>
    <dgm:cxn modelId="{4092D81B-F42D-4074-B83E-C7EB37C98FFF}" type="presParOf" srcId="{C2663DAA-1458-4647-95FD-B2A5FA386DAF}" destId="{6871E072-F2DB-472A-8008-16A02EF0A553}" srcOrd="0" destOrd="0" presId="urn:microsoft.com/office/officeart/2008/layout/LinedList"/>
    <dgm:cxn modelId="{88929303-19BF-4FE5-A13E-49A71F599615}" type="presParOf" srcId="{C2663DAA-1458-4647-95FD-B2A5FA386DAF}" destId="{AAA17C53-FE59-4CD7-8C0F-7F280BF946EC}" srcOrd="1" destOrd="0" presId="urn:microsoft.com/office/officeart/2008/layout/LinedList"/>
    <dgm:cxn modelId="{81F137FC-9C6E-4048-AD33-448BD67B3EF1}" type="presParOf" srcId="{1365585A-48DE-42BB-A4EF-20D1E4CB980D}" destId="{264C4180-2BB2-4A1F-A463-74BC751AFA04}" srcOrd="6" destOrd="0" presId="urn:microsoft.com/office/officeart/2008/layout/LinedList"/>
    <dgm:cxn modelId="{CC2DE2B6-1EEF-47B8-A65A-739C5B6C25EB}" type="presParOf" srcId="{1365585A-48DE-42BB-A4EF-20D1E4CB980D}" destId="{94B9CC1F-0862-4F45-B008-A72398FAE123}" srcOrd="7" destOrd="0" presId="urn:microsoft.com/office/officeart/2008/layout/LinedList"/>
    <dgm:cxn modelId="{445C683E-E0C1-4A45-8B37-0E22B58A91DE}" type="presParOf" srcId="{94B9CC1F-0862-4F45-B008-A72398FAE123}" destId="{6F20A32B-EE64-4B23-9DF9-1AF13A1CFFB4}" srcOrd="0" destOrd="0" presId="urn:microsoft.com/office/officeart/2008/layout/LinedList"/>
    <dgm:cxn modelId="{5307DC31-73E6-432A-9013-6222408E0F77}" type="presParOf" srcId="{94B9CC1F-0862-4F45-B008-A72398FAE123}" destId="{4C2B21F6-ACCC-4A8C-8430-87B7E7734239}" srcOrd="1" destOrd="0" presId="urn:microsoft.com/office/officeart/2008/layout/LinedList"/>
    <dgm:cxn modelId="{87C9581C-E79B-4462-A422-081199743D85}" type="presParOf" srcId="{1365585A-48DE-42BB-A4EF-20D1E4CB980D}" destId="{164F7AE6-3B48-4AD9-AF67-51023D3BEF3E}" srcOrd="8" destOrd="0" presId="urn:microsoft.com/office/officeart/2008/layout/LinedList"/>
    <dgm:cxn modelId="{0FA98625-7D78-4DFF-BDF1-7AD480B1EC47}" type="presParOf" srcId="{1365585A-48DE-42BB-A4EF-20D1E4CB980D}" destId="{83B3893B-4706-47CB-ACD3-CEF8652C923B}" srcOrd="9" destOrd="0" presId="urn:microsoft.com/office/officeart/2008/layout/LinedList"/>
    <dgm:cxn modelId="{58844E16-6ACC-452A-B469-17409495A565}" type="presParOf" srcId="{83B3893B-4706-47CB-ACD3-CEF8652C923B}" destId="{382F40A3-B118-4B29-8F21-354A31202123}" srcOrd="0" destOrd="0" presId="urn:microsoft.com/office/officeart/2008/layout/LinedList"/>
    <dgm:cxn modelId="{04CEBC5E-496D-41AB-9FF6-7D677A61DB3D}" type="presParOf" srcId="{83B3893B-4706-47CB-ACD3-CEF8652C923B}" destId="{FD2E880C-1948-4FD9-A76D-E9854AEE3D05}" srcOrd="1" destOrd="0" presId="urn:microsoft.com/office/officeart/2008/layout/LinedList"/>
    <dgm:cxn modelId="{2648C36B-5762-4DA3-A554-21FFE535B431}" type="presParOf" srcId="{1365585A-48DE-42BB-A4EF-20D1E4CB980D}" destId="{C595E663-742D-4509-9F10-F2F6F0F34479}" srcOrd="10" destOrd="0" presId="urn:microsoft.com/office/officeart/2008/layout/LinedList"/>
    <dgm:cxn modelId="{21F39621-7F93-45F9-AD0B-C131DCC21F97}" type="presParOf" srcId="{1365585A-48DE-42BB-A4EF-20D1E4CB980D}" destId="{64633C4C-52C9-463E-A000-4698850358ED}" srcOrd="11" destOrd="0" presId="urn:microsoft.com/office/officeart/2008/layout/LinedList"/>
    <dgm:cxn modelId="{E8830F12-F016-487A-BE30-2B1F881A2843}" type="presParOf" srcId="{64633C4C-52C9-463E-A000-4698850358ED}" destId="{B4832F2F-128D-4DDA-9163-16587F637DE8}" srcOrd="0" destOrd="0" presId="urn:microsoft.com/office/officeart/2008/layout/LinedList"/>
    <dgm:cxn modelId="{243EFCCF-3D2C-4F2F-A239-5FF1DC872B5A}" type="presParOf" srcId="{64633C4C-52C9-463E-A000-4698850358ED}" destId="{A18DCE75-C520-440F-AEED-04D29C5757F2}" srcOrd="1" destOrd="0" presId="urn:microsoft.com/office/officeart/2008/layout/LinedList"/>
    <dgm:cxn modelId="{84E81813-9E39-457B-94E3-19BE0E0985FE}" type="presParOf" srcId="{1365585A-48DE-42BB-A4EF-20D1E4CB980D}" destId="{29DC461E-5461-4207-88CB-CBD9D63DABCF}" srcOrd="12" destOrd="0" presId="urn:microsoft.com/office/officeart/2008/layout/LinedList"/>
    <dgm:cxn modelId="{D660BF7F-59E4-4835-BA4C-989604BF55C9}" type="presParOf" srcId="{1365585A-48DE-42BB-A4EF-20D1E4CB980D}" destId="{BB229B45-AE97-4560-9170-B8842D4C509D}" srcOrd="13" destOrd="0" presId="urn:microsoft.com/office/officeart/2008/layout/LinedList"/>
    <dgm:cxn modelId="{24B1E9A2-9E49-4191-9AAD-DEFFEFD1A8AD}" type="presParOf" srcId="{BB229B45-AE97-4560-9170-B8842D4C509D}" destId="{8B54FAE4-86A5-42BE-9D4B-E2EC3DD1A352}" srcOrd="0" destOrd="0" presId="urn:microsoft.com/office/officeart/2008/layout/LinedList"/>
    <dgm:cxn modelId="{5249CDE8-5192-4478-B31D-9108B227B03C}" type="presParOf" srcId="{BB229B45-AE97-4560-9170-B8842D4C509D}" destId="{3A7EE76C-73EE-411C-8973-756E83A1A037}" srcOrd="1" destOrd="0" presId="urn:microsoft.com/office/officeart/2008/layout/LinedList"/>
    <dgm:cxn modelId="{4168CFDC-920F-4C92-8AC4-790048282367}" type="presParOf" srcId="{1365585A-48DE-42BB-A4EF-20D1E4CB980D}" destId="{6740ACD1-8B47-437C-BAF2-D88D73FD5047}" srcOrd="14" destOrd="0" presId="urn:microsoft.com/office/officeart/2008/layout/LinedList"/>
    <dgm:cxn modelId="{6A98FBA6-FCF1-4834-9ECD-8242A9493117}" type="presParOf" srcId="{1365585A-48DE-42BB-A4EF-20D1E4CB980D}" destId="{3DDD85D6-7B58-478D-9948-5E00A857A656}" srcOrd="15" destOrd="0" presId="urn:microsoft.com/office/officeart/2008/layout/LinedList"/>
    <dgm:cxn modelId="{5A781E0C-27AD-4A7C-8825-E4F21E8E240A}" type="presParOf" srcId="{3DDD85D6-7B58-478D-9948-5E00A857A656}" destId="{4272D9F3-D1B3-4E2A-8D5B-24861D2F62E3}" srcOrd="0" destOrd="0" presId="urn:microsoft.com/office/officeart/2008/layout/LinedList"/>
    <dgm:cxn modelId="{CE9A9579-B476-487F-91F1-C9BFAC22A90B}" type="presParOf" srcId="{3DDD85D6-7B58-478D-9948-5E00A857A656}" destId="{C3E2D5BF-800F-4F93-BB24-9BDFDB5C7AA0}" srcOrd="1" destOrd="0" presId="urn:microsoft.com/office/officeart/2008/layout/LinedList"/>
    <dgm:cxn modelId="{538E1100-C8C4-441A-9C89-159C01C369E7}" type="presParOf" srcId="{1365585A-48DE-42BB-A4EF-20D1E4CB980D}" destId="{402C4266-982E-4F8E-A8C6-3E887C286FC3}" srcOrd="16" destOrd="0" presId="urn:microsoft.com/office/officeart/2008/layout/LinedList"/>
    <dgm:cxn modelId="{873B1BDF-E3FF-433D-B348-7DE35694DC8C}" type="presParOf" srcId="{1365585A-48DE-42BB-A4EF-20D1E4CB980D}" destId="{75BA45F8-5A24-438D-8404-D5CE4364AFFD}" srcOrd="17" destOrd="0" presId="urn:microsoft.com/office/officeart/2008/layout/LinedList"/>
    <dgm:cxn modelId="{D4B79DF7-82AE-4E3D-8D20-8A20FA41C6F3}" type="presParOf" srcId="{75BA45F8-5A24-438D-8404-D5CE4364AFFD}" destId="{8D6C5DF1-097D-4CD2-8D98-E2BE313B4798}" srcOrd="0" destOrd="0" presId="urn:microsoft.com/office/officeart/2008/layout/LinedList"/>
    <dgm:cxn modelId="{F9EB7103-AE22-4886-8F68-31C7CC5E0F11}" type="presParOf" srcId="{75BA45F8-5A24-438D-8404-D5CE4364AFFD}" destId="{C080691C-D111-4C9B-BC29-D6C595CD8B69}" srcOrd="1" destOrd="0" presId="urn:microsoft.com/office/officeart/2008/layout/LinedList"/>
    <dgm:cxn modelId="{53F60319-5FB8-40D6-A845-3795ED39DEE4}" type="presParOf" srcId="{1365585A-48DE-42BB-A4EF-20D1E4CB980D}" destId="{3816C0C2-57A1-41AA-ACCE-46E159D552FE}" srcOrd="18" destOrd="0" presId="urn:microsoft.com/office/officeart/2008/layout/LinedList"/>
    <dgm:cxn modelId="{FC71F28B-2F86-45A0-9C0E-BDE823C49453}" type="presParOf" srcId="{1365585A-48DE-42BB-A4EF-20D1E4CB980D}" destId="{2F42FB9D-4920-4A90-8152-6126956457D4}" srcOrd="19" destOrd="0" presId="urn:microsoft.com/office/officeart/2008/layout/LinedList"/>
    <dgm:cxn modelId="{F08DE4A0-7C29-4529-9B71-79DF5F010F2B}" type="presParOf" srcId="{2F42FB9D-4920-4A90-8152-6126956457D4}" destId="{BC2E51E1-03F3-4E3B-8931-8BA54417256D}" srcOrd="0" destOrd="0" presId="urn:microsoft.com/office/officeart/2008/layout/LinedList"/>
    <dgm:cxn modelId="{4D800A08-F350-42BC-A514-097E82681FEA}" type="presParOf" srcId="{2F42FB9D-4920-4A90-8152-6126956457D4}" destId="{E78BA341-947E-4E89-8CCE-A4B2F282AE61}" srcOrd="1" destOrd="0" presId="urn:microsoft.com/office/officeart/2008/layout/LinedList"/>
    <dgm:cxn modelId="{F42C4117-F484-4A7A-8AA0-489AF15BD648}" type="presParOf" srcId="{1365585A-48DE-42BB-A4EF-20D1E4CB980D}" destId="{7573FB1B-5C6D-438E-82C5-FB162ECF7F0D}" srcOrd="20" destOrd="0" presId="urn:microsoft.com/office/officeart/2008/layout/LinedList"/>
    <dgm:cxn modelId="{0BE7BCB2-8E15-4965-BAD0-73FB12077846}" type="presParOf" srcId="{1365585A-48DE-42BB-A4EF-20D1E4CB980D}" destId="{454168B0-775B-4306-B034-08B2D9AC5546}" srcOrd="21" destOrd="0" presId="urn:microsoft.com/office/officeart/2008/layout/LinedList"/>
    <dgm:cxn modelId="{306AF6C0-AC98-4DE3-BB54-45017F072330}" type="presParOf" srcId="{454168B0-775B-4306-B034-08B2D9AC5546}" destId="{D3E8E915-699A-4BB8-91F1-0E269F298D6E}" srcOrd="0" destOrd="0" presId="urn:microsoft.com/office/officeart/2008/layout/LinedList"/>
    <dgm:cxn modelId="{E755E15D-748D-4C62-9BFC-18A3540F260A}" type="presParOf" srcId="{454168B0-775B-4306-B034-08B2D9AC5546}" destId="{6E9AA3D6-F01C-4EBE-9112-FC09BFAC5D9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DB8C3F-EA76-4A03-B614-C08BE9DA02B8}"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408D6DEA-2E3E-48C5-83D7-4C76DF28B31F}">
      <dgm:prSet/>
      <dgm:spPr/>
      <dgm:t>
        <a:bodyPr/>
        <a:lstStyle/>
        <a:p>
          <a:r>
            <a:rPr lang="en-US" b="1"/>
            <a:t>Step 7: Train the Linear Regression model</a:t>
          </a:r>
          <a:endParaRPr lang="en-US" b="1" dirty="0"/>
        </a:p>
      </dgm:t>
    </dgm:pt>
    <dgm:pt modelId="{FCB58AEA-F168-40AD-A4CA-CC45652C700E}" type="parTrans" cxnId="{B4BCE11B-0F27-42F2-B3A7-38B10BE996E0}">
      <dgm:prSet/>
      <dgm:spPr/>
      <dgm:t>
        <a:bodyPr/>
        <a:lstStyle/>
        <a:p>
          <a:endParaRPr lang="en-US" sz="1400"/>
        </a:p>
      </dgm:t>
    </dgm:pt>
    <dgm:pt modelId="{A5E99A50-6B4D-44EA-9782-4990A4AC6107}" type="sibTrans" cxnId="{B4BCE11B-0F27-42F2-B3A7-38B10BE996E0}">
      <dgm:prSet/>
      <dgm:spPr/>
      <dgm:t>
        <a:bodyPr/>
        <a:lstStyle/>
        <a:p>
          <a:endParaRPr lang="en-US"/>
        </a:p>
      </dgm:t>
    </dgm:pt>
    <dgm:pt modelId="{920B8DF1-0428-4DC9-8F1A-7BBEF335D1E8}">
      <dgm:prSet/>
      <dgm:spPr/>
      <dgm:t>
        <a:bodyPr/>
        <a:lstStyle/>
        <a:p>
          <a:r>
            <a:rPr lang="en-US"/>
            <a:t>from sklearn.linear_model import LinearRegression</a:t>
          </a:r>
          <a:endParaRPr lang="en-US" dirty="0"/>
        </a:p>
      </dgm:t>
    </dgm:pt>
    <dgm:pt modelId="{CA998D18-F160-4396-AD2B-86AA7D50D247}" type="parTrans" cxnId="{0C728821-BE03-4DC3-8D6C-58FA3DD15CF8}">
      <dgm:prSet/>
      <dgm:spPr/>
      <dgm:t>
        <a:bodyPr/>
        <a:lstStyle/>
        <a:p>
          <a:endParaRPr lang="en-IN"/>
        </a:p>
      </dgm:t>
    </dgm:pt>
    <dgm:pt modelId="{4F07327E-38EE-4FF7-8B2B-759F53A883B7}" type="sibTrans" cxnId="{0C728821-BE03-4DC3-8D6C-58FA3DD15CF8}">
      <dgm:prSet/>
      <dgm:spPr/>
      <dgm:t>
        <a:bodyPr/>
        <a:lstStyle/>
        <a:p>
          <a:endParaRPr lang="en-IN"/>
        </a:p>
      </dgm:t>
    </dgm:pt>
    <dgm:pt modelId="{ABF58AF7-7D50-4578-8B0B-761F566EE1D8}">
      <dgm:prSet/>
      <dgm:spPr/>
      <dgm:t>
        <a:bodyPr/>
        <a:lstStyle/>
        <a:p>
          <a:r>
            <a:rPr lang="en-US" dirty="0"/>
            <a:t>regressor = </a:t>
          </a:r>
          <a:r>
            <a:rPr lang="en-US" dirty="0" err="1"/>
            <a:t>LinearRegression</a:t>
          </a:r>
          <a:r>
            <a:rPr lang="en-US" dirty="0"/>
            <a:t>()             </a:t>
          </a:r>
          <a:r>
            <a:rPr lang="en-US" b="1" dirty="0"/>
            <a:t>Create Linear Regression model</a:t>
          </a:r>
        </a:p>
      </dgm:t>
    </dgm:pt>
    <dgm:pt modelId="{8757D569-7173-4856-AB13-202131A9C16B}" type="parTrans" cxnId="{844A60F8-0556-40C4-842F-325FEFFB75EA}">
      <dgm:prSet/>
      <dgm:spPr/>
      <dgm:t>
        <a:bodyPr/>
        <a:lstStyle/>
        <a:p>
          <a:endParaRPr lang="en-IN"/>
        </a:p>
      </dgm:t>
    </dgm:pt>
    <dgm:pt modelId="{107FF87D-DA9B-4A26-849D-B9554E0BE420}" type="sibTrans" cxnId="{844A60F8-0556-40C4-842F-325FEFFB75EA}">
      <dgm:prSet/>
      <dgm:spPr/>
      <dgm:t>
        <a:bodyPr/>
        <a:lstStyle/>
        <a:p>
          <a:endParaRPr lang="en-IN"/>
        </a:p>
      </dgm:t>
    </dgm:pt>
    <dgm:pt modelId="{86246914-C535-4AA6-AE06-273DE0F281FC}">
      <dgm:prSet/>
      <dgm:spPr/>
      <dgm:t>
        <a:bodyPr/>
        <a:lstStyle/>
        <a:p>
          <a:r>
            <a:rPr lang="en-US"/>
            <a:t>regressor.fit(X_train, y_train)               </a:t>
          </a:r>
          <a:r>
            <a:rPr lang="en-US" b="1"/>
            <a:t>Train model on scaled training data</a:t>
          </a:r>
          <a:endParaRPr lang="en-US" b="1" dirty="0"/>
        </a:p>
      </dgm:t>
    </dgm:pt>
    <dgm:pt modelId="{F4E3BDA8-30C8-4B44-A878-19A01DD1A6ED}" type="parTrans" cxnId="{EB01E136-B4CA-4221-BC2D-7FEFFB960675}">
      <dgm:prSet/>
      <dgm:spPr/>
      <dgm:t>
        <a:bodyPr/>
        <a:lstStyle/>
        <a:p>
          <a:endParaRPr lang="en-IN"/>
        </a:p>
      </dgm:t>
    </dgm:pt>
    <dgm:pt modelId="{94D9C09D-B3E3-48A7-BE2E-7E32D54BEE85}" type="sibTrans" cxnId="{EB01E136-B4CA-4221-BC2D-7FEFFB960675}">
      <dgm:prSet/>
      <dgm:spPr/>
      <dgm:t>
        <a:bodyPr/>
        <a:lstStyle/>
        <a:p>
          <a:endParaRPr lang="en-IN"/>
        </a:p>
      </dgm:t>
    </dgm:pt>
    <dgm:pt modelId="{9F21D1EB-E1A5-4AE1-9595-31C3AB1250C3}">
      <dgm:prSet/>
      <dgm:spPr/>
      <dgm:t>
        <a:bodyPr/>
        <a:lstStyle/>
        <a:p>
          <a:endParaRPr lang="en-US" dirty="0"/>
        </a:p>
      </dgm:t>
    </dgm:pt>
    <dgm:pt modelId="{A6189B50-7EC2-4DBE-94B9-8FB7D3697C3C}" type="parTrans" cxnId="{E9CD051A-0DF8-4C47-944C-F2A609A591FF}">
      <dgm:prSet/>
      <dgm:spPr/>
      <dgm:t>
        <a:bodyPr/>
        <a:lstStyle/>
        <a:p>
          <a:endParaRPr lang="en-IN"/>
        </a:p>
      </dgm:t>
    </dgm:pt>
    <dgm:pt modelId="{9425949D-E2DB-4ED7-B97C-4E381C6B7001}" type="sibTrans" cxnId="{E9CD051A-0DF8-4C47-944C-F2A609A591FF}">
      <dgm:prSet/>
      <dgm:spPr/>
      <dgm:t>
        <a:bodyPr/>
        <a:lstStyle/>
        <a:p>
          <a:endParaRPr lang="en-IN"/>
        </a:p>
      </dgm:t>
    </dgm:pt>
    <dgm:pt modelId="{D661FC52-20B4-4A30-A797-EFD07E5053E1}">
      <dgm:prSet/>
      <dgm:spPr/>
      <dgm:t>
        <a:bodyPr/>
        <a:lstStyle/>
        <a:p>
          <a:r>
            <a:rPr lang="en-US" b="1"/>
            <a:t>Step 8: Make predictions on test data</a:t>
          </a:r>
          <a:endParaRPr lang="en-US" b="1" dirty="0"/>
        </a:p>
      </dgm:t>
    </dgm:pt>
    <dgm:pt modelId="{1D4A8088-DA1F-4534-8996-5FA8FB1E5B0D}" type="parTrans" cxnId="{B64640E3-4A45-417A-93FD-172189FAD5FC}">
      <dgm:prSet/>
      <dgm:spPr/>
      <dgm:t>
        <a:bodyPr/>
        <a:lstStyle/>
        <a:p>
          <a:endParaRPr lang="en-IN"/>
        </a:p>
      </dgm:t>
    </dgm:pt>
    <dgm:pt modelId="{25C6243C-49AC-4885-AE65-9D26DBF705D6}" type="sibTrans" cxnId="{B64640E3-4A45-417A-93FD-172189FAD5FC}">
      <dgm:prSet/>
      <dgm:spPr/>
      <dgm:t>
        <a:bodyPr/>
        <a:lstStyle/>
        <a:p>
          <a:endParaRPr lang="en-IN"/>
        </a:p>
      </dgm:t>
    </dgm:pt>
    <dgm:pt modelId="{C2B59564-EBD0-4996-9D7D-E6C87E26211D}">
      <dgm:prSet/>
      <dgm:spPr/>
      <dgm:t>
        <a:bodyPr/>
        <a:lstStyle/>
        <a:p>
          <a:r>
            <a:rPr lang="en-US"/>
            <a:t>y_pred = regressor.predict(X_test)        </a:t>
          </a:r>
          <a:r>
            <a:rPr lang="en-US" b="1"/>
            <a:t>Predict target values for test set</a:t>
          </a:r>
          <a:endParaRPr lang="en-US" b="1" dirty="0"/>
        </a:p>
      </dgm:t>
    </dgm:pt>
    <dgm:pt modelId="{ED079179-7C27-4390-B461-85210C0F9C03}" type="parTrans" cxnId="{B33CDEAE-64AA-4B91-A003-8C8A4859CBBD}">
      <dgm:prSet/>
      <dgm:spPr/>
      <dgm:t>
        <a:bodyPr/>
        <a:lstStyle/>
        <a:p>
          <a:endParaRPr lang="en-IN"/>
        </a:p>
      </dgm:t>
    </dgm:pt>
    <dgm:pt modelId="{153857CC-4CE2-41AD-A4B1-C57CA93DC709}" type="sibTrans" cxnId="{B33CDEAE-64AA-4B91-A003-8C8A4859CBBD}">
      <dgm:prSet/>
      <dgm:spPr/>
      <dgm:t>
        <a:bodyPr/>
        <a:lstStyle/>
        <a:p>
          <a:endParaRPr lang="en-IN"/>
        </a:p>
      </dgm:t>
    </dgm:pt>
    <dgm:pt modelId="{B65941A8-C022-4AE7-8A35-359FEF013017}">
      <dgm:prSet/>
      <dgm:spPr/>
      <dgm:t>
        <a:bodyPr/>
        <a:lstStyle/>
        <a:p>
          <a:endParaRPr lang="en-US" dirty="0"/>
        </a:p>
      </dgm:t>
    </dgm:pt>
    <dgm:pt modelId="{C4993FF8-E33C-46FF-9B10-78D9AFE346E8}" type="parTrans" cxnId="{D7923877-0B71-4695-B856-9BA5C7E9A583}">
      <dgm:prSet/>
      <dgm:spPr/>
      <dgm:t>
        <a:bodyPr/>
        <a:lstStyle/>
        <a:p>
          <a:endParaRPr lang="en-IN"/>
        </a:p>
      </dgm:t>
    </dgm:pt>
    <dgm:pt modelId="{00870FE3-96D2-4ECD-B919-498D3126886F}" type="sibTrans" cxnId="{D7923877-0B71-4695-B856-9BA5C7E9A583}">
      <dgm:prSet/>
      <dgm:spPr/>
      <dgm:t>
        <a:bodyPr/>
        <a:lstStyle/>
        <a:p>
          <a:endParaRPr lang="en-IN"/>
        </a:p>
      </dgm:t>
    </dgm:pt>
    <dgm:pt modelId="{570C6C39-2E98-4572-B640-F3A0B303FD88}">
      <dgm:prSet/>
      <dgm:spPr/>
      <dgm:t>
        <a:bodyPr/>
        <a:lstStyle/>
        <a:p>
          <a:r>
            <a:rPr lang="en-US" b="1"/>
            <a:t>Step 9: Visualize actual vs predicted values</a:t>
          </a:r>
          <a:endParaRPr lang="en-US" b="1" dirty="0"/>
        </a:p>
      </dgm:t>
    </dgm:pt>
    <dgm:pt modelId="{DB3D012D-BACC-4DF3-97DF-3565BDC0AE01}" type="parTrans" cxnId="{A59E0306-A37A-47F6-9151-A82B942096F0}">
      <dgm:prSet/>
      <dgm:spPr/>
      <dgm:t>
        <a:bodyPr/>
        <a:lstStyle/>
        <a:p>
          <a:endParaRPr lang="en-IN"/>
        </a:p>
      </dgm:t>
    </dgm:pt>
    <dgm:pt modelId="{763FAD4C-B34B-4A8F-8CA3-8E3043E2BA9A}" type="sibTrans" cxnId="{A59E0306-A37A-47F6-9151-A82B942096F0}">
      <dgm:prSet/>
      <dgm:spPr/>
      <dgm:t>
        <a:bodyPr/>
        <a:lstStyle/>
        <a:p>
          <a:endParaRPr lang="en-IN"/>
        </a:p>
      </dgm:t>
    </dgm:pt>
    <dgm:pt modelId="{A1DCC8DF-A9E3-4983-A92E-F49B51187B08}">
      <dgm:prSet/>
      <dgm:spPr/>
      <dgm:t>
        <a:bodyPr/>
        <a:lstStyle/>
        <a:p>
          <a:r>
            <a:rPr lang="en-US"/>
            <a:t>plt.plot(y_test, color='blue', label='Actual')       </a:t>
          </a:r>
          <a:r>
            <a:rPr lang="en-US" b="1"/>
            <a:t>Plot actual test values</a:t>
          </a:r>
          <a:endParaRPr lang="en-US" b="1" dirty="0"/>
        </a:p>
      </dgm:t>
    </dgm:pt>
    <dgm:pt modelId="{5273E9D0-2187-4CF6-AB2E-BE81D6BACD52}" type="parTrans" cxnId="{EF6FBC4C-6AA1-4CB0-8545-64193075E9DB}">
      <dgm:prSet/>
      <dgm:spPr/>
      <dgm:t>
        <a:bodyPr/>
        <a:lstStyle/>
        <a:p>
          <a:endParaRPr lang="en-IN"/>
        </a:p>
      </dgm:t>
    </dgm:pt>
    <dgm:pt modelId="{5679F261-9256-4DBA-A231-72006371809F}" type="sibTrans" cxnId="{EF6FBC4C-6AA1-4CB0-8545-64193075E9DB}">
      <dgm:prSet/>
      <dgm:spPr/>
      <dgm:t>
        <a:bodyPr/>
        <a:lstStyle/>
        <a:p>
          <a:endParaRPr lang="en-IN"/>
        </a:p>
      </dgm:t>
    </dgm:pt>
    <dgm:pt modelId="{2DC2A719-AB56-41ED-BF58-C6425916EDDF}">
      <dgm:prSet/>
      <dgm:spPr/>
      <dgm:t>
        <a:bodyPr/>
        <a:lstStyle/>
        <a:p>
          <a:r>
            <a:rPr lang="en-US"/>
            <a:t>plt.plot(y_pred, color='red', label='Predicted')      </a:t>
          </a:r>
          <a:r>
            <a:rPr lang="en-US" b="1"/>
            <a:t>Plot predicted values</a:t>
          </a:r>
          <a:endParaRPr lang="en-US" b="1" dirty="0"/>
        </a:p>
      </dgm:t>
    </dgm:pt>
    <dgm:pt modelId="{6FD0335A-6445-4D2A-931A-B2ACAFF0DC3F}" type="parTrans" cxnId="{8733F198-0699-4FDA-9410-9C0EA11EE5C1}">
      <dgm:prSet/>
      <dgm:spPr/>
      <dgm:t>
        <a:bodyPr/>
        <a:lstStyle/>
        <a:p>
          <a:endParaRPr lang="en-IN"/>
        </a:p>
      </dgm:t>
    </dgm:pt>
    <dgm:pt modelId="{B835C1FB-8064-4760-AB6E-D9F57C694BFC}" type="sibTrans" cxnId="{8733F198-0699-4FDA-9410-9C0EA11EE5C1}">
      <dgm:prSet/>
      <dgm:spPr/>
      <dgm:t>
        <a:bodyPr/>
        <a:lstStyle/>
        <a:p>
          <a:endParaRPr lang="en-IN"/>
        </a:p>
      </dgm:t>
    </dgm:pt>
    <dgm:pt modelId="{602BD601-9A9B-4FC5-AEEF-8224B2D88C41}">
      <dgm:prSet/>
      <dgm:spPr/>
      <dgm:t>
        <a:bodyPr/>
        <a:lstStyle/>
        <a:p>
          <a:r>
            <a:rPr lang="en-US"/>
            <a:t>plt.title('Actual vs Predicted')</a:t>
          </a:r>
          <a:endParaRPr lang="en-US" dirty="0"/>
        </a:p>
      </dgm:t>
    </dgm:pt>
    <dgm:pt modelId="{0D585E0A-7C0E-4663-ABB7-2FB97CAF48C5}" type="parTrans" cxnId="{F46DD198-3138-4035-8396-F677968721CB}">
      <dgm:prSet/>
      <dgm:spPr/>
      <dgm:t>
        <a:bodyPr/>
        <a:lstStyle/>
        <a:p>
          <a:endParaRPr lang="en-IN"/>
        </a:p>
      </dgm:t>
    </dgm:pt>
    <dgm:pt modelId="{E519009B-D865-4C6C-80B8-F35C14A7034F}" type="sibTrans" cxnId="{F46DD198-3138-4035-8396-F677968721CB}">
      <dgm:prSet/>
      <dgm:spPr/>
      <dgm:t>
        <a:bodyPr/>
        <a:lstStyle/>
        <a:p>
          <a:endParaRPr lang="en-IN"/>
        </a:p>
      </dgm:t>
    </dgm:pt>
    <dgm:pt modelId="{21BCC361-08C3-4BBF-8A32-458A7C498129}">
      <dgm:prSet/>
      <dgm:spPr/>
      <dgm:t>
        <a:bodyPr/>
        <a:lstStyle/>
        <a:p>
          <a:r>
            <a:rPr lang="en-US"/>
            <a:t>plt.xlabel('Sample Index')</a:t>
          </a:r>
          <a:endParaRPr lang="en-US" dirty="0"/>
        </a:p>
      </dgm:t>
    </dgm:pt>
    <dgm:pt modelId="{A24748F4-B33F-4356-997F-9C89D6095F00}" type="parTrans" cxnId="{9AC1DCDA-67FD-470C-809E-AA4D729CA8A5}">
      <dgm:prSet/>
      <dgm:spPr/>
      <dgm:t>
        <a:bodyPr/>
        <a:lstStyle/>
        <a:p>
          <a:endParaRPr lang="en-IN"/>
        </a:p>
      </dgm:t>
    </dgm:pt>
    <dgm:pt modelId="{C2DAF8BD-4116-44B3-B7FE-054BD7E50753}" type="sibTrans" cxnId="{9AC1DCDA-67FD-470C-809E-AA4D729CA8A5}">
      <dgm:prSet/>
      <dgm:spPr/>
      <dgm:t>
        <a:bodyPr/>
        <a:lstStyle/>
        <a:p>
          <a:endParaRPr lang="en-IN"/>
        </a:p>
      </dgm:t>
    </dgm:pt>
    <dgm:pt modelId="{DF2955D0-A37A-43D0-BE6C-C72EC5B7A5E5}">
      <dgm:prSet/>
      <dgm:spPr/>
      <dgm:t>
        <a:bodyPr/>
        <a:lstStyle/>
        <a:p>
          <a:r>
            <a:rPr lang="en-US"/>
            <a:t>plt.ylabel('Target Value')</a:t>
          </a:r>
          <a:endParaRPr lang="en-US" dirty="0"/>
        </a:p>
      </dgm:t>
    </dgm:pt>
    <dgm:pt modelId="{2D96C613-A3BE-4C07-B4B9-DB4441D874F1}" type="parTrans" cxnId="{21CB2C91-4B33-4DE2-9891-FA6F5017E0ED}">
      <dgm:prSet/>
      <dgm:spPr/>
      <dgm:t>
        <a:bodyPr/>
        <a:lstStyle/>
        <a:p>
          <a:endParaRPr lang="en-IN"/>
        </a:p>
      </dgm:t>
    </dgm:pt>
    <dgm:pt modelId="{FBB707B3-BA48-4514-876C-C7C1CD3B36B7}" type="sibTrans" cxnId="{21CB2C91-4B33-4DE2-9891-FA6F5017E0ED}">
      <dgm:prSet/>
      <dgm:spPr/>
      <dgm:t>
        <a:bodyPr/>
        <a:lstStyle/>
        <a:p>
          <a:endParaRPr lang="en-IN"/>
        </a:p>
      </dgm:t>
    </dgm:pt>
    <dgm:pt modelId="{FB40D2CD-FA27-4FC1-8A26-D551993B3814}">
      <dgm:prSet/>
      <dgm:spPr/>
      <dgm:t>
        <a:bodyPr/>
        <a:lstStyle/>
        <a:p>
          <a:r>
            <a:rPr lang="en-US"/>
            <a:t>plt.legend()</a:t>
          </a:r>
          <a:endParaRPr lang="en-US" dirty="0"/>
        </a:p>
      </dgm:t>
    </dgm:pt>
    <dgm:pt modelId="{68166F52-62F3-4D8C-87ED-180B97995DBA}" type="parTrans" cxnId="{AA2655B2-41EF-424C-9FCC-B37C4A83FE0B}">
      <dgm:prSet/>
      <dgm:spPr/>
      <dgm:t>
        <a:bodyPr/>
        <a:lstStyle/>
        <a:p>
          <a:endParaRPr lang="en-IN"/>
        </a:p>
      </dgm:t>
    </dgm:pt>
    <dgm:pt modelId="{1E5CE47A-EA5B-4BAD-AD33-B00EA2FB42E5}" type="sibTrans" cxnId="{AA2655B2-41EF-424C-9FCC-B37C4A83FE0B}">
      <dgm:prSet/>
      <dgm:spPr/>
      <dgm:t>
        <a:bodyPr/>
        <a:lstStyle/>
        <a:p>
          <a:endParaRPr lang="en-IN"/>
        </a:p>
      </dgm:t>
    </dgm:pt>
    <dgm:pt modelId="{1123C73B-0C94-4CD4-AC73-5C0D647058C4}">
      <dgm:prSet/>
      <dgm:spPr/>
      <dgm:t>
        <a:bodyPr/>
        <a:lstStyle/>
        <a:p>
          <a:r>
            <a:rPr lang="en-US"/>
            <a:t>plt.show()</a:t>
          </a:r>
          <a:endParaRPr lang="en-US" dirty="0"/>
        </a:p>
      </dgm:t>
    </dgm:pt>
    <dgm:pt modelId="{5568787F-014B-4AE7-A660-BD402E54A67E}" type="parTrans" cxnId="{4CED4D3E-E992-41C8-8BE3-D76E3C908E2B}">
      <dgm:prSet/>
      <dgm:spPr/>
      <dgm:t>
        <a:bodyPr/>
        <a:lstStyle/>
        <a:p>
          <a:endParaRPr lang="en-IN"/>
        </a:p>
      </dgm:t>
    </dgm:pt>
    <dgm:pt modelId="{4A8BA413-4D16-455F-8D6E-956C02477ED1}" type="sibTrans" cxnId="{4CED4D3E-E992-41C8-8BE3-D76E3C908E2B}">
      <dgm:prSet/>
      <dgm:spPr/>
      <dgm:t>
        <a:bodyPr/>
        <a:lstStyle/>
        <a:p>
          <a:endParaRPr lang="en-IN"/>
        </a:p>
      </dgm:t>
    </dgm:pt>
    <dgm:pt modelId="{1365585A-48DE-42BB-A4EF-20D1E4CB980D}" type="pres">
      <dgm:prSet presAssocID="{31DB8C3F-EA76-4A03-B614-C08BE9DA02B8}" presName="vert0" presStyleCnt="0">
        <dgm:presLayoutVars>
          <dgm:dir/>
          <dgm:animOne val="branch"/>
          <dgm:animLvl val="lvl"/>
        </dgm:presLayoutVars>
      </dgm:prSet>
      <dgm:spPr/>
    </dgm:pt>
    <dgm:pt modelId="{AD98F44D-E0E6-44BA-9AFC-141EDC91858B}" type="pres">
      <dgm:prSet presAssocID="{408D6DEA-2E3E-48C5-83D7-4C76DF28B31F}" presName="thickLine" presStyleLbl="alignNode1" presStyleIdx="0" presStyleCnt="16"/>
      <dgm:spPr/>
    </dgm:pt>
    <dgm:pt modelId="{FE3E5E74-0992-439B-8A4B-731162FA584A}" type="pres">
      <dgm:prSet presAssocID="{408D6DEA-2E3E-48C5-83D7-4C76DF28B31F}" presName="horz1" presStyleCnt="0"/>
      <dgm:spPr/>
    </dgm:pt>
    <dgm:pt modelId="{B864E2E5-387F-4DFD-A07B-2BAB9377C608}" type="pres">
      <dgm:prSet presAssocID="{408D6DEA-2E3E-48C5-83D7-4C76DF28B31F}" presName="tx1" presStyleLbl="revTx" presStyleIdx="0" presStyleCnt="16"/>
      <dgm:spPr/>
    </dgm:pt>
    <dgm:pt modelId="{49CA24F2-E4FD-4794-AFAF-DCD811FE5328}" type="pres">
      <dgm:prSet presAssocID="{408D6DEA-2E3E-48C5-83D7-4C76DF28B31F}" presName="vert1" presStyleCnt="0"/>
      <dgm:spPr/>
    </dgm:pt>
    <dgm:pt modelId="{6FB43C4C-AB00-4DBD-AC07-B20124BD554E}" type="pres">
      <dgm:prSet presAssocID="{920B8DF1-0428-4DC9-8F1A-7BBEF335D1E8}" presName="thickLine" presStyleLbl="alignNode1" presStyleIdx="1" presStyleCnt="16"/>
      <dgm:spPr/>
    </dgm:pt>
    <dgm:pt modelId="{862F6A4F-647D-4083-B285-BBEA9DE5D995}" type="pres">
      <dgm:prSet presAssocID="{920B8DF1-0428-4DC9-8F1A-7BBEF335D1E8}" presName="horz1" presStyleCnt="0"/>
      <dgm:spPr/>
    </dgm:pt>
    <dgm:pt modelId="{C00299DD-E514-4A62-91C4-A422D216A07D}" type="pres">
      <dgm:prSet presAssocID="{920B8DF1-0428-4DC9-8F1A-7BBEF335D1E8}" presName="tx1" presStyleLbl="revTx" presStyleIdx="1" presStyleCnt="16"/>
      <dgm:spPr/>
    </dgm:pt>
    <dgm:pt modelId="{B49164B2-B674-4896-93AE-746435D23455}" type="pres">
      <dgm:prSet presAssocID="{920B8DF1-0428-4DC9-8F1A-7BBEF335D1E8}" presName="vert1" presStyleCnt="0"/>
      <dgm:spPr/>
    </dgm:pt>
    <dgm:pt modelId="{0C9F9CD2-EB7F-41FF-AADC-74BB7DAD511D}" type="pres">
      <dgm:prSet presAssocID="{ABF58AF7-7D50-4578-8B0B-761F566EE1D8}" presName="thickLine" presStyleLbl="alignNode1" presStyleIdx="2" presStyleCnt="16"/>
      <dgm:spPr/>
    </dgm:pt>
    <dgm:pt modelId="{CECA16D0-48BC-434F-A69B-7E13C81E2ED2}" type="pres">
      <dgm:prSet presAssocID="{ABF58AF7-7D50-4578-8B0B-761F566EE1D8}" presName="horz1" presStyleCnt="0"/>
      <dgm:spPr/>
    </dgm:pt>
    <dgm:pt modelId="{1D29F9AF-6B32-49AA-AF94-76E178B404DE}" type="pres">
      <dgm:prSet presAssocID="{ABF58AF7-7D50-4578-8B0B-761F566EE1D8}" presName="tx1" presStyleLbl="revTx" presStyleIdx="2" presStyleCnt="16"/>
      <dgm:spPr/>
    </dgm:pt>
    <dgm:pt modelId="{9EE73C4A-F119-49AD-B76E-14B0CA1A9FFA}" type="pres">
      <dgm:prSet presAssocID="{ABF58AF7-7D50-4578-8B0B-761F566EE1D8}" presName="vert1" presStyleCnt="0"/>
      <dgm:spPr/>
    </dgm:pt>
    <dgm:pt modelId="{1C3ACC18-9979-4F9E-B6DF-A515624CFF93}" type="pres">
      <dgm:prSet presAssocID="{86246914-C535-4AA6-AE06-273DE0F281FC}" presName="thickLine" presStyleLbl="alignNode1" presStyleIdx="3" presStyleCnt="16"/>
      <dgm:spPr/>
    </dgm:pt>
    <dgm:pt modelId="{71CD86BD-C4F2-4C21-BEA5-0437A3A1B2D8}" type="pres">
      <dgm:prSet presAssocID="{86246914-C535-4AA6-AE06-273DE0F281FC}" presName="horz1" presStyleCnt="0"/>
      <dgm:spPr/>
    </dgm:pt>
    <dgm:pt modelId="{9CE1DED5-1E33-4997-9F61-3D4F7E2A2164}" type="pres">
      <dgm:prSet presAssocID="{86246914-C535-4AA6-AE06-273DE0F281FC}" presName="tx1" presStyleLbl="revTx" presStyleIdx="3" presStyleCnt="16"/>
      <dgm:spPr/>
    </dgm:pt>
    <dgm:pt modelId="{AF0C04CD-650B-4763-B52F-B2DBB4B87409}" type="pres">
      <dgm:prSet presAssocID="{86246914-C535-4AA6-AE06-273DE0F281FC}" presName="vert1" presStyleCnt="0"/>
      <dgm:spPr/>
    </dgm:pt>
    <dgm:pt modelId="{2C7622D1-1149-4BFC-AB98-DDA116C4B5DC}" type="pres">
      <dgm:prSet presAssocID="{9F21D1EB-E1A5-4AE1-9595-31C3AB1250C3}" presName="thickLine" presStyleLbl="alignNode1" presStyleIdx="4" presStyleCnt="16"/>
      <dgm:spPr/>
    </dgm:pt>
    <dgm:pt modelId="{8B7108A9-2E81-473B-AF31-F40C22DD742E}" type="pres">
      <dgm:prSet presAssocID="{9F21D1EB-E1A5-4AE1-9595-31C3AB1250C3}" presName="horz1" presStyleCnt="0"/>
      <dgm:spPr/>
    </dgm:pt>
    <dgm:pt modelId="{EB7D08C1-D7A9-4482-8FE5-2DDA436B8EC3}" type="pres">
      <dgm:prSet presAssocID="{9F21D1EB-E1A5-4AE1-9595-31C3AB1250C3}" presName="tx1" presStyleLbl="revTx" presStyleIdx="4" presStyleCnt="16"/>
      <dgm:spPr/>
    </dgm:pt>
    <dgm:pt modelId="{1CC9B2C7-744B-4593-87D8-4678EC4078A8}" type="pres">
      <dgm:prSet presAssocID="{9F21D1EB-E1A5-4AE1-9595-31C3AB1250C3}" presName="vert1" presStyleCnt="0"/>
      <dgm:spPr/>
    </dgm:pt>
    <dgm:pt modelId="{3EADA1ED-0893-48CD-911C-5F02FEF97D59}" type="pres">
      <dgm:prSet presAssocID="{D661FC52-20B4-4A30-A797-EFD07E5053E1}" presName="thickLine" presStyleLbl="alignNode1" presStyleIdx="5" presStyleCnt="16"/>
      <dgm:spPr/>
    </dgm:pt>
    <dgm:pt modelId="{E5ACCA62-525D-411D-9F91-A032962F3781}" type="pres">
      <dgm:prSet presAssocID="{D661FC52-20B4-4A30-A797-EFD07E5053E1}" presName="horz1" presStyleCnt="0"/>
      <dgm:spPr/>
    </dgm:pt>
    <dgm:pt modelId="{8866DFB5-9D68-42D3-8908-34967CA179D6}" type="pres">
      <dgm:prSet presAssocID="{D661FC52-20B4-4A30-A797-EFD07E5053E1}" presName="tx1" presStyleLbl="revTx" presStyleIdx="5" presStyleCnt="16"/>
      <dgm:spPr/>
    </dgm:pt>
    <dgm:pt modelId="{6E8D7BA6-47EE-4BDE-BF31-777301253CEC}" type="pres">
      <dgm:prSet presAssocID="{D661FC52-20B4-4A30-A797-EFD07E5053E1}" presName="vert1" presStyleCnt="0"/>
      <dgm:spPr/>
    </dgm:pt>
    <dgm:pt modelId="{97DA0D71-77BD-46EE-9AA8-013132BF0685}" type="pres">
      <dgm:prSet presAssocID="{C2B59564-EBD0-4996-9D7D-E6C87E26211D}" presName="thickLine" presStyleLbl="alignNode1" presStyleIdx="6" presStyleCnt="16"/>
      <dgm:spPr/>
    </dgm:pt>
    <dgm:pt modelId="{46590F54-E4A7-448F-B301-5751171ADE79}" type="pres">
      <dgm:prSet presAssocID="{C2B59564-EBD0-4996-9D7D-E6C87E26211D}" presName="horz1" presStyleCnt="0"/>
      <dgm:spPr/>
    </dgm:pt>
    <dgm:pt modelId="{EF416919-07C8-41D0-B903-E9036B67FB2A}" type="pres">
      <dgm:prSet presAssocID="{C2B59564-EBD0-4996-9D7D-E6C87E26211D}" presName="tx1" presStyleLbl="revTx" presStyleIdx="6" presStyleCnt="16"/>
      <dgm:spPr/>
    </dgm:pt>
    <dgm:pt modelId="{47963C17-6224-48B0-A9AA-4298D0F43D27}" type="pres">
      <dgm:prSet presAssocID="{C2B59564-EBD0-4996-9D7D-E6C87E26211D}" presName="vert1" presStyleCnt="0"/>
      <dgm:spPr/>
    </dgm:pt>
    <dgm:pt modelId="{DE235B00-4832-4518-AD3D-00F89F899B2C}" type="pres">
      <dgm:prSet presAssocID="{B65941A8-C022-4AE7-8A35-359FEF013017}" presName="thickLine" presStyleLbl="alignNode1" presStyleIdx="7" presStyleCnt="16"/>
      <dgm:spPr/>
    </dgm:pt>
    <dgm:pt modelId="{6FE217DF-3806-48D1-A241-BB258C2518DE}" type="pres">
      <dgm:prSet presAssocID="{B65941A8-C022-4AE7-8A35-359FEF013017}" presName="horz1" presStyleCnt="0"/>
      <dgm:spPr/>
    </dgm:pt>
    <dgm:pt modelId="{CFCBEBFF-1ABA-45E1-93D9-56ABAADF7E42}" type="pres">
      <dgm:prSet presAssocID="{B65941A8-C022-4AE7-8A35-359FEF013017}" presName="tx1" presStyleLbl="revTx" presStyleIdx="7" presStyleCnt="16"/>
      <dgm:spPr/>
    </dgm:pt>
    <dgm:pt modelId="{69DE5ABF-6F85-4EC0-91D1-6DD62DA876B2}" type="pres">
      <dgm:prSet presAssocID="{B65941A8-C022-4AE7-8A35-359FEF013017}" presName="vert1" presStyleCnt="0"/>
      <dgm:spPr/>
    </dgm:pt>
    <dgm:pt modelId="{53485090-BA40-4765-8963-72C1BD90F155}" type="pres">
      <dgm:prSet presAssocID="{570C6C39-2E98-4572-B640-F3A0B303FD88}" presName="thickLine" presStyleLbl="alignNode1" presStyleIdx="8" presStyleCnt="16"/>
      <dgm:spPr/>
    </dgm:pt>
    <dgm:pt modelId="{69065593-BE3C-480B-893C-1310D2098DA2}" type="pres">
      <dgm:prSet presAssocID="{570C6C39-2E98-4572-B640-F3A0B303FD88}" presName="horz1" presStyleCnt="0"/>
      <dgm:spPr/>
    </dgm:pt>
    <dgm:pt modelId="{F86DAE41-3DAD-4962-B157-5373B5D6E454}" type="pres">
      <dgm:prSet presAssocID="{570C6C39-2E98-4572-B640-F3A0B303FD88}" presName="tx1" presStyleLbl="revTx" presStyleIdx="8" presStyleCnt="16"/>
      <dgm:spPr/>
    </dgm:pt>
    <dgm:pt modelId="{084B628D-20C3-4B83-9456-89DECFB5CB95}" type="pres">
      <dgm:prSet presAssocID="{570C6C39-2E98-4572-B640-F3A0B303FD88}" presName="vert1" presStyleCnt="0"/>
      <dgm:spPr/>
    </dgm:pt>
    <dgm:pt modelId="{180DDC8C-8245-4C75-8C5A-08E05A7F06F3}" type="pres">
      <dgm:prSet presAssocID="{A1DCC8DF-A9E3-4983-A92E-F49B51187B08}" presName="thickLine" presStyleLbl="alignNode1" presStyleIdx="9" presStyleCnt="16"/>
      <dgm:spPr/>
    </dgm:pt>
    <dgm:pt modelId="{A5C100C7-0320-496C-8698-9B9D54CC97D1}" type="pres">
      <dgm:prSet presAssocID="{A1DCC8DF-A9E3-4983-A92E-F49B51187B08}" presName="horz1" presStyleCnt="0"/>
      <dgm:spPr/>
    </dgm:pt>
    <dgm:pt modelId="{0C7957C0-21AE-4582-A304-C36E05FFB561}" type="pres">
      <dgm:prSet presAssocID="{A1DCC8DF-A9E3-4983-A92E-F49B51187B08}" presName="tx1" presStyleLbl="revTx" presStyleIdx="9" presStyleCnt="16"/>
      <dgm:spPr/>
    </dgm:pt>
    <dgm:pt modelId="{36845682-C8BA-4FC3-87C8-1D8C4705D7AB}" type="pres">
      <dgm:prSet presAssocID="{A1DCC8DF-A9E3-4983-A92E-F49B51187B08}" presName="vert1" presStyleCnt="0"/>
      <dgm:spPr/>
    </dgm:pt>
    <dgm:pt modelId="{165E4A3F-7BB3-4F75-B689-00AADE95BFEF}" type="pres">
      <dgm:prSet presAssocID="{2DC2A719-AB56-41ED-BF58-C6425916EDDF}" presName="thickLine" presStyleLbl="alignNode1" presStyleIdx="10" presStyleCnt="16"/>
      <dgm:spPr/>
    </dgm:pt>
    <dgm:pt modelId="{B34DC62F-D965-4DDE-B272-6B9F21B2A14F}" type="pres">
      <dgm:prSet presAssocID="{2DC2A719-AB56-41ED-BF58-C6425916EDDF}" presName="horz1" presStyleCnt="0"/>
      <dgm:spPr/>
    </dgm:pt>
    <dgm:pt modelId="{71BC2C77-E963-4F87-8EF8-E474F94C129F}" type="pres">
      <dgm:prSet presAssocID="{2DC2A719-AB56-41ED-BF58-C6425916EDDF}" presName="tx1" presStyleLbl="revTx" presStyleIdx="10" presStyleCnt="16"/>
      <dgm:spPr/>
    </dgm:pt>
    <dgm:pt modelId="{3EA3CD31-D339-45D1-9409-C9F199730780}" type="pres">
      <dgm:prSet presAssocID="{2DC2A719-AB56-41ED-BF58-C6425916EDDF}" presName="vert1" presStyleCnt="0"/>
      <dgm:spPr/>
    </dgm:pt>
    <dgm:pt modelId="{5AAE1B69-167D-40FB-A786-9E42EE3699E3}" type="pres">
      <dgm:prSet presAssocID="{602BD601-9A9B-4FC5-AEEF-8224B2D88C41}" presName="thickLine" presStyleLbl="alignNode1" presStyleIdx="11" presStyleCnt="16"/>
      <dgm:spPr/>
    </dgm:pt>
    <dgm:pt modelId="{A3A4CC99-539C-407C-BEB0-F904668F1D00}" type="pres">
      <dgm:prSet presAssocID="{602BD601-9A9B-4FC5-AEEF-8224B2D88C41}" presName="horz1" presStyleCnt="0"/>
      <dgm:spPr/>
    </dgm:pt>
    <dgm:pt modelId="{9A72F446-AED5-4082-8D31-4EBBDBFDF54E}" type="pres">
      <dgm:prSet presAssocID="{602BD601-9A9B-4FC5-AEEF-8224B2D88C41}" presName="tx1" presStyleLbl="revTx" presStyleIdx="11" presStyleCnt="16"/>
      <dgm:spPr/>
    </dgm:pt>
    <dgm:pt modelId="{9118442A-BE97-47CB-9D6C-FC98AB51CBF7}" type="pres">
      <dgm:prSet presAssocID="{602BD601-9A9B-4FC5-AEEF-8224B2D88C41}" presName="vert1" presStyleCnt="0"/>
      <dgm:spPr/>
    </dgm:pt>
    <dgm:pt modelId="{CA6D96E1-052C-4D26-A9EE-0BA56D875D04}" type="pres">
      <dgm:prSet presAssocID="{21BCC361-08C3-4BBF-8A32-458A7C498129}" presName="thickLine" presStyleLbl="alignNode1" presStyleIdx="12" presStyleCnt="16"/>
      <dgm:spPr/>
    </dgm:pt>
    <dgm:pt modelId="{D14435EC-35D6-4B7F-90E6-70E0838F2825}" type="pres">
      <dgm:prSet presAssocID="{21BCC361-08C3-4BBF-8A32-458A7C498129}" presName="horz1" presStyleCnt="0"/>
      <dgm:spPr/>
    </dgm:pt>
    <dgm:pt modelId="{2613AD02-9AFA-4647-BC95-59A4709F98F5}" type="pres">
      <dgm:prSet presAssocID="{21BCC361-08C3-4BBF-8A32-458A7C498129}" presName="tx1" presStyleLbl="revTx" presStyleIdx="12" presStyleCnt="16"/>
      <dgm:spPr/>
    </dgm:pt>
    <dgm:pt modelId="{19095E2E-C4CE-46F3-8D0E-3A2B901B1E2B}" type="pres">
      <dgm:prSet presAssocID="{21BCC361-08C3-4BBF-8A32-458A7C498129}" presName="vert1" presStyleCnt="0"/>
      <dgm:spPr/>
    </dgm:pt>
    <dgm:pt modelId="{020EE43C-549F-4A8F-82A9-7C52C3B92FEE}" type="pres">
      <dgm:prSet presAssocID="{DF2955D0-A37A-43D0-BE6C-C72EC5B7A5E5}" presName="thickLine" presStyleLbl="alignNode1" presStyleIdx="13" presStyleCnt="16"/>
      <dgm:spPr/>
    </dgm:pt>
    <dgm:pt modelId="{648F8A2F-857A-4171-92E0-16DACC5D5ACB}" type="pres">
      <dgm:prSet presAssocID="{DF2955D0-A37A-43D0-BE6C-C72EC5B7A5E5}" presName="horz1" presStyleCnt="0"/>
      <dgm:spPr/>
    </dgm:pt>
    <dgm:pt modelId="{D9996686-7436-4CE9-9C20-7A6E05DE4DE2}" type="pres">
      <dgm:prSet presAssocID="{DF2955D0-A37A-43D0-BE6C-C72EC5B7A5E5}" presName="tx1" presStyleLbl="revTx" presStyleIdx="13" presStyleCnt="16"/>
      <dgm:spPr/>
    </dgm:pt>
    <dgm:pt modelId="{3F7F9A87-08F1-4842-AC12-32235708B547}" type="pres">
      <dgm:prSet presAssocID="{DF2955D0-A37A-43D0-BE6C-C72EC5B7A5E5}" presName="vert1" presStyleCnt="0"/>
      <dgm:spPr/>
    </dgm:pt>
    <dgm:pt modelId="{B3D4A551-1152-4E0C-B0D8-BC5872562571}" type="pres">
      <dgm:prSet presAssocID="{FB40D2CD-FA27-4FC1-8A26-D551993B3814}" presName="thickLine" presStyleLbl="alignNode1" presStyleIdx="14" presStyleCnt="16"/>
      <dgm:spPr/>
    </dgm:pt>
    <dgm:pt modelId="{69A54B39-D22D-45EC-892B-201415D71C40}" type="pres">
      <dgm:prSet presAssocID="{FB40D2CD-FA27-4FC1-8A26-D551993B3814}" presName="horz1" presStyleCnt="0"/>
      <dgm:spPr/>
    </dgm:pt>
    <dgm:pt modelId="{4CE87493-993A-433F-832A-B4D0B4D4DB78}" type="pres">
      <dgm:prSet presAssocID="{FB40D2CD-FA27-4FC1-8A26-D551993B3814}" presName="tx1" presStyleLbl="revTx" presStyleIdx="14" presStyleCnt="16"/>
      <dgm:spPr/>
    </dgm:pt>
    <dgm:pt modelId="{9CCDBCC4-C8FB-4B3F-A69B-1BC568058943}" type="pres">
      <dgm:prSet presAssocID="{FB40D2CD-FA27-4FC1-8A26-D551993B3814}" presName="vert1" presStyleCnt="0"/>
      <dgm:spPr/>
    </dgm:pt>
    <dgm:pt modelId="{E4EE0497-639C-4BFB-BA77-AF525D678742}" type="pres">
      <dgm:prSet presAssocID="{1123C73B-0C94-4CD4-AC73-5C0D647058C4}" presName="thickLine" presStyleLbl="alignNode1" presStyleIdx="15" presStyleCnt="16"/>
      <dgm:spPr/>
    </dgm:pt>
    <dgm:pt modelId="{5179C66A-89FD-44E9-9C32-B70100BC0020}" type="pres">
      <dgm:prSet presAssocID="{1123C73B-0C94-4CD4-AC73-5C0D647058C4}" presName="horz1" presStyleCnt="0"/>
      <dgm:spPr/>
    </dgm:pt>
    <dgm:pt modelId="{6DFEFB7D-492C-4F5B-AF9E-30223B8C9836}" type="pres">
      <dgm:prSet presAssocID="{1123C73B-0C94-4CD4-AC73-5C0D647058C4}" presName="tx1" presStyleLbl="revTx" presStyleIdx="15" presStyleCnt="16"/>
      <dgm:spPr/>
    </dgm:pt>
    <dgm:pt modelId="{6DDB615B-8E75-474A-BF53-50F6FDB85F1F}" type="pres">
      <dgm:prSet presAssocID="{1123C73B-0C94-4CD4-AC73-5C0D647058C4}" presName="vert1" presStyleCnt="0"/>
      <dgm:spPr/>
    </dgm:pt>
  </dgm:ptLst>
  <dgm:cxnLst>
    <dgm:cxn modelId="{A59E0306-A37A-47F6-9151-A82B942096F0}" srcId="{31DB8C3F-EA76-4A03-B614-C08BE9DA02B8}" destId="{570C6C39-2E98-4572-B640-F3A0B303FD88}" srcOrd="8" destOrd="0" parTransId="{DB3D012D-BACC-4DF3-97DF-3565BDC0AE01}" sibTransId="{763FAD4C-B34B-4A8F-8CA3-8E3043E2BA9A}"/>
    <dgm:cxn modelId="{A6CAE00E-40AC-44D9-9259-9B631719CE59}" type="presOf" srcId="{570C6C39-2E98-4572-B640-F3A0B303FD88}" destId="{F86DAE41-3DAD-4962-B157-5373B5D6E454}" srcOrd="0" destOrd="0" presId="urn:microsoft.com/office/officeart/2008/layout/LinedList"/>
    <dgm:cxn modelId="{E9CD051A-0DF8-4C47-944C-F2A609A591FF}" srcId="{31DB8C3F-EA76-4A03-B614-C08BE9DA02B8}" destId="{9F21D1EB-E1A5-4AE1-9595-31C3AB1250C3}" srcOrd="4" destOrd="0" parTransId="{A6189B50-7EC2-4DBE-94B9-8FB7D3697C3C}" sibTransId="{9425949D-E2DB-4ED7-B97C-4E381C6B7001}"/>
    <dgm:cxn modelId="{4BC2781A-5D44-44CD-98E2-F4B79F442518}" type="presOf" srcId="{C2B59564-EBD0-4996-9D7D-E6C87E26211D}" destId="{EF416919-07C8-41D0-B903-E9036B67FB2A}" srcOrd="0" destOrd="0" presId="urn:microsoft.com/office/officeart/2008/layout/LinedList"/>
    <dgm:cxn modelId="{B4BCE11B-0F27-42F2-B3A7-38B10BE996E0}" srcId="{31DB8C3F-EA76-4A03-B614-C08BE9DA02B8}" destId="{408D6DEA-2E3E-48C5-83D7-4C76DF28B31F}" srcOrd="0" destOrd="0" parTransId="{FCB58AEA-F168-40AD-A4CA-CC45652C700E}" sibTransId="{A5E99A50-6B4D-44EA-9782-4990A4AC6107}"/>
    <dgm:cxn modelId="{BFE4C41C-5FEE-4E1F-B497-08E8BC3059DD}" type="presOf" srcId="{9F21D1EB-E1A5-4AE1-9595-31C3AB1250C3}" destId="{EB7D08C1-D7A9-4482-8FE5-2DDA436B8EC3}" srcOrd="0" destOrd="0" presId="urn:microsoft.com/office/officeart/2008/layout/LinedList"/>
    <dgm:cxn modelId="{0C728821-BE03-4DC3-8D6C-58FA3DD15CF8}" srcId="{31DB8C3F-EA76-4A03-B614-C08BE9DA02B8}" destId="{920B8DF1-0428-4DC9-8F1A-7BBEF335D1E8}" srcOrd="1" destOrd="0" parTransId="{CA998D18-F160-4396-AD2B-86AA7D50D247}" sibTransId="{4F07327E-38EE-4FF7-8B2B-759F53A883B7}"/>
    <dgm:cxn modelId="{D589CE21-5422-4BD5-85B7-B1AA62AE842D}" type="presOf" srcId="{602BD601-9A9B-4FC5-AEEF-8224B2D88C41}" destId="{9A72F446-AED5-4082-8D31-4EBBDBFDF54E}" srcOrd="0" destOrd="0" presId="urn:microsoft.com/office/officeart/2008/layout/LinedList"/>
    <dgm:cxn modelId="{936E0623-76B0-4699-B712-75D0BB34E903}" type="presOf" srcId="{FB40D2CD-FA27-4FC1-8A26-D551993B3814}" destId="{4CE87493-993A-433F-832A-B4D0B4D4DB78}" srcOrd="0" destOrd="0" presId="urn:microsoft.com/office/officeart/2008/layout/LinedList"/>
    <dgm:cxn modelId="{3279CB25-35F6-44FA-975B-8DE5C730DE4E}" type="presOf" srcId="{920B8DF1-0428-4DC9-8F1A-7BBEF335D1E8}" destId="{C00299DD-E514-4A62-91C4-A422D216A07D}" srcOrd="0" destOrd="0" presId="urn:microsoft.com/office/officeart/2008/layout/LinedList"/>
    <dgm:cxn modelId="{EB01E136-B4CA-4221-BC2D-7FEFFB960675}" srcId="{31DB8C3F-EA76-4A03-B614-C08BE9DA02B8}" destId="{86246914-C535-4AA6-AE06-273DE0F281FC}" srcOrd="3" destOrd="0" parTransId="{F4E3BDA8-30C8-4B44-A878-19A01DD1A6ED}" sibTransId="{94D9C09D-B3E3-48A7-BE2E-7E32D54BEE85}"/>
    <dgm:cxn modelId="{5388173B-8672-4F78-8B3C-C69DAD1FBF9B}" type="presOf" srcId="{ABF58AF7-7D50-4578-8B0B-761F566EE1D8}" destId="{1D29F9AF-6B32-49AA-AF94-76E178B404DE}" srcOrd="0" destOrd="0" presId="urn:microsoft.com/office/officeart/2008/layout/LinedList"/>
    <dgm:cxn modelId="{13B21B3E-4D35-40FC-BEDE-AFDF0E87B5B4}" type="presOf" srcId="{B65941A8-C022-4AE7-8A35-359FEF013017}" destId="{CFCBEBFF-1ABA-45E1-93D9-56ABAADF7E42}" srcOrd="0" destOrd="0" presId="urn:microsoft.com/office/officeart/2008/layout/LinedList"/>
    <dgm:cxn modelId="{4CED4D3E-E992-41C8-8BE3-D76E3C908E2B}" srcId="{31DB8C3F-EA76-4A03-B614-C08BE9DA02B8}" destId="{1123C73B-0C94-4CD4-AC73-5C0D647058C4}" srcOrd="15" destOrd="0" parTransId="{5568787F-014B-4AE7-A660-BD402E54A67E}" sibTransId="{4A8BA413-4D16-455F-8D6E-956C02477ED1}"/>
    <dgm:cxn modelId="{EF6FBC4C-6AA1-4CB0-8545-64193075E9DB}" srcId="{31DB8C3F-EA76-4A03-B614-C08BE9DA02B8}" destId="{A1DCC8DF-A9E3-4983-A92E-F49B51187B08}" srcOrd="9" destOrd="0" parTransId="{5273E9D0-2187-4CF6-AB2E-BE81D6BACD52}" sibTransId="{5679F261-9256-4DBA-A231-72006371809F}"/>
    <dgm:cxn modelId="{B6167E71-EA2D-47B8-9740-9D8E3BB4127C}" type="presOf" srcId="{1123C73B-0C94-4CD4-AC73-5C0D647058C4}" destId="{6DFEFB7D-492C-4F5B-AF9E-30223B8C9836}" srcOrd="0" destOrd="0" presId="urn:microsoft.com/office/officeart/2008/layout/LinedList"/>
    <dgm:cxn modelId="{8647FB74-3B6F-4437-9FAA-B4C689F348AE}" type="presOf" srcId="{DF2955D0-A37A-43D0-BE6C-C72EC5B7A5E5}" destId="{D9996686-7436-4CE9-9C20-7A6E05DE4DE2}" srcOrd="0" destOrd="0" presId="urn:microsoft.com/office/officeart/2008/layout/LinedList"/>
    <dgm:cxn modelId="{D7923877-0B71-4695-B856-9BA5C7E9A583}" srcId="{31DB8C3F-EA76-4A03-B614-C08BE9DA02B8}" destId="{B65941A8-C022-4AE7-8A35-359FEF013017}" srcOrd="7" destOrd="0" parTransId="{C4993FF8-E33C-46FF-9B10-78D9AFE346E8}" sibTransId="{00870FE3-96D2-4ECD-B919-498D3126886F}"/>
    <dgm:cxn modelId="{00313C87-1F6D-44CA-9A58-68B611BD4D1D}" type="presOf" srcId="{86246914-C535-4AA6-AE06-273DE0F281FC}" destId="{9CE1DED5-1E33-4997-9F61-3D4F7E2A2164}" srcOrd="0" destOrd="0" presId="urn:microsoft.com/office/officeart/2008/layout/LinedList"/>
    <dgm:cxn modelId="{21CB2C91-4B33-4DE2-9891-FA6F5017E0ED}" srcId="{31DB8C3F-EA76-4A03-B614-C08BE9DA02B8}" destId="{DF2955D0-A37A-43D0-BE6C-C72EC5B7A5E5}" srcOrd="13" destOrd="0" parTransId="{2D96C613-A3BE-4C07-B4B9-DB4441D874F1}" sibTransId="{FBB707B3-BA48-4514-876C-C7C1CD3B36B7}"/>
    <dgm:cxn modelId="{FE45FE91-62D4-4F1C-BA85-E248DA1852C6}" type="presOf" srcId="{2DC2A719-AB56-41ED-BF58-C6425916EDDF}" destId="{71BC2C77-E963-4F87-8EF8-E474F94C129F}" srcOrd="0" destOrd="0" presId="urn:microsoft.com/office/officeart/2008/layout/LinedList"/>
    <dgm:cxn modelId="{714F0695-16A6-4BE0-8A68-E053F9AA6FE5}" type="presOf" srcId="{408D6DEA-2E3E-48C5-83D7-4C76DF28B31F}" destId="{B864E2E5-387F-4DFD-A07B-2BAB9377C608}" srcOrd="0" destOrd="0" presId="urn:microsoft.com/office/officeart/2008/layout/LinedList"/>
    <dgm:cxn modelId="{F46DD198-3138-4035-8396-F677968721CB}" srcId="{31DB8C3F-EA76-4A03-B614-C08BE9DA02B8}" destId="{602BD601-9A9B-4FC5-AEEF-8224B2D88C41}" srcOrd="11" destOrd="0" parTransId="{0D585E0A-7C0E-4663-ABB7-2FB97CAF48C5}" sibTransId="{E519009B-D865-4C6C-80B8-F35C14A7034F}"/>
    <dgm:cxn modelId="{8733F198-0699-4FDA-9410-9C0EA11EE5C1}" srcId="{31DB8C3F-EA76-4A03-B614-C08BE9DA02B8}" destId="{2DC2A719-AB56-41ED-BF58-C6425916EDDF}" srcOrd="10" destOrd="0" parTransId="{6FD0335A-6445-4D2A-931A-B2ACAFF0DC3F}" sibTransId="{B835C1FB-8064-4760-AB6E-D9F57C694BFC}"/>
    <dgm:cxn modelId="{B33CDEAE-64AA-4B91-A003-8C8A4859CBBD}" srcId="{31DB8C3F-EA76-4A03-B614-C08BE9DA02B8}" destId="{C2B59564-EBD0-4996-9D7D-E6C87E26211D}" srcOrd="6" destOrd="0" parTransId="{ED079179-7C27-4390-B461-85210C0F9C03}" sibTransId="{153857CC-4CE2-41AD-A4B1-C57CA93DC709}"/>
    <dgm:cxn modelId="{AA2655B2-41EF-424C-9FCC-B37C4A83FE0B}" srcId="{31DB8C3F-EA76-4A03-B614-C08BE9DA02B8}" destId="{FB40D2CD-FA27-4FC1-8A26-D551993B3814}" srcOrd="14" destOrd="0" parTransId="{68166F52-62F3-4D8C-87ED-180B97995DBA}" sibTransId="{1E5CE47A-EA5B-4BAD-AD33-B00EA2FB42E5}"/>
    <dgm:cxn modelId="{AB7879BD-9E62-4968-ADF1-2FA2ABF2BE82}" type="presOf" srcId="{31DB8C3F-EA76-4A03-B614-C08BE9DA02B8}" destId="{1365585A-48DE-42BB-A4EF-20D1E4CB980D}" srcOrd="0" destOrd="0" presId="urn:microsoft.com/office/officeart/2008/layout/LinedList"/>
    <dgm:cxn modelId="{9AC1DCDA-67FD-470C-809E-AA4D729CA8A5}" srcId="{31DB8C3F-EA76-4A03-B614-C08BE9DA02B8}" destId="{21BCC361-08C3-4BBF-8A32-458A7C498129}" srcOrd="12" destOrd="0" parTransId="{A24748F4-B33F-4356-997F-9C89D6095F00}" sibTransId="{C2DAF8BD-4116-44B3-B7FE-054BD7E50753}"/>
    <dgm:cxn modelId="{75E3F7DE-7A60-4537-A4B2-FCD451AFBE7B}" type="presOf" srcId="{D661FC52-20B4-4A30-A797-EFD07E5053E1}" destId="{8866DFB5-9D68-42D3-8908-34967CA179D6}" srcOrd="0" destOrd="0" presId="urn:microsoft.com/office/officeart/2008/layout/LinedList"/>
    <dgm:cxn modelId="{B64640E3-4A45-417A-93FD-172189FAD5FC}" srcId="{31DB8C3F-EA76-4A03-B614-C08BE9DA02B8}" destId="{D661FC52-20B4-4A30-A797-EFD07E5053E1}" srcOrd="5" destOrd="0" parTransId="{1D4A8088-DA1F-4534-8996-5FA8FB1E5B0D}" sibTransId="{25C6243C-49AC-4885-AE65-9D26DBF705D6}"/>
    <dgm:cxn modelId="{17D326E4-5578-4FD2-AEC4-7C940ED6F5F3}" type="presOf" srcId="{A1DCC8DF-A9E3-4983-A92E-F49B51187B08}" destId="{0C7957C0-21AE-4582-A304-C36E05FFB561}" srcOrd="0" destOrd="0" presId="urn:microsoft.com/office/officeart/2008/layout/LinedList"/>
    <dgm:cxn modelId="{6CA2F6F4-0CBC-45A6-942E-6D00A054E5EC}" type="presOf" srcId="{21BCC361-08C3-4BBF-8A32-458A7C498129}" destId="{2613AD02-9AFA-4647-BC95-59A4709F98F5}" srcOrd="0" destOrd="0" presId="urn:microsoft.com/office/officeart/2008/layout/LinedList"/>
    <dgm:cxn modelId="{844A60F8-0556-40C4-842F-325FEFFB75EA}" srcId="{31DB8C3F-EA76-4A03-B614-C08BE9DA02B8}" destId="{ABF58AF7-7D50-4578-8B0B-761F566EE1D8}" srcOrd="2" destOrd="0" parTransId="{8757D569-7173-4856-AB13-202131A9C16B}" sibTransId="{107FF87D-DA9B-4A26-849D-B9554E0BE420}"/>
    <dgm:cxn modelId="{A63E6D8F-C8EB-4F9A-B21B-E41CBA3534E5}" type="presParOf" srcId="{1365585A-48DE-42BB-A4EF-20D1E4CB980D}" destId="{AD98F44D-E0E6-44BA-9AFC-141EDC91858B}" srcOrd="0" destOrd="0" presId="urn:microsoft.com/office/officeart/2008/layout/LinedList"/>
    <dgm:cxn modelId="{7D863253-CC5F-4482-AA39-298EAE3818E4}" type="presParOf" srcId="{1365585A-48DE-42BB-A4EF-20D1E4CB980D}" destId="{FE3E5E74-0992-439B-8A4B-731162FA584A}" srcOrd="1" destOrd="0" presId="urn:microsoft.com/office/officeart/2008/layout/LinedList"/>
    <dgm:cxn modelId="{39C5E5DB-C6EB-4E20-A970-9A4696F3D858}" type="presParOf" srcId="{FE3E5E74-0992-439B-8A4B-731162FA584A}" destId="{B864E2E5-387F-4DFD-A07B-2BAB9377C608}" srcOrd="0" destOrd="0" presId="urn:microsoft.com/office/officeart/2008/layout/LinedList"/>
    <dgm:cxn modelId="{86CCF528-E3DC-4318-A371-6A6DBBA67511}" type="presParOf" srcId="{FE3E5E74-0992-439B-8A4B-731162FA584A}" destId="{49CA24F2-E4FD-4794-AFAF-DCD811FE5328}" srcOrd="1" destOrd="0" presId="urn:microsoft.com/office/officeart/2008/layout/LinedList"/>
    <dgm:cxn modelId="{B7E162D6-D9C7-4F69-9F89-7072154778D6}" type="presParOf" srcId="{1365585A-48DE-42BB-A4EF-20D1E4CB980D}" destId="{6FB43C4C-AB00-4DBD-AC07-B20124BD554E}" srcOrd="2" destOrd="0" presId="urn:microsoft.com/office/officeart/2008/layout/LinedList"/>
    <dgm:cxn modelId="{F1AB0FD6-2537-427C-AB5F-BBF7BACA7421}" type="presParOf" srcId="{1365585A-48DE-42BB-A4EF-20D1E4CB980D}" destId="{862F6A4F-647D-4083-B285-BBEA9DE5D995}" srcOrd="3" destOrd="0" presId="urn:microsoft.com/office/officeart/2008/layout/LinedList"/>
    <dgm:cxn modelId="{042DE3FE-75FC-44B2-BFAF-0C3FF5156794}" type="presParOf" srcId="{862F6A4F-647D-4083-B285-BBEA9DE5D995}" destId="{C00299DD-E514-4A62-91C4-A422D216A07D}" srcOrd="0" destOrd="0" presId="urn:microsoft.com/office/officeart/2008/layout/LinedList"/>
    <dgm:cxn modelId="{0EAFC984-40BA-494B-8E04-CE07409098BB}" type="presParOf" srcId="{862F6A4F-647D-4083-B285-BBEA9DE5D995}" destId="{B49164B2-B674-4896-93AE-746435D23455}" srcOrd="1" destOrd="0" presId="urn:microsoft.com/office/officeart/2008/layout/LinedList"/>
    <dgm:cxn modelId="{CB5D7A5E-351E-47CD-A4D0-4850EF9F596E}" type="presParOf" srcId="{1365585A-48DE-42BB-A4EF-20D1E4CB980D}" destId="{0C9F9CD2-EB7F-41FF-AADC-74BB7DAD511D}" srcOrd="4" destOrd="0" presId="urn:microsoft.com/office/officeart/2008/layout/LinedList"/>
    <dgm:cxn modelId="{19835EDE-45AF-4030-BA8F-0024FF21F067}" type="presParOf" srcId="{1365585A-48DE-42BB-A4EF-20D1E4CB980D}" destId="{CECA16D0-48BC-434F-A69B-7E13C81E2ED2}" srcOrd="5" destOrd="0" presId="urn:microsoft.com/office/officeart/2008/layout/LinedList"/>
    <dgm:cxn modelId="{6B1C98AC-34AD-411B-A0D4-4808943B94CC}" type="presParOf" srcId="{CECA16D0-48BC-434F-A69B-7E13C81E2ED2}" destId="{1D29F9AF-6B32-49AA-AF94-76E178B404DE}" srcOrd="0" destOrd="0" presId="urn:microsoft.com/office/officeart/2008/layout/LinedList"/>
    <dgm:cxn modelId="{28C5D6D7-FA05-44A3-8918-FF273B42AF61}" type="presParOf" srcId="{CECA16D0-48BC-434F-A69B-7E13C81E2ED2}" destId="{9EE73C4A-F119-49AD-B76E-14B0CA1A9FFA}" srcOrd="1" destOrd="0" presId="urn:microsoft.com/office/officeart/2008/layout/LinedList"/>
    <dgm:cxn modelId="{C295A986-542C-4C4F-9755-C34F284C78BB}" type="presParOf" srcId="{1365585A-48DE-42BB-A4EF-20D1E4CB980D}" destId="{1C3ACC18-9979-4F9E-B6DF-A515624CFF93}" srcOrd="6" destOrd="0" presId="urn:microsoft.com/office/officeart/2008/layout/LinedList"/>
    <dgm:cxn modelId="{51D382A7-4E14-451B-8686-0F79702219F4}" type="presParOf" srcId="{1365585A-48DE-42BB-A4EF-20D1E4CB980D}" destId="{71CD86BD-C4F2-4C21-BEA5-0437A3A1B2D8}" srcOrd="7" destOrd="0" presId="urn:microsoft.com/office/officeart/2008/layout/LinedList"/>
    <dgm:cxn modelId="{E4F1A8B4-3FF1-4B91-B7E0-A004DA7D0CAD}" type="presParOf" srcId="{71CD86BD-C4F2-4C21-BEA5-0437A3A1B2D8}" destId="{9CE1DED5-1E33-4997-9F61-3D4F7E2A2164}" srcOrd="0" destOrd="0" presId="urn:microsoft.com/office/officeart/2008/layout/LinedList"/>
    <dgm:cxn modelId="{46B774E9-4AFA-44EB-9FF6-309A064A6BFA}" type="presParOf" srcId="{71CD86BD-C4F2-4C21-BEA5-0437A3A1B2D8}" destId="{AF0C04CD-650B-4763-B52F-B2DBB4B87409}" srcOrd="1" destOrd="0" presId="urn:microsoft.com/office/officeart/2008/layout/LinedList"/>
    <dgm:cxn modelId="{C7002FD0-25AE-4425-A7A3-792CADD6538C}" type="presParOf" srcId="{1365585A-48DE-42BB-A4EF-20D1E4CB980D}" destId="{2C7622D1-1149-4BFC-AB98-DDA116C4B5DC}" srcOrd="8" destOrd="0" presId="urn:microsoft.com/office/officeart/2008/layout/LinedList"/>
    <dgm:cxn modelId="{08607616-4F49-4C71-B125-5758EB15A07F}" type="presParOf" srcId="{1365585A-48DE-42BB-A4EF-20D1E4CB980D}" destId="{8B7108A9-2E81-473B-AF31-F40C22DD742E}" srcOrd="9" destOrd="0" presId="urn:microsoft.com/office/officeart/2008/layout/LinedList"/>
    <dgm:cxn modelId="{E8426064-4321-4F29-A8B0-9EB2F40F103C}" type="presParOf" srcId="{8B7108A9-2E81-473B-AF31-F40C22DD742E}" destId="{EB7D08C1-D7A9-4482-8FE5-2DDA436B8EC3}" srcOrd="0" destOrd="0" presId="urn:microsoft.com/office/officeart/2008/layout/LinedList"/>
    <dgm:cxn modelId="{3169A700-B93B-4C4C-AE40-71677B1B4E66}" type="presParOf" srcId="{8B7108A9-2E81-473B-AF31-F40C22DD742E}" destId="{1CC9B2C7-744B-4593-87D8-4678EC4078A8}" srcOrd="1" destOrd="0" presId="urn:microsoft.com/office/officeart/2008/layout/LinedList"/>
    <dgm:cxn modelId="{72ECA491-357A-45AD-BA0E-56F648B18B06}" type="presParOf" srcId="{1365585A-48DE-42BB-A4EF-20D1E4CB980D}" destId="{3EADA1ED-0893-48CD-911C-5F02FEF97D59}" srcOrd="10" destOrd="0" presId="urn:microsoft.com/office/officeart/2008/layout/LinedList"/>
    <dgm:cxn modelId="{3B4A2EAE-6654-4B6D-981C-D0436C8AE12D}" type="presParOf" srcId="{1365585A-48DE-42BB-A4EF-20D1E4CB980D}" destId="{E5ACCA62-525D-411D-9F91-A032962F3781}" srcOrd="11" destOrd="0" presId="urn:microsoft.com/office/officeart/2008/layout/LinedList"/>
    <dgm:cxn modelId="{A13C636A-AA88-49DF-BEF3-8111A76E8CC6}" type="presParOf" srcId="{E5ACCA62-525D-411D-9F91-A032962F3781}" destId="{8866DFB5-9D68-42D3-8908-34967CA179D6}" srcOrd="0" destOrd="0" presId="urn:microsoft.com/office/officeart/2008/layout/LinedList"/>
    <dgm:cxn modelId="{B80B3146-2F4B-494D-AD1B-E9226FFD6E2E}" type="presParOf" srcId="{E5ACCA62-525D-411D-9F91-A032962F3781}" destId="{6E8D7BA6-47EE-4BDE-BF31-777301253CEC}" srcOrd="1" destOrd="0" presId="urn:microsoft.com/office/officeart/2008/layout/LinedList"/>
    <dgm:cxn modelId="{3504CBD7-44B3-4114-A041-7B11DB8C144D}" type="presParOf" srcId="{1365585A-48DE-42BB-A4EF-20D1E4CB980D}" destId="{97DA0D71-77BD-46EE-9AA8-013132BF0685}" srcOrd="12" destOrd="0" presId="urn:microsoft.com/office/officeart/2008/layout/LinedList"/>
    <dgm:cxn modelId="{553D421F-D122-4233-AAFC-D77B6D95E0C8}" type="presParOf" srcId="{1365585A-48DE-42BB-A4EF-20D1E4CB980D}" destId="{46590F54-E4A7-448F-B301-5751171ADE79}" srcOrd="13" destOrd="0" presId="urn:microsoft.com/office/officeart/2008/layout/LinedList"/>
    <dgm:cxn modelId="{29CF0EE0-8128-4EB0-ACCF-297464182915}" type="presParOf" srcId="{46590F54-E4A7-448F-B301-5751171ADE79}" destId="{EF416919-07C8-41D0-B903-E9036B67FB2A}" srcOrd="0" destOrd="0" presId="urn:microsoft.com/office/officeart/2008/layout/LinedList"/>
    <dgm:cxn modelId="{78146227-9045-4565-BEC0-62AE286178FF}" type="presParOf" srcId="{46590F54-E4A7-448F-B301-5751171ADE79}" destId="{47963C17-6224-48B0-A9AA-4298D0F43D27}" srcOrd="1" destOrd="0" presId="urn:microsoft.com/office/officeart/2008/layout/LinedList"/>
    <dgm:cxn modelId="{9DA50096-ABB3-4CC6-A778-E3B28B363938}" type="presParOf" srcId="{1365585A-48DE-42BB-A4EF-20D1E4CB980D}" destId="{DE235B00-4832-4518-AD3D-00F89F899B2C}" srcOrd="14" destOrd="0" presId="urn:microsoft.com/office/officeart/2008/layout/LinedList"/>
    <dgm:cxn modelId="{71384FB3-F8BB-4B89-9E92-4086C97E20F6}" type="presParOf" srcId="{1365585A-48DE-42BB-A4EF-20D1E4CB980D}" destId="{6FE217DF-3806-48D1-A241-BB258C2518DE}" srcOrd="15" destOrd="0" presId="urn:microsoft.com/office/officeart/2008/layout/LinedList"/>
    <dgm:cxn modelId="{54DFB6E6-B0A8-41F4-903F-2B2666EBF8F2}" type="presParOf" srcId="{6FE217DF-3806-48D1-A241-BB258C2518DE}" destId="{CFCBEBFF-1ABA-45E1-93D9-56ABAADF7E42}" srcOrd="0" destOrd="0" presId="urn:microsoft.com/office/officeart/2008/layout/LinedList"/>
    <dgm:cxn modelId="{A5ED6985-6EBF-45A1-9E65-C25BD396F1BE}" type="presParOf" srcId="{6FE217DF-3806-48D1-A241-BB258C2518DE}" destId="{69DE5ABF-6F85-4EC0-91D1-6DD62DA876B2}" srcOrd="1" destOrd="0" presId="urn:microsoft.com/office/officeart/2008/layout/LinedList"/>
    <dgm:cxn modelId="{10DBA418-E4CA-44A4-852D-AF67F14BCACE}" type="presParOf" srcId="{1365585A-48DE-42BB-A4EF-20D1E4CB980D}" destId="{53485090-BA40-4765-8963-72C1BD90F155}" srcOrd="16" destOrd="0" presId="urn:microsoft.com/office/officeart/2008/layout/LinedList"/>
    <dgm:cxn modelId="{4A857F70-E31A-4B31-AC25-3C143278EB67}" type="presParOf" srcId="{1365585A-48DE-42BB-A4EF-20D1E4CB980D}" destId="{69065593-BE3C-480B-893C-1310D2098DA2}" srcOrd="17" destOrd="0" presId="urn:microsoft.com/office/officeart/2008/layout/LinedList"/>
    <dgm:cxn modelId="{E607AED4-0239-4AB6-964E-7ED91234025C}" type="presParOf" srcId="{69065593-BE3C-480B-893C-1310D2098DA2}" destId="{F86DAE41-3DAD-4962-B157-5373B5D6E454}" srcOrd="0" destOrd="0" presId="urn:microsoft.com/office/officeart/2008/layout/LinedList"/>
    <dgm:cxn modelId="{CDB2EE7B-77F7-4F13-82DA-05BC1434AE74}" type="presParOf" srcId="{69065593-BE3C-480B-893C-1310D2098DA2}" destId="{084B628D-20C3-4B83-9456-89DECFB5CB95}" srcOrd="1" destOrd="0" presId="urn:microsoft.com/office/officeart/2008/layout/LinedList"/>
    <dgm:cxn modelId="{92CF661C-D6AE-4CC2-9117-3BE2A7CF4CD3}" type="presParOf" srcId="{1365585A-48DE-42BB-A4EF-20D1E4CB980D}" destId="{180DDC8C-8245-4C75-8C5A-08E05A7F06F3}" srcOrd="18" destOrd="0" presId="urn:microsoft.com/office/officeart/2008/layout/LinedList"/>
    <dgm:cxn modelId="{9DC9AF1B-CA22-4160-B633-DA3B5DB17F86}" type="presParOf" srcId="{1365585A-48DE-42BB-A4EF-20D1E4CB980D}" destId="{A5C100C7-0320-496C-8698-9B9D54CC97D1}" srcOrd="19" destOrd="0" presId="urn:microsoft.com/office/officeart/2008/layout/LinedList"/>
    <dgm:cxn modelId="{0F89B2D4-8037-4E9C-A25B-0D57AD6EB6EA}" type="presParOf" srcId="{A5C100C7-0320-496C-8698-9B9D54CC97D1}" destId="{0C7957C0-21AE-4582-A304-C36E05FFB561}" srcOrd="0" destOrd="0" presId="urn:microsoft.com/office/officeart/2008/layout/LinedList"/>
    <dgm:cxn modelId="{EB6660F1-DAB0-4189-B5F9-AA67C0BCEF26}" type="presParOf" srcId="{A5C100C7-0320-496C-8698-9B9D54CC97D1}" destId="{36845682-C8BA-4FC3-87C8-1D8C4705D7AB}" srcOrd="1" destOrd="0" presId="urn:microsoft.com/office/officeart/2008/layout/LinedList"/>
    <dgm:cxn modelId="{3BF38CF0-14B3-448A-88A7-60CFC6D971EA}" type="presParOf" srcId="{1365585A-48DE-42BB-A4EF-20D1E4CB980D}" destId="{165E4A3F-7BB3-4F75-B689-00AADE95BFEF}" srcOrd="20" destOrd="0" presId="urn:microsoft.com/office/officeart/2008/layout/LinedList"/>
    <dgm:cxn modelId="{D49D5B7B-634F-4FDE-866A-56BDE93DEFF4}" type="presParOf" srcId="{1365585A-48DE-42BB-A4EF-20D1E4CB980D}" destId="{B34DC62F-D965-4DDE-B272-6B9F21B2A14F}" srcOrd="21" destOrd="0" presId="urn:microsoft.com/office/officeart/2008/layout/LinedList"/>
    <dgm:cxn modelId="{58C539DE-0FCB-4109-9C95-A38C115EFDAA}" type="presParOf" srcId="{B34DC62F-D965-4DDE-B272-6B9F21B2A14F}" destId="{71BC2C77-E963-4F87-8EF8-E474F94C129F}" srcOrd="0" destOrd="0" presId="urn:microsoft.com/office/officeart/2008/layout/LinedList"/>
    <dgm:cxn modelId="{EE259249-BAE3-4A8F-AAAF-4660872FFF81}" type="presParOf" srcId="{B34DC62F-D965-4DDE-B272-6B9F21B2A14F}" destId="{3EA3CD31-D339-45D1-9409-C9F199730780}" srcOrd="1" destOrd="0" presId="urn:microsoft.com/office/officeart/2008/layout/LinedList"/>
    <dgm:cxn modelId="{A72B8E8D-DD98-4CC2-BA07-B20A60D5485C}" type="presParOf" srcId="{1365585A-48DE-42BB-A4EF-20D1E4CB980D}" destId="{5AAE1B69-167D-40FB-A786-9E42EE3699E3}" srcOrd="22" destOrd="0" presId="urn:microsoft.com/office/officeart/2008/layout/LinedList"/>
    <dgm:cxn modelId="{42E8FCF1-91B4-4708-8091-296F3F065D45}" type="presParOf" srcId="{1365585A-48DE-42BB-A4EF-20D1E4CB980D}" destId="{A3A4CC99-539C-407C-BEB0-F904668F1D00}" srcOrd="23" destOrd="0" presId="urn:microsoft.com/office/officeart/2008/layout/LinedList"/>
    <dgm:cxn modelId="{C84E3E78-86F2-4A4C-9232-34BEC17145E1}" type="presParOf" srcId="{A3A4CC99-539C-407C-BEB0-F904668F1D00}" destId="{9A72F446-AED5-4082-8D31-4EBBDBFDF54E}" srcOrd="0" destOrd="0" presId="urn:microsoft.com/office/officeart/2008/layout/LinedList"/>
    <dgm:cxn modelId="{E28E0296-4736-4557-9B16-6A3D98BBB6D5}" type="presParOf" srcId="{A3A4CC99-539C-407C-BEB0-F904668F1D00}" destId="{9118442A-BE97-47CB-9D6C-FC98AB51CBF7}" srcOrd="1" destOrd="0" presId="urn:microsoft.com/office/officeart/2008/layout/LinedList"/>
    <dgm:cxn modelId="{07244CA2-6604-4CE8-92DF-66716B52D4F9}" type="presParOf" srcId="{1365585A-48DE-42BB-A4EF-20D1E4CB980D}" destId="{CA6D96E1-052C-4D26-A9EE-0BA56D875D04}" srcOrd="24" destOrd="0" presId="urn:microsoft.com/office/officeart/2008/layout/LinedList"/>
    <dgm:cxn modelId="{FC0F312B-6CAA-42C9-8BBF-95EE4B5FD0C9}" type="presParOf" srcId="{1365585A-48DE-42BB-A4EF-20D1E4CB980D}" destId="{D14435EC-35D6-4B7F-90E6-70E0838F2825}" srcOrd="25" destOrd="0" presId="urn:microsoft.com/office/officeart/2008/layout/LinedList"/>
    <dgm:cxn modelId="{A5D1793A-801C-475E-A503-4C8B2D1CB83E}" type="presParOf" srcId="{D14435EC-35D6-4B7F-90E6-70E0838F2825}" destId="{2613AD02-9AFA-4647-BC95-59A4709F98F5}" srcOrd="0" destOrd="0" presId="urn:microsoft.com/office/officeart/2008/layout/LinedList"/>
    <dgm:cxn modelId="{CB3046B8-0E6C-44CA-84DC-3D288BB3AB1F}" type="presParOf" srcId="{D14435EC-35D6-4B7F-90E6-70E0838F2825}" destId="{19095E2E-C4CE-46F3-8D0E-3A2B901B1E2B}" srcOrd="1" destOrd="0" presId="urn:microsoft.com/office/officeart/2008/layout/LinedList"/>
    <dgm:cxn modelId="{960A0438-4152-4823-A7CE-F34B10B10F6A}" type="presParOf" srcId="{1365585A-48DE-42BB-A4EF-20D1E4CB980D}" destId="{020EE43C-549F-4A8F-82A9-7C52C3B92FEE}" srcOrd="26" destOrd="0" presId="urn:microsoft.com/office/officeart/2008/layout/LinedList"/>
    <dgm:cxn modelId="{2F8DB2F0-178E-4381-80C5-FDF3A648F1CB}" type="presParOf" srcId="{1365585A-48DE-42BB-A4EF-20D1E4CB980D}" destId="{648F8A2F-857A-4171-92E0-16DACC5D5ACB}" srcOrd="27" destOrd="0" presId="urn:microsoft.com/office/officeart/2008/layout/LinedList"/>
    <dgm:cxn modelId="{B9C13CF7-76F9-4667-BEA7-5732F02BD645}" type="presParOf" srcId="{648F8A2F-857A-4171-92E0-16DACC5D5ACB}" destId="{D9996686-7436-4CE9-9C20-7A6E05DE4DE2}" srcOrd="0" destOrd="0" presId="urn:microsoft.com/office/officeart/2008/layout/LinedList"/>
    <dgm:cxn modelId="{1A836BD8-42A5-4CB6-82EC-56C4CC1D31D4}" type="presParOf" srcId="{648F8A2F-857A-4171-92E0-16DACC5D5ACB}" destId="{3F7F9A87-08F1-4842-AC12-32235708B547}" srcOrd="1" destOrd="0" presId="urn:microsoft.com/office/officeart/2008/layout/LinedList"/>
    <dgm:cxn modelId="{5EBD16DE-1268-4B38-A2BC-9D333CDFABF1}" type="presParOf" srcId="{1365585A-48DE-42BB-A4EF-20D1E4CB980D}" destId="{B3D4A551-1152-4E0C-B0D8-BC5872562571}" srcOrd="28" destOrd="0" presId="urn:microsoft.com/office/officeart/2008/layout/LinedList"/>
    <dgm:cxn modelId="{AD421DC4-B82C-4ADE-AFEF-01B33BDA6744}" type="presParOf" srcId="{1365585A-48DE-42BB-A4EF-20D1E4CB980D}" destId="{69A54B39-D22D-45EC-892B-201415D71C40}" srcOrd="29" destOrd="0" presId="urn:microsoft.com/office/officeart/2008/layout/LinedList"/>
    <dgm:cxn modelId="{C2F75170-7DF8-42DD-9B49-91498F4EA9CC}" type="presParOf" srcId="{69A54B39-D22D-45EC-892B-201415D71C40}" destId="{4CE87493-993A-433F-832A-B4D0B4D4DB78}" srcOrd="0" destOrd="0" presId="urn:microsoft.com/office/officeart/2008/layout/LinedList"/>
    <dgm:cxn modelId="{C9A5D75F-DC87-4AC3-A137-9CB2F33C9C77}" type="presParOf" srcId="{69A54B39-D22D-45EC-892B-201415D71C40}" destId="{9CCDBCC4-C8FB-4B3F-A69B-1BC568058943}" srcOrd="1" destOrd="0" presId="urn:microsoft.com/office/officeart/2008/layout/LinedList"/>
    <dgm:cxn modelId="{503074C8-E781-49F2-8E9F-B3BEB570000B}" type="presParOf" srcId="{1365585A-48DE-42BB-A4EF-20D1E4CB980D}" destId="{E4EE0497-639C-4BFB-BA77-AF525D678742}" srcOrd="30" destOrd="0" presId="urn:microsoft.com/office/officeart/2008/layout/LinedList"/>
    <dgm:cxn modelId="{3A77E1E0-9C48-4674-AE9A-ED37366CE129}" type="presParOf" srcId="{1365585A-48DE-42BB-A4EF-20D1E4CB980D}" destId="{5179C66A-89FD-44E9-9C32-B70100BC0020}" srcOrd="31" destOrd="0" presId="urn:microsoft.com/office/officeart/2008/layout/LinedList"/>
    <dgm:cxn modelId="{74954626-21B3-4E67-9B83-46CEE4ED79EF}" type="presParOf" srcId="{5179C66A-89FD-44E9-9C32-B70100BC0020}" destId="{6DFEFB7D-492C-4F5B-AF9E-30223B8C9836}" srcOrd="0" destOrd="0" presId="urn:microsoft.com/office/officeart/2008/layout/LinedList"/>
    <dgm:cxn modelId="{3231ABBC-83FE-4FF2-B231-16F584BB5509}" type="presParOf" srcId="{5179C66A-89FD-44E9-9C32-B70100BC0020}" destId="{6DDB615B-8E75-474A-BF53-50F6FDB85F1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DB8C3F-EA76-4A03-B614-C08BE9DA02B8}"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ABF58AF7-7D50-4578-8B0B-761F566EE1D8}">
      <dgm:prSet/>
      <dgm:spPr/>
      <dgm:t>
        <a:bodyPr/>
        <a:lstStyle/>
        <a:p>
          <a:r>
            <a:rPr lang="en-IN" b="1" dirty="0"/>
            <a:t> Step 10: Predict for a new input value</a:t>
          </a:r>
          <a:endParaRPr lang="en-US" b="1" dirty="0"/>
        </a:p>
      </dgm:t>
    </dgm:pt>
    <dgm:pt modelId="{8757D569-7173-4856-AB13-202131A9C16B}" type="parTrans" cxnId="{844A60F8-0556-40C4-842F-325FEFFB75EA}">
      <dgm:prSet/>
      <dgm:spPr/>
      <dgm:t>
        <a:bodyPr/>
        <a:lstStyle/>
        <a:p>
          <a:endParaRPr lang="en-IN"/>
        </a:p>
      </dgm:t>
    </dgm:pt>
    <dgm:pt modelId="{107FF87D-DA9B-4A26-849D-B9554E0BE420}" type="sibTrans" cxnId="{844A60F8-0556-40C4-842F-325FEFFB75EA}">
      <dgm:prSet/>
      <dgm:spPr/>
      <dgm:t>
        <a:bodyPr/>
        <a:lstStyle/>
        <a:p>
          <a:endParaRPr lang="en-IN"/>
        </a:p>
      </dgm:t>
    </dgm:pt>
    <dgm:pt modelId="{D82237D4-9092-4565-A706-A39F4F84371A}">
      <dgm:prSet/>
      <dgm:spPr/>
      <dgm:t>
        <a:bodyPr/>
        <a:lstStyle/>
        <a:p>
          <a:r>
            <a:rPr lang="en-IN" dirty="0"/>
            <a:t>data = [[80000]]                            </a:t>
          </a:r>
          <a:r>
            <a:rPr lang="en-IN" b="1" dirty="0"/>
            <a:t>New input value (e.g., R&amp;D Spend</a:t>
          </a:r>
          <a:r>
            <a:rPr lang="en-IN" dirty="0"/>
            <a:t>)</a:t>
          </a:r>
        </a:p>
      </dgm:t>
    </dgm:pt>
    <dgm:pt modelId="{0642323F-CB5F-45D6-B71B-1959CA97D297}" type="parTrans" cxnId="{180B4E88-4A5D-4466-9DF3-5FA6B87F24FB}">
      <dgm:prSet/>
      <dgm:spPr/>
      <dgm:t>
        <a:bodyPr/>
        <a:lstStyle/>
        <a:p>
          <a:endParaRPr lang="en-IN"/>
        </a:p>
      </dgm:t>
    </dgm:pt>
    <dgm:pt modelId="{FEAD76BF-F073-4BDA-BBCA-6595A70A144E}" type="sibTrans" cxnId="{180B4E88-4A5D-4466-9DF3-5FA6B87F24FB}">
      <dgm:prSet/>
      <dgm:spPr/>
      <dgm:t>
        <a:bodyPr/>
        <a:lstStyle/>
        <a:p>
          <a:endParaRPr lang="en-IN"/>
        </a:p>
      </dgm:t>
    </dgm:pt>
    <dgm:pt modelId="{170C96F2-81CC-4938-BD14-449E8842CE23}">
      <dgm:prSet/>
      <dgm:spPr/>
      <dgm:t>
        <a:bodyPr/>
        <a:lstStyle/>
        <a:p>
          <a:r>
            <a:rPr lang="en-IN" dirty="0" err="1"/>
            <a:t>new_df</a:t>
          </a:r>
          <a:r>
            <a:rPr lang="en-IN" dirty="0"/>
            <a:t> = </a:t>
          </a:r>
          <a:r>
            <a:rPr lang="en-IN" dirty="0" err="1"/>
            <a:t>pd.DataFrame</a:t>
          </a:r>
          <a:r>
            <a:rPr lang="en-IN" dirty="0"/>
            <a:t>(data)               </a:t>
          </a:r>
          <a:r>
            <a:rPr lang="en-IN" b="1" dirty="0"/>
            <a:t>Convert to </a:t>
          </a:r>
          <a:r>
            <a:rPr lang="en-IN" b="1" dirty="0" err="1"/>
            <a:t>DataFrame</a:t>
          </a:r>
          <a:endParaRPr lang="en-IN" b="1" dirty="0"/>
        </a:p>
      </dgm:t>
    </dgm:pt>
    <dgm:pt modelId="{AF0D3BAD-CE0A-4190-85E0-47CEDAA48529}" type="parTrans" cxnId="{FA5B5084-7FFE-422D-8DEF-89E680F56FBE}">
      <dgm:prSet/>
      <dgm:spPr/>
      <dgm:t>
        <a:bodyPr/>
        <a:lstStyle/>
        <a:p>
          <a:endParaRPr lang="en-IN"/>
        </a:p>
      </dgm:t>
    </dgm:pt>
    <dgm:pt modelId="{8F19D558-F3BC-4375-A8BC-236A7E278DF8}" type="sibTrans" cxnId="{FA5B5084-7FFE-422D-8DEF-89E680F56FBE}">
      <dgm:prSet/>
      <dgm:spPr/>
      <dgm:t>
        <a:bodyPr/>
        <a:lstStyle/>
        <a:p>
          <a:endParaRPr lang="en-IN"/>
        </a:p>
      </dgm:t>
    </dgm:pt>
    <dgm:pt modelId="{27F2519C-492E-4485-AD51-D8B14F46E396}">
      <dgm:prSet/>
      <dgm:spPr/>
      <dgm:t>
        <a:bodyPr/>
        <a:lstStyle/>
        <a:p>
          <a:r>
            <a:rPr lang="en-IN" dirty="0" err="1"/>
            <a:t>new_df</a:t>
          </a:r>
          <a:r>
            <a:rPr lang="en-IN" dirty="0"/>
            <a:t> = </a:t>
          </a:r>
          <a:r>
            <a:rPr lang="en-IN" dirty="0" err="1"/>
            <a:t>sc.transform</a:t>
          </a:r>
          <a:r>
            <a:rPr lang="en-IN" dirty="0"/>
            <a:t>(</a:t>
          </a:r>
          <a:r>
            <a:rPr lang="en-IN" dirty="0" err="1"/>
            <a:t>new_df</a:t>
          </a:r>
          <a:r>
            <a:rPr lang="en-IN" dirty="0"/>
            <a:t>)                </a:t>
          </a:r>
          <a:r>
            <a:rPr lang="en-IN" b="1" dirty="0"/>
            <a:t>Apply same scaling</a:t>
          </a:r>
        </a:p>
      </dgm:t>
    </dgm:pt>
    <dgm:pt modelId="{5319B49E-1BCE-449F-B714-DEDCC6E5C276}" type="parTrans" cxnId="{9330AF61-D169-4575-9813-89E452769F59}">
      <dgm:prSet/>
      <dgm:spPr/>
      <dgm:t>
        <a:bodyPr/>
        <a:lstStyle/>
        <a:p>
          <a:endParaRPr lang="en-IN"/>
        </a:p>
      </dgm:t>
    </dgm:pt>
    <dgm:pt modelId="{74312D06-3304-4FC7-BF97-1C786477126C}" type="sibTrans" cxnId="{9330AF61-D169-4575-9813-89E452769F59}">
      <dgm:prSet/>
      <dgm:spPr/>
      <dgm:t>
        <a:bodyPr/>
        <a:lstStyle/>
        <a:p>
          <a:endParaRPr lang="en-IN"/>
        </a:p>
      </dgm:t>
    </dgm:pt>
    <dgm:pt modelId="{1B7FB503-FC45-4FA9-B540-C840AFCB1F19}">
      <dgm:prSet/>
      <dgm:spPr/>
      <dgm:t>
        <a:bodyPr/>
        <a:lstStyle/>
        <a:p>
          <a:r>
            <a:rPr lang="en-IN" dirty="0" err="1"/>
            <a:t>new_prediction</a:t>
          </a:r>
          <a:r>
            <a:rPr lang="en-IN" dirty="0"/>
            <a:t> = </a:t>
          </a:r>
          <a:r>
            <a:rPr lang="en-IN" dirty="0" err="1"/>
            <a:t>regressor.predict</a:t>
          </a:r>
          <a:r>
            <a:rPr lang="en-IN" dirty="0"/>
            <a:t>(</a:t>
          </a:r>
          <a:r>
            <a:rPr lang="en-IN" dirty="0" err="1"/>
            <a:t>new_df</a:t>
          </a:r>
          <a:r>
            <a:rPr lang="en-IN" dirty="0"/>
            <a:t>)     </a:t>
          </a:r>
          <a:r>
            <a:rPr lang="en-IN" b="1" dirty="0"/>
            <a:t>Predict using trained model</a:t>
          </a:r>
        </a:p>
      </dgm:t>
    </dgm:pt>
    <dgm:pt modelId="{DEECB320-19A8-4848-AB41-CD91BC3CCF1D}" type="parTrans" cxnId="{FAB58A3B-601B-4049-B595-34915F18496B}">
      <dgm:prSet/>
      <dgm:spPr/>
      <dgm:t>
        <a:bodyPr/>
        <a:lstStyle/>
        <a:p>
          <a:endParaRPr lang="en-IN"/>
        </a:p>
      </dgm:t>
    </dgm:pt>
    <dgm:pt modelId="{739160C3-577A-45A7-9132-38A4379EF3F5}" type="sibTrans" cxnId="{FAB58A3B-601B-4049-B595-34915F18496B}">
      <dgm:prSet/>
      <dgm:spPr/>
      <dgm:t>
        <a:bodyPr/>
        <a:lstStyle/>
        <a:p>
          <a:endParaRPr lang="en-IN"/>
        </a:p>
      </dgm:t>
    </dgm:pt>
    <dgm:pt modelId="{E6AF7B3B-BA58-4CA9-A4F5-6912AB9C1740}">
      <dgm:prSet/>
      <dgm:spPr/>
      <dgm:t>
        <a:bodyPr/>
        <a:lstStyle/>
        <a:p>
          <a:r>
            <a:rPr lang="en-IN" dirty="0"/>
            <a:t>print("Predicted Output:", </a:t>
          </a:r>
          <a:r>
            <a:rPr lang="en-IN" dirty="0" err="1"/>
            <a:t>new_prediction</a:t>
          </a:r>
          <a:r>
            <a:rPr lang="en-IN" dirty="0"/>
            <a:t>[0])      </a:t>
          </a:r>
          <a:r>
            <a:rPr lang="en-IN" b="1" dirty="0"/>
            <a:t>Display prediction</a:t>
          </a:r>
        </a:p>
      </dgm:t>
    </dgm:pt>
    <dgm:pt modelId="{A9E807F5-0CD7-447F-A98F-AC29CE4D7BF4}" type="parTrans" cxnId="{B6D8E858-E3D3-412C-9547-2B455654ADF6}">
      <dgm:prSet/>
      <dgm:spPr/>
      <dgm:t>
        <a:bodyPr/>
        <a:lstStyle/>
        <a:p>
          <a:endParaRPr lang="en-IN"/>
        </a:p>
      </dgm:t>
    </dgm:pt>
    <dgm:pt modelId="{5760EC0C-A6D4-4BEF-BCF8-1DC0B809CCF9}" type="sibTrans" cxnId="{B6D8E858-E3D3-412C-9547-2B455654ADF6}">
      <dgm:prSet/>
      <dgm:spPr/>
      <dgm:t>
        <a:bodyPr/>
        <a:lstStyle/>
        <a:p>
          <a:endParaRPr lang="en-IN"/>
        </a:p>
      </dgm:t>
    </dgm:pt>
    <dgm:pt modelId="{1365585A-48DE-42BB-A4EF-20D1E4CB980D}" type="pres">
      <dgm:prSet presAssocID="{31DB8C3F-EA76-4A03-B614-C08BE9DA02B8}" presName="vert0" presStyleCnt="0">
        <dgm:presLayoutVars>
          <dgm:dir/>
          <dgm:animOne val="branch"/>
          <dgm:animLvl val="lvl"/>
        </dgm:presLayoutVars>
      </dgm:prSet>
      <dgm:spPr/>
    </dgm:pt>
    <dgm:pt modelId="{0C9F9CD2-EB7F-41FF-AADC-74BB7DAD511D}" type="pres">
      <dgm:prSet presAssocID="{ABF58AF7-7D50-4578-8B0B-761F566EE1D8}" presName="thickLine" presStyleLbl="alignNode1" presStyleIdx="0" presStyleCnt="6"/>
      <dgm:spPr/>
    </dgm:pt>
    <dgm:pt modelId="{CECA16D0-48BC-434F-A69B-7E13C81E2ED2}" type="pres">
      <dgm:prSet presAssocID="{ABF58AF7-7D50-4578-8B0B-761F566EE1D8}" presName="horz1" presStyleCnt="0"/>
      <dgm:spPr/>
    </dgm:pt>
    <dgm:pt modelId="{1D29F9AF-6B32-49AA-AF94-76E178B404DE}" type="pres">
      <dgm:prSet presAssocID="{ABF58AF7-7D50-4578-8B0B-761F566EE1D8}" presName="tx1" presStyleLbl="revTx" presStyleIdx="0" presStyleCnt="6"/>
      <dgm:spPr/>
    </dgm:pt>
    <dgm:pt modelId="{9EE73C4A-F119-49AD-B76E-14B0CA1A9FFA}" type="pres">
      <dgm:prSet presAssocID="{ABF58AF7-7D50-4578-8B0B-761F566EE1D8}" presName="vert1" presStyleCnt="0"/>
      <dgm:spPr/>
    </dgm:pt>
    <dgm:pt modelId="{5AEC8E20-BC8B-42F1-856C-C425E8CD55B6}" type="pres">
      <dgm:prSet presAssocID="{D82237D4-9092-4565-A706-A39F4F84371A}" presName="thickLine" presStyleLbl="alignNode1" presStyleIdx="1" presStyleCnt="6"/>
      <dgm:spPr/>
    </dgm:pt>
    <dgm:pt modelId="{F86001B3-4D7F-4375-9B66-3B9E686F0989}" type="pres">
      <dgm:prSet presAssocID="{D82237D4-9092-4565-A706-A39F4F84371A}" presName="horz1" presStyleCnt="0"/>
      <dgm:spPr/>
    </dgm:pt>
    <dgm:pt modelId="{0A03B88D-159E-4EE2-9112-05F1A3F6C22C}" type="pres">
      <dgm:prSet presAssocID="{D82237D4-9092-4565-A706-A39F4F84371A}" presName="tx1" presStyleLbl="revTx" presStyleIdx="1" presStyleCnt="6"/>
      <dgm:spPr/>
    </dgm:pt>
    <dgm:pt modelId="{58745FF2-9B32-47CB-B441-B253A78ABC66}" type="pres">
      <dgm:prSet presAssocID="{D82237D4-9092-4565-A706-A39F4F84371A}" presName="vert1" presStyleCnt="0"/>
      <dgm:spPr/>
    </dgm:pt>
    <dgm:pt modelId="{110D8C90-97F7-4B32-87F4-AB84F84C6E6E}" type="pres">
      <dgm:prSet presAssocID="{170C96F2-81CC-4938-BD14-449E8842CE23}" presName="thickLine" presStyleLbl="alignNode1" presStyleIdx="2" presStyleCnt="6"/>
      <dgm:spPr/>
    </dgm:pt>
    <dgm:pt modelId="{A6F1E4F8-0FD5-43BC-9EA0-C52093A83AB1}" type="pres">
      <dgm:prSet presAssocID="{170C96F2-81CC-4938-BD14-449E8842CE23}" presName="horz1" presStyleCnt="0"/>
      <dgm:spPr/>
    </dgm:pt>
    <dgm:pt modelId="{53000D63-8667-4CD7-BC14-926F615540B2}" type="pres">
      <dgm:prSet presAssocID="{170C96F2-81CC-4938-BD14-449E8842CE23}" presName="tx1" presStyleLbl="revTx" presStyleIdx="2" presStyleCnt="6"/>
      <dgm:spPr/>
    </dgm:pt>
    <dgm:pt modelId="{69B0F1FD-DDE5-4704-963F-3B4D568D810F}" type="pres">
      <dgm:prSet presAssocID="{170C96F2-81CC-4938-BD14-449E8842CE23}" presName="vert1" presStyleCnt="0"/>
      <dgm:spPr/>
    </dgm:pt>
    <dgm:pt modelId="{BF542865-37AE-4095-AABB-86A58B477CCF}" type="pres">
      <dgm:prSet presAssocID="{27F2519C-492E-4485-AD51-D8B14F46E396}" presName="thickLine" presStyleLbl="alignNode1" presStyleIdx="3" presStyleCnt="6"/>
      <dgm:spPr/>
    </dgm:pt>
    <dgm:pt modelId="{56F73C84-FE0E-44D2-9FE7-86E7FA8AA735}" type="pres">
      <dgm:prSet presAssocID="{27F2519C-492E-4485-AD51-D8B14F46E396}" presName="horz1" presStyleCnt="0"/>
      <dgm:spPr/>
    </dgm:pt>
    <dgm:pt modelId="{754AF9B1-5613-49DF-A721-BBE5A044E67D}" type="pres">
      <dgm:prSet presAssocID="{27F2519C-492E-4485-AD51-D8B14F46E396}" presName="tx1" presStyleLbl="revTx" presStyleIdx="3" presStyleCnt="6"/>
      <dgm:spPr/>
    </dgm:pt>
    <dgm:pt modelId="{D1CFBE46-F69D-4C60-A367-F164068B8823}" type="pres">
      <dgm:prSet presAssocID="{27F2519C-492E-4485-AD51-D8B14F46E396}" presName="vert1" presStyleCnt="0"/>
      <dgm:spPr/>
    </dgm:pt>
    <dgm:pt modelId="{1D7B704D-7F6A-4AB9-957F-14293D9827A5}" type="pres">
      <dgm:prSet presAssocID="{1B7FB503-FC45-4FA9-B540-C840AFCB1F19}" presName="thickLine" presStyleLbl="alignNode1" presStyleIdx="4" presStyleCnt="6"/>
      <dgm:spPr/>
    </dgm:pt>
    <dgm:pt modelId="{92FA6272-A4CC-45E1-ADA9-1414C6FF240B}" type="pres">
      <dgm:prSet presAssocID="{1B7FB503-FC45-4FA9-B540-C840AFCB1F19}" presName="horz1" presStyleCnt="0"/>
      <dgm:spPr/>
    </dgm:pt>
    <dgm:pt modelId="{75FE641A-8025-4457-92B2-2049C54D5C9C}" type="pres">
      <dgm:prSet presAssocID="{1B7FB503-FC45-4FA9-B540-C840AFCB1F19}" presName="tx1" presStyleLbl="revTx" presStyleIdx="4" presStyleCnt="6"/>
      <dgm:spPr/>
    </dgm:pt>
    <dgm:pt modelId="{1E5AAAB6-C053-4DB4-B68D-A91CACD2B6B1}" type="pres">
      <dgm:prSet presAssocID="{1B7FB503-FC45-4FA9-B540-C840AFCB1F19}" presName="vert1" presStyleCnt="0"/>
      <dgm:spPr/>
    </dgm:pt>
    <dgm:pt modelId="{9ADE86FC-2711-4677-A3CB-5A1D506EAAC5}" type="pres">
      <dgm:prSet presAssocID="{E6AF7B3B-BA58-4CA9-A4F5-6912AB9C1740}" presName="thickLine" presStyleLbl="alignNode1" presStyleIdx="5" presStyleCnt="6"/>
      <dgm:spPr/>
    </dgm:pt>
    <dgm:pt modelId="{FE47944F-EF63-469B-9A9A-36C56E71AF84}" type="pres">
      <dgm:prSet presAssocID="{E6AF7B3B-BA58-4CA9-A4F5-6912AB9C1740}" presName="horz1" presStyleCnt="0"/>
      <dgm:spPr/>
    </dgm:pt>
    <dgm:pt modelId="{CA4A42CE-9872-4F38-9977-6101AB941ED5}" type="pres">
      <dgm:prSet presAssocID="{E6AF7B3B-BA58-4CA9-A4F5-6912AB9C1740}" presName="tx1" presStyleLbl="revTx" presStyleIdx="5" presStyleCnt="6"/>
      <dgm:spPr/>
    </dgm:pt>
    <dgm:pt modelId="{5558B18B-390A-41F1-8BB0-DA23A0B0A593}" type="pres">
      <dgm:prSet presAssocID="{E6AF7B3B-BA58-4CA9-A4F5-6912AB9C1740}" presName="vert1" presStyleCnt="0"/>
      <dgm:spPr/>
    </dgm:pt>
  </dgm:ptLst>
  <dgm:cxnLst>
    <dgm:cxn modelId="{5388173B-8672-4F78-8B3C-C69DAD1FBF9B}" type="presOf" srcId="{ABF58AF7-7D50-4578-8B0B-761F566EE1D8}" destId="{1D29F9AF-6B32-49AA-AF94-76E178B404DE}" srcOrd="0" destOrd="0" presId="urn:microsoft.com/office/officeart/2008/layout/LinedList"/>
    <dgm:cxn modelId="{FAB58A3B-601B-4049-B595-34915F18496B}" srcId="{31DB8C3F-EA76-4A03-B614-C08BE9DA02B8}" destId="{1B7FB503-FC45-4FA9-B540-C840AFCB1F19}" srcOrd="4" destOrd="0" parTransId="{DEECB320-19A8-4848-AB41-CD91BC3CCF1D}" sibTransId="{739160C3-577A-45A7-9132-38A4379EF3F5}"/>
    <dgm:cxn modelId="{9330AF61-D169-4575-9813-89E452769F59}" srcId="{31DB8C3F-EA76-4A03-B614-C08BE9DA02B8}" destId="{27F2519C-492E-4485-AD51-D8B14F46E396}" srcOrd="3" destOrd="0" parTransId="{5319B49E-1BCE-449F-B714-DEDCC6E5C276}" sibTransId="{74312D06-3304-4FC7-BF97-1C786477126C}"/>
    <dgm:cxn modelId="{8343664A-2EE4-49CF-9EA7-0B9509698548}" type="presOf" srcId="{D82237D4-9092-4565-A706-A39F4F84371A}" destId="{0A03B88D-159E-4EE2-9112-05F1A3F6C22C}" srcOrd="0" destOrd="0" presId="urn:microsoft.com/office/officeart/2008/layout/LinedList"/>
    <dgm:cxn modelId="{6B2FDB6A-0286-4FB9-9C63-AF8A6ED77194}" type="presOf" srcId="{170C96F2-81CC-4938-BD14-449E8842CE23}" destId="{53000D63-8667-4CD7-BC14-926F615540B2}" srcOrd="0" destOrd="0" presId="urn:microsoft.com/office/officeart/2008/layout/LinedList"/>
    <dgm:cxn modelId="{B6D8E858-E3D3-412C-9547-2B455654ADF6}" srcId="{31DB8C3F-EA76-4A03-B614-C08BE9DA02B8}" destId="{E6AF7B3B-BA58-4CA9-A4F5-6912AB9C1740}" srcOrd="5" destOrd="0" parTransId="{A9E807F5-0CD7-447F-A98F-AC29CE4D7BF4}" sibTransId="{5760EC0C-A6D4-4BEF-BCF8-1DC0B809CCF9}"/>
    <dgm:cxn modelId="{FA5B5084-7FFE-422D-8DEF-89E680F56FBE}" srcId="{31DB8C3F-EA76-4A03-B614-C08BE9DA02B8}" destId="{170C96F2-81CC-4938-BD14-449E8842CE23}" srcOrd="2" destOrd="0" parTransId="{AF0D3BAD-CE0A-4190-85E0-47CEDAA48529}" sibTransId="{8F19D558-F3BC-4375-A8BC-236A7E278DF8}"/>
    <dgm:cxn modelId="{7DE33185-0EF8-4400-8525-74E12FCEBBB3}" type="presOf" srcId="{E6AF7B3B-BA58-4CA9-A4F5-6912AB9C1740}" destId="{CA4A42CE-9872-4F38-9977-6101AB941ED5}" srcOrd="0" destOrd="0" presId="urn:microsoft.com/office/officeart/2008/layout/LinedList"/>
    <dgm:cxn modelId="{180B4E88-4A5D-4466-9DF3-5FA6B87F24FB}" srcId="{31DB8C3F-EA76-4A03-B614-C08BE9DA02B8}" destId="{D82237D4-9092-4565-A706-A39F4F84371A}" srcOrd="1" destOrd="0" parTransId="{0642323F-CB5F-45D6-B71B-1959CA97D297}" sibTransId="{FEAD76BF-F073-4BDA-BBCA-6595A70A144E}"/>
    <dgm:cxn modelId="{2A21D68D-FDDE-4CB3-8946-C01FE98E902B}" type="presOf" srcId="{27F2519C-492E-4485-AD51-D8B14F46E396}" destId="{754AF9B1-5613-49DF-A721-BBE5A044E67D}" srcOrd="0" destOrd="0" presId="urn:microsoft.com/office/officeart/2008/layout/LinedList"/>
    <dgm:cxn modelId="{AB7879BD-9E62-4968-ADF1-2FA2ABF2BE82}" type="presOf" srcId="{31DB8C3F-EA76-4A03-B614-C08BE9DA02B8}" destId="{1365585A-48DE-42BB-A4EF-20D1E4CB980D}" srcOrd="0" destOrd="0" presId="urn:microsoft.com/office/officeart/2008/layout/LinedList"/>
    <dgm:cxn modelId="{392D50D4-8453-4FEF-81F4-F75192EA5D3A}" type="presOf" srcId="{1B7FB503-FC45-4FA9-B540-C840AFCB1F19}" destId="{75FE641A-8025-4457-92B2-2049C54D5C9C}" srcOrd="0" destOrd="0" presId="urn:microsoft.com/office/officeart/2008/layout/LinedList"/>
    <dgm:cxn modelId="{844A60F8-0556-40C4-842F-325FEFFB75EA}" srcId="{31DB8C3F-EA76-4A03-B614-C08BE9DA02B8}" destId="{ABF58AF7-7D50-4578-8B0B-761F566EE1D8}" srcOrd="0" destOrd="0" parTransId="{8757D569-7173-4856-AB13-202131A9C16B}" sibTransId="{107FF87D-DA9B-4A26-849D-B9554E0BE420}"/>
    <dgm:cxn modelId="{CB5D7A5E-351E-47CD-A4D0-4850EF9F596E}" type="presParOf" srcId="{1365585A-48DE-42BB-A4EF-20D1E4CB980D}" destId="{0C9F9CD2-EB7F-41FF-AADC-74BB7DAD511D}" srcOrd="0" destOrd="0" presId="urn:microsoft.com/office/officeart/2008/layout/LinedList"/>
    <dgm:cxn modelId="{19835EDE-45AF-4030-BA8F-0024FF21F067}" type="presParOf" srcId="{1365585A-48DE-42BB-A4EF-20D1E4CB980D}" destId="{CECA16D0-48BC-434F-A69B-7E13C81E2ED2}" srcOrd="1" destOrd="0" presId="urn:microsoft.com/office/officeart/2008/layout/LinedList"/>
    <dgm:cxn modelId="{6B1C98AC-34AD-411B-A0D4-4808943B94CC}" type="presParOf" srcId="{CECA16D0-48BC-434F-A69B-7E13C81E2ED2}" destId="{1D29F9AF-6B32-49AA-AF94-76E178B404DE}" srcOrd="0" destOrd="0" presId="urn:microsoft.com/office/officeart/2008/layout/LinedList"/>
    <dgm:cxn modelId="{28C5D6D7-FA05-44A3-8918-FF273B42AF61}" type="presParOf" srcId="{CECA16D0-48BC-434F-A69B-7E13C81E2ED2}" destId="{9EE73C4A-F119-49AD-B76E-14B0CA1A9FFA}" srcOrd="1" destOrd="0" presId="urn:microsoft.com/office/officeart/2008/layout/LinedList"/>
    <dgm:cxn modelId="{8D2E179D-33DB-4D15-880A-B6F3819BF488}" type="presParOf" srcId="{1365585A-48DE-42BB-A4EF-20D1E4CB980D}" destId="{5AEC8E20-BC8B-42F1-856C-C425E8CD55B6}" srcOrd="2" destOrd="0" presId="urn:microsoft.com/office/officeart/2008/layout/LinedList"/>
    <dgm:cxn modelId="{245338BB-918D-46EF-BDA8-DE7F4687199A}" type="presParOf" srcId="{1365585A-48DE-42BB-A4EF-20D1E4CB980D}" destId="{F86001B3-4D7F-4375-9B66-3B9E686F0989}" srcOrd="3" destOrd="0" presId="urn:microsoft.com/office/officeart/2008/layout/LinedList"/>
    <dgm:cxn modelId="{DD92BF43-5F1E-4F96-81D9-003D8BF5683C}" type="presParOf" srcId="{F86001B3-4D7F-4375-9B66-3B9E686F0989}" destId="{0A03B88D-159E-4EE2-9112-05F1A3F6C22C}" srcOrd="0" destOrd="0" presId="urn:microsoft.com/office/officeart/2008/layout/LinedList"/>
    <dgm:cxn modelId="{C956C69D-77EC-4E74-A063-151BC7D95B7C}" type="presParOf" srcId="{F86001B3-4D7F-4375-9B66-3B9E686F0989}" destId="{58745FF2-9B32-47CB-B441-B253A78ABC66}" srcOrd="1" destOrd="0" presId="urn:microsoft.com/office/officeart/2008/layout/LinedList"/>
    <dgm:cxn modelId="{79C39D4E-E594-486D-A36E-C5E1C69BC750}" type="presParOf" srcId="{1365585A-48DE-42BB-A4EF-20D1E4CB980D}" destId="{110D8C90-97F7-4B32-87F4-AB84F84C6E6E}" srcOrd="4" destOrd="0" presId="urn:microsoft.com/office/officeart/2008/layout/LinedList"/>
    <dgm:cxn modelId="{8407BAB3-347F-46D4-882C-6476B0B877BF}" type="presParOf" srcId="{1365585A-48DE-42BB-A4EF-20D1E4CB980D}" destId="{A6F1E4F8-0FD5-43BC-9EA0-C52093A83AB1}" srcOrd="5" destOrd="0" presId="urn:microsoft.com/office/officeart/2008/layout/LinedList"/>
    <dgm:cxn modelId="{652B9473-A7B4-4F94-8EF6-27BEB23299F5}" type="presParOf" srcId="{A6F1E4F8-0FD5-43BC-9EA0-C52093A83AB1}" destId="{53000D63-8667-4CD7-BC14-926F615540B2}" srcOrd="0" destOrd="0" presId="urn:microsoft.com/office/officeart/2008/layout/LinedList"/>
    <dgm:cxn modelId="{432D05C8-AC8C-4334-86A5-03EAF8624CC6}" type="presParOf" srcId="{A6F1E4F8-0FD5-43BC-9EA0-C52093A83AB1}" destId="{69B0F1FD-DDE5-4704-963F-3B4D568D810F}" srcOrd="1" destOrd="0" presId="urn:microsoft.com/office/officeart/2008/layout/LinedList"/>
    <dgm:cxn modelId="{B3A797A8-75E8-45D7-ACB9-466808A411C7}" type="presParOf" srcId="{1365585A-48DE-42BB-A4EF-20D1E4CB980D}" destId="{BF542865-37AE-4095-AABB-86A58B477CCF}" srcOrd="6" destOrd="0" presId="urn:microsoft.com/office/officeart/2008/layout/LinedList"/>
    <dgm:cxn modelId="{5F636D19-F5F0-4040-BEC5-ADB655D27284}" type="presParOf" srcId="{1365585A-48DE-42BB-A4EF-20D1E4CB980D}" destId="{56F73C84-FE0E-44D2-9FE7-86E7FA8AA735}" srcOrd="7" destOrd="0" presId="urn:microsoft.com/office/officeart/2008/layout/LinedList"/>
    <dgm:cxn modelId="{A460966A-97BB-44C2-803E-EAE00B2494B6}" type="presParOf" srcId="{56F73C84-FE0E-44D2-9FE7-86E7FA8AA735}" destId="{754AF9B1-5613-49DF-A721-BBE5A044E67D}" srcOrd="0" destOrd="0" presId="urn:microsoft.com/office/officeart/2008/layout/LinedList"/>
    <dgm:cxn modelId="{7A31F940-577B-485D-A132-0D41EEC58235}" type="presParOf" srcId="{56F73C84-FE0E-44D2-9FE7-86E7FA8AA735}" destId="{D1CFBE46-F69D-4C60-A367-F164068B8823}" srcOrd="1" destOrd="0" presId="urn:microsoft.com/office/officeart/2008/layout/LinedList"/>
    <dgm:cxn modelId="{27B537F6-911E-47F9-8B2D-7A25858727DD}" type="presParOf" srcId="{1365585A-48DE-42BB-A4EF-20D1E4CB980D}" destId="{1D7B704D-7F6A-4AB9-957F-14293D9827A5}" srcOrd="8" destOrd="0" presId="urn:microsoft.com/office/officeart/2008/layout/LinedList"/>
    <dgm:cxn modelId="{BB323D98-7D48-4305-B4B4-02506AB30957}" type="presParOf" srcId="{1365585A-48DE-42BB-A4EF-20D1E4CB980D}" destId="{92FA6272-A4CC-45E1-ADA9-1414C6FF240B}" srcOrd="9" destOrd="0" presId="urn:microsoft.com/office/officeart/2008/layout/LinedList"/>
    <dgm:cxn modelId="{508FDBC2-4F4F-4529-BCF0-FD9026A87AFD}" type="presParOf" srcId="{92FA6272-A4CC-45E1-ADA9-1414C6FF240B}" destId="{75FE641A-8025-4457-92B2-2049C54D5C9C}" srcOrd="0" destOrd="0" presId="urn:microsoft.com/office/officeart/2008/layout/LinedList"/>
    <dgm:cxn modelId="{FE842B36-E1D0-4499-81C9-C5F45F834738}" type="presParOf" srcId="{92FA6272-A4CC-45E1-ADA9-1414C6FF240B}" destId="{1E5AAAB6-C053-4DB4-B68D-A91CACD2B6B1}" srcOrd="1" destOrd="0" presId="urn:microsoft.com/office/officeart/2008/layout/LinedList"/>
    <dgm:cxn modelId="{4DB8E591-0A93-4D08-8CBC-1B7C5FDFACCF}" type="presParOf" srcId="{1365585A-48DE-42BB-A4EF-20D1E4CB980D}" destId="{9ADE86FC-2711-4677-A3CB-5A1D506EAAC5}" srcOrd="10" destOrd="0" presId="urn:microsoft.com/office/officeart/2008/layout/LinedList"/>
    <dgm:cxn modelId="{D7C5DC06-7A02-4259-BC3C-83AC5F0801F2}" type="presParOf" srcId="{1365585A-48DE-42BB-A4EF-20D1E4CB980D}" destId="{FE47944F-EF63-469B-9A9A-36C56E71AF84}" srcOrd="11" destOrd="0" presId="urn:microsoft.com/office/officeart/2008/layout/LinedList"/>
    <dgm:cxn modelId="{79C11A6B-7151-4FB2-AA03-05EBDB302268}" type="presParOf" srcId="{FE47944F-EF63-469B-9A9A-36C56E71AF84}" destId="{CA4A42CE-9872-4F38-9977-6101AB941ED5}" srcOrd="0" destOrd="0" presId="urn:microsoft.com/office/officeart/2008/layout/LinedList"/>
    <dgm:cxn modelId="{5B58BD92-7C72-454E-BE33-3C8E095CD714}" type="presParOf" srcId="{FE47944F-EF63-469B-9A9A-36C56E71AF84}" destId="{5558B18B-390A-41F1-8BB0-DA23A0B0A59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7EA62D-8F9E-48AF-A509-2FD0D0A1BDCD}"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389DA755-D6C9-4B95-A8DC-343D703E0BBB}">
      <dgm:prSet/>
      <dgm:spPr/>
      <dgm:t>
        <a:bodyPr/>
        <a:lstStyle/>
        <a:p>
          <a:r>
            <a:rPr lang="en-IN" b="1"/>
            <a:t>Mean Absolute Error :</a:t>
          </a:r>
          <a:endParaRPr lang="en-US"/>
        </a:p>
      </dgm:t>
    </dgm:pt>
    <dgm:pt modelId="{0E4B2291-A927-4F76-9150-041B49970B0C}" type="parTrans" cxnId="{32BAFCF5-4AD1-465C-975F-D16353DBE5D2}">
      <dgm:prSet/>
      <dgm:spPr/>
      <dgm:t>
        <a:bodyPr/>
        <a:lstStyle/>
        <a:p>
          <a:endParaRPr lang="en-US"/>
        </a:p>
      </dgm:t>
    </dgm:pt>
    <dgm:pt modelId="{719291D6-4BCD-4457-BB92-FC067A421444}" type="sibTrans" cxnId="{32BAFCF5-4AD1-465C-975F-D16353DBE5D2}">
      <dgm:prSet/>
      <dgm:spPr/>
      <dgm:t>
        <a:bodyPr/>
        <a:lstStyle/>
        <a:p>
          <a:endParaRPr lang="en-US"/>
        </a:p>
      </dgm:t>
    </dgm:pt>
    <dgm:pt modelId="{5965F05F-F268-499D-9A68-651C544F7E7C}">
      <dgm:prSet/>
      <dgm:spPr/>
      <dgm:t>
        <a:bodyPr/>
        <a:lstStyle/>
        <a:p>
          <a:r>
            <a:rPr lang="en-IN" b="1" dirty="0"/>
            <a:t>Advantages of MAE</a:t>
          </a:r>
          <a:endParaRPr lang="en-US" dirty="0"/>
        </a:p>
      </dgm:t>
    </dgm:pt>
    <dgm:pt modelId="{94985F3C-0A74-414E-87C3-A479A58B2414}" type="parTrans" cxnId="{0E4C04BC-A98C-4B5C-A1CC-D8056E5E4E4C}">
      <dgm:prSet/>
      <dgm:spPr/>
      <dgm:t>
        <a:bodyPr/>
        <a:lstStyle/>
        <a:p>
          <a:endParaRPr lang="en-US"/>
        </a:p>
      </dgm:t>
    </dgm:pt>
    <dgm:pt modelId="{43B27D86-6B75-4B6E-990E-E4BF6AB4BC5C}" type="sibTrans" cxnId="{0E4C04BC-A98C-4B5C-A1CC-D8056E5E4E4C}">
      <dgm:prSet/>
      <dgm:spPr/>
      <dgm:t>
        <a:bodyPr/>
        <a:lstStyle/>
        <a:p>
          <a:endParaRPr lang="en-US"/>
        </a:p>
      </dgm:t>
    </dgm:pt>
    <dgm:pt modelId="{93B71943-3596-4E72-A902-B86A7DB46C0E}">
      <dgm:prSet/>
      <dgm:spPr/>
      <dgm:t>
        <a:bodyPr/>
        <a:lstStyle/>
        <a:p>
          <a:r>
            <a:rPr lang="en-IN" dirty="0"/>
            <a:t>Easy to interpret: MAE gives a clear average error in the same units as the target variable.</a:t>
          </a:r>
          <a:endParaRPr lang="en-US" dirty="0"/>
        </a:p>
      </dgm:t>
    </dgm:pt>
    <dgm:pt modelId="{5223A514-FDCE-420B-80F0-6F12600EC4C6}" type="parTrans" cxnId="{D208EAA1-F12C-4F0A-A18C-5E61144EF01B}">
      <dgm:prSet/>
      <dgm:spPr/>
      <dgm:t>
        <a:bodyPr/>
        <a:lstStyle/>
        <a:p>
          <a:endParaRPr lang="en-US"/>
        </a:p>
      </dgm:t>
    </dgm:pt>
    <dgm:pt modelId="{C8F65077-3C3C-4826-A3A4-4311E4BDC44D}" type="sibTrans" cxnId="{D208EAA1-F12C-4F0A-A18C-5E61144EF01B}">
      <dgm:prSet/>
      <dgm:spPr/>
      <dgm:t>
        <a:bodyPr/>
        <a:lstStyle/>
        <a:p>
          <a:endParaRPr lang="en-US"/>
        </a:p>
      </dgm:t>
    </dgm:pt>
    <dgm:pt modelId="{963B5399-920A-4917-B29E-500414A62715}">
      <dgm:prSet/>
      <dgm:spPr/>
      <dgm:t>
        <a:bodyPr/>
        <a:lstStyle/>
        <a:p>
          <a:r>
            <a:rPr lang="en-IN" dirty="0"/>
            <a:t>Robust to outliers: Compared to MSE, MAE doesn’t exaggerate the impact of large errors.</a:t>
          </a:r>
          <a:endParaRPr lang="en-US" dirty="0"/>
        </a:p>
      </dgm:t>
    </dgm:pt>
    <dgm:pt modelId="{2B4635B2-A566-4926-B7F1-87E40ED04998}" type="parTrans" cxnId="{7FAAFABA-4D9D-483D-B01D-EDF320B86222}">
      <dgm:prSet/>
      <dgm:spPr/>
      <dgm:t>
        <a:bodyPr/>
        <a:lstStyle/>
        <a:p>
          <a:endParaRPr lang="en-US"/>
        </a:p>
      </dgm:t>
    </dgm:pt>
    <dgm:pt modelId="{7901F00E-3517-41BB-A1EB-9E0EC6F508C9}" type="sibTrans" cxnId="{7FAAFABA-4D9D-483D-B01D-EDF320B86222}">
      <dgm:prSet/>
      <dgm:spPr/>
      <dgm:t>
        <a:bodyPr/>
        <a:lstStyle/>
        <a:p>
          <a:endParaRPr lang="en-US"/>
        </a:p>
      </dgm:t>
    </dgm:pt>
    <dgm:pt modelId="{2C9B404A-6F03-49E3-838C-D3A3E80997B7}">
      <dgm:prSet/>
      <dgm:spPr/>
      <dgm:t>
        <a:bodyPr/>
        <a:lstStyle/>
        <a:p>
          <a:r>
            <a:rPr lang="en-IN" b="1"/>
            <a:t>Disadvantages of MAE</a:t>
          </a:r>
          <a:endParaRPr lang="en-US"/>
        </a:p>
      </dgm:t>
    </dgm:pt>
    <dgm:pt modelId="{4BED2790-45CE-4919-8DD8-352C83A626D0}" type="parTrans" cxnId="{FC6484D5-AF63-4C89-B639-DFCBCFF0A417}">
      <dgm:prSet/>
      <dgm:spPr/>
      <dgm:t>
        <a:bodyPr/>
        <a:lstStyle/>
        <a:p>
          <a:endParaRPr lang="en-US"/>
        </a:p>
      </dgm:t>
    </dgm:pt>
    <dgm:pt modelId="{F2CF3B24-5FD2-4DAE-8A2C-FF611F656F22}" type="sibTrans" cxnId="{FC6484D5-AF63-4C89-B639-DFCBCFF0A417}">
      <dgm:prSet/>
      <dgm:spPr/>
      <dgm:t>
        <a:bodyPr/>
        <a:lstStyle/>
        <a:p>
          <a:endParaRPr lang="en-US"/>
        </a:p>
      </dgm:t>
    </dgm:pt>
    <dgm:pt modelId="{D5E067BC-64FF-41C6-96B7-C9D6081CE263}">
      <dgm:prSet/>
      <dgm:spPr/>
      <dgm:t>
        <a:bodyPr/>
        <a:lstStyle/>
        <a:p>
          <a:r>
            <a:rPr lang="en-IN" dirty="0"/>
            <a:t>Not differentiable at zero: Makes it harder to use in some optimization algorithms.</a:t>
          </a:r>
          <a:endParaRPr lang="en-US" dirty="0"/>
        </a:p>
      </dgm:t>
    </dgm:pt>
    <dgm:pt modelId="{BB9FF669-02E0-480F-B563-B4FDD0CC712D}" type="parTrans" cxnId="{D8B193A3-B80B-45E6-8D4E-89DEACB9C740}">
      <dgm:prSet/>
      <dgm:spPr/>
      <dgm:t>
        <a:bodyPr/>
        <a:lstStyle/>
        <a:p>
          <a:endParaRPr lang="en-US"/>
        </a:p>
      </dgm:t>
    </dgm:pt>
    <dgm:pt modelId="{8FE5EF63-F728-4AA5-A6C8-CA38AAE2FB77}" type="sibTrans" cxnId="{D8B193A3-B80B-45E6-8D4E-89DEACB9C740}">
      <dgm:prSet/>
      <dgm:spPr/>
      <dgm:t>
        <a:bodyPr/>
        <a:lstStyle/>
        <a:p>
          <a:endParaRPr lang="en-US"/>
        </a:p>
      </dgm:t>
    </dgm:pt>
    <dgm:pt modelId="{F951BD4B-273D-4811-ACF9-A93F51DDD1ED}">
      <dgm:prSet/>
      <dgm:spPr/>
      <dgm:t>
        <a:bodyPr/>
        <a:lstStyle/>
        <a:p>
          <a:r>
            <a:rPr lang="en-IN"/>
            <a:t>Equal weight to all errors: Doesn’t penalize large mistakes more than small ones, which might be undesirable in some cases.</a:t>
          </a:r>
          <a:endParaRPr lang="en-US"/>
        </a:p>
      </dgm:t>
    </dgm:pt>
    <dgm:pt modelId="{B723C214-13A5-4DF5-94E4-89A6A0145832}" type="parTrans" cxnId="{24128D22-26BD-4991-8CD1-F79FA10C2BA0}">
      <dgm:prSet/>
      <dgm:spPr/>
      <dgm:t>
        <a:bodyPr/>
        <a:lstStyle/>
        <a:p>
          <a:endParaRPr lang="en-US"/>
        </a:p>
      </dgm:t>
    </dgm:pt>
    <dgm:pt modelId="{EE45C528-72A4-44AB-9801-AB91A6159086}" type="sibTrans" cxnId="{24128D22-26BD-4991-8CD1-F79FA10C2BA0}">
      <dgm:prSet/>
      <dgm:spPr/>
      <dgm:t>
        <a:bodyPr/>
        <a:lstStyle/>
        <a:p>
          <a:endParaRPr lang="en-US"/>
        </a:p>
      </dgm:t>
    </dgm:pt>
    <dgm:pt modelId="{88D6D819-C4B3-4245-B017-5E960CEAC149}" type="pres">
      <dgm:prSet presAssocID="{887EA62D-8F9E-48AF-A509-2FD0D0A1BDCD}" presName="diagram" presStyleCnt="0">
        <dgm:presLayoutVars>
          <dgm:chPref val="1"/>
          <dgm:dir/>
          <dgm:animOne val="branch"/>
          <dgm:animLvl val="lvl"/>
          <dgm:resizeHandles/>
        </dgm:presLayoutVars>
      </dgm:prSet>
      <dgm:spPr/>
    </dgm:pt>
    <dgm:pt modelId="{896C3244-5676-4514-9C72-ED2E85FCD6D4}" type="pres">
      <dgm:prSet presAssocID="{389DA755-D6C9-4B95-A8DC-343D703E0BBB}" presName="root" presStyleCnt="0"/>
      <dgm:spPr/>
    </dgm:pt>
    <dgm:pt modelId="{B6B0C2F1-FF18-4E97-A931-347AD94DFE7D}" type="pres">
      <dgm:prSet presAssocID="{389DA755-D6C9-4B95-A8DC-343D703E0BBB}" presName="rootComposite" presStyleCnt="0"/>
      <dgm:spPr/>
    </dgm:pt>
    <dgm:pt modelId="{91F42250-50B9-4528-8DC4-960DD74BD7AC}" type="pres">
      <dgm:prSet presAssocID="{389DA755-D6C9-4B95-A8DC-343D703E0BBB}" presName="rootText" presStyleLbl="node1" presStyleIdx="0" presStyleCnt="3"/>
      <dgm:spPr/>
    </dgm:pt>
    <dgm:pt modelId="{97472457-1DD0-45AE-8ED6-53CA4265C03A}" type="pres">
      <dgm:prSet presAssocID="{389DA755-D6C9-4B95-A8DC-343D703E0BBB}" presName="rootConnector" presStyleLbl="node1" presStyleIdx="0" presStyleCnt="3"/>
      <dgm:spPr/>
    </dgm:pt>
    <dgm:pt modelId="{1552811B-20C3-4FE3-B6D4-72CC8E5B2A75}" type="pres">
      <dgm:prSet presAssocID="{389DA755-D6C9-4B95-A8DC-343D703E0BBB}" presName="childShape" presStyleCnt="0"/>
      <dgm:spPr/>
    </dgm:pt>
    <dgm:pt modelId="{8ADDF64B-E989-4045-B0FC-7DBC22C7E4E2}" type="pres">
      <dgm:prSet presAssocID="{5965F05F-F268-499D-9A68-651C544F7E7C}" presName="root" presStyleCnt="0"/>
      <dgm:spPr/>
    </dgm:pt>
    <dgm:pt modelId="{1464E71C-EFB9-411F-A6BA-6C8769B3F678}" type="pres">
      <dgm:prSet presAssocID="{5965F05F-F268-499D-9A68-651C544F7E7C}" presName="rootComposite" presStyleCnt="0"/>
      <dgm:spPr/>
    </dgm:pt>
    <dgm:pt modelId="{D5E9A8F1-747A-4D9F-9647-C670FAC38818}" type="pres">
      <dgm:prSet presAssocID="{5965F05F-F268-499D-9A68-651C544F7E7C}" presName="rootText" presStyleLbl="node1" presStyleIdx="1" presStyleCnt="3"/>
      <dgm:spPr/>
    </dgm:pt>
    <dgm:pt modelId="{D70B76AA-3AD5-4D9C-9DA3-1728E55AF851}" type="pres">
      <dgm:prSet presAssocID="{5965F05F-F268-499D-9A68-651C544F7E7C}" presName="rootConnector" presStyleLbl="node1" presStyleIdx="1" presStyleCnt="3"/>
      <dgm:spPr/>
    </dgm:pt>
    <dgm:pt modelId="{4487BC73-514E-4D02-80F8-329B62050602}" type="pres">
      <dgm:prSet presAssocID="{5965F05F-F268-499D-9A68-651C544F7E7C}" presName="childShape" presStyleCnt="0"/>
      <dgm:spPr/>
    </dgm:pt>
    <dgm:pt modelId="{DCC0060E-EEC8-437F-B4BE-1E5DC0166DB5}" type="pres">
      <dgm:prSet presAssocID="{5223A514-FDCE-420B-80F0-6F12600EC4C6}" presName="Name13" presStyleLbl="parChTrans1D2" presStyleIdx="0" presStyleCnt="4"/>
      <dgm:spPr/>
    </dgm:pt>
    <dgm:pt modelId="{6F10A591-18D0-4C3D-92D3-3CAA3BCB9667}" type="pres">
      <dgm:prSet presAssocID="{93B71943-3596-4E72-A902-B86A7DB46C0E}" presName="childText" presStyleLbl="bgAcc1" presStyleIdx="0" presStyleCnt="4">
        <dgm:presLayoutVars>
          <dgm:bulletEnabled val="1"/>
        </dgm:presLayoutVars>
      </dgm:prSet>
      <dgm:spPr/>
    </dgm:pt>
    <dgm:pt modelId="{61E1C771-CAEC-4262-B46D-0A889F75E4A1}" type="pres">
      <dgm:prSet presAssocID="{2B4635B2-A566-4926-B7F1-87E40ED04998}" presName="Name13" presStyleLbl="parChTrans1D2" presStyleIdx="1" presStyleCnt="4"/>
      <dgm:spPr/>
    </dgm:pt>
    <dgm:pt modelId="{B843C9B5-A553-4C9B-9A41-BCB8D44D50D2}" type="pres">
      <dgm:prSet presAssocID="{963B5399-920A-4917-B29E-500414A62715}" presName="childText" presStyleLbl="bgAcc1" presStyleIdx="1" presStyleCnt="4">
        <dgm:presLayoutVars>
          <dgm:bulletEnabled val="1"/>
        </dgm:presLayoutVars>
      </dgm:prSet>
      <dgm:spPr/>
    </dgm:pt>
    <dgm:pt modelId="{4452ACD0-B2A5-46B8-95FC-F8D329779969}" type="pres">
      <dgm:prSet presAssocID="{2C9B404A-6F03-49E3-838C-D3A3E80997B7}" presName="root" presStyleCnt="0"/>
      <dgm:spPr/>
    </dgm:pt>
    <dgm:pt modelId="{363FDBC1-AE00-435B-8EF1-BFAC1364516F}" type="pres">
      <dgm:prSet presAssocID="{2C9B404A-6F03-49E3-838C-D3A3E80997B7}" presName="rootComposite" presStyleCnt="0"/>
      <dgm:spPr/>
    </dgm:pt>
    <dgm:pt modelId="{D57310F3-BEE7-417F-A3B0-0BA56F3E022D}" type="pres">
      <dgm:prSet presAssocID="{2C9B404A-6F03-49E3-838C-D3A3E80997B7}" presName="rootText" presStyleLbl="node1" presStyleIdx="2" presStyleCnt="3"/>
      <dgm:spPr/>
    </dgm:pt>
    <dgm:pt modelId="{06CF428A-D897-490E-A4E2-E05617467D72}" type="pres">
      <dgm:prSet presAssocID="{2C9B404A-6F03-49E3-838C-D3A3E80997B7}" presName="rootConnector" presStyleLbl="node1" presStyleIdx="2" presStyleCnt="3"/>
      <dgm:spPr/>
    </dgm:pt>
    <dgm:pt modelId="{5EE86265-3B14-4FE3-A1DF-71AA0387CED0}" type="pres">
      <dgm:prSet presAssocID="{2C9B404A-6F03-49E3-838C-D3A3E80997B7}" presName="childShape" presStyleCnt="0"/>
      <dgm:spPr/>
    </dgm:pt>
    <dgm:pt modelId="{4CCBD434-5143-4E34-9BB7-F264A5E1F78E}" type="pres">
      <dgm:prSet presAssocID="{BB9FF669-02E0-480F-B563-B4FDD0CC712D}" presName="Name13" presStyleLbl="parChTrans1D2" presStyleIdx="2" presStyleCnt="4"/>
      <dgm:spPr/>
    </dgm:pt>
    <dgm:pt modelId="{B7B86317-8D35-48C1-AC6F-B2FFB9593B95}" type="pres">
      <dgm:prSet presAssocID="{D5E067BC-64FF-41C6-96B7-C9D6081CE263}" presName="childText" presStyleLbl="bgAcc1" presStyleIdx="2" presStyleCnt="4">
        <dgm:presLayoutVars>
          <dgm:bulletEnabled val="1"/>
        </dgm:presLayoutVars>
      </dgm:prSet>
      <dgm:spPr/>
    </dgm:pt>
    <dgm:pt modelId="{FBD11458-3DDE-481B-A24A-D0FF780C3359}" type="pres">
      <dgm:prSet presAssocID="{B723C214-13A5-4DF5-94E4-89A6A0145832}" presName="Name13" presStyleLbl="parChTrans1D2" presStyleIdx="3" presStyleCnt="4"/>
      <dgm:spPr/>
    </dgm:pt>
    <dgm:pt modelId="{10252D56-AF1B-42B9-B63C-2C73B220707D}" type="pres">
      <dgm:prSet presAssocID="{F951BD4B-273D-4811-ACF9-A93F51DDD1ED}" presName="childText" presStyleLbl="bgAcc1" presStyleIdx="3" presStyleCnt="4">
        <dgm:presLayoutVars>
          <dgm:bulletEnabled val="1"/>
        </dgm:presLayoutVars>
      </dgm:prSet>
      <dgm:spPr/>
    </dgm:pt>
  </dgm:ptLst>
  <dgm:cxnLst>
    <dgm:cxn modelId="{3DC49513-3A36-412E-9CA9-347655E62B60}" type="presOf" srcId="{F951BD4B-273D-4811-ACF9-A93F51DDD1ED}" destId="{10252D56-AF1B-42B9-B63C-2C73B220707D}" srcOrd="0" destOrd="0" presId="urn:microsoft.com/office/officeart/2005/8/layout/hierarchy3"/>
    <dgm:cxn modelId="{24128D22-26BD-4991-8CD1-F79FA10C2BA0}" srcId="{2C9B404A-6F03-49E3-838C-D3A3E80997B7}" destId="{F951BD4B-273D-4811-ACF9-A93F51DDD1ED}" srcOrd="1" destOrd="0" parTransId="{B723C214-13A5-4DF5-94E4-89A6A0145832}" sibTransId="{EE45C528-72A4-44AB-9801-AB91A6159086}"/>
    <dgm:cxn modelId="{2F530B2E-A9B0-4A86-AABF-E9FD0F827E15}" type="presOf" srcId="{887EA62D-8F9E-48AF-A509-2FD0D0A1BDCD}" destId="{88D6D819-C4B3-4245-B017-5E960CEAC149}" srcOrd="0" destOrd="0" presId="urn:microsoft.com/office/officeart/2005/8/layout/hierarchy3"/>
    <dgm:cxn modelId="{88E7BD5F-2AE0-4082-B7BF-EF0AD32203B9}" type="presOf" srcId="{5965F05F-F268-499D-9A68-651C544F7E7C}" destId="{D70B76AA-3AD5-4D9C-9DA3-1728E55AF851}" srcOrd="1" destOrd="0" presId="urn:microsoft.com/office/officeart/2005/8/layout/hierarchy3"/>
    <dgm:cxn modelId="{62C6546F-D088-4645-804D-F745BEB9DD28}" type="presOf" srcId="{2C9B404A-6F03-49E3-838C-D3A3E80997B7}" destId="{06CF428A-D897-490E-A4E2-E05617467D72}" srcOrd="1" destOrd="0" presId="urn:microsoft.com/office/officeart/2005/8/layout/hierarchy3"/>
    <dgm:cxn modelId="{9B364B57-FD65-4913-84B2-7AB7F88D0BEC}" type="presOf" srcId="{D5E067BC-64FF-41C6-96B7-C9D6081CE263}" destId="{B7B86317-8D35-48C1-AC6F-B2FFB9593B95}" srcOrd="0" destOrd="0" presId="urn:microsoft.com/office/officeart/2005/8/layout/hierarchy3"/>
    <dgm:cxn modelId="{091B0786-D0AC-4178-BDE0-A9021335E4D1}" type="presOf" srcId="{963B5399-920A-4917-B29E-500414A62715}" destId="{B843C9B5-A553-4C9B-9A41-BCB8D44D50D2}" srcOrd="0" destOrd="0" presId="urn:microsoft.com/office/officeart/2005/8/layout/hierarchy3"/>
    <dgm:cxn modelId="{0959AD97-C950-486A-A5FF-64718542B354}" type="presOf" srcId="{5965F05F-F268-499D-9A68-651C544F7E7C}" destId="{D5E9A8F1-747A-4D9F-9647-C670FAC38818}" srcOrd="0" destOrd="0" presId="urn:microsoft.com/office/officeart/2005/8/layout/hierarchy3"/>
    <dgm:cxn modelId="{D208EAA1-F12C-4F0A-A18C-5E61144EF01B}" srcId="{5965F05F-F268-499D-9A68-651C544F7E7C}" destId="{93B71943-3596-4E72-A902-B86A7DB46C0E}" srcOrd="0" destOrd="0" parTransId="{5223A514-FDCE-420B-80F0-6F12600EC4C6}" sibTransId="{C8F65077-3C3C-4826-A3A4-4311E4BDC44D}"/>
    <dgm:cxn modelId="{D8B193A3-B80B-45E6-8D4E-89DEACB9C740}" srcId="{2C9B404A-6F03-49E3-838C-D3A3E80997B7}" destId="{D5E067BC-64FF-41C6-96B7-C9D6081CE263}" srcOrd="0" destOrd="0" parTransId="{BB9FF669-02E0-480F-B563-B4FDD0CC712D}" sibTransId="{8FE5EF63-F728-4AA5-A6C8-CA38AAE2FB77}"/>
    <dgm:cxn modelId="{280E14B8-FA51-4D87-BC66-CEC3D634536A}" type="presOf" srcId="{389DA755-D6C9-4B95-A8DC-343D703E0BBB}" destId="{97472457-1DD0-45AE-8ED6-53CA4265C03A}" srcOrd="1" destOrd="0" presId="urn:microsoft.com/office/officeart/2005/8/layout/hierarchy3"/>
    <dgm:cxn modelId="{7FAAFABA-4D9D-483D-B01D-EDF320B86222}" srcId="{5965F05F-F268-499D-9A68-651C544F7E7C}" destId="{963B5399-920A-4917-B29E-500414A62715}" srcOrd="1" destOrd="0" parTransId="{2B4635B2-A566-4926-B7F1-87E40ED04998}" sibTransId="{7901F00E-3517-41BB-A1EB-9E0EC6F508C9}"/>
    <dgm:cxn modelId="{0E4C04BC-A98C-4B5C-A1CC-D8056E5E4E4C}" srcId="{887EA62D-8F9E-48AF-A509-2FD0D0A1BDCD}" destId="{5965F05F-F268-499D-9A68-651C544F7E7C}" srcOrd="1" destOrd="0" parTransId="{94985F3C-0A74-414E-87C3-A479A58B2414}" sibTransId="{43B27D86-6B75-4B6E-990E-E4BF6AB4BC5C}"/>
    <dgm:cxn modelId="{D95F46BD-DF96-4CC1-A304-1DF035F9C556}" type="presOf" srcId="{2C9B404A-6F03-49E3-838C-D3A3E80997B7}" destId="{D57310F3-BEE7-417F-A3B0-0BA56F3E022D}" srcOrd="0" destOrd="0" presId="urn:microsoft.com/office/officeart/2005/8/layout/hierarchy3"/>
    <dgm:cxn modelId="{5E4D5CC1-C476-4E98-9701-4BA54310A70A}" type="presOf" srcId="{5223A514-FDCE-420B-80F0-6F12600EC4C6}" destId="{DCC0060E-EEC8-437F-B4BE-1E5DC0166DB5}" srcOrd="0" destOrd="0" presId="urn:microsoft.com/office/officeart/2005/8/layout/hierarchy3"/>
    <dgm:cxn modelId="{DB71FFC6-DAB6-4F73-A12E-2A6EEC57403E}" type="presOf" srcId="{389DA755-D6C9-4B95-A8DC-343D703E0BBB}" destId="{91F42250-50B9-4528-8DC4-960DD74BD7AC}" srcOrd="0" destOrd="0" presId="urn:microsoft.com/office/officeart/2005/8/layout/hierarchy3"/>
    <dgm:cxn modelId="{FC6484D5-AF63-4C89-B639-DFCBCFF0A417}" srcId="{887EA62D-8F9E-48AF-A509-2FD0D0A1BDCD}" destId="{2C9B404A-6F03-49E3-838C-D3A3E80997B7}" srcOrd="2" destOrd="0" parTransId="{4BED2790-45CE-4919-8DD8-352C83A626D0}" sibTransId="{F2CF3B24-5FD2-4DAE-8A2C-FF611F656F22}"/>
    <dgm:cxn modelId="{BEC0B4E5-9166-4392-9CFD-0BCDAD088BF3}" type="presOf" srcId="{B723C214-13A5-4DF5-94E4-89A6A0145832}" destId="{FBD11458-3DDE-481B-A24A-D0FF780C3359}" srcOrd="0" destOrd="0" presId="urn:microsoft.com/office/officeart/2005/8/layout/hierarchy3"/>
    <dgm:cxn modelId="{D7A61BEF-721D-420D-83F1-7FAC57207CB4}" type="presOf" srcId="{2B4635B2-A566-4926-B7F1-87E40ED04998}" destId="{61E1C771-CAEC-4262-B46D-0A889F75E4A1}" srcOrd="0" destOrd="0" presId="urn:microsoft.com/office/officeart/2005/8/layout/hierarchy3"/>
    <dgm:cxn modelId="{936CD8F4-693F-4DC9-85BF-97F2F563F99C}" type="presOf" srcId="{BB9FF669-02E0-480F-B563-B4FDD0CC712D}" destId="{4CCBD434-5143-4E34-9BB7-F264A5E1F78E}" srcOrd="0" destOrd="0" presId="urn:microsoft.com/office/officeart/2005/8/layout/hierarchy3"/>
    <dgm:cxn modelId="{32BAFCF5-4AD1-465C-975F-D16353DBE5D2}" srcId="{887EA62D-8F9E-48AF-A509-2FD0D0A1BDCD}" destId="{389DA755-D6C9-4B95-A8DC-343D703E0BBB}" srcOrd="0" destOrd="0" parTransId="{0E4B2291-A927-4F76-9150-041B49970B0C}" sibTransId="{719291D6-4BCD-4457-BB92-FC067A421444}"/>
    <dgm:cxn modelId="{FDF7C1FF-DECA-470F-A13A-74D32A011F77}" type="presOf" srcId="{93B71943-3596-4E72-A902-B86A7DB46C0E}" destId="{6F10A591-18D0-4C3D-92D3-3CAA3BCB9667}" srcOrd="0" destOrd="0" presId="urn:microsoft.com/office/officeart/2005/8/layout/hierarchy3"/>
    <dgm:cxn modelId="{4E7BCDC8-1D4A-45FA-8F46-D730F7320625}" type="presParOf" srcId="{88D6D819-C4B3-4245-B017-5E960CEAC149}" destId="{896C3244-5676-4514-9C72-ED2E85FCD6D4}" srcOrd="0" destOrd="0" presId="urn:microsoft.com/office/officeart/2005/8/layout/hierarchy3"/>
    <dgm:cxn modelId="{35D3B570-C32A-45BE-B8A9-5D307EB2114C}" type="presParOf" srcId="{896C3244-5676-4514-9C72-ED2E85FCD6D4}" destId="{B6B0C2F1-FF18-4E97-A931-347AD94DFE7D}" srcOrd="0" destOrd="0" presId="urn:microsoft.com/office/officeart/2005/8/layout/hierarchy3"/>
    <dgm:cxn modelId="{DD432F9D-388F-4DE0-8F80-4405DC45305D}" type="presParOf" srcId="{B6B0C2F1-FF18-4E97-A931-347AD94DFE7D}" destId="{91F42250-50B9-4528-8DC4-960DD74BD7AC}" srcOrd="0" destOrd="0" presId="urn:microsoft.com/office/officeart/2005/8/layout/hierarchy3"/>
    <dgm:cxn modelId="{D34883E9-B915-4641-B72B-D7650DB52264}" type="presParOf" srcId="{B6B0C2F1-FF18-4E97-A931-347AD94DFE7D}" destId="{97472457-1DD0-45AE-8ED6-53CA4265C03A}" srcOrd="1" destOrd="0" presId="urn:microsoft.com/office/officeart/2005/8/layout/hierarchy3"/>
    <dgm:cxn modelId="{5C454E19-747E-4DCE-9C27-85459C41EFA6}" type="presParOf" srcId="{896C3244-5676-4514-9C72-ED2E85FCD6D4}" destId="{1552811B-20C3-4FE3-B6D4-72CC8E5B2A75}" srcOrd="1" destOrd="0" presId="urn:microsoft.com/office/officeart/2005/8/layout/hierarchy3"/>
    <dgm:cxn modelId="{CE618417-6DFD-4DB7-8F42-977D3418D0E0}" type="presParOf" srcId="{88D6D819-C4B3-4245-B017-5E960CEAC149}" destId="{8ADDF64B-E989-4045-B0FC-7DBC22C7E4E2}" srcOrd="1" destOrd="0" presId="urn:microsoft.com/office/officeart/2005/8/layout/hierarchy3"/>
    <dgm:cxn modelId="{7D489767-E1C3-4789-AF76-8A0A835E431D}" type="presParOf" srcId="{8ADDF64B-E989-4045-B0FC-7DBC22C7E4E2}" destId="{1464E71C-EFB9-411F-A6BA-6C8769B3F678}" srcOrd="0" destOrd="0" presId="urn:microsoft.com/office/officeart/2005/8/layout/hierarchy3"/>
    <dgm:cxn modelId="{2AF3F548-0BB0-490D-9165-36F4311738F5}" type="presParOf" srcId="{1464E71C-EFB9-411F-A6BA-6C8769B3F678}" destId="{D5E9A8F1-747A-4D9F-9647-C670FAC38818}" srcOrd="0" destOrd="0" presId="urn:microsoft.com/office/officeart/2005/8/layout/hierarchy3"/>
    <dgm:cxn modelId="{54AC6A0F-007F-458D-A69A-2A0EB241E4DA}" type="presParOf" srcId="{1464E71C-EFB9-411F-A6BA-6C8769B3F678}" destId="{D70B76AA-3AD5-4D9C-9DA3-1728E55AF851}" srcOrd="1" destOrd="0" presId="urn:microsoft.com/office/officeart/2005/8/layout/hierarchy3"/>
    <dgm:cxn modelId="{CEA5BFFC-1AB1-4247-87DB-F31B7246D40A}" type="presParOf" srcId="{8ADDF64B-E989-4045-B0FC-7DBC22C7E4E2}" destId="{4487BC73-514E-4D02-80F8-329B62050602}" srcOrd="1" destOrd="0" presId="urn:microsoft.com/office/officeart/2005/8/layout/hierarchy3"/>
    <dgm:cxn modelId="{20895769-0524-4908-94FF-28F41D48F654}" type="presParOf" srcId="{4487BC73-514E-4D02-80F8-329B62050602}" destId="{DCC0060E-EEC8-437F-B4BE-1E5DC0166DB5}" srcOrd="0" destOrd="0" presId="urn:microsoft.com/office/officeart/2005/8/layout/hierarchy3"/>
    <dgm:cxn modelId="{EB8F35F7-657D-415E-965E-D6C429729625}" type="presParOf" srcId="{4487BC73-514E-4D02-80F8-329B62050602}" destId="{6F10A591-18D0-4C3D-92D3-3CAA3BCB9667}" srcOrd="1" destOrd="0" presId="urn:microsoft.com/office/officeart/2005/8/layout/hierarchy3"/>
    <dgm:cxn modelId="{4E77E85D-DB16-4885-ADF0-90F53FFD225F}" type="presParOf" srcId="{4487BC73-514E-4D02-80F8-329B62050602}" destId="{61E1C771-CAEC-4262-B46D-0A889F75E4A1}" srcOrd="2" destOrd="0" presId="urn:microsoft.com/office/officeart/2005/8/layout/hierarchy3"/>
    <dgm:cxn modelId="{2F6EF1FE-4D09-4B9C-BEE7-0EB342492BDB}" type="presParOf" srcId="{4487BC73-514E-4D02-80F8-329B62050602}" destId="{B843C9B5-A553-4C9B-9A41-BCB8D44D50D2}" srcOrd="3" destOrd="0" presId="urn:microsoft.com/office/officeart/2005/8/layout/hierarchy3"/>
    <dgm:cxn modelId="{758F3FC0-C239-4936-BC82-ACFC50C84BD3}" type="presParOf" srcId="{88D6D819-C4B3-4245-B017-5E960CEAC149}" destId="{4452ACD0-B2A5-46B8-95FC-F8D329779969}" srcOrd="2" destOrd="0" presId="urn:microsoft.com/office/officeart/2005/8/layout/hierarchy3"/>
    <dgm:cxn modelId="{DEF83230-68B0-4B8C-9766-6B72F0F9C1BC}" type="presParOf" srcId="{4452ACD0-B2A5-46B8-95FC-F8D329779969}" destId="{363FDBC1-AE00-435B-8EF1-BFAC1364516F}" srcOrd="0" destOrd="0" presId="urn:microsoft.com/office/officeart/2005/8/layout/hierarchy3"/>
    <dgm:cxn modelId="{F1330D75-8957-4B23-AC9C-E551C3A97EB6}" type="presParOf" srcId="{363FDBC1-AE00-435B-8EF1-BFAC1364516F}" destId="{D57310F3-BEE7-417F-A3B0-0BA56F3E022D}" srcOrd="0" destOrd="0" presId="urn:microsoft.com/office/officeart/2005/8/layout/hierarchy3"/>
    <dgm:cxn modelId="{DCEAB569-FD66-44AF-A5EB-B0F62B057E6B}" type="presParOf" srcId="{363FDBC1-AE00-435B-8EF1-BFAC1364516F}" destId="{06CF428A-D897-490E-A4E2-E05617467D72}" srcOrd="1" destOrd="0" presId="urn:microsoft.com/office/officeart/2005/8/layout/hierarchy3"/>
    <dgm:cxn modelId="{0DD232BC-3204-4B1F-92D4-ADF8DBC4F053}" type="presParOf" srcId="{4452ACD0-B2A5-46B8-95FC-F8D329779969}" destId="{5EE86265-3B14-4FE3-A1DF-71AA0387CED0}" srcOrd="1" destOrd="0" presId="urn:microsoft.com/office/officeart/2005/8/layout/hierarchy3"/>
    <dgm:cxn modelId="{524F504D-F9A7-411E-9F11-A97E7FED672B}" type="presParOf" srcId="{5EE86265-3B14-4FE3-A1DF-71AA0387CED0}" destId="{4CCBD434-5143-4E34-9BB7-F264A5E1F78E}" srcOrd="0" destOrd="0" presId="urn:microsoft.com/office/officeart/2005/8/layout/hierarchy3"/>
    <dgm:cxn modelId="{6F64D24F-7DD0-4570-A68A-D9731239BE3B}" type="presParOf" srcId="{5EE86265-3B14-4FE3-A1DF-71AA0387CED0}" destId="{B7B86317-8D35-48C1-AC6F-B2FFB9593B95}" srcOrd="1" destOrd="0" presId="urn:microsoft.com/office/officeart/2005/8/layout/hierarchy3"/>
    <dgm:cxn modelId="{D69470CF-C2A2-407A-A431-C9FBE67877DC}" type="presParOf" srcId="{5EE86265-3B14-4FE3-A1DF-71AA0387CED0}" destId="{FBD11458-3DDE-481B-A24A-D0FF780C3359}" srcOrd="2" destOrd="0" presId="urn:microsoft.com/office/officeart/2005/8/layout/hierarchy3"/>
    <dgm:cxn modelId="{F594FFC0-1FDF-4CE0-A9F2-E13BB49B37E7}" type="presParOf" srcId="{5EE86265-3B14-4FE3-A1DF-71AA0387CED0}" destId="{10252D56-AF1B-42B9-B63C-2C73B220707D}"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0FDED-B741-4427-AB0F-405D9AEE5B3A}">
      <dsp:nvSpPr>
        <dsp:cNvPr id="0" name=""/>
        <dsp:cNvSpPr/>
      </dsp:nvSpPr>
      <dsp:spPr>
        <a:xfrm>
          <a:off x="0" y="1935"/>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28F099-98B8-4914-8B5E-6C5594DBB6CB}">
      <dsp:nvSpPr>
        <dsp:cNvPr id="0" name=""/>
        <dsp:cNvSpPr/>
      </dsp:nvSpPr>
      <dsp:spPr>
        <a:xfrm>
          <a:off x="0" y="1935"/>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1" kern="1200" dirty="0"/>
            <a:t> Step 1: Import necessary libraries</a:t>
          </a:r>
          <a:endParaRPr lang="en-US" sz="1500" b="1" kern="1200" dirty="0"/>
        </a:p>
      </dsp:txBody>
      <dsp:txXfrm>
        <a:off x="0" y="1935"/>
        <a:ext cx="8382000" cy="329978"/>
      </dsp:txXfrm>
    </dsp:sp>
    <dsp:sp modelId="{3AE791D5-7DD3-4AB5-83D1-04DC205CE6A3}">
      <dsp:nvSpPr>
        <dsp:cNvPr id="0" name=""/>
        <dsp:cNvSpPr/>
      </dsp:nvSpPr>
      <dsp:spPr>
        <a:xfrm>
          <a:off x="0" y="331913"/>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4200BA-289D-48E5-96EC-D5F812E09D29}">
      <dsp:nvSpPr>
        <dsp:cNvPr id="0" name=""/>
        <dsp:cNvSpPr/>
      </dsp:nvSpPr>
      <dsp:spPr>
        <a:xfrm>
          <a:off x="0" y="331913"/>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import pandas as pd                      </a:t>
          </a:r>
          <a:r>
            <a:rPr lang="en-IN" sz="1500" b="1" kern="1200" dirty="0"/>
            <a:t>For data manipulation</a:t>
          </a:r>
          <a:endParaRPr lang="en-US" sz="1500" b="1" kern="1200" dirty="0"/>
        </a:p>
      </dsp:txBody>
      <dsp:txXfrm>
        <a:off x="0" y="331913"/>
        <a:ext cx="8382000" cy="329978"/>
      </dsp:txXfrm>
    </dsp:sp>
    <dsp:sp modelId="{7643D263-A310-40C0-8C32-3659D0C5C050}">
      <dsp:nvSpPr>
        <dsp:cNvPr id="0" name=""/>
        <dsp:cNvSpPr/>
      </dsp:nvSpPr>
      <dsp:spPr>
        <a:xfrm>
          <a:off x="0" y="661891"/>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4C55FE-1DFE-4D93-8DD0-0324B736C379}">
      <dsp:nvSpPr>
        <dsp:cNvPr id="0" name=""/>
        <dsp:cNvSpPr/>
      </dsp:nvSpPr>
      <dsp:spPr>
        <a:xfrm>
          <a:off x="0" y="661891"/>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import </a:t>
          </a:r>
          <a:r>
            <a:rPr lang="en-IN" sz="1500" kern="1200" dirty="0" err="1"/>
            <a:t>numpy</a:t>
          </a:r>
          <a:r>
            <a:rPr lang="en-IN" sz="1500" kern="1200" dirty="0"/>
            <a:t> as np                        </a:t>
          </a:r>
          <a:r>
            <a:rPr lang="en-IN" sz="1500" b="1" kern="1200" dirty="0"/>
            <a:t>For numerical operations</a:t>
          </a:r>
          <a:endParaRPr lang="en-US" sz="1500" b="1" kern="1200" dirty="0"/>
        </a:p>
      </dsp:txBody>
      <dsp:txXfrm>
        <a:off x="0" y="661891"/>
        <a:ext cx="8382000" cy="329978"/>
      </dsp:txXfrm>
    </dsp:sp>
    <dsp:sp modelId="{5B53137F-9C10-4872-B532-5804BD2D8C38}">
      <dsp:nvSpPr>
        <dsp:cNvPr id="0" name=""/>
        <dsp:cNvSpPr/>
      </dsp:nvSpPr>
      <dsp:spPr>
        <a:xfrm>
          <a:off x="0" y="991869"/>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5EC351-A603-4FE9-AE65-415F48BE8719}">
      <dsp:nvSpPr>
        <dsp:cNvPr id="0" name=""/>
        <dsp:cNvSpPr/>
      </dsp:nvSpPr>
      <dsp:spPr>
        <a:xfrm>
          <a:off x="0" y="991869"/>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import </a:t>
          </a:r>
          <a:r>
            <a:rPr lang="en-IN" sz="1500" kern="1200" dirty="0" err="1"/>
            <a:t>matplotlib.pyplot</a:t>
          </a:r>
          <a:r>
            <a:rPr lang="en-IN" sz="1500" kern="1200" dirty="0"/>
            <a:t> as </a:t>
          </a:r>
          <a:r>
            <a:rPr lang="en-IN" sz="1500" kern="1200" dirty="0" err="1"/>
            <a:t>plt</a:t>
          </a:r>
          <a:r>
            <a:rPr lang="en-IN" sz="1500" kern="1200" dirty="0"/>
            <a:t>          </a:t>
          </a:r>
          <a:r>
            <a:rPr lang="en-IN" sz="1500" b="1" kern="1200" dirty="0"/>
            <a:t>For data visualization</a:t>
          </a:r>
          <a:endParaRPr lang="en-US" sz="1500" b="1" kern="1200" dirty="0"/>
        </a:p>
      </dsp:txBody>
      <dsp:txXfrm>
        <a:off x="0" y="991869"/>
        <a:ext cx="8382000" cy="329978"/>
      </dsp:txXfrm>
    </dsp:sp>
    <dsp:sp modelId="{2855CDB1-86EA-4099-B1EC-F4C81C995896}">
      <dsp:nvSpPr>
        <dsp:cNvPr id="0" name=""/>
        <dsp:cNvSpPr/>
      </dsp:nvSpPr>
      <dsp:spPr>
        <a:xfrm>
          <a:off x="0" y="1321848"/>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E77DCB-5D79-43DB-971D-36C8CD8AD513}">
      <dsp:nvSpPr>
        <dsp:cNvPr id="0" name=""/>
        <dsp:cNvSpPr/>
      </dsp:nvSpPr>
      <dsp:spPr>
        <a:xfrm>
          <a:off x="0" y="1321848"/>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1" kern="1200" dirty="0"/>
            <a:t>Step 2: Load the dataset</a:t>
          </a:r>
          <a:endParaRPr lang="en-US" sz="1500" b="1" kern="1200" dirty="0"/>
        </a:p>
      </dsp:txBody>
      <dsp:txXfrm>
        <a:off x="0" y="1321848"/>
        <a:ext cx="8382000" cy="329978"/>
      </dsp:txXfrm>
    </dsp:sp>
    <dsp:sp modelId="{FD5AF881-167C-44ED-A7B9-C452DDED5E23}">
      <dsp:nvSpPr>
        <dsp:cNvPr id="0" name=""/>
        <dsp:cNvSpPr/>
      </dsp:nvSpPr>
      <dsp:spPr>
        <a:xfrm>
          <a:off x="0" y="1651826"/>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726C0B-905A-4BCA-9F3E-8917D4D6C490}">
      <dsp:nvSpPr>
        <dsp:cNvPr id="0" name=""/>
        <dsp:cNvSpPr/>
      </dsp:nvSpPr>
      <dsp:spPr>
        <a:xfrm>
          <a:off x="0" y="1651826"/>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err="1"/>
            <a:t>df</a:t>
          </a:r>
          <a:r>
            <a:rPr lang="en-IN" sz="1500" kern="1200" dirty="0"/>
            <a:t> = </a:t>
          </a:r>
          <a:r>
            <a:rPr lang="en-IN" sz="1500" kern="1200" dirty="0" err="1"/>
            <a:t>pd.read_csv</a:t>
          </a:r>
          <a:r>
            <a:rPr lang="en-IN" sz="1500" kern="1200" dirty="0"/>
            <a:t>('50_Startups.csv')      </a:t>
          </a:r>
          <a:r>
            <a:rPr lang="en-IN" sz="1500" b="1" kern="1200" dirty="0"/>
            <a:t>Read CSV file into a </a:t>
          </a:r>
          <a:r>
            <a:rPr lang="en-IN" sz="1500" b="1" kern="1200" dirty="0" err="1"/>
            <a:t>DataFrame</a:t>
          </a:r>
          <a:endParaRPr lang="en-US" sz="1500" b="1" kern="1200" dirty="0"/>
        </a:p>
      </dsp:txBody>
      <dsp:txXfrm>
        <a:off x="0" y="1651826"/>
        <a:ext cx="8382000" cy="329978"/>
      </dsp:txXfrm>
    </dsp:sp>
    <dsp:sp modelId="{AA664C32-EC33-4343-9474-1169023EDA94}">
      <dsp:nvSpPr>
        <dsp:cNvPr id="0" name=""/>
        <dsp:cNvSpPr/>
      </dsp:nvSpPr>
      <dsp:spPr>
        <a:xfrm>
          <a:off x="0" y="1981804"/>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727FF3-AFFE-4750-BDE0-2C62B1E05558}">
      <dsp:nvSpPr>
        <dsp:cNvPr id="0" name=""/>
        <dsp:cNvSpPr/>
      </dsp:nvSpPr>
      <dsp:spPr>
        <a:xfrm>
          <a:off x="0" y="1981804"/>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print(</a:t>
          </a:r>
          <a:r>
            <a:rPr lang="en-IN" sz="1500" kern="1200" dirty="0" err="1"/>
            <a:t>df.head</a:t>
          </a:r>
          <a:r>
            <a:rPr lang="en-IN" sz="1500" kern="1200" dirty="0"/>
            <a:t>(5))                        </a:t>
          </a:r>
          <a:r>
            <a:rPr lang="en-IN" sz="1500" b="1" kern="1200" dirty="0"/>
            <a:t>Display first 5 rows</a:t>
          </a:r>
          <a:endParaRPr lang="en-US" sz="1500" b="1" kern="1200" dirty="0"/>
        </a:p>
      </dsp:txBody>
      <dsp:txXfrm>
        <a:off x="0" y="1981804"/>
        <a:ext cx="8382000" cy="329978"/>
      </dsp:txXfrm>
    </dsp:sp>
    <dsp:sp modelId="{ECA8745F-6DD5-449D-AA30-3DDC68451EEB}">
      <dsp:nvSpPr>
        <dsp:cNvPr id="0" name=""/>
        <dsp:cNvSpPr/>
      </dsp:nvSpPr>
      <dsp:spPr>
        <a:xfrm>
          <a:off x="0" y="2311782"/>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56C2CE-E9C5-4BA9-AA16-2C1595473CCB}">
      <dsp:nvSpPr>
        <dsp:cNvPr id="0" name=""/>
        <dsp:cNvSpPr/>
      </dsp:nvSpPr>
      <dsp:spPr>
        <a:xfrm>
          <a:off x="0" y="2311782"/>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print(df.info())                         </a:t>
          </a:r>
          <a:r>
            <a:rPr lang="en-IN" sz="1500" b="1" kern="1200" dirty="0"/>
            <a:t>Show data types and null values</a:t>
          </a:r>
          <a:endParaRPr lang="en-US" sz="1500" b="1" kern="1200" dirty="0"/>
        </a:p>
      </dsp:txBody>
      <dsp:txXfrm>
        <a:off x="0" y="2311782"/>
        <a:ext cx="8382000" cy="329978"/>
      </dsp:txXfrm>
    </dsp:sp>
    <dsp:sp modelId="{733B55C9-8DB7-4D09-95CF-F7AB23888EE3}">
      <dsp:nvSpPr>
        <dsp:cNvPr id="0" name=""/>
        <dsp:cNvSpPr/>
      </dsp:nvSpPr>
      <dsp:spPr>
        <a:xfrm>
          <a:off x="0" y="2641760"/>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CD1755-F114-488D-8816-D022805A1230}">
      <dsp:nvSpPr>
        <dsp:cNvPr id="0" name=""/>
        <dsp:cNvSpPr/>
      </dsp:nvSpPr>
      <dsp:spPr>
        <a:xfrm>
          <a:off x="0" y="2641760"/>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print(</a:t>
          </a:r>
          <a:r>
            <a:rPr lang="en-IN" sz="1500" kern="1200" dirty="0" err="1"/>
            <a:t>df.describe</a:t>
          </a:r>
          <a:r>
            <a:rPr lang="en-IN" sz="1500" kern="1200" dirty="0"/>
            <a:t>())                      </a:t>
          </a:r>
          <a:r>
            <a:rPr lang="en-IN" sz="1500" b="1" kern="1200" dirty="0"/>
            <a:t>Summary statistics of numerical columns</a:t>
          </a:r>
          <a:endParaRPr lang="en-US" sz="1500" b="1" kern="1200" dirty="0"/>
        </a:p>
      </dsp:txBody>
      <dsp:txXfrm>
        <a:off x="0" y="2641760"/>
        <a:ext cx="8382000" cy="329978"/>
      </dsp:txXfrm>
    </dsp:sp>
    <dsp:sp modelId="{EAA32CD0-4087-4455-9425-4F623A06054C}">
      <dsp:nvSpPr>
        <dsp:cNvPr id="0" name=""/>
        <dsp:cNvSpPr/>
      </dsp:nvSpPr>
      <dsp:spPr>
        <a:xfrm>
          <a:off x="0" y="2971739"/>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77986A-25E9-4746-9B06-F12782D64C75}">
      <dsp:nvSpPr>
        <dsp:cNvPr id="0" name=""/>
        <dsp:cNvSpPr/>
      </dsp:nvSpPr>
      <dsp:spPr>
        <a:xfrm>
          <a:off x="0" y="2971739"/>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1" kern="1200" dirty="0"/>
            <a:t>Step 3: Divide the data into dependent vs independent / Select features and target variable</a:t>
          </a:r>
          <a:endParaRPr lang="en-US" sz="1500" b="1" kern="1200" dirty="0"/>
        </a:p>
      </dsp:txBody>
      <dsp:txXfrm>
        <a:off x="0" y="2971739"/>
        <a:ext cx="8382000" cy="329978"/>
      </dsp:txXfrm>
    </dsp:sp>
    <dsp:sp modelId="{7F481FF2-3E4F-432F-93B9-37C1F31F5B5B}">
      <dsp:nvSpPr>
        <dsp:cNvPr id="0" name=""/>
        <dsp:cNvSpPr/>
      </dsp:nvSpPr>
      <dsp:spPr>
        <a:xfrm>
          <a:off x="0" y="3301717"/>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0BDD6B-FE46-4D7D-BF01-F37E79F4554A}">
      <dsp:nvSpPr>
        <dsp:cNvPr id="0" name=""/>
        <dsp:cNvSpPr/>
      </dsp:nvSpPr>
      <dsp:spPr>
        <a:xfrm>
          <a:off x="0" y="3301717"/>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X = </a:t>
          </a:r>
          <a:r>
            <a:rPr lang="en-IN" sz="1500" kern="1200" dirty="0" err="1"/>
            <a:t>df.iloc</a:t>
          </a:r>
          <a:r>
            <a:rPr lang="en-IN" sz="1500" kern="1200" dirty="0"/>
            <a:t>[:, 0].values                 </a:t>
          </a:r>
          <a:r>
            <a:rPr lang="en-IN" sz="1500" b="1" kern="1200" dirty="0"/>
            <a:t>Select first column as independent variable</a:t>
          </a:r>
          <a:endParaRPr lang="en-US" sz="1500" b="1" kern="1200" dirty="0"/>
        </a:p>
      </dsp:txBody>
      <dsp:txXfrm>
        <a:off x="0" y="3301717"/>
        <a:ext cx="8382000" cy="329978"/>
      </dsp:txXfrm>
    </dsp:sp>
    <dsp:sp modelId="{BFA98B16-F24A-4449-9C33-F0C8B6B6C455}">
      <dsp:nvSpPr>
        <dsp:cNvPr id="0" name=""/>
        <dsp:cNvSpPr/>
      </dsp:nvSpPr>
      <dsp:spPr>
        <a:xfrm>
          <a:off x="0" y="3631695"/>
          <a:ext cx="8382000"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D41461-3AFC-4ADE-97C7-45DD507EA498}">
      <dsp:nvSpPr>
        <dsp:cNvPr id="0" name=""/>
        <dsp:cNvSpPr/>
      </dsp:nvSpPr>
      <dsp:spPr>
        <a:xfrm>
          <a:off x="0" y="3631695"/>
          <a:ext cx="8382000" cy="32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kern="1200" dirty="0"/>
            <a:t>y = </a:t>
          </a:r>
          <a:r>
            <a:rPr lang="en-IN" sz="1500" kern="1200" dirty="0" err="1"/>
            <a:t>df.iloc</a:t>
          </a:r>
          <a:r>
            <a:rPr lang="en-IN" sz="1500" kern="1200" dirty="0"/>
            <a:t>[:, -1].values                 </a:t>
          </a:r>
          <a:r>
            <a:rPr lang="en-IN" sz="1500" b="1" kern="1200" dirty="0"/>
            <a:t>Select last column as dependent variable (target)</a:t>
          </a:r>
          <a:endParaRPr lang="en-US" sz="1500" b="1" kern="1200" dirty="0"/>
        </a:p>
      </dsp:txBody>
      <dsp:txXfrm>
        <a:off x="0" y="3631695"/>
        <a:ext cx="8382000" cy="3299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98F44D-E0E6-44BA-9AFC-141EDC91858B}">
      <dsp:nvSpPr>
        <dsp:cNvPr id="0" name=""/>
        <dsp:cNvSpPr/>
      </dsp:nvSpPr>
      <dsp:spPr>
        <a:xfrm>
          <a:off x="0" y="1593"/>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64E2E5-387F-4DFD-A07B-2BAB9377C608}">
      <dsp:nvSpPr>
        <dsp:cNvPr id="0" name=""/>
        <dsp:cNvSpPr/>
      </dsp:nvSpPr>
      <dsp:spPr>
        <a:xfrm>
          <a:off x="0" y="1593"/>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dirty="0"/>
            <a:t>Step 4: Split data into training and testing sets</a:t>
          </a:r>
          <a:endParaRPr lang="en-US" sz="1300" b="1" kern="1200" dirty="0"/>
        </a:p>
      </dsp:txBody>
      <dsp:txXfrm>
        <a:off x="0" y="1593"/>
        <a:ext cx="7886700" cy="296392"/>
      </dsp:txXfrm>
    </dsp:sp>
    <dsp:sp modelId="{D1C989A8-FC61-4862-8B86-1D57BDB68357}">
      <dsp:nvSpPr>
        <dsp:cNvPr id="0" name=""/>
        <dsp:cNvSpPr/>
      </dsp:nvSpPr>
      <dsp:spPr>
        <a:xfrm>
          <a:off x="0" y="297985"/>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5EA10B-9856-4D8D-88AF-B38F62644761}">
      <dsp:nvSpPr>
        <dsp:cNvPr id="0" name=""/>
        <dsp:cNvSpPr/>
      </dsp:nvSpPr>
      <dsp:spPr>
        <a:xfrm>
          <a:off x="0" y="297985"/>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dirty="0"/>
            <a:t>from </a:t>
          </a:r>
          <a:r>
            <a:rPr lang="en-IN" sz="1300" kern="1200" dirty="0" err="1"/>
            <a:t>sklearn.model_selection</a:t>
          </a:r>
          <a:r>
            <a:rPr lang="en-IN" sz="1300" kern="1200" dirty="0"/>
            <a:t> import </a:t>
          </a:r>
          <a:r>
            <a:rPr lang="en-IN" sz="1300" kern="1200" dirty="0" err="1"/>
            <a:t>train_test_split</a:t>
          </a:r>
          <a:endParaRPr lang="en-US" sz="1300" kern="1200" dirty="0"/>
        </a:p>
      </dsp:txBody>
      <dsp:txXfrm>
        <a:off x="0" y="297985"/>
        <a:ext cx="7886700" cy="296392"/>
      </dsp:txXfrm>
    </dsp:sp>
    <dsp:sp modelId="{C6FE86B1-7F9A-475A-A5C3-31E8FE33BDEC}">
      <dsp:nvSpPr>
        <dsp:cNvPr id="0" name=""/>
        <dsp:cNvSpPr/>
      </dsp:nvSpPr>
      <dsp:spPr>
        <a:xfrm>
          <a:off x="0" y="594378"/>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71E072-F2DB-472A-8008-16A02EF0A553}">
      <dsp:nvSpPr>
        <dsp:cNvPr id="0" name=""/>
        <dsp:cNvSpPr/>
      </dsp:nvSpPr>
      <dsp:spPr>
        <a:xfrm>
          <a:off x="0" y="594378"/>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dirty="0" err="1"/>
            <a:t>X_train</a:t>
          </a:r>
          <a:r>
            <a:rPr lang="en-IN" sz="1300" kern="1200" dirty="0"/>
            <a:t>, </a:t>
          </a:r>
          <a:r>
            <a:rPr lang="en-IN" sz="1300" kern="1200" dirty="0" err="1"/>
            <a:t>X_test</a:t>
          </a:r>
          <a:r>
            <a:rPr lang="en-IN" sz="1300" kern="1200" dirty="0"/>
            <a:t>, </a:t>
          </a:r>
          <a:r>
            <a:rPr lang="en-IN" sz="1300" kern="1200" dirty="0" err="1"/>
            <a:t>y_train</a:t>
          </a:r>
          <a:r>
            <a:rPr lang="en-IN" sz="1300" kern="1200" dirty="0"/>
            <a:t>, </a:t>
          </a:r>
          <a:r>
            <a:rPr lang="en-IN" sz="1300" kern="1200" dirty="0" err="1"/>
            <a:t>y_test</a:t>
          </a:r>
          <a:r>
            <a:rPr lang="en-IN" sz="1300" kern="1200" dirty="0"/>
            <a:t> = </a:t>
          </a:r>
          <a:r>
            <a:rPr lang="en-IN" sz="1300" kern="1200" dirty="0" err="1"/>
            <a:t>train_test_split</a:t>
          </a:r>
          <a:r>
            <a:rPr lang="en-IN" sz="1300" kern="1200" dirty="0"/>
            <a:t>(X, y, </a:t>
          </a:r>
          <a:r>
            <a:rPr lang="en-IN" sz="1300" kern="1200" dirty="0" err="1"/>
            <a:t>test_size</a:t>
          </a:r>
          <a:r>
            <a:rPr lang="en-IN" sz="1300" kern="1200" dirty="0"/>
            <a:t>=0.2)  </a:t>
          </a:r>
          <a:r>
            <a:rPr lang="en-IN" sz="1300" b="1" kern="1200" dirty="0"/>
            <a:t>80% train, 20% test</a:t>
          </a:r>
          <a:endParaRPr lang="en-US" sz="1300" b="1" kern="1200" dirty="0"/>
        </a:p>
      </dsp:txBody>
      <dsp:txXfrm>
        <a:off x="0" y="594378"/>
        <a:ext cx="7886700" cy="296392"/>
      </dsp:txXfrm>
    </dsp:sp>
    <dsp:sp modelId="{264C4180-2BB2-4A1F-A463-74BC751AFA04}">
      <dsp:nvSpPr>
        <dsp:cNvPr id="0" name=""/>
        <dsp:cNvSpPr/>
      </dsp:nvSpPr>
      <dsp:spPr>
        <a:xfrm>
          <a:off x="0" y="890770"/>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20A32B-EE64-4B23-9DF9-1AF13A1CFFB4}">
      <dsp:nvSpPr>
        <dsp:cNvPr id="0" name=""/>
        <dsp:cNvSpPr/>
      </dsp:nvSpPr>
      <dsp:spPr>
        <a:xfrm>
          <a:off x="0" y="890770"/>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dirty="0"/>
            <a:t>Step 5: Reshape data for model compatibility</a:t>
          </a:r>
          <a:endParaRPr lang="en-US" sz="1300" b="1" kern="1200" dirty="0"/>
        </a:p>
      </dsp:txBody>
      <dsp:txXfrm>
        <a:off x="0" y="890770"/>
        <a:ext cx="7886700" cy="296392"/>
      </dsp:txXfrm>
    </dsp:sp>
    <dsp:sp modelId="{164F7AE6-3B48-4AD9-AF67-51023D3BEF3E}">
      <dsp:nvSpPr>
        <dsp:cNvPr id="0" name=""/>
        <dsp:cNvSpPr/>
      </dsp:nvSpPr>
      <dsp:spPr>
        <a:xfrm>
          <a:off x="0" y="1187163"/>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2F40A3-B118-4B29-8F21-354A31202123}">
      <dsp:nvSpPr>
        <dsp:cNvPr id="0" name=""/>
        <dsp:cNvSpPr/>
      </dsp:nvSpPr>
      <dsp:spPr>
        <a:xfrm>
          <a:off x="0" y="1187163"/>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dirty="0" err="1"/>
            <a:t>X_train</a:t>
          </a:r>
          <a:r>
            <a:rPr lang="en-IN" sz="1300" kern="1200" dirty="0"/>
            <a:t> = </a:t>
          </a:r>
          <a:r>
            <a:rPr lang="en-IN" sz="1300" kern="1200" dirty="0" err="1"/>
            <a:t>X_train.reshape</a:t>
          </a:r>
          <a:r>
            <a:rPr lang="en-IN" sz="1300" kern="1200" dirty="0"/>
            <a:t>(-1, 1)         </a:t>
          </a:r>
          <a:r>
            <a:rPr lang="en-IN" sz="1300" b="1" kern="1200" dirty="0"/>
            <a:t>Convert 1D array to 2D for training</a:t>
          </a:r>
          <a:endParaRPr lang="en-US" sz="1300" b="1" kern="1200" dirty="0"/>
        </a:p>
      </dsp:txBody>
      <dsp:txXfrm>
        <a:off x="0" y="1187163"/>
        <a:ext cx="7886700" cy="296392"/>
      </dsp:txXfrm>
    </dsp:sp>
    <dsp:sp modelId="{C595E663-742D-4509-9F10-F2F6F0F34479}">
      <dsp:nvSpPr>
        <dsp:cNvPr id="0" name=""/>
        <dsp:cNvSpPr/>
      </dsp:nvSpPr>
      <dsp:spPr>
        <a:xfrm>
          <a:off x="0" y="1483555"/>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832F2F-128D-4DDA-9163-16587F637DE8}">
      <dsp:nvSpPr>
        <dsp:cNvPr id="0" name=""/>
        <dsp:cNvSpPr/>
      </dsp:nvSpPr>
      <dsp:spPr>
        <a:xfrm>
          <a:off x="0" y="1483555"/>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dirty="0" err="1"/>
            <a:t>X_test</a:t>
          </a:r>
          <a:r>
            <a:rPr lang="en-IN" sz="1300" kern="1200" dirty="0"/>
            <a:t> = </a:t>
          </a:r>
          <a:r>
            <a:rPr lang="en-IN" sz="1300" kern="1200" dirty="0" err="1"/>
            <a:t>X_test.reshape</a:t>
          </a:r>
          <a:r>
            <a:rPr lang="en-IN" sz="1300" kern="1200" dirty="0"/>
            <a:t>(-1, 1)           </a:t>
          </a:r>
          <a:r>
            <a:rPr lang="en-IN" sz="1300" b="1" kern="1200" dirty="0"/>
            <a:t>Convert 1D array to 2D for testing</a:t>
          </a:r>
          <a:endParaRPr lang="en-US" sz="1300" b="1" kern="1200" dirty="0"/>
        </a:p>
      </dsp:txBody>
      <dsp:txXfrm>
        <a:off x="0" y="1483555"/>
        <a:ext cx="7886700" cy="296392"/>
      </dsp:txXfrm>
    </dsp:sp>
    <dsp:sp modelId="{29DC461E-5461-4207-88CB-CBD9D63DABCF}">
      <dsp:nvSpPr>
        <dsp:cNvPr id="0" name=""/>
        <dsp:cNvSpPr/>
      </dsp:nvSpPr>
      <dsp:spPr>
        <a:xfrm>
          <a:off x="0" y="1779948"/>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4FAE4-86A5-42BE-9D4B-E2EC3DD1A352}">
      <dsp:nvSpPr>
        <dsp:cNvPr id="0" name=""/>
        <dsp:cNvSpPr/>
      </dsp:nvSpPr>
      <dsp:spPr>
        <a:xfrm>
          <a:off x="0" y="1779948"/>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1" kern="1200" dirty="0"/>
            <a:t>Step 6: Feature scaling (standardization)</a:t>
          </a:r>
          <a:endParaRPr lang="en-US" sz="1300" b="1" kern="1200" dirty="0"/>
        </a:p>
      </dsp:txBody>
      <dsp:txXfrm>
        <a:off x="0" y="1779948"/>
        <a:ext cx="7886700" cy="296392"/>
      </dsp:txXfrm>
    </dsp:sp>
    <dsp:sp modelId="{6740ACD1-8B47-437C-BAF2-D88D73FD5047}">
      <dsp:nvSpPr>
        <dsp:cNvPr id="0" name=""/>
        <dsp:cNvSpPr/>
      </dsp:nvSpPr>
      <dsp:spPr>
        <a:xfrm>
          <a:off x="0" y="2076340"/>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72D9F3-D1B3-4E2A-8D5B-24861D2F62E3}">
      <dsp:nvSpPr>
        <dsp:cNvPr id="0" name=""/>
        <dsp:cNvSpPr/>
      </dsp:nvSpPr>
      <dsp:spPr>
        <a:xfrm>
          <a:off x="0" y="2076340"/>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from sklearn.preprocessing import StandardScaler</a:t>
          </a:r>
          <a:endParaRPr lang="en-US" sz="1300" kern="1200"/>
        </a:p>
      </dsp:txBody>
      <dsp:txXfrm>
        <a:off x="0" y="2076340"/>
        <a:ext cx="7886700" cy="296392"/>
      </dsp:txXfrm>
    </dsp:sp>
    <dsp:sp modelId="{402C4266-982E-4F8E-A8C6-3E887C286FC3}">
      <dsp:nvSpPr>
        <dsp:cNvPr id="0" name=""/>
        <dsp:cNvSpPr/>
      </dsp:nvSpPr>
      <dsp:spPr>
        <a:xfrm>
          <a:off x="0" y="2372733"/>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6C5DF1-097D-4CD2-8D98-E2BE313B4798}">
      <dsp:nvSpPr>
        <dsp:cNvPr id="0" name=""/>
        <dsp:cNvSpPr/>
      </dsp:nvSpPr>
      <dsp:spPr>
        <a:xfrm>
          <a:off x="0" y="2372733"/>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sc = StandardScaler()                    </a:t>
          </a:r>
          <a:r>
            <a:rPr lang="en-IN" sz="1300" b="1" kern="1200"/>
            <a:t> Create scaler object</a:t>
          </a:r>
          <a:endParaRPr lang="en-US" sz="1300" b="1" kern="1200"/>
        </a:p>
      </dsp:txBody>
      <dsp:txXfrm>
        <a:off x="0" y="2372733"/>
        <a:ext cx="7886700" cy="296392"/>
      </dsp:txXfrm>
    </dsp:sp>
    <dsp:sp modelId="{3816C0C2-57A1-41AA-ACCE-46E159D552FE}">
      <dsp:nvSpPr>
        <dsp:cNvPr id="0" name=""/>
        <dsp:cNvSpPr/>
      </dsp:nvSpPr>
      <dsp:spPr>
        <a:xfrm>
          <a:off x="0" y="2669125"/>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2E51E1-03F3-4E3B-8931-8BA54417256D}">
      <dsp:nvSpPr>
        <dsp:cNvPr id="0" name=""/>
        <dsp:cNvSpPr/>
      </dsp:nvSpPr>
      <dsp:spPr>
        <a:xfrm>
          <a:off x="0" y="2669125"/>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X_train = sc.fit_transform(X_train)      </a:t>
          </a:r>
          <a:r>
            <a:rPr lang="en-IN" sz="1300" b="1" kern="1200"/>
            <a:t> Fit and transform training data</a:t>
          </a:r>
          <a:endParaRPr lang="en-US" sz="1300" b="1" kern="1200"/>
        </a:p>
      </dsp:txBody>
      <dsp:txXfrm>
        <a:off x="0" y="2669125"/>
        <a:ext cx="7886700" cy="296392"/>
      </dsp:txXfrm>
    </dsp:sp>
    <dsp:sp modelId="{7573FB1B-5C6D-438E-82C5-FB162ECF7F0D}">
      <dsp:nvSpPr>
        <dsp:cNvPr id="0" name=""/>
        <dsp:cNvSpPr/>
      </dsp:nvSpPr>
      <dsp:spPr>
        <a:xfrm>
          <a:off x="0" y="2965518"/>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E8E915-699A-4BB8-91F1-0E269F298D6E}">
      <dsp:nvSpPr>
        <dsp:cNvPr id="0" name=""/>
        <dsp:cNvSpPr/>
      </dsp:nvSpPr>
      <dsp:spPr>
        <a:xfrm>
          <a:off x="0" y="2965518"/>
          <a:ext cx="7886700" cy="296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kern="1200"/>
            <a:t>X_test = sc.transform(X_test)            </a:t>
          </a:r>
          <a:r>
            <a:rPr lang="en-IN" sz="1300" b="1" kern="1200"/>
            <a:t>Transform test data using same scaler</a:t>
          </a:r>
          <a:endParaRPr lang="en-US" sz="1300" b="1" kern="1200"/>
        </a:p>
      </dsp:txBody>
      <dsp:txXfrm>
        <a:off x="0" y="2965518"/>
        <a:ext cx="7886700" cy="2963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98F44D-E0E6-44BA-9AFC-141EDC91858B}">
      <dsp:nvSpPr>
        <dsp:cNvPr id="0" name=""/>
        <dsp:cNvSpPr/>
      </dsp:nvSpPr>
      <dsp:spPr>
        <a:xfrm>
          <a:off x="0" y="0"/>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64E2E5-387F-4DFD-A07B-2BAB9377C608}">
      <dsp:nvSpPr>
        <dsp:cNvPr id="0" name=""/>
        <dsp:cNvSpPr/>
      </dsp:nvSpPr>
      <dsp:spPr>
        <a:xfrm>
          <a:off x="0" y="0"/>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Step 7: Train the Linear Regression model</a:t>
          </a:r>
          <a:endParaRPr lang="en-US" sz="1100" b="1" kern="1200" dirty="0"/>
        </a:p>
      </dsp:txBody>
      <dsp:txXfrm>
        <a:off x="0" y="0"/>
        <a:ext cx="7886700" cy="257398"/>
      </dsp:txXfrm>
    </dsp:sp>
    <dsp:sp modelId="{6FB43C4C-AB00-4DBD-AC07-B20124BD554E}">
      <dsp:nvSpPr>
        <dsp:cNvPr id="0" name=""/>
        <dsp:cNvSpPr/>
      </dsp:nvSpPr>
      <dsp:spPr>
        <a:xfrm>
          <a:off x="0" y="257398"/>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0299DD-E514-4A62-91C4-A422D216A07D}">
      <dsp:nvSpPr>
        <dsp:cNvPr id="0" name=""/>
        <dsp:cNvSpPr/>
      </dsp:nvSpPr>
      <dsp:spPr>
        <a:xfrm>
          <a:off x="0" y="257398"/>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from sklearn.linear_model import LinearRegression</a:t>
          </a:r>
          <a:endParaRPr lang="en-US" sz="1100" kern="1200" dirty="0"/>
        </a:p>
      </dsp:txBody>
      <dsp:txXfrm>
        <a:off x="0" y="257398"/>
        <a:ext cx="7886700" cy="257398"/>
      </dsp:txXfrm>
    </dsp:sp>
    <dsp:sp modelId="{0C9F9CD2-EB7F-41FF-AADC-74BB7DAD511D}">
      <dsp:nvSpPr>
        <dsp:cNvPr id="0" name=""/>
        <dsp:cNvSpPr/>
      </dsp:nvSpPr>
      <dsp:spPr>
        <a:xfrm>
          <a:off x="0" y="514796"/>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29F9AF-6B32-49AA-AF94-76E178B404DE}">
      <dsp:nvSpPr>
        <dsp:cNvPr id="0" name=""/>
        <dsp:cNvSpPr/>
      </dsp:nvSpPr>
      <dsp:spPr>
        <a:xfrm>
          <a:off x="0" y="514796"/>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t>regressor = </a:t>
          </a:r>
          <a:r>
            <a:rPr lang="en-US" sz="1100" kern="1200" dirty="0" err="1"/>
            <a:t>LinearRegression</a:t>
          </a:r>
          <a:r>
            <a:rPr lang="en-US" sz="1100" kern="1200" dirty="0"/>
            <a:t>()             </a:t>
          </a:r>
          <a:r>
            <a:rPr lang="en-US" sz="1100" b="1" kern="1200" dirty="0"/>
            <a:t>Create Linear Regression model</a:t>
          </a:r>
        </a:p>
      </dsp:txBody>
      <dsp:txXfrm>
        <a:off x="0" y="514796"/>
        <a:ext cx="7886700" cy="257398"/>
      </dsp:txXfrm>
    </dsp:sp>
    <dsp:sp modelId="{1C3ACC18-9979-4F9E-B6DF-A515624CFF93}">
      <dsp:nvSpPr>
        <dsp:cNvPr id="0" name=""/>
        <dsp:cNvSpPr/>
      </dsp:nvSpPr>
      <dsp:spPr>
        <a:xfrm>
          <a:off x="0" y="772194"/>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E1DED5-1E33-4997-9F61-3D4F7E2A2164}">
      <dsp:nvSpPr>
        <dsp:cNvPr id="0" name=""/>
        <dsp:cNvSpPr/>
      </dsp:nvSpPr>
      <dsp:spPr>
        <a:xfrm>
          <a:off x="0" y="772194"/>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regressor.fit(X_train, y_train)               </a:t>
          </a:r>
          <a:r>
            <a:rPr lang="en-US" sz="1100" b="1" kern="1200"/>
            <a:t>Train model on scaled training data</a:t>
          </a:r>
          <a:endParaRPr lang="en-US" sz="1100" b="1" kern="1200" dirty="0"/>
        </a:p>
      </dsp:txBody>
      <dsp:txXfrm>
        <a:off x="0" y="772194"/>
        <a:ext cx="7886700" cy="257398"/>
      </dsp:txXfrm>
    </dsp:sp>
    <dsp:sp modelId="{2C7622D1-1149-4BFC-AB98-DDA116C4B5DC}">
      <dsp:nvSpPr>
        <dsp:cNvPr id="0" name=""/>
        <dsp:cNvSpPr/>
      </dsp:nvSpPr>
      <dsp:spPr>
        <a:xfrm>
          <a:off x="0" y="1029593"/>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7D08C1-D7A9-4482-8FE5-2DDA436B8EC3}">
      <dsp:nvSpPr>
        <dsp:cNvPr id="0" name=""/>
        <dsp:cNvSpPr/>
      </dsp:nvSpPr>
      <dsp:spPr>
        <a:xfrm>
          <a:off x="0" y="1029593"/>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endParaRPr lang="en-US" sz="1100" kern="1200" dirty="0"/>
        </a:p>
      </dsp:txBody>
      <dsp:txXfrm>
        <a:off x="0" y="1029593"/>
        <a:ext cx="7886700" cy="257398"/>
      </dsp:txXfrm>
    </dsp:sp>
    <dsp:sp modelId="{3EADA1ED-0893-48CD-911C-5F02FEF97D59}">
      <dsp:nvSpPr>
        <dsp:cNvPr id="0" name=""/>
        <dsp:cNvSpPr/>
      </dsp:nvSpPr>
      <dsp:spPr>
        <a:xfrm>
          <a:off x="0" y="1286991"/>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66DFB5-9D68-42D3-8908-34967CA179D6}">
      <dsp:nvSpPr>
        <dsp:cNvPr id="0" name=""/>
        <dsp:cNvSpPr/>
      </dsp:nvSpPr>
      <dsp:spPr>
        <a:xfrm>
          <a:off x="0" y="1286991"/>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Step 8: Make predictions on test data</a:t>
          </a:r>
          <a:endParaRPr lang="en-US" sz="1100" b="1" kern="1200" dirty="0"/>
        </a:p>
      </dsp:txBody>
      <dsp:txXfrm>
        <a:off x="0" y="1286991"/>
        <a:ext cx="7886700" cy="257398"/>
      </dsp:txXfrm>
    </dsp:sp>
    <dsp:sp modelId="{97DA0D71-77BD-46EE-9AA8-013132BF0685}">
      <dsp:nvSpPr>
        <dsp:cNvPr id="0" name=""/>
        <dsp:cNvSpPr/>
      </dsp:nvSpPr>
      <dsp:spPr>
        <a:xfrm>
          <a:off x="0" y="1544389"/>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416919-07C8-41D0-B903-E9036B67FB2A}">
      <dsp:nvSpPr>
        <dsp:cNvPr id="0" name=""/>
        <dsp:cNvSpPr/>
      </dsp:nvSpPr>
      <dsp:spPr>
        <a:xfrm>
          <a:off x="0" y="1544389"/>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y_pred = regressor.predict(X_test)        </a:t>
          </a:r>
          <a:r>
            <a:rPr lang="en-US" sz="1100" b="1" kern="1200"/>
            <a:t>Predict target values for test set</a:t>
          </a:r>
          <a:endParaRPr lang="en-US" sz="1100" b="1" kern="1200" dirty="0"/>
        </a:p>
      </dsp:txBody>
      <dsp:txXfrm>
        <a:off x="0" y="1544389"/>
        <a:ext cx="7886700" cy="257398"/>
      </dsp:txXfrm>
    </dsp:sp>
    <dsp:sp modelId="{DE235B00-4832-4518-AD3D-00F89F899B2C}">
      <dsp:nvSpPr>
        <dsp:cNvPr id="0" name=""/>
        <dsp:cNvSpPr/>
      </dsp:nvSpPr>
      <dsp:spPr>
        <a:xfrm>
          <a:off x="0" y="1801787"/>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CBEBFF-1ABA-45E1-93D9-56ABAADF7E42}">
      <dsp:nvSpPr>
        <dsp:cNvPr id="0" name=""/>
        <dsp:cNvSpPr/>
      </dsp:nvSpPr>
      <dsp:spPr>
        <a:xfrm>
          <a:off x="0" y="1801787"/>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endParaRPr lang="en-US" sz="1100" kern="1200" dirty="0"/>
        </a:p>
      </dsp:txBody>
      <dsp:txXfrm>
        <a:off x="0" y="1801787"/>
        <a:ext cx="7886700" cy="257398"/>
      </dsp:txXfrm>
    </dsp:sp>
    <dsp:sp modelId="{53485090-BA40-4765-8963-72C1BD90F155}">
      <dsp:nvSpPr>
        <dsp:cNvPr id="0" name=""/>
        <dsp:cNvSpPr/>
      </dsp:nvSpPr>
      <dsp:spPr>
        <a:xfrm>
          <a:off x="0" y="2059186"/>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6DAE41-3DAD-4962-B157-5373B5D6E454}">
      <dsp:nvSpPr>
        <dsp:cNvPr id="0" name=""/>
        <dsp:cNvSpPr/>
      </dsp:nvSpPr>
      <dsp:spPr>
        <a:xfrm>
          <a:off x="0" y="2059186"/>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Step 9: Visualize actual vs predicted values</a:t>
          </a:r>
          <a:endParaRPr lang="en-US" sz="1100" b="1" kern="1200" dirty="0"/>
        </a:p>
      </dsp:txBody>
      <dsp:txXfrm>
        <a:off x="0" y="2059186"/>
        <a:ext cx="7886700" cy="257398"/>
      </dsp:txXfrm>
    </dsp:sp>
    <dsp:sp modelId="{180DDC8C-8245-4C75-8C5A-08E05A7F06F3}">
      <dsp:nvSpPr>
        <dsp:cNvPr id="0" name=""/>
        <dsp:cNvSpPr/>
      </dsp:nvSpPr>
      <dsp:spPr>
        <a:xfrm>
          <a:off x="0" y="2316584"/>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7957C0-21AE-4582-A304-C36E05FFB561}">
      <dsp:nvSpPr>
        <dsp:cNvPr id="0" name=""/>
        <dsp:cNvSpPr/>
      </dsp:nvSpPr>
      <dsp:spPr>
        <a:xfrm>
          <a:off x="0" y="2316584"/>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plt.plot(y_test, color='blue', label='Actual')       </a:t>
          </a:r>
          <a:r>
            <a:rPr lang="en-US" sz="1100" b="1" kern="1200"/>
            <a:t>Plot actual test values</a:t>
          </a:r>
          <a:endParaRPr lang="en-US" sz="1100" b="1" kern="1200" dirty="0"/>
        </a:p>
      </dsp:txBody>
      <dsp:txXfrm>
        <a:off x="0" y="2316584"/>
        <a:ext cx="7886700" cy="257398"/>
      </dsp:txXfrm>
    </dsp:sp>
    <dsp:sp modelId="{165E4A3F-7BB3-4F75-B689-00AADE95BFEF}">
      <dsp:nvSpPr>
        <dsp:cNvPr id="0" name=""/>
        <dsp:cNvSpPr/>
      </dsp:nvSpPr>
      <dsp:spPr>
        <a:xfrm>
          <a:off x="0" y="2573982"/>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BC2C77-E963-4F87-8EF8-E474F94C129F}">
      <dsp:nvSpPr>
        <dsp:cNvPr id="0" name=""/>
        <dsp:cNvSpPr/>
      </dsp:nvSpPr>
      <dsp:spPr>
        <a:xfrm>
          <a:off x="0" y="2573982"/>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plt.plot(y_pred, color='red', label='Predicted')      </a:t>
          </a:r>
          <a:r>
            <a:rPr lang="en-US" sz="1100" b="1" kern="1200"/>
            <a:t>Plot predicted values</a:t>
          </a:r>
          <a:endParaRPr lang="en-US" sz="1100" b="1" kern="1200" dirty="0"/>
        </a:p>
      </dsp:txBody>
      <dsp:txXfrm>
        <a:off x="0" y="2573982"/>
        <a:ext cx="7886700" cy="257398"/>
      </dsp:txXfrm>
    </dsp:sp>
    <dsp:sp modelId="{5AAE1B69-167D-40FB-A786-9E42EE3699E3}">
      <dsp:nvSpPr>
        <dsp:cNvPr id="0" name=""/>
        <dsp:cNvSpPr/>
      </dsp:nvSpPr>
      <dsp:spPr>
        <a:xfrm>
          <a:off x="0" y="2831380"/>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72F446-AED5-4082-8D31-4EBBDBFDF54E}">
      <dsp:nvSpPr>
        <dsp:cNvPr id="0" name=""/>
        <dsp:cNvSpPr/>
      </dsp:nvSpPr>
      <dsp:spPr>
        <a:xfrm>
          <a:off x="0" y="2831380"/>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plt.title('Actual vs Predicted')</a:t>
          </a:r>
          <a:endParaRPr lang="en-US" sz="1100" kern="1200" dirty="0"/>
        </a:p>
      </dsp:txBody>
      <dsp:txXfrm>
        <a:off x="0" y="2831380"/>
        <a:ext cx="7886700" cy="257398"/>
      </dsp:txXfrm>
    </dsp:sp>
    <dsp:sp modelId="{CA6D96E1-052C-4D26-A9EE-0BA56D875D04}">
      <dsp:nvSpPr>
        <dsp:cNvPr id="0" name=""/>
        <dsp:cNvSpPr/>
      </dsp:nvSpPr>
      <dsp:spPr>
        <a:xfrm>
          <a:off x="0" y="3088779"/>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13AD02-9AFA-4647-BC95-59A4709F98F5}">
      <dsp:nvSpPr>
        <dsp:cNvPr id="0" name=""/>
        <dsp:cNvSpPr/>
      </dsp:nvSpPr>
      <dsp:spPr>
        <a:xfrm>
          <a:off x="0" y="3088779"/>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plt.xlabel('Sample Index')</a:t>
          </a:r>
          <a:endParaRPr lang="en-US" sz="1100" kern="1200" dirty="0"/>
        </a:p>
      </dsp:txBody>
      <dsp:txXfrm>
        <a:off x="0" y="3088779"/>
        <a:ext cx="7886700" cy="257398"/>
      </dsp:txXfrm>
    </dsp:sp>
    <dsp:sp modelId="{020EE43C-549F-4A8F-82A9-7C52C3B92FEE}">
      <dsp:nvSpPr>
        <dsp:cNvPr id="0" name=""/>
        <dsp:cNvSpPr/>
      </dsp:nvSpPr>
      <dsp:spPr>
        <a:xfrm>
          <a:off x="0" y="3346177"/>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996686-7436-4CE9-9C20-7A6E05DE4DE2}">
      <dsp:nvSpPr>
        <dsp:cNvPr id="0" name=""/>
        <dsp:cNvSpPr/>
      </dsp:nvSpPr>
      <dsp:spPr>
        <a:xfrm>
          <a:off x="0" y="3346177"/>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plt.ylabel('Target Value')</a:t>
          </a:r>
          <a:endParaRPr lang="en-US" sz="1100" kern="1200" dirty="0"/>
        </a:p>
      </dsp:txBody>
      <dsp:txXfrm>
        <a:off x="0" y="3346177"/>
        <a:ext cx="7886700" cy="257398"/>
      </dsp:txXfrm>
    </dsp:sp>
    <dsp:sp modelId="{B3D4A551-1152-4E0C-B0D8-BC5872562571}">
      <dsp:nvSpPr>
        <dsp:cNvPr id="0" name=""/>
        <dsp:cNvSpPr/>
      </dsp:nvSpPr>
      <dsp:spPr>
        <a:xfrm>
          <a:off x="0" y="3603575"/>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E87493-993A-433F-832A-B4D0B4D4DB78}">
      <dsp:nvSpPr>
        <dsp:cNvPr id="0" name=""/>
        <dsp:cNvSpPr/>
      </dsp:nvSpPr>
      <dsp:spPr>
        <a:xfrm>
          <a:off x="0" y="3603575"/>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plt.legend()</a:t>
          </a:r>
          <a:endParaRPr lang="en-US" sz="1100" kern="1200" dirty="0"/>
        </a:p>
      </dsp:txBody>
      <dsp:txXfrm>
        <a:off x="0" y="3603575"/>
        <a:ext cx="7886700" cy="257398"/>
      </dsp:txXfrm>
    </dsp:sp>
    <dsp:sp modelId="{E4EE0497-639C-4BFB-BA77-AF525D678742}">
      <dsp:nvSpPr>
        <dsp:cNvPr id="0" name=""/>
        <dsp:cNvSpPr/>
      </dsp:nvSpPr>
      <dsp:spPr>
        <a:xfrm>
          <a:off x="0" y="3860973"/>
          <a:ext cx="78867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FEFB7D-492C-4F5B-AF9E-30223B8C9836}">
      <dsp:nvSpPr>
        <dsp:cNvPr id="0" name=""/>
        <dsp:cNvSpPr/>
      </dsp:nvSpPr>
      <dsp:spPr>
        <a:xfrm>
          <a:off x="0" y="3860973"/>
          <a:ext cx="7886700" cy="257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plt.show()</a:t>
          </a:r>
          <a:endParaRPr lang="en-US" sz="1100" kern="1200" dirty="0"/>
        </a:p>
      </dsp:txBody>
      <dsp:txXfrm>
        <a:off x="0" y="3860973"/>
        <a:ext cx="7886700" cy="2573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9F9CD2-EB7F-41FF-AADC-74BB7DAD511D}">
      <dsp:nvSpPr>
        <dsp:cNvPr id="0" name=""/>
        <dsp:cNvSpPr/>
      </dsp:nvSpPr>
      <dsp:spPr>
        <a:xfrm>
          <a:off x="0" y="1376"/>
          <a:ext cx="68961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29F9AF-6B32-49AA-AF94-76E178B404DE}">
      <dsp:nvSpPr>
        <dsp:cNvPr id="0" name=""/>
        <dsp:cNvSpPr/>
      </dsp:nvSpPr>
      <dsp:spPr>
        <a:xfrm>
          <a:off x="0" y="1376"/>
          <a:ext cx="6896100" cy="46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b="1" kern="1200" dirty="0"/>
            <a:t> Step 10: Predict for a new input value</a:t>
          </a:r>
          <a:endParaRPr lang="en-US" sz="1600" b="1" kern="1200" dirty="0"/>
        </a:p>
      </dsp:txBody>
      <dsp:txXfrm>
        <a:off x="0" y="1376"/>
        <a:ext cx="6896100" cy="469441"/>
      </dsp:txXfrm>
    </dsp:sp>
    <dsp:sp modelId="{5AEC8E20-BC8B-42F1-856C-C425E8CD55B6}">
      <dsp:nvSpPr>
        <dsp:cNvPr id="0" name=""/>
        <dsp:cNvSpPr/>
      </dsp:nvSpPr>
      <dsp:spPr>
        <a:xfrm>
          <a:off x="0" y="470817"/>
          <a:ext cx="68961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03B88D-159E-4EE2-9112-05F1A3F6C22C}">
      <dsp:nvSpPr>
        <dsp:cNvPr id="0" name=""/>
        <dsp:cNvSpPr/>
      </dsp:nvSpPr>
      <dsp:spPr>
        <a:xfrm>
          <a:off x="0" y="470817"/>
          <a:ext cx="6896100" cy="46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t>data = [[80000]]                            </a:t>
          </a:r>
          <a:r>
            <a:rPr lang="en-IN" sz="1600" b="1" kern="1200" dirty="0"/>
            <a:t>New input value (e.g., R&amp;D Spend</a:t>
          </a:r>
          <a:r>
            <a:rPr lang="en-IN" sz="1600" kern="1200" dirty="0"/>
            <a:t>)</a:t>
          </a:r>
        </a:p>
      </dsp:txBody>
      <dsp:txXfrm>
        <a:off x="0" y="470817"/>
        <a:ext cx="6896100" cy="469441"/>
      </dsp:txXfrm>
    </dsp:sp>
    <dsp:sp modelId="{110D8C90-97F7-4B32-87F4-AB84F84C6E6E}">
      <dsp:nvSpPr>
        <dsp:cNvPr id="0" name=""/>
        <dsp:cNvSpPr/>
      </dsp:nvSpPr>
      <dsp:spPr>
        <a:xfrm>
          <a:off x="0" y="940259"/>
          <a:ext cx="68961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000D63-8667-4CD7-BC14-926F615540B2}">
      <dsp:nvSpPr>
        <dsp:cNvPr id="0" name=""/>
        <dsp:cNvSpPr/>
      </dsp:nvSpPr>
      <dsp:spPr>
        <a:xfrm>
          <a:off x="0" y="940259"/>
          <a:ext cx="6896100" cy="46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err="1"/>
            <a:t>new_df</a:t>
          </a:r>
          <a:r>
            <a:rPr lang="en-IN" sz="1600" kern="1200" dirty="0"/>
            <a:t> = </a:t>
          </a:r>
          <a:r>
            <a:rPr lang="en-IN" sz="1600" kern="1200" dirty="0" err="1"/>
            <a:t>pd.DataFrame</a:t>
          </a:r>
          <a:r>
            <a:rPr lang="en-IN" sz="1600" kern="1200" dirty="0"/>
            <a:t>(data)               </a:t>
          </a:r>
          <a:r>
            <a:rPr lang="en-IN" sz="1600" b="1" kern="1200" dirty="0"/>
            <a:t>Convert to </a:t>
          </a:r>
          <a:r>
            <a:rPr lang="en-IN" sz="1600" b="1" kern="1200" dirty="0" err="1"/>
            <a:t>DataFrame</a:t>
          </a:r>
          <a:endParaRPr lang="en-IN" sz="1600" b="1" kern="1200" dirty="0"/>
        </a:p>
      </dsp:txBody>
      <dsp:txXfrm>
        <a:off x="0" y="940259"/>
        <a:ext cx="6896100" cy="469441"/>
      </dsp:txXfrm>
    </dsp:sp>
    <dsp:sp modelId="{BF542865-37AE-4095-AABB-86A58B477CCF}">
      <dsp:nvSpPr>
        <dsp:cNvPr id="0" name=""/>
        <dsp:cNvSpPr/>
      </dsp:nvSpPr>
      <dsp:spPr>
        <a:xfrm>
          <a:off x="0" y="1409700"/>
          <a:ext cx="68961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4AF9B1-5613-49DF-A721-BBE5A044E67D}">
      <dsp:nvSpPr>
        <dsp:cNvPr id="0" name=""/>
        <dsp:cNvSpPr/>
      </dsp:nvSpPr>
      <dsp:spPr>
        <a:xfrm>
          <a:off x="0" y="1409700"/>
          <a:ext cx="6896100" cy="46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err="1"/>
            <a:t>new_df</a:t>
          </a:r>
          <a:r>
            <a:rPr lang="en-IN" sz="1600" kern="1200" dirty="0"/>
            <a:t> = </a:t>
          </a:r>
          <a:r>
            <a:rPr lang="en-IN" sz="1600" kern="1200" dirty="0" err="1"/>
            <a:t>sc.transform</a:t>
          </a:r>
          <a:r>
            <a:rPr lang="en-IN" sz="1600" kern="1200" dirty="0"/>
            <a:t>(</a:t>
          </a:r>
          <a:r>
            <a:rPr lang="en-IN" sz="1600" kern="1200" dirty="0" err="1"/>
            <a:t>new_df</a:t>
          </a:r>
          <a:r>
            <a:rPr lang="en-IN" sz="1600" kern="1200" dirty="0"/>
            <a:t>)                </a:t>
          </a:r>
          <a:r>
            <a:rPr lang="en-IN" sz="1600" b="1" kern="1200" dirty="0"/>
            <a:t>Apply same scaling</a:t>
          </a:r>
        </a:p>
      </dsp:txBody>
      <dsp:txXfrm>
        <a:off x="0" y="1409700"/>
        <a:ext cx="6896100" cy="469441"/>
      </dsp:txXfrm>
    </dsp:sp>
    <dsp:sp modelId="{1D7B704D-7F6A-4AB9-957F-14293D9827A5}">
      <dsp:nvSpPr>
        <dsp:cNvPr id="0" name=""/>
        <dsp:cNvSpPr/>
      </dsp:nvSpPr>
      <dsp:spPr>
        <a:xfrm>
          <a:off x="0" y="1879141"/>
          <a:ext cx="68961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FE641A-8025-4457-92B2-2049C54D5C9C}">
      <dsp:nvSpPr>
        <dsp:cNvPr id="0" name=""/>
        <dsp:cNvSpPr/>
      </dsp:nvSpPr>
      <dsp:spPr>
        <a:xfrm>
          <a:off x="0" y="1879141"/>
          <a:ext cx="6896100" cy="46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err="1"/>
            <a:t>new_prediction</a:t>
          </a:r>
          <a:r>
            <a:rPr lang="en-IN" sz="1600" kern="1200" dirty="0"/>
            <a:t> = </a:t>
          </a:r>
          <a:r>
            <a:rPr lang="en-IN" sz="1600" kern="1200" dirty="0" err="1"/>
            <a:t>regressor.predict</a:t>
          </a:r>
          <a:r>
            <a:rPr lang="en-IN" sz="1600" kern="1200" dirty="0"/>
            <a:t>(</a:t>
          </a:r>
          <a:r>
            <a:rPr lang="en-IN" sz="1600" kern="1200" dirty="0" err="1"/>
            <a:t>new_df</a:t>
          </a:r>
          <a:r>
            <a:rPr lang="en-IN" sz="1600" kern="1200" dirty="0"/>
            <a:t>)     </a:t>
          </a:r>
          <a:r>
            <a:rPr lang="en-IN" sz="1600" b="1" kern="1200" dirty="0"/>
            <a:t>Predict using trained model</a:t>
          </a:r>
        </a:p>
      </dsp:txBody>
      <dsp:txXfrm>
        <a:off x="0" y="1879141"/>
        <a:ext cx="6896100" cy="469441"/>
      </dsp:txXfrm>
    </dsp:sp>
    <dsp:sp modelId="{9ADE86FC-2711-4677-A3CB-5A1D506EAAC5}">
      <dsp:nvSpPr>
        <dsp:cNvPr id="0" name=""/>
        <dsp:cNvSpPr/>
      </dsp:nvSpPr>
      <dsp:spPr>
        <a:xfrm>
          <a:off x="0" y="2348583"/>
          <a:ext cx="68961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4A42CE-9872-4F38-9977-6101AB941ED5}">
      <dsp:nvSpPr>
        <dsp:cNvPr id="0" name=""/>
        <dsp:cNvSpPr/>
      </dsp:nvSpPr>
      <dsp:spPr>
        <a:xfrm>
          <a:off x="0" y="2348583"/>
          <a:ext cx="6896100" cy="469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t>print("Predicted Output:", </a:t>
          </a:r>
          <a:r>
            <a:rPr lang="en-IN" sz="1600" kern="1200" dirty="0" err="1"/>
            <a:t>new_prediction</a:t>
          </a:r>
          <a:r>
            <a:rPr lang="en-IN" sz="1600" kern="1200" dirty="0"/>
            <a:t>[0])      </a:t>
          </a:r>
          <a:r>
            <a:rPr lang="en-IN" sz="1600" b="1" kern="1200" dirty="0"/>
            <a:t>Display prediction</a:t>
          </a:r>
        </a:p>
      </dsp:txBody>
      <dsp:txXfrm>
        <a:off x="0" y="2348583"/>
        <a:ext cx="6896100" cy="4694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F42250-50B9-4528-8DC4-960DD74BD7AC}">
      <dsp:nvSpPr>
        <dsp:cNvPr id="0" name=""/>
        <dsp:cNvSpPr/>
      </dsp:nvSpPr>
      <dsp:spPr>
        <a:xfrm>
          <a:off x="953450" y="59"/>
          <a:ext cx="1796848" cy="898424"/>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IN" sz="1900" b="1" kern="1200"/>
            <a:t>Mean Absolute Error :</a:t>
          </a:r>
          <a:endParaRPr lang="en-US" sz="1900" kern="1200"/>
        </a:p>
      </dsp:txBody>
      <dsp:txXfrm>
        <a:off x="979764" y="26373"/>
        <a:ext cx="1744220" cy="845796"/>
      </dsp:txXfrm>
    </dsp:sp>
    <dsp:sp modelId="{D5E9A8F1-747A-4D9F-9647-C670FAC38818}">
      <dsp:nvSpPr>
        <dsp:cNvPr id="0" name=""/>
        <dsp:cNvSpPr/>
      </dsp:nvSpPr>
      <dsp:spPr>
        <a:xfrm>
          <a:off x="3199511" y="59"/>
          <a:ext cx="1796848" cy="898424"/>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IN" sz="1900" b="1" kern="1200" dirty="0"/>
            <a:t>Advantages of MAE</a:t>
          </a:r>
          <a:endParaRPr lang="en-US" sz="1900" kern="1200" dirty="0"/>
        </a:p>
      </dsp:txBody>
      <dsp:txXfrm>
        <a:off x="3225825" y="26373"/>
        <a:ext cx="1744220" cy="845796"/>
      </dsp:txXfrm>
    </dsp:sp>
    <dsp:sp modelId="{DCC0060E-EEC8-437F-B4BE-1E5DC0166DB5}">
      <dsp:nvSpPr>
        <dsp:cNvPr id="0" name=""/>
        <dsp:cNvSpPr/>
      </dsp:nvSpPr>
      <dsp:spPr>
        <a:xfrm>
          <a:off x="3379196" y="898483"/>
          <a:ext cx="179684" cy="673818"/>
        </a:xfrm>
        <a:custGeom>
          <a:avLst/>
          <a:gdLst/>
          <a:ahLst/>
          <a:cxnLst/>
          <a:rect l="0" t="0" r="0" b="0"/>
          <a:pathLst>
            <a:path>
              <a:moveTo>
                <a:pt x="0" y="0"/>
              </a:moveTo>
              <a:lnTo>
                <a:pt x="0" y="673818"/>
              </a:lnTo>
              <a:lnTo>
                <a:pt x="179684" y="67381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10A591-18D0-4C3D-92D3-3CAA3BCB9667}">
      <dsp:nvSpPr>
        <dsp:cNvPr id="0" name=""/>
        <dsp:cNvSpPr/>
      </dsp:nvSpPr>
      <dsp:spPr>
        <a:xfrm>
          <a:off x="3558880" y="1123089"/>
          <a:ext cx="1437478" cy="898424"/>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N" sz="900" kern="1200" dirty="0"/>
            <a:t>Easy to interpret: MAE gives a clear average error in the same units as the target variable.</a:t>
          </a:r>
          <a:endParaRPr lang="en-US" sz="900" kern="1200" dirty="0"/>
        </a:p>
      </dsp:txBody>
      <dsp:txXfrm>
        <a:off x="3585194" y="1149403"/>
        <a:ext cx="1384850" cy="845796"/>
      </dsp:txXfrm>
    </dsp:sp>
    <dsp:sp modelId="{61E1C771-CAEC-4262-B46D-0A889F75E4A1}">
      <dsp:nvSpPr>
        <dsp:cNvPr id="0" name=""/>
        <dsp:cNvSpPr/>
      </dsp:nvSpPr>
      <dsp:spPr>
        <a:xfrm>
          <a:off x="3379196" y="898483"/>
          <a:ext cx="179684" cy="1796848"/>
        </a:xfrm>
        <a:custGeom>
          <a:avLst/>
          <a:gdLst/>
          <a:ahLst/>
          <a:cxnLst/>
          <a:rect l="0" t="0" r="0" b="0"/>
          <a:pathLst>
            <a:path>
              <a:moveTo>
                <a:pt x="0" y="0"/>
              </a:moveTo>
              <a:lnTo>
                <a:pt x="0" y="1796848"/>
              </a:lnTo>
              <a:lnTo>
                <a:pt x="179684" y="179684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43C9B5-A553-4C9B-9A41-BCB8D44D50D2}">
      <dsp:nvSpPr>
        <dsp:cNvPr id="0" name=""/>
        <dsp:cNvSpPr/>
      </dsp:nvSpPr>
      <dsp:spPr>
        <a:xfrm>
          <a:off x="3558880" y="2246120"/>
          <a:ext cx="1437478" cy="898424"/>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N" sz="900" kern="1200" dirty="0"/>
            <a:t>Robust to outliers: Compared to MSE, MAE doesn’t exaggerate the impact of large errors.</a:t>
          </a:r>
          <a:endParaRPr lang="en-US" sz="900" kern="1200" dirty="0"/>
        </a:p>
      </dsp:txBody>
      <dsp:txXfrm>
        <a:off x="3585194" y="2272434"/>
        <a:ext cx="1384850" cy="845796"/>
      </dsp:txXfrm>
    </dsp:sp>
    <dsp:sp modelId="{D57310F3-BEE7-417F-A3B0-0BA56F3E022D}">
      <dsp:nvSpPr>
        <dsp:cNvPr id="0" name=""/>
        <dsp:cNvSpPr/>
      </dsp:nvSpPr>
      <dsp:spPr>
        <a:xfrm>
          <a:off x="5445572" y="59"/>
          <a:ext cx="1796848" cy="898424"/>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IN" sz="1900" b="1" kern="1200"/>
            <a:t>Disadvantages of MAE</a:t>
          </a:r>
          <a:endParaRPr lang="en-US" sz="1900" kern="1200"/>
        </a:p>
      </dsp:txBody>
      <dsp:txXfrm>
        <a:off x="5471886" y="26373"/>
        <a:ext cx="1744220" cy="845796"/>
      </dsp:txXfrm>
    </dsp:sp>
    <dsp:sp modelId="{4CCBD434-5143-4E34-9BB7-F264A5E1F78E}">
      <dsp:nvSpPr>
        <dsp:cNvPr id="0" name=""/>
        <dsp:cNvSpPr/>
      </dsp:nvSpPr>
      <dsp:spPr>
        <a:xfrm>
          <a:off x="5625256" y="898483"/>
          <a:ext cx="179684" cy="673818"/>
        </a:xfrm>
        <a:custGeom>
          <a:avLst/>
          <a:gdLst/>
          <a:ahLst/>
          <a:cxnLst/>
          <a:rect l="0" t="0" r="0" b="0"/>
          <a:pathLst>
            <a:path>
              <a:moveTo>
                <a:pt x="0" y="0"/>
              </a:moveTo>
              <a:lnTo>
                <a:pt x="0" y="673818"/>
              </a:lnTo>
              <a:lnTo>
                <a:pt x="179684" y="67381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B86317-8D35-48C1-AC6F-B2FFB9593B95}">
      <dsp:nvSpPr>
        <dsp:cNvPr id="0" name=""/>
        <dsp:cNvSpPr/>
      </dsp:nvSpPr>
      <dsp:spPr>
        <a:xfrm>
          <a:off x="5804941" y="1123089"/>
          <a:ext cx="1437478" cy="898424"/>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N" sz="900" kern="1200" dirty="0"/>
            <a:t>Not differentiable at zero: Makes it harder to use in some optimization algorithms.</a:t>
          </a:r>
          <a:endParaRPr lang="en-US" sz="900" kern="1200" dirty="0"/>
        </a:p>
      </dsp:txBody>
      <dsp:txXfrm>
        <a:off x="5831255" y="1149403"/>
        <a:ext cx="1384850" cy="845796"/>
      </dsp:txXfrm>
    </dsp:sp>
    <dsp:sp modelId="{FBD11458-3DDE-481B-A24A-D0FF780C3359}">
      <dsp:nvSpPr>
        <dsp:cNvPr id="0" name=""/>
        <dsp:cNvSpPr/>
      </dsp:nvSpPr>
      <dsp:spPr>
        <a:xfrm>
          <a:off x="5625256" y="898483"/>
          <a:ext cx="179684" cy="1796848"/>
        </a:xfrm>
        <a:custGeom>
          <a:avLst/>
          <a:gdLst/>
          <a:ahLst/>
          <a:cxnLst/>
          <a:rect l="0" t="0" r="0" b="0"/>
          <a:pathLst>
            <a:path>
              <a:moveTo>
                <a:pt x="0" y="0"/>
              </a:moveTo>
              <a:lnTo>
                <a:pt x="0" y="1796848"/>
              </a:lnTo>
              <a:lnTo>
                <a:pt x="179684" y="1796848"/>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252D56-AF1B-42B9-B63C-2C73B220707D}">
      <dsp:nvSpPr>
        <dsp:cNvPr id="0" name=""/>
        <dsp:cNvSpPr/>
      </dsp:nvSpPr>
      <dsp:spPr>
        <a:xfrm>
          <a:off x="5804941" y="2246120"/>
          <a:ext cx="1437478" cy="898424"/>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N" sz="900" kern="1200"/>
            <a:t>Equal weight to all errors: Doesn’t penalize large mistakes more than small ones, which might be undesirable in some cases.</a:t>
          </a:r>
          <a:endParaRPr lang="en-US" sz="900" kern="1200"/>
        </a:p>
      </dsp:txBody>
      <dsp:txXfrm>
        <a:off x="5831255" y="2272434"/>
        <a:ext cx="1384850" cy="84579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FDDE-0F9F-721A-16CD-037A999E73F2}"/>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64E0E53D-AEDC-1529-6671-F5EBC26A25D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21F0A9-FEA1-7378-0B50-C9CE34D460C0}"/>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a:extLst>
              <a:ext uri="{FF2B5EF4-FFF2-40B4-BE49-F238E27FC236}">
                <a16:creationId xmlns:a16="http://schemas.microsoft.com/office/drawing/2014/main" id="{35960A6F-BB8E-729F-57E8-EA15832F64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B2A4A1-48E3-4DFB-15FD-558F4F78E47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1360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794C-E85E-25D4-5E88-C47E478B10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766852-2FBB-A8E4-4A0A-467FB5FDEE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20493F-717B-2A87-AFF4-E7E1D839EFBE}"/>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a:extLst>
              <a:ext uri="{FF2B5EF4-FFF2-40B4-BE49-F238E27FC236}">
                <a16:creationId xmlns:a16="http://schemas.microsoft.com/office/drawing/2014/main" id="{F828CFF3-E88B-8DA5-FB15-3675FADB5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291D8-C632-3A25-1C69-028F0086285A}"/>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9483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AB03B-5BCD-BE52-A560-B91566517E12}"/>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C07C78-5F84-C0DD-F324-E194857DBF0D}"/>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871FB4-A778-4578-2417-2421AC74BBD7}"/>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a:extLst>
              <a:ext uri="{FF2B5EF4-FFF2-40B4-BE49-F238E27FC236}">
                <a16:creationId xmlns:a16="http://schemas.microsoft.com/office/drawing/2014/main" id="{A96A1622-20AE-A3F6-A4DA-9D639E771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BEF273-ACFB-C9ED-3FF0-EF3A1EA42C8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6208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50BF-957B-8320-0B2B-6FFA66DF15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8DEA7B-03FC-B5A1-3DAF-8B01B4632110}"/>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FEAA49D-7BCB-1EF1-17FA-456556A25734}"/>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E03D6A-DCCB-9F11-ABF1-E68C48C8E175}"/>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a:extLst>
              <a:ext uri="{FF2B5EF4-FFF2-40B4-BE49-F238E27FC236}">
                <a16:creationId xmlns:a16="http://schemas.microsoft.com/office/drawing/2014/main" id="{E306C940-B70E-9D55-08AC-5DDE64212B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A44481-7F53-ACA0-8B07-459442DA2C4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3901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C577D-4570-2663-FA0D-A834FE1126F0}"/>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A6DDB7-891A-8CCE-95B9-465D5E7A26B1}"/>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F8D60EB-944E-C399-F623-8D171921982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CAC91E8-6246-DE13-B2CD-BCC96703238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8DC5427-84E6-75F8-3984-3A4AE25672C3}"/>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EB2019-A4E3-26D4-9FFF-3ED167845684}"/>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8" name="Footer Placeholder 7">
            <a:extLst>
              <a:ext uri="{FF2B5EF4-FFF2-40B4-BE49-F238E27FC236}">
                <a16:creationId xmlns:a16="http://schemas.microsoft.com/office/drawing/2014/main" id="{13F40119-8B10-584A-D1CD-F6872733E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617DFF-4253-CBA8-BE23-D2A757BAD94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50517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02AD-E237-C65A-B952-FBF269F676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F96040-F415-855A-C391-789DD2438D8C}"/>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4" name="Footer Placeholder 3">
            <a:extLst>
              <a:ext uri="{FF2B5EF4-FFF2-40B4-BE49-F238E27FC236}">
                <a16:creationId xmlns:a16="http://schemas.microsoft.com/office/drawing/2014/main" id="{9FCD4CD8-2A3C-BFA7-6464-0210C097AE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9CE9D2-21B4-32EA-1ECD-A77C96103A8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4980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4B79E9-DFB0-14C2-E5C6-5FE97E730C50}"/>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3" name="Footer Placeholder 2">
            <a:extLst>
              <a:ext uri="{FF2B5EF4-FFF2-40B4-BE49-F238E27FC236}">
                <a16:creationId xmlns:a16="http://schemas.microsoft.com/office/drawing/2014/main" id="{0969000F-031B-8652-4DC2-4FBE10B0A3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C9DCC0-A2B8-4D88-AA36-15290C0FD5E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781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BEF33-8FAC-CE12-08E0-C0E9C15CD2B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A805AF-9D7C-CFC8-CF5B-F13646F0316D}"/>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9DE00E-C0D6-AA95-00BF-78443139FB2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173F5F3-9934-1AD4-8936-4D76EC349108}"/>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a:extLst>
              <a:ext uri="{FF2B5EF4-FFF2-40B4-BE49-F238E27FC236}">
                <a16:creationId xmlns:a16="http://schemas.microsoft.com/office/drawing/2014/main" id="{65AE71C9-C817-E8E0-9788-E599A89CB5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950AC7-FEC4-233C-7153-C6EEE003962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558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48F2-3670-3EEB-A460-3B2F266EAB3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D47B35-477D-5B84-CDEB-21E082911F37}"/>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E2ADAC10-B57A-35D5-F6AE-81C6CD99221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8CC8A96-21A7-2D2E-C146-BF548BD7D597}"/>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a:extLst>
              <a:ext uri="{FF2B5EF4-FFF2-40B4-BE49-F238E27FC236}">
                <a16:creationId xmlns:a16="http://schemas.microsoft.com/office/drawing/2014/main" id="{7DE4230F-83AF-AEF1-F6F8-5E9FF4443F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BFC4C-8A84-4569-829A-029B7195861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0192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C7BC-7230-4478-DF08-B5FB03A28C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C75B3C-7399-816F-C361-FC76A0329B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A9DCF-9CFA-944D-4305-DC34A2B57F9C}"/>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a:extLst>
              <a:ext uri="{FF2B5EF4-FFF2-40B4-BE49-F238E27FC236}">
                <a16:creationId xmlns:a16="http://schemas.microsoft.com/office/drawing/2014/main" id="{986C9EAD-3360-8D15-4EDA-B6B03088F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D352C-2A2A-F41B-60E3-83D67B92A05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1373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3250B9-A2D1-38A4-D058-7B14DB611C0A}"/>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754654-E263-D2FA-AA57-0B2B6653E8C1}"/>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772CFC-8AF1-B981-6C74-B813CA2AA129}"/>
              </a:ext>
            </a:extLst>
          </p:cNvPr>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a:extLst>
              <a:ext uri="{FF2B5EF4-FFF2-40B4-BE49-F238E27FC236}">
                <a16:creationId xmlns:a16="http://schemas.microsoft.com/office/drawing/2014/main" id="{A87621E1-3497-B9B6-FB52-2772729B6A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B57A9-A190-0F89-5A95-7EED0697AAB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732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C54F52-3047-640F-22A0-8B1AA18F53AF}"/>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BF03D1-E6DA-DC57-63E2-B7BC9F7DB6D9}"/>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CFA633-8421-B63E-C170-A0CC6EA582A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D8BD707-D9CF-40AE-B4C6-C98DA3205C09}" type="datetimeFigureOut">
              <a:rPr lang="en-US" smtClean="0"/>
              <a:pPr/>
              <a:t>9/18/2025</a:t>
            </a:fld>
            <a:endParaRPr lang="en-US"/>
          </a:p>
        </p:txBody>
      </p:sp>
      <p:sp>
        <p:nvSpPr>
          <p:cNvPr id="5" name="Footer Placeholder 4">
            <a:extLst>
              <a:ext uri="{FF2B5EF4-FFF2-40B4-BE49-F238E27FC236}">
                <a16:creationId xmlns:a16="http://schemas.microsoft.com/office/drawing/2014/main" id="{E8B35DC5-D81F-E717-3AAE-6C7C552031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0BB154-6177-FDCF-5707-432624484EF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736155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svg"/><Relationship Id="rId4" Type="http://schemas.openxmlformats.org/officeDocument/2006/relationships/image" Target="../media/image17.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4.jpe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5.jpe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27.svg"/><Relationship Id="rId4" Type="http://schemas.openxmlformats.org/officeDocument/2006/relationships/image" Target="../media/image17.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33.pn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31.png"/><Relationship Id="rId5" Type="http://schemas.openxmlformats.org/officeDocument/2006/relationships/image" Target="../media/image18.svg"/><Relationship Id="rId10" Type="http://schemas.openxmlformats.org/officeDocument/2006/relationships/image" Target="../media/image30.png"/><Relationship Id="rId4" Type="http://schemas.openxmlformats.org/officeDocument/2006/relationships/image" Target="../media/image17.png"/><Relationship Id="rId9" Type="http://schemas.openxmlformats.org/officeDocument/2006/relationships/image" Target="../media/image29.png"/><Relationship Id="rId14" Type="http://schemas.openxmlformats.org/officeDocument/2006/relationships/image" Target="../media/image34.jpe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39.jpe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37.png"/><Relationship Id="rId5" Type="http://schemas.openxmlformats.org/officeDocument/2006/relationships/image" Target="../media/image18.svg"/><Relationship Id="rId10" Type="http://schemas.openxmlformats.org/officeDocument/2006/relationships/image" Target="../media/image36.jpeg"/><Relationship Id="rId4" Type="http://schemas.openxmlformats.org/officeDocument/2006/relationships/image" Target="../media/image17.png"/><Relationship Id="rId9" Type="http://schemas.openxmlformats.org/officeDocument/2006/relationships/image" Target="../media/image35.png"/><Relationship Id="rId14"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42.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45.svg"/><Relationship Id="rId5" Type="http://schemas.openxmlformats.org/officeDocument/2006/relationships/image" Target="../media/image18.svg"/><Relationship Id="rId10" Type="http://schemas.openxmlformats.org/officeDocument/2006/relationships/image" Target="../media/image44.png"/><Relationship Id="rId4" Type="http://schemas.openxmlformats.org/officeDocument/2006/relationships/image" Target="../media/image17.png"/><Relationship Id="rId9" Type="http://schemas.openxmlformats.org/officeDocument/2006/relationships/image" Target="../media/image43.jpe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48.svg"/><Relationship Id="rId4" Type="http://schemas.openxmlformats.org/officeDocument/2006/relationships/image" Target="../media/image17.png"/><Relationship Id="rId9" Type="http://schemas.openxmlformats.org/officeDocument/2006/relationships/image" Target="../media/image47.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49.png"/></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51.jpeg"/><Relationship Id="rId4" Type="http://schemas.openxmlformats.org/officeDocument/2006/relationships/image" Target="../media/image17.png"/><Relationship Id="rId9" Type="http://schemas.openxmlformats.org/officeDocument/2006/relationships/image" Target="../media/image50.jpeg"/></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58.jpeg"/><Relationship Id="rId5" Type="http://schemas.openxmlformats.org/officeDocument/2006/relationships/image" Target="../media/image18.svg"/><Relationship Id="rId10" Type="http://schemas.openxmlformats.org/officeDocument/2006/relationships/image" Target="../media/image57.svg"/><Relationship Id="rId4" Type="http://schemas.openxmlformats.org/officeDocument/2006/relationships/image" Target="../media/image17.png"/><Relationship Id="rId9"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64.png"/></Relationships>
</file>

<file path=ppt/slides/_rels/slide4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67.jpeg"/><Relationship Id="rId5" Type="http://schemas.openxmlformats.org/officeDocument/2006/relationships/image" Target="../media/image18.svg"/><Relationship Id="rId10" Type="http://schemas.openxmlformats.org/officeDocument/2006/relationships/image" Target="../media/image66.jpeg"/><Relationship Id="rId4" Type="http://schemas.openxmlformats.org/officeDocument/2006/relationships/image" Target="../media/image17.png"/><Relationship Id="rId9" Type="http://schemas.openxmlformats.org/officeDocument/2006/relationships/image" Target="../media/image65.jpeg"/></Relationships>
</file>

<file path=ppt/slides/_rels/slide5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79.pn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7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77.svg"/><Relationship Id="rId5" Type="http://schemas.openxmlformats.org/officeDocument/2006/relationships/image" Target="../media/image18.svg"/><Relationship Id="rId10" Type="http://schemas.openxmlformats.org/officeDocument/2006/relationships/image" Target="../media/image76.png"/><Relationship Id="rId4" Type="http://schemas.openxmlformats.org/officeDocument/2006/relationships/image" Target="../media/image17.png"/><Relationship Id="rId9" Type="http://schemas.openxmlformats.org/officeDocument/2006/relationships/image" Target="../media/image75.jpeg"/><Relationship Id="rId14" Type="http://schemas.openxmlformats.org/officeDocument/2006/relationships/image" Target="../media/image80.svg"/></Relationships>
</file>

<file path=ppt/slides/_rels/slide6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82.svg"/><Relationship Id="rId4" Type="http://schemas.openxmlformats.org/officeDocument/2006/relationships/image" Target="../media/image17.png"/><Relationship Id="rId9" Type="http://schemas.openxmlformats.org/officeDocument/2006/relationships/image" Target="../media/image81.png"/></Relationships>
</file>

<file path=ppt/slides/_rels/slide6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84.svg"/><Relationship Id="rId4" Type="http://schemas.openxmlformats.org/officeDocument/2006/relationships/image" Target="../media/image17.png"/><Relationship Id="rId9" Type="http://schemas.openxmlformats.org/officeDocument/2006/relationships/image" Target="../media/image8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9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89.jpeg"/><Relationship Id="rId5" Type="http://schemas.openxmlformats.org/officeDocument/2006/relationships/image" Target="../media/image18.svg"/><Relationship Id="rId10" Type="http://schemas.openxmlformats.org/officeDocument/2006/relationships/image" Target="../media/image88.svg"/><Relationship Id="rId4" Type="http://schemas.openxmlformats.org/officeDocument/2006/relationships/image" Target="../media/image17.png"/><Relationship Id="rId9" Type="http://schemas.openxmlformats.org/officeDocument/2006/relationships/image" Target="../media/image87.png"/></Relationships>
</file>

<file path=ppt/slides/_rels/slide7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92.jpeg"/><Relationship Id="rId4" Type="http://schemas.openxmlformats.org/officeDocument/2006/relationships/image" Target="../media/image17.png"/><Relationship Id="rId9" Type="http://schemas.openxmlformats.org/officeDocument/2006/relationships/image" Target="../media/image91.jpeg"/></Relationships>
</file>

<file path=ppt/slides/_rels/slide7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94.svg"/><Relationship Id="rId4" Type="http://schemas.openxmlformats.org/officeDocument/2006/relationships/image" Target="../media/image17.png"/><Relationship Id="rId9" Type="http://schemas.openxmlformats.org/officeDocument/2006/relationships/image" Target="../media/image93.png"/></Relationships>
</file>

<file path=ppt/slides/_rels/slide7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8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02.svg"/><Relationship Id="rId4" Type="http://schemas.openxmlformats.org/officeDocument/2006/relationships/image" Target="../media/image17.png"/><Relationship Id="rId9" Type="http://schemas.openxmlformats.org/officeDocument/2006/relationships/image" Target="../media/image101.png"/></Relationships>
</file>

<file path=ppt/slides/_rels/slide8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03.jpeg"/></Relationships>
</file>

<file path=ppt/slides/_rels/slide8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04.jpeg"/></Relationships>
</file>

<file path=ppt/slides/_rels/slide8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06.svg"/><Relationship Id="rId4" Type="http://schemas.openxmlformats.org/officeDocument/2006/relationships/image" Target="../media/image105.png"/></Relationships>
</file>

<file path=ppt/slides/_rels/slide8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07.png"/></Relationships>
</file>

<file path=ppt/slides/_rels/slide8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08.jpeg"/></Relationships>
</file>

<file path=ppt/slides/_rels/slide9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09.jpeg"/></Relationships>
</file>

<file path=ppt/slides/_rels/slide9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10.jpeg"/></Relationships>
</file>

<file path=ppt/slides/_rels/slide9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11.jpeg"/></Relationships>
</file>

<file path=ppt/slides/_rels/slide9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12.jpeg"/></Relationships>
</file>

<file path=ppt/slides/_rels/slide9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14.svg"/><Relationship Id="rId4" Type="http://schemas.openxmlformats.org/officeDocument/2006/relationships/image" Target="../media/image17.png"/><Relationship Id="rId9" Type="http://schemas.openxmlformats.org/officeDocument/2006/relationships/image" Target="../media/image113.png"/></Relationships>
</file>

<file path=ppt/slides/_rels/slide9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19.jpe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118.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17.svg"/><Relationship Id="rId5" Type="http://schemas.openxmlformats.org/officeDocument/2006/relationships/image" Target="../media/image18.svg"/><Relationship Id="rId10" Type="http://schemas.openxmlformats.org/officeDocument/2006/relationships/image" Target="../media/image116.png"/><Relationship Id="rId4" Type="http://schemas.openxmlformats.org/officeDocument/2006/relationships/image" Target="../media/image17.png"/><Relationship Id="rId9" Type="http://schemas.openxmlformats.org/officeDocument/2006/relationships/image" Target="../media/image115.jpeg"/></Relationships>
</file>

<file path=ppt/slides/_rels/slide9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21.svg"/><Relationship Id="rId4" Type="http://schemas.openxmlformats.org/officeDocument/2006/relationships/image" Target="../media/image17.png"/><Relationship Id="rId9" Type="http://schemas.openxmlformats.org/officeDocument/2006/relationships/image" Target="../media/image120.png"/></Relationships>
</file>

<file path=ppt/slides/_rels/slide9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9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23.svg"/><Relationship Id="rId4" Type="http://schemas.openxmlformats.org/officeDocument/2006/relationships/image" Target="../media/image17.png"/><Relationship Id="rId9" Type="http://schemas.openxmlformats.org/officeDocument/2006/relationships/image" Target="../media/image122.png"/></Relationships>
</file>

<file path=ppt/slides/_rels/slide9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24.jpeg"/></Relationships>
</file>

<file path=ppt/slides/_rels/slide10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29.png"/><Relationship Id="rId18" Type="http://schemas.openxmlformats.org/officeDocument/2006/relationships/image" Target="../media/image134.svg"/><Relationship Id="rId3" Type="http://schemas.openxmlformats.org/officeDocument/2006/relationships/image" Target="../media/image2.svg"/><Relationship Id="rId21" Type="http://schemas.openxmlformats.org/officeDocument/2006/relationships/image" Target="../media/image137.png"/><Relationship Id="rId7" Type="http://schemas.openxmlformats.org/officeDocument/2006/relationships/image" Target="../media/image20.png"/><Relationship Id="rId12" Type="http://schemas.openxmlformats.org/officeDocument/2006/relationships/image" Target="../media/image128.svg"/><Relationship Id="rId17" Type="http://schemas.openxmlformats.org/officeDocument/2006/relationships/image" Target="../media/image133.png"/><Relationship Id="rId2" Type="http://schemas.openxmlformats.org/officeDocument/2006/relationships/image" Target="../media/image1.png"/><Relationship Id="rId16" Type="http://schemas.openxmlformats.org/officeDocument/2006/relationships/image" Target="../media/image132.svg"/><Relationship Id="rId20" Type="http://schemas.openxmlformats.org/officeDocument/2006/relationships/image" Target="../media/image136.sv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27.png"/><Relationship Id="rId24" Type="http://schemas.openxmlformats.org/officeDocument/2006/relationships/image" Target="../media/image140.svg"/><Relationship Id="rId5" Type="http://schemas.openxmlformats.org/officeDocument/2006/relationships/image" Target="../media/image18.svg"/><Relationship Id="rId15" Type="http://schemas.openxmlformats.org/officeDocument/2006/relationships/image" Target="../media/image131.png"/><Relationship Id="rId23" Type="http://schemas.openxmlformats.org/officeDocument/2006/relationships/image" Target="../media/image139.png"/><Relationship Id="rId10" Type="http://schemas.openxmlformats.org/officeDocument/2006/relationships/image" Target="../media/image126.svg"/><Relationship Id="rId19" Type="http://schemas.openxmlformats.org/officeDocument/2006/relationships/image" Target="../media/image135.png"/><Relationship Id="rId4" Type="http://schemas.openxmlformats.org/officeDocument/2006/relationships/image" Target="../media/image17.png"/><Relationship Id="rId9" Type="http://schemas.openxmlformats.org/officeDocument/2006/relationships/image" Target="../media/image125.png"/><Relationship Id="rId14" Type="http://schemas.openxmlformats.org/officeDocument/2006/relationships/image" Target="../media/image130.svg"/><Relationship Id="rId22" Type="http://schemas.openxmlformats.org/officeDocument/2006/relationships/image" Target="../media/image138.svg"/></Relationships>
</file>

<file path=ppt/slides/_rels/slide10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41.jpeg"/></Relationships>
</file>

<file path=ppt/slides/_rels/slide10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42.jpeg"/></Relationships>
</file>

<file path=ppt/slides/_rels/slide10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0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43.jpeg"/></Relationships>
</file>

<file path=ppt/slides/_rels/slide10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44.jpeg"/></Relationships>
</file>

<file path=ppt/slides/_rels/slide10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47.svg"/><Relationship Id="rId5" Type="http://schemas.openxmlformats.org/officeDocument/2006/relationships/image" Target="../media/image18.svg"/><Relationship Id="rId10" Type="http://schemas.openxmlformats.org/officeDocument/2006/relationships/image" Target="../media/image146.png"/><Relationship Id="rId4" Type="http://schemas.openxmlformats.org/officeDocument/2006/relationships/image" Target="../media/image17.png"/><Relationship Id="rId9" Type="http://schemas.openxmlformats.org/officeDocument/2006/relationships/image" Target="../media/image145.jpeg"/></Relationships>
</file>

<file path=ppt/slides/_rels/slide10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15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50.png"/><Relationship Id="rId5" Type="http://schemas.openxmlformats.org/officeDocument/2006/relationships/image" Target="../media/image18.svg"/><Relationship Id="rId10" Type="http://schemas.openxmlformats.org/officeDocument/2006/relationships/image" Target="../media/image149.jpeg"/><Relationship Id="rId4" Type="http://schemas.openxmlformats.org/officeDocument/2006/relationships/image" Target="../media/image17.png"/><Relationship Id="rId9" Type="http://schemas.openxmlformats.org/officeDocument/2006/relationships/image" Target="../media/image148.jpeg"/></Relationships>
</file>

<file path=ppt/slides/_rels/slide10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56.sv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155.png"/><Relationship Id="rId17" Type="http://schemas.openxmlformats.org/officeDocument/2006/relationships/image" Target="../media/image160.svg"/><Relationship Id="rId2" Type="http://schemas.openxmlformats.org/officeDocument/2006/relationships/image" Target="../media/image1.png"/><Relationship Id="rId16" Type="http://schemas.openxmlformats.org/officeDocument/2006/relationships/image" Target="../media/image15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54.svg"/><Relationship Id="rId5" Type="http://schemas.openxmlformats.org/officeDocument/2006/relationships/image" Target="../media/image18.svg"/><Relationship Id="rId15" Type="http://schemas.openxmlformats.org/officeDocument/2006/relationships/image" Target="../media/image158.jpeg"/><Relationship Id="rId10" Type="http://schemas.openxmlformats.org/officeDocument/2006/relationships/image" Target="../media/image153.png"/><Relationship Id="rId4" Type="http://schemas.openxmlformats.org/officeDocument/2006/relationships/image" Target="../media/image17.png"/><Relationship Id="rId9" Type="http://schemas.openxmlformats.org/officeDocument/2006/relationships/image" Target="../media/image152.jpeg"/><Relationship Id="rId14" Type="http://schemas.openxmlformats.org/officeDocument/2006/relationships/image" Target="../media/image157.jpeg"/></Relationships>
</file>

<file path=ppt/slides/_rels/slide10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61.jpeg"/></Relationships>
</file>

<file path=ppt/slides/_rels/slide1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62.jpeg"/></Relationships>
</file>

<file path=ppt/slides/_rels/slide1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63.jpeg"/></Relationships>
</file>

<file path=ppt/slides/_rels/slide1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65.svg"/><Relationship Id="rId4" Type="http://schemas.openxmlformats.org/officeDocument/2006/relationships/image" Target="../media/image17.png"/><Relationship Id="rId9" Type="http://schemas.openxmlformats.org/officeDocument/2006/relationships/image" Target="../media/image164.png"/></Relationships>
</file>

<file path=ppt/slides/_rels/slide1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1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hyperlink" Target="https://beingdatum.com/anomaly-detection/" TargetMode="External"/><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16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68.png"/><Relationship Id="rId5" Type="http://schemas.openxmlformats.org/officeDocument/2006/relationships/image" Target="../media/image18.svg"/><Relationship Id="rId10" Type="http://schemas.openxmlformats.org/officeDocument/2006/relationships/image" Target="../media/image167.svg"/><Relationship Id="rId4" Type="http://schemas.openxmlformats.org/officeDocument/2006/relationships/image" Target="../media/image17.png"/><Relationship Id="rId9" Type="http://schemas.openxmlformats.org/officeDocument/2006/relationships/image" Target="../media/image166.png"/></Relationships>
</file>

<file path=ppt/slides/_rels/slide1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71.svg"/><Relationship Id="rId4" Type="http://schemas.openxmlformats.org/officeDocument/2006/relationships/image" Target="../media/image17.png"/><Relationship Id="rId9" Type="http://schemas.openxmlformats.org/officeDocument/2006/relationships/image" Target="../media/image170.png"/></Relationships>
</file>

<file path=ppt/slides/_rels/slide117.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3.svg"/><Relationship Id="rId7" Type="http://schemas.openxmlformats.org/officeDocument/2006/relationships/image" Target="../media/image177.svg"/><Relationship Id="rId2" Type="http://schemas.openxmlformats.org/officeDocument/2006/relationships/image" Target="../media/image172.png"/><Relationship Id="rId1" Type="http://schemas.openxmlformats.org/officeDocument/2006/relationships/slideLayout" Target="../slideLayouts/slideLayout7.xml"/><Relationship Id="rId6" Type="http://schemas.openxmlformats.org/officeDocument/2006/relationships/image" Target="../media/image176.png"/><Relationship Id="rId5" Type="http://schemas.openxmlformats.org/officeDocument/2006/relationships/image" Target="../media/image175.svg"/><Relationship Id="rId10" Type="http://schemas.openxmlformats.org/officeDocument/2006/relationships/image" Target="../media/image16.png"/><Relationship Id="rId4" Type="http://schemas.openxmlformats.org/officeDocument/2006/relationships/image" Target="../media/image174.png"/><Relationship Id="rId9" Type="http://schemas.openxmlformats.org/officeDocument/2006/relationships/image" Target="../media/image179.svg"/></Relationships>
</file>

<file path=ppt/slides/_rels/slide118.xml.rels><?xml version="1.0" encoding="UTF-8" standalone="yes"?>
<Relationships xmlns="http://schemas.openxmlformats.org/package/2006/relationships"><Relationship Id="rId3" Type="http://schemas.openxmlformats.org/officeDocument/2006/relationships/image" Target="../media/image181.svg"/><Relationship Id="rId2" Type="http://schemas.openxmlformats.org/officeDocument/2006/relationships/image" Target="../media/image180.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9.xml.rels><?xml version="1.0" encoding="UTF-8" standalone="yes"?>
<Relationships xmlns="http://schemas.openxmlformats.org/package/2006/relationships"><Relationship Id="rId3" Type="http://schemas.openxmlformats.org/officeDocument/2006/relationships/image" Target="../media/image181.svg"/><Relationship Id="rId2" Type="http://schemas.openxmlformats.org/officeDocument/2006/relationships/image" Target="../media/image180.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0.xml.rels><?xml version="1.0" encoding="UTF-8" standalone="yes"?>
<Relationships xmlns="http://schemas.openxmlformats.org/package/2006/relationships"><Relationship Id="rId3" Type="http://schemas.openxmlformats.org/officeDocument/2006/relationships/image" Target="../media/image181.svg"/><Relationship Id="rId2" Type="http://schemas.openxmlformats.org/officeDocument/2006/relationships/image" Target="../media/image180.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1.xml.rels><?xml version="1.0" encoding="UTF-8" standalone="yes"?>
<Relationships xmlns="http://schemas.openxmlformats.org/package/2006/relationships"><Relationship Id="rId3" Type="http://schemas.openxmlformats.org/officeDocument/2006/relationships/image" Target="../media/image183.svg"/><Relationship Id="rId2" Type="http://schemas.openxmlformats.org/officeDocument/2006/relationships/image" Target="../media/image182.png"/><Relationship Id="rId1" Type="http://schemas.openxmlformats.org/officeDocument/2006/relationships/slideLayout" Target="../slideLayouts/slideLayout7.xml"/><Relationship Id="rId5" Type="http://schemas.openxmlformats.org/officeDocument/2006/relationships/hyperlink" Target="https://machinelearningmastery.com/time-series-forecasting-methods-in-python-cheat-sheet/" TargetMode="External"/><Relationship Id="rId4" Type="http://schemas.openxmlformats.org/officeDocument/2006/relationships/image" Target="../media/image16.png"/></Relationships>
</file>

<file path=ppt/slides/_rels/slide122.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3.svg"/><Relationship Id="rId7" Type="http://schemas.openxmlformats.org/officeDocument/2006/relationships/image" Target="../media/image177.svg"/><Relationship Id="rId2" Type="http://schemas.openxmlformats.org/officeDocument/2006/relationships/image" Target="../media/image172.png"/><Relationship Id="rId1" Type="http://schemas.openxmlformats.org/officeDocument/2006/relationships/slideLayout" Target="../slideLayouts/slideLayout7.xml"/><Relationship Id="rId6" Type="http://schemas.openxmlformats.org/officeDocument/2006/relationships/image" Target="../media/image176.png"/><Relationship Id="rId5" Type="http://schemas.openxmlformats.org/officeDocument/2006/relationships/image" Target="../media/image175.svg"/><Relationship Id="rId10" Type="http://schemas.openxmlformats.org/officeDocument/2006/relationships/image" Target="../media/image16.png"/><Relationship Id="rId4" Type="http://schemas.openxmlformats.org/officeDocument/2006/relationships/image" Target="../media/image174.png"/><Relationship Id="rId9" Type="http://schemas.openxmlformats.org/officeDocument/2006/relationships/image" Target="../media/image179.svg"/></Relationships>
</file>

<file path=ppt/slides/_rels/slide123.xml.rels><?xml version="1.0" encoding="UTF-8" standalone="yes"?>
<Relationships xmlns="http://schemas.openxmlformats.org/package/2006/relationships"><Relationship Id="rId3" Type="http://schemas.openxmlformats.org/officeDocument/2006/relationships/image" Target="../media/image181.svg"/><Relationship Id="rId2" Type="http://schemas.openxmlformats.org/officeDocument/2006/relationships/image" Target="../media/image180.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4.xml.rels><?xml version="1.0" encoding="UTF-8" standalone="yes"?>
<Relationships xmlns="http://schemas.openxmlformats.org/package/2006/relationships"><Relationship Id="rId3" Type="http://schemas.openxmlformats.org/officeDocument/2006/relationships/image" Target="../media/image185.svg"/><Relationship Id="rId7" Type="http://schemas.openxmlformats.org/officeDocument/2006/relationships/image" Target="../media/image16.png"/><Relationship Id="rId2" Type="http://schemas.openxmlformats.org/officeDocument/2006/relationships/image" Target="../media/image184.png"/><Relationship Id="rId1" Type="http://schemas.openxmlformats.org/officeDocument/2006/relationships/slideLayout" Target="../slideLayouts/slideLayout7.xml"/><Relationship Id="rId6" Type="http://schemas.openxmlformats.org/officeDocument/2006/relationships/image" Target="../media/image188.svg"/><Relationship Id="rId5" Type="http://schemas.openxmlformats.org/officeDocument/2006/relationships/image" Target="../media/image187.png"/><Relationship Id="rId4" Type="http://schemas.openxmlformats.org/officeDocument/2006/relationships/image" Target="../media/image186.jpeg"/></Relationships>
</file>

<file path=ppt/slides/_rels/slide125.xml.rels><?xml version="1.0" encoding="UTF-8" standalone="yes"?>
<Relationships xmlns="http://schemas.openxmlformats.org/package/2006/relationships"><Relationship Id="rId3" Type="http://schemas.openxmlformats.org/officeDocument/2006/relationships/image" Target="../media/image185.svg"/><Relationship Id="rId2" Type="http://schemas.openxmlformats.org/officeDocument/2006/relationships/image" Target="../media/image18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6.xml.rels><?xml version="1.0" encoding="UTF-8" standalone="yes"?>
<Relationships xmlns="http://schemas.openxmlformats.org/package/2006/relationships"><Relationship Id="rId3" Type="http://schemas.openxmlformats.org/officeDocument/2006/relationships/image" Target="../media/image185.svg"/><Relationship Id="rId2" Type="http://schemas.openxmlformats.org/officeDocument/2006/relationships/image" Target="../media/image18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7.xml.rels><?xml version="1.0" encoding="UTF-8" standalone="yes"?>
<Relationships xmlns="http://schemas.openxmlformats.org/package/2006/relationships"><Relationship Id="rId3" Type="http://schemas.openxmlformats.org/officeDocument/2006/relationships/image" Target="../media/image190.svg"/><Relationship Id="rId2" Type="http://schemas.openxmlformats.org/officeDocument/2006/relationships/image" Target="../media/image189.png"/><Relationship Id="rId1" Type="http://schemas.openxmlformats.org/officeDocument/2006/relationships/slideLayout" Target="../slideLayouts/slideLayout7.xml"/><Relationship Id="rId5" Type="http://schemas.openxmlformats.org/officeDocument/2006/relationships/hyperlink" Target="https://facebook.github.io/prophet/docs/quick_start.html#python-api" TargetMode="External"/><Relationship Id="rId4" Type="http://schemas.openxmlformats.org/officeDocument/2006/relationships/image" Target="../media/image16.png"/></Relationships>
</file>

<file path=ppt/slides/_rels/slide128.xml.rels><?xml version="1.0" encoding="UTF-8" standalone="yes"?>
<Relationships xmlns="http://schemas.openxmlformats.org/package/2006/relationships"><Relationship Id="rId3" Type="http://schemas.openxmlformats.org/officeDocument/2006/relationships/image" Target="../media/image192.svg"/><Relationship Id="rId2" Type="http://schemas.openxmlformats.org/officeDocument/2006/relationships/image" Target="../media/image191.png"/><Relationship Id="rId1" Type="http://schemas.openxmlformats.org/officeDocument/2006/relationships/slideLayout" Target="../slideLayouts/slideLayout7.xml"/><Relationship Id="rId6" Type="http://schemas.openxmlformats.org/officeDocument/2006/relationships/hyperlink" Target="https://colah.github.io/posts/2015-08-Understanding-LSTMs/" TargetMode="External"/><Relationship Id="rId5" Type="http://schemas.openxmlformats.org/officeDocument/2006/relationships/image" Target="../media/image16.png"/><Relationship Id="rId4" Type="http://schemas.openxmlformats.org/officeDocument/2006/relationships/image" Target="../media/image193.jpeg"/></Relationships>
</file>

<file path=ppt/slides/_rels/slide12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3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96.svg"/><Relationship Id="rId5" Type="http://schemas.openxmlformats.org/officeDocument/2006/relationships/image" Target="../media/image18.svg"/><Relationship Id="rId10" Type="http://schemas.openxmlformats.org/officeDocument/2006/relationships/image" Target="../media/image195.png"/><Relationship Id="rId4" Type="http://schemas.openxmlformats.org/officeDocument/2006/relationships/image" Target="../media/image17.png"/><Relationship Id="rId9" Type="http://schemas.openxmlformats.org/officeDocument/2006/relationships/image" Target="../media/image194.jpeg"/></Relationships>
</file>

<file path=ppt/slides/_rels/slide13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199.svg"/><Relationship Id="rId5" Type="http://schemas.openxmlformats.org/officeDocument/2006/relationships/image" Target="../media/image18.svg"/><Relationship Id="rId10" Type="http://schemas.openxmlformats.org/officeDocument/2006/relationships/image" Target="../media/image198.png"/><Relationship Id="rId4" Type="http://schemas.openxmlformats.org/officeDocument/2006/relationships/image" Target="../media/image17.png"/><Relationship Id="rId9" Type="http://schemas.openxmlformats.org/officeDocument/2006/relationships/image" Target="../media/image197.jpeg"/></Relationships>
</file>

<file path=ppt/slides/_rels/slide13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4.svg"/><Relationship Id="rId3" Type="http://schemas.openxmlformats.org/officeDocument/2006/relationships/image" Target="../media/image2.svg"/><Relationship Id="rId7" Type="http://schemas.openxmlformats.org/officeDocument/2006/relationships/image" Target="../media/image20.png"/><Relationship Id="rId12" Type="http://schemas.openxmlformats.org/officeDocument/2006/relationships/image" Target="../media/image203.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02.svg"/><Relationship Id="rId5" Type="http://schemas.openxmlformats.org/officeDocument/2006/relationships/image" Target="../media/image18.svg"/><Relationship Id="rId10" Type="http://schemas.openxmlformats.org/officeDocument/2006/relationships/image" Target="../media/image201.png"/><Relationship Id="rId4" Type="http://schemas.openxmlformats.org/officeDocument/2006/relationships/image" Target="../media/image17.png"/><Relationship Id="rId9" Type="http://schemas.openxmlformats.org/officeDocument/2006/relationships/image" Target="../media/image200.jpeg"/></Relationships>
</file>

<file path=ppt/slides/_rels/slide13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07.svg"/><Relationship Id="rId5" Type="http://schemas.openxmlformats.org/officeDocument/2006/relationships/image" Target="../media/image18.svg"/><Relationship Id="rId10" Type="http://schemas.openxmlformats.org/officeDocument/2006/relationships/image" Target="../media/image206.png"/><Relationship Id="rId4" Type="http://schemas.openxmlformats.org/officeDocument/2006/relationships/image" Target="../media/image17.png"/><Relationship Id="rId9" Type="http://schemas.openxmlformats.org/officeDocument/2006/relationships/image" Target="../media/image205.jpeg"/></Relationships>
</file>

<file path=ppt/slides/_rels/slide1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3.png"/><Relationship Id="rId9" Type="http://schemas.openxmlformats.org/officeDocument/2006/relationships/image" Target="../media/image16.png"/></Relationships>
</file>

<file path=ppt/slides/_rels/slide13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3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10.svg"/><Relationship Id="rId5" Type="http://schemas.openxmlformats.org/officeDocument/2006/relationships/image" Target="../media/image18.svg"/><Relationship Id="rId10" Type="http://schemas.openxmlformats.org/officeDocument/2006/relationships/image" Target="../media/image209.png"/><Relationship Id="rId4" Type="http://schemas.openxmlformats.org/officeDocument/2006/relationships/image" Target="../media/image17.png"/><Relationship Id="rId9" Type="http://schemas.openxmlformats.org/officeDocument/2006/relationships/image" Target="../media/image208.jpeg"/></Relationships>
</file>

<file path=ppt/slides/_rels/slide13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11.jpeg"/></Relationships>
</file>

<file path=ppt/slides/_rels/slide13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12.jpeg"/></Relationships>
</file>

<file path=ppt/slides/_rels/slide13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4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12.jpeg"/></Relationships>
</file>

<file path=ppt/slides/_rels/slide14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4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7397496" y="2715768"/>
            <a:ext cx="1746504" cy="1839468"/>
          </a:xfrm>
          <a:custGeom>
            <a:avLst/>
            <a:gdLst/>
            <a:ahLst/>
            <a:cxnLst/>
            <a:rect l="l" t="t" r="r" b="b"/>
            <a:pathLst>
              <a:path w="1746504" h="1839468">
                <a:moveTo>
                  <a:pt x="0" y="0"/>
                </a:moveTo>
                <a:lnTo>
                  <a:pt x="1746504" y="0"/>
                </a:lnTo>
                <a:lnTo>
                  <a:pt x="1746504" y="1839468"/>
                </a:lnTo>
                <a:lnTo>
                  <a:pt x="0" y="1839468"/>
                </a:lnTo>
                <a:lnTo>
                  <a:pt x="0" y="0"/>
                </a:lnTo>
                <a:close/>
              </a:path>
            </a:pathLst>
          </a:custGeom>
          <a:blipFill>
            <a:blip r:embed="rId7"/>
            <a:stretch>
              <a:fillRect/>
            </a:stretch>
          </a:blipFill>
        </p:spPr>
        <p:txBody>
          <a:bodyPr/>
          <a:lstStyle/>
          <a:p>
            <a:endParaRPr lang="en-IN"/>
          </a:p>
        </p:txBody>
      </p:sp>
      <p:sp>
        <p:nvSpPr>
          <p:cNvPr id="6" name="Freeform 6"/>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8" name="TextBox 8"/>
          <p:cNvSpPr txBox="1"/>
          <p:nvPr/>
        </p:nvSpPr>
        <p:spPr>
          <a:xfrm>
            <a:off x="3831593" y="4698644"/>
            <a:ext cx="1643977" cy="119776"/>
          </a:xfrm>
          <a:prstGeom prst="rect">
            <a:avLst/>
          </a:prstGeom>
        </p:spPr>
        <p:txBody>
          <a:bodyPr lIns="0" tIns="0" rIns="0" bIns="0" rtlCol="0" anchor="t">
            <a:spAutoFit/>
          </a:bodyPr>
          <a:lstStyle/>
          <a:p>
            <a:pPr algn="l">
              <a:lnSpc>
                <a:spcPts val="974"/>
              </a:lnSpc>
            </a:pPr>
            <a:r>
              <a:rPr lang="en-US" sz="696" spc="1" dirty="0">
                <a:solidFill>
                  <a:srgbClr val="7F7F7F"/>
                </a:solidFill>
                <a:ea typeface="Heading Now 11-18"/>
                <a:cs typeface="Heading Now 11-18"/>
                <a:sym typeface="Heading Now 11-18"/>
              </a:rPr>
              <a:t>Copyright © 2022 </a:t>
            </a:r>
            <a:r>
              <a:rPr lang="en-US" sz="696" spc="1" dirty="0" err="1">
                <a:solidFill>
                  <a:srgbClr val="7F7F7F"/>
                </a:solidFill>
                <a:ea typeface="Heading Now 11-18"/>
                <a:cs typeface="Heading Now 11-18"/>
                <a:sym typeface="Heading Now 11-18"/>
              </a:rPr>
              <a:t>TalentLabs</a:t>
            </a:r>
            <a:r>
              <a:rPr lang="en-US" sz="696" spc="1" dirty="0">
                <a:solidFill>
                  <a:srgbClr val="7F7F7F"/>
                </a:solidFill>
                <a:ea typeface="Heading Now 11-18"/>
                <a:cs typeface="Heading Now 11-18"/>
                <a:sym typeface="Heading Now 11-18"/>
              </a:rPr>
              <a:t> Limited</a:t>
            </a:r>
          </a:p>
        </p:txBody>
      </p:sp>
      <p:sp>
        <p:nvSpPr>
          <p:cNvPr id="9" name="TextBox 9"/>
          <p:cNvSpPr txBox="1"/>
          <p:nvPr/>
        </p:nvSpPr>
        <p:spPr>
          <a:xfrm>
            <a:off x="332537" y="4698873"/>
            <a:ext cx="27861" cy="109261"/>
          </a:xfrm>
          <a:prstGeom prst="rect">
            <a:avLst/>
          </a:prstGeom>
        </p:spPr>
        <p:txBody>
          <a:bodyPr lIns="0" tIns="0" rIns="0" bIns="0" rtlCol="0" anchor="t">
            <a:spAutoFit/>
          </a:bodyPr>
          <a:lstStyle/>
          <a:p>
            <a:pPr algn="l">
              <a:lnSpc>
                <a:spcPts val="940"/>
              </a:lnSpc>
            </a:pPr>
            <a:r>
              <a:rPr lang="en-US" sz="671" dirty="0">
                <a:solidFill>
                  <a:srgbClr val="FFFFFF"/>
                </a:solidFill>
                <a:ea typeface="Heading Now 11-18"/>
                <a:cs typeface="Heading Now 11-18"/>
                <a:sym typeface="Heading Now 11-18"/>
              </a:rPr>
              <a:t>1</a:t>
            </a:r>
          </a:p>
        </p:txBody>
      </p:sp>
      <p:sp>
        <p:nvSpPr>
          <p:cNvPr id="10" name="TextBox 10"/>
          <p:cNvSpPr txBox="1"/>
          <p:nvPr/>
        </p:nvSpPr>
        <p:spPr>
          <a:xfrm>
            <a:off x="1942843" y="2081108"/>
            <a:ext cx="4388425" cy="602857"/>
          </a:xfrm>
          <a:prstGeom prst="rect">
            <a:avLst/>
          </a:prstGeom>
        </p:spPr>
        <p:txBody>
          <a:bodyPr lIns="0" tIns="0" rIns="0" bIns="0" rtlCol="0" anchor="t">
            <a:spAutoFit/>
          </a:bodyPr>
          <a:lstStyle/>
          <a:p>
            <a:pPr algn="l">
              <a:lnSpc>
                <a:spcPts val="4971"/>
              </a:lnSpc>
            </a:pPr>
            <a:r>
              <a:rPr lang="en-US" sz="3602" b="1" dirty="0">
                <a:solidFill>
                  <a:srgbClr val="FFFFFF"/>
                </a:solidFill>
                <a:ea typeface="29LT Bukra Bold"/>
                <a:cs typeface="Arial" panose="020B0604020202020204" pitchFamily="34" charset="0"/>
                <a:sym typeface="29LT Bukra Bold"/>
              </a:rPr>
              <a:t>Machine Learning</a:t>
            </a:r>
          </a:p>
        </p:txBody>
      </p:sp>
      <p:sp>
        <p:nvSpPr>
          <p:cNvPr id="11" name="TextBox 11"/>
          <p:cNvSpPr txBox="1"/>
          <p:nvPr/>
        </p:nvSpPr>
        <p:spPr>
          <a:xfrm>
            <a:off x="4083987" y="2826896"/>
            <a:ext cx="542849" cy="602794"/>
          </a:xfrm>
          <a:prstGeom prst="rect">
            <a:avLst/>
          </a:prstGeom>
        </p:spPr>
        <p:txBody>
          <a:bodyPr lIns="0" tIns="0" rIns="0" bIns="0" rtlCol="0" anchor="t">
            <a:spAutoFit/>
          </a:bodyPr>
          <a:lstStyle/>
          <a:p>
            <a:pPr algn="l">
              <a:lnSpc>
                <a:spcPts val="4967"/>
              </a:lnSpc>
            </a:pPr>
            <a:r>
              <a:rPr lang="en-US" sz="3600" b="1">
                <a:solidFill>
                  <a:srgbClr val="FFFFFF"/>
                </a:solidFill>
                <a:ea typeface="IBM Plex Sans Bold"/>
                <a:cs typeface="IBM Plex Sans Bold"/>
                <a:sym typeface="IBM Plex Sans Bold"/>
              </a:rPr>
              <a:t> </a:t>
            </a:r>
            <a:r>
              <a:rPr lang="en-US" sz="3600">
                <a:solidFill>
                  <a:srgbClr val="FFFFFF"/>
                </a:solidFill>
                <a:ea typeface="IBM Plex Sans"/>
                <a:cs typeface="IBM Plex Sans"/>
                <a:sym typeface="IBM Plex Sans"/>
              </a:rPr>
              <a:t>→</a:t>
            </a:r>
          </a:p>
        </p:txBody>
      </p:sp>
      <p:sp>
        <p:nvSpPr>
          <p:cNvPr id="12" name="TextBox 12"/>
          <p:cNvSpPr txBox="1"/>
          <p:nvPr/>
        </p:nvSpPr>
        <p:spPr>
          <a:xfrm>
            <a:off x="1750438" y="2703071"/>
            <a:ext cx="2380221" cy="602794"/>
          </a:xfrm>
          <a:prstGeom prst="rect">
            <a:avLst/>
          </a:prstGeom>
        </p:spPr>
        <p:txBody>
          <a:bodyPr lIns="0" tIns="0" rIns="0" bIns="0" rtlCol="0" anchor="t">
            <a:spAutoFit/>
          </a:bodyPr>
          <a:lstStyle/>
          <a:p>
            <a:pPr algn="l">
              <a:lnSpc>
                <a:spcPts val="5040"/>
              </a:lnSpc>
            </a:pPr>
            <a:r>
              <a:rPr lang="en-US" sz="3600" b="1" spc="3" dirty="0">
                <a:solidFill>
                  <a:srgbClr val="FFFFFF"/>
                </a:solidFill>
                <a:ea typeface="29LT Bukra Bold"/>
                <a:cs typeface="Arial" panose="020B0604020202020204" pitchFamily="34" charset="0"/>
                <a:sym typeface="29LT Bukra Bold"/>
              </a:rPr>
              <a:t>BEGINNER</a:t>
            </a:r>
          </a:p>
        </p:txBody>
      </p:sp>
      <p:sp>
        <p:nvSpPr>
          <p:cNvPr id="13" name="TextBox 13"/>
          <p:cNvSpPr txBox="1"/>
          <p:nvPr/>
        </p:nvSpPr>
        <p:spPr>
          <a:xfrm>
            <a:off x="4693920" y="2703071"/>
            <a:ext cx="1777241" cy="602794"/>
          </a:xfrm>
          <a:prstGeom prst="rect">
            <a:avLst/>
          </a:prstGeom>
        </p:spPr>
        <p:txBody>
          <a:bodyPr lIns="0" tIns="0" rIns="0" bIns="0" rtlCol="0" anchor="t">
            <a:spAutoFit/>
          </a:bodyPr>
          <a:lstStyle/>
          <a:p>
            <a:pPr algn="l">
              <a:lnSpc>
                <a:spcPts val="5040"/>
              </a:lnSpc>
            </a:pPr>
            <a:r>
              <a:rPr lang="en-US" sz="3600" b="1" dirty="0">
                <a:solidFill>
                  <a:srgbClr val="FFFFFF"/>
                </a:solidFill>
                <a:ea typeface="29LT Bukra Bold"/>
                <a:cs typeface="Arial" panose="020B0604020202020204" pitchFamily="34" charset="0"/>
                <a:sym typeface="29LT Bukra Bold"/>
              </a:rPr>
              <a:t>EXPERT</a:t>
            </a:r>
          </a:p>
        </p:txBody>
      </p:sp>
      <p:sp>
        <p:nvSpPr>
          <p:cNvPr id="14" name="TextBox 14"/>
          <p:cNvSpPr txBox="1"/>
          <p:nvPr/>
        </p:nvSpPr>
        <p:spPr>
          <a:xfrm>
            <a:off x="7499347" y="4793875"/>
            <a:ext cx="1578264" cy="239937"/>
          </a:xfrm>
          <a:prstGeom prst="rect">
            <a:avLst/>
          </a:prstGeom>
        </p:spPr>
        <p:txBody>
          <a:bodyPr lIns="0" tIns="0" rIns="0" bIns="0" rtlCol="0" anchor="t">
            <a:spAutoFit/>
          </a:bodyPr>
          <a:lstStyle/>
          <a:p>
            <a:pPr algn="l">
              <a:lnSpc>
                <a:spcPts val="1968"/>
              </a:lnSpc>
            </a:pPr>
            <a:r>
              <a:rPr lang="en-US" sz="1406">
                <a:solidFill>
                  <a:srgbClr val="FFFFFF"/>
                </a:solidFill>
                <a:ea typeface="Arial"/>
                <a:cs typeface="Arial"/>
                <a:sym typeface="Arial"/>
              </a:rPr>
              <a:t>© zepanalytics.com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6390132" y="1752600"/>
            <a:ext cx="2753868" cy="2753868"/>
          </a:xfrm>
          <a:custGeom>
            <a:avLst/>
            <a:gdLst/>
            <a:ahLst/>
            <a:cxnLst/>
            <a:rect l="l" t="t" r="r" b="b"/>
            <a:pathLst>
              <a:path w="2753868" h="2753868">
                <a:moveTo>
                  <a:pt x="0" y="0"/>
                </a:moveTo>
                <a:lnTo>
                  <a:pt x="2753868" y="0"/>
                </a:lnTo>
                <a:lnTo>
                  <a:pt x="2753868" y="2753868"/>
                </a:lnTo>
                <a:lnTo>
                  <a:pt x="0" y="2753868"/>
                </a:lnTo>
                <a:lnTo>
                  <a:pt x="0" y="0"/>
                </a:lnTo>
                <a:close/>
              </a:path>
            </a:pathLst>
          </a:custGeom>
          <a:blipFill>
            <a:blip r:embed="rId7"/>
            <a:stretch>
              <a:fillRect/>
            </a:stretch>
          </a:blipFill>
        </p:spPr>
        <p:txBody>
          <a:bodyPr/>
          <a:lstStyle/>
          <a:p>
            <a:endParaRPr lang="en-IN"/>
          </a:p>
        </p:txBody>
      </p:sp>
      <p:sp>
        <p:nvSpPr>
          <p:cNvPr id="6" name="Freeform 6"/>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8" name="TextBox 8"/>
          <p:cNvSpPr txBox="1"/>
          <p:nvPr/>
        </p:nvSpPr>
        <p:spPr>
          <a:xfrm>
            <a:off x="321869" y="4698873"/>
            <a:ext cx="50054" cy="110415"/>
          </a:xfrm>
          <a:prstGeom prst="rect">
            <a:avLst/>
          </a:prstGeom>
        </p:spPr>
        <p:txBody>
          <a:bodyPr lIns="0" tIns="0" rIns="0" bIns="0" rtlCol="0" anchor="t">
            <a:spAutoFit/>
          </a:bodyPr>
          <a:lstStyle/>
          <a:p>
            <a:pPr algn="l">
              <a:lnSpc>
                <a:spcPts val="940"/>
              </a:lnSpc>
            </a:pPr>
            <a:r>
              <a:rPr lang="en-US" sz="671" dirty="0">
                <a:solidFill>
                  <a:srgbClr val="FFFFFF"/>
                </a:solidFill>
                <a:latin typeface="Aptos" panose="020B0004020202020204" pitchFamily="34" charset="0"/>
                <a:ea typeface="Heading Now 11-18"/>
                <a:cs typeface="Heading Now 11-18"/>
                <a:sym typeface="Heading Now 11-18"/>
              </a:rPr>
              <a:t>2</a:t>
            </a:r>
          </a:p>
        </p:txBody>
      </p:sp>
      <p:sp>
        <p:nvSpPr>
          <p:cNvPr id="9" name="TextBox 9"/>
          <p:cNvSpPr txBox="1"/>
          <p:nvPr/>
        </p:nvSpPr>
        <p:spPr>
          <a:xfrm>
            <a:off x="3793236" y="4698568"/>
            <a:ext cx="1588856" cy="110415"/>
          </a:xfrm>
          <a:prstGeom prst="rect">
            <a:avLst/>
          </a:prstGeom>
        </p:spPr>
        <p:txBody>
          <a:bodyPr lIns="0" tIns="0" rIns="0" bIns="0" rtlCol="0" anchor="t">
            <a:spAutoFit/>
          </a:bodyPr>
          <a:lstStyle/>
          <a:p>
            <a:pPr algn="l">
              <a:lnSpc>
                <a:spcPts val="940"/>
              </a:lnSpc>
            </a:pPr>
            <a:r>
              <a:rPr lang="en-US" sz="671" spc="1" dirty="0">
                <a:solidFill>
                  <a:srgbClr val="7F7F7F"/>
                </a:solidFill>
                <a:latin typeface="Aptos" panose="020B0004020202020204" pitchFamily="34" charset="0"/>
                <a:ea typeface="Heading Now 11-18"/>
                <a:cs typeface="Heading Now 11-18"/>
                <a:sym typeface="Heading Now 11-18"/>
              </a:rPr>
              <a:t>Copyright © 2022 </a:t>
            </a:r>
            <a:r>
              <a:rPr lang="en-US" sz="671" spc="1" dirty="0" err="1">
                <a:solidFill>
                  <a:srgbClr val="7F7F7F"/>
                </a:solidFill>
                <a:latin typeface="Aptos" panose="020B0004020202020204" pitchFamily="34" charset="0"/>
                <a:ea typeface="Heading Now 11-18"/>
                <a:cs typeface="Heading Now 11-18"/>
                <a:sym typeface="Heading Now 11-18"/>
              </a:rPr>
              <a:t>TalentLabs</a:t>
            </a:r>
            <a:r>
              <a:rPr lang="en-US" sz="671"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1122416" cy="340221"/>
          </a:xfrm>
          <a:prstGeom prst="rect">
            <a:avLst/>
          </a:prstGeom>
        </p:spPr>
        <p:txBody>
          <a:bodyPr lIns="0" tIns="0" rIns="0" bIns="0" rtlCol="0" anchor="t">
            <a:spAutoFit/>
          </a:bodyPr>
          <a:lstStyle/>
          <a:p>
            <a:pPr algn="l">
              <a:lnSpc>
                <a:spcPts val="2940"/>
              </a:lnSpc>
            </a:pPr>
            <a:r>
              <a:rPr lang="en-US" sz="2100" b="1" dirty="0">
                <a:solidFill>
                  <a:srgbClr val="FFFFFF"/>
                </a:solidFill>
                <a:latin typeface="Arial" panose="020B0604020202020204" pitchFamily="34" charset="0"/>
                <a:ea typeface="29LT Bukra Bold"/>
                <a:cs typeface="Arial" panose="020B0604020202020204" pitchFamily="34" charset="0"/>
                <a:sym typeface="29LT Bukra Bold"/>
              </a:rPr>
              <a:t>Agenda</a:t>
            </a:r>
          </a:p>
        </p:txBody>
      </p:sp>
      <p:sp>
        <p:nvSpPr>
          <p:cNvPr id="11" name="TextBox 11"/>
          <p:cNvSpPr txBox="1"/>
          <p:nvPr/>
        </p:nvSpPr>
        <p:spPr>
          <a:xfrm>
            <a:off x="459943" y="819350"/>
            <a:ext cx="164897" cy="3476016"/>
          </a:xfrm>
          <a:prstGeom prst="rect">
            <a:avLst/>
          </a:prstGeom>
        </p:spPr>
        <p:txBody>
          <a:bodyPr lIns="0" tIns="0" rIns="0" bIns="0" rtlCol="0" anchor="t">
            <a:spAutoFit/>
          </a:bodyPr>
          <a:lstStyle/>
          <a:p>
            <a:pPr algn="just">
              <a:lnSpc>
                <a:spcPts val="1583"/>
              </a:lnSpc>
            </a:pPr>
            <a:r>
              <a:rPr lang="en-US" sz="1103" dirty="0">
                <a:solidFill>
                  <a:srgbClr val="FFFFFF"/>
                </a:solidFill>
                <a:latin typeface="Aptos" panose="020B0004020202020204" pitchFamily="34" charset="0"/>
                <a:ea typeface="Heading Now 11-18"/>
                <a:cs typeface="Heading Now 11-18"/>
                <a:sym typeface="Heading Now 11-18"/>
              </a:rPr>
              <a:t>1. 2. 3. 4. 5. 6. 7. 8. 9. 10. 11. 12. 13.</a:t>
            </a:r>
          </a:p>
        </p:txBody>
      </p:sp>
      <p:sp>
        <p:nvSpPr>
          <p:cNvPr id="12" name="TextBox 12"/>
          <p:cNvSpPr txBox="1"/>
          <p:nvPr/>
        </p:nvSpPr>
        <p:spPr>
          <a:xfrm>
            <a:off x="758647" y="819351"/>
            <a:ext cx="7089953" cy="603435"/>
          </a:xfrm>
          <a:prstGeom prst="rect">
            <a:avLst/>
          </a:prstGeom>
        </p:spPr>
        <p:txBody>
          <a:bodyPr wrap="square" lIns="0" tIns="0" rIns="0" bIns="0" rtlCol="0" anchor="t">
            <a:spAutoFit/>
          </a:bodyPr>
          <a:lstStyle/>
          <a:p>
            <a:pPr algn="just">
              <a:lnSpc>
                <a:spcPts val="1583"/>
              </a:lnSpc>
            </a:pPr>
            <a:r>
              <a:rPr lang="en-US" sz="1103" dirty="0">
                <a:solidFill>
                  <a:srgbClr val="FFFFFF"/>
                </a:solidFill>
                <a:latin typeface="Aptos" panose="020B0004020202020204" pitchFamily="34" charset="0"/>
                <a:ea typeface="Heading Now 11-18"/>
                <a:cs typeface="Heading Now 11-18"/>
                <a:sym typeface="Heading Now 11-18"/>
              </a:rPr>
              <a:t>Introduction Use Cases Types of Learning Essential Libraries Feature Scaling Regression Algo’s Classification Algo’s Clustering Algo’s Association Rule Learning Ensemble Techniques Time Series Analysis Dimensionality Reduction -Feature Engineering Hyperparameter Optimization</a:t>
            </a:r>
          </a:p>
        </p:txBody>
      </p:sp>
      <p:sp>
        <p:nvSpPr>
          <p:cNvPr id="13" name="TextBox 13"/>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21259" y="4698949"/>
            <a:ext cx="53102"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2058753"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Introduction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817613" y="1413205"/>
            <a:ext cx="2925061" cy="3117142"/>
          </a:xfrm>
          <a:custGeom>
            <a:avLst/>
            <a:gdLst/>
            <a:ahLst/>
            <a:cxnLst/>
            <a:rect l="l" t="t" r="r" b="b"/>
            <a:pathLst>
              <a:path w="2925061" h="3117142">
                <a:moveTo>
                  <a:pt x="0" y="0"/>
                </a:moveTo>
                <a:lnTo>
                  <a:pt x="2925061" y="0"/>
                </a:lnTo>
                <a:lnTo>
                  <a:pt x="2925061" y="3117142"/>
                </a:lnTo>
                <a:lnTo>
                  <a:pt x="0" y="311714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Freeform 8"/>
          <p:cNvSpPr/>
          <p:nvPr/>
        </p:nvSpPr>
        <p:spPr>
          <a:xfrm>
            <a:off x="856488" y="2385060"/>
            <a:ext cx="3890772" cy="2188464"/>
          </a:xfrm>
          <a:custGeom>
            <a:avLst/>
            <a:gdLst/>
            <a:ahLst/>
            <a:cxnLst/>
            <a:rect l="l" t="t" r="r" b="b"/>
            <a:pathLst>
              <a:path w="3890772" h="2188464">
                <a:moveTo>
                  <a:pt x="0" y="0"/>
                </a:moveTo>
                <a:lnTo>
                  <a:pt x="3890772" y="0"/>
                </a:lnTo>
                <a:lnTo>
                  <a:pt x="3890772" y="2188464"/>
                </a:lnTo>
                <a:lnTo>
                  <a:pt x="0" y="2188464"/>
                </a:lnTo>
                <a:lnTo>
                  <a:pt x="0" y="0"/>
                </a:lnTo>
                <a:close/>
              </a:path>
            </a:pathLst>
          </a:custGeom>
          <a:blipFill>
            <a:blip r:embed="rId11"/>
            <a:stretch>
              <a:fillRect/>
            </a:stretch>
          </a:blipFill>
        </p:spPr>
        <p:txBody>
          <a:bodyPr/>
          <a:lstStyle/>
          <a:p>
            <a:endParaRPr lang="en-IN"/>
          </a:p>
        </p:txBody>
      </p:sp>
      <p:sp>
        <p:nvSpPr>
          <p:cNvPr id="9" name="TextBox 9"/>
          <p:cNvSpPr txBox="1"/>
          <p:nvPr/>
        </p:nvSpPr>
        <p:spPr>
          <a:xfrm>
            <a:off x="319735" y="4698949"/>
            <a:ext cx="56712"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180304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Introduction</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05384" y="1483814"/>
            <a:ext cx="77934" cy="446808"/>
          </a:xfrm>
          <a:prstGeom prst="rect">
            <a:avLst/>
          </a:prstGeom>
        </p:spPr>
        <p:txBody>
          <a:bodyPr lIns="0" tIns="0" rIns="0" bIns="0" rtlCol="0" anchor="t">
            <a:spAutoFit/>
          </a:bodyPr>
          <a:lstStyle/>
          <a:p>
            <a:pPr algn="just">
              <a:lnSpc>
                <a:spcPts val="1896"/>
              </a:lnSpc>
            </a:pPr>
            <a:r>
              <a:rPr lang="en-US" sz="996" spc="179">
                <a:solidFill>
                  <a:srgbClr val="000000"/>
                </a:solidFill>
                <a:latin typeface="IBM Plex Sans"/>
                <a:ea typeface="IBM Plex Sans"/>
                <a:cs typeface="IBM Plex Sans"/>
                <a:sym typeface="IBM Plex Sans"/>
              </a:rPr>
              <a:t>● ●</a:t>
            </a:r>
          </a:p>
        </p:txBody>
      </p:sp>
      <p:sp>
        <p:nvSpPr>
          <p:cNvPr id="14" name="TextBox 14"/>
          <p:cNvSpPr txBox="1"/>
          <p:nvPr/>
        </p:nvSpPr>
        <p:spPr>
          <a:xfrm>
            <a:off x="697992" y="1449057"/>
            <a:ext cx="4787227" cy="461793"/>
          </a:xfrm>
          <a:prstGeom prst="rect">
            <a:avLst/>
          </a:prstGeom>
        </p:spPr>
        <p:txBody>
          <a:bodyPr lIns="0" tIns="0" rIns="0" bIns="0" rtlCol="0" anchor="t">
            <a:spAutoFit/>
          </a:bodyPr>
          <a:lstStyle/>
          <a:p>
            <a:pPr algn="l">
              <a:lnSpc>
                <a:spcPts val="1897"/>
              </a:lnSpc>
            </a:pPr>
            <a:r>
              <a:rPr lang="en-US" sz="996" spc="0" dirty="0">
                <a:solidFill>
                  <a:srgbClr val="000000"/>
                </a:solidFill>
                <a:latin typeface="Aptos" panose="020B0004020202020204" pitchFamily="34" charset="0"/>
                <a:ea typeface="Heading Now 11-18"/>
                <a:cs typeface="Heading Now 11-18"/>
                <a:sym typeface="Heading Now 11-18"/>
              </a:rPr>
              <a:t>ML is a subset of AI. Name derived from the concept that it deals with “construction &amp; study of systems that can learn from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98704" y="839724"/>
            <a:ext cx="8546592" cy="3750564"/>
          </a:xfrm>
          <a:custGeom>
            <a:avLst/>
            <a:gdLst/>
            <a:ahLst/>
            <a:cxnLst/>
            <a:rect l="l" t="t" r="r" b="b"/>
            <a:pathLst>
              <a:path w="8546592" h="3750564">
                <a:moveTo>
                  <a:pt x="0" y="0"/>
                </a:moveTo>
                <a:lnTo>
                  <a:pt x="8546592" y="0"/>
                </a:lnTo>
                <a:lnTo>
                  <a:pt x="8546592" y="3750564"/>
                </a:lnTo>
                <a:lnTo>
                  <a:pt x="0" y="3750564"/>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19735" y="4698949"/>
            <a:ext cx="56617"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5442861"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Biggest Confusion: AI vs ML vs DS vs DL</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02692" y="879348"/>
            <a:ext cx="5285232" cy="3736848"/>
          </a:xfrm>
          <a:custGeom>
            <a:avLst/>
            <a:gdLst/>
            <a:ahLst/>
            <a:cxnLst/>
            <a:rect l="l" t="t" r="r" b="b"/>
            <a:pathLst>
              <a:path w="5285232" h="3736848">
                <a:moveTo>
                  <a:pt x="0" y="0"/>
                </a:moveTo>
                <a:lnTo>
                  <a:pt x="5285232" y="0"/>
                </a:lnTo>
                <a:lnTo>
                  <a:pt x="5285232" y="3736848"/>
                </a:lnTo>
                <a:lnTo>
                  <a:pt x="0" y="373684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18211" y="4645304"/>
            <a:ext cx="57255"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83486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What is Machine Learning?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5801230" y="1269568"/>
            <a:ext cx="77934" cy="158391"/>
          </a:xfrm>
          <a:prstGeom prst="rect">
            <a:avLst/>
          </a:prstGeom>
        </p:spPr>
        <p:txBody>
          <a:bodyPr lIns="0" tIns="0" rIns="0" bIns="0" rtlCol="0" anchor="t">
            <a:spAutoFit/>
          </a:bodyPr>
          <a:lstStyle/>
          <a:p>
            <a:pPr algn="l">
              <a:lnSpc>
                <a:spcPts val="1394"/>
              </a:lnSpc>
            </a:pPr>
            <a:r>
              <a:rPr lang="en-US" sz="996" spc="179">
                <a:solidFill>
                  <a:srgbClr val="000000"/>
                </a:solidFill>
                <a:latin typeface="IBM Plex Sans"/>
                <a:ea typeface="IBM Plex Sans"/>
                <a:cs typeface="IBM Plex Sans"/>
                <a:sym typeface="IBM Plex Sans"/>
              </a:rPr>
              <a:t>●</a:t>
            </a:r>
          </a:p>
        </p:txBody>
      </p:sp>
      <p:sp>
        <p:nvSpPr>
          <p:cNvPr id="13" name="TextBox 13"/>
          <p:cNvSpPr txBox="1"/>
          <p:nvPr/>
        </p:nvSpPr>
        <p:spPr>
          <a:xfrm>
            <a:off x="5801230" y="2031568"/>
            <a:ext cx="77934" cy="158391"/>
          </a:xfrm>
          <a:prstGeom prst="rect">
            <a:avLst/>
          </a:prstGeom>
        </p:spPr>
        <p:txBody>
          <a:bodyPr lIns="0" tIns="0" rIns="0" bIns="0" rtlCol="0" anchor="t">
            <a:spAutoFit/>
          </a:bodyPr>
          <a:lstStyle/>
          <a:p>
            <a:pPr algn="l">
              <a:lnSpc>
                <a:spcPts val="1394"/>
              </a:lnSpc>
            </a:pPr>
            <a:r>
              <a:rPr lang="en-US" sz="996" spc="179">
                <a:solidFill>
                  <a:srgbClr val="000000"/>
                </a:solidFill>
                <a:latin typeface="IBM Plex Sans"/>
                <a:ea typeface="IBM Plex Sans"/>
                <a:cs typeface="IBM Plex Sans"/>
                <a:sym typeface="IBM Plex Sans"/>
              </a:rPr>
              <a:t>●</a:t>
            </a:r>
          </a:p>
        </p:txBody>
      </p:sp>
      <p:sp>
        <p:nvSpPr>
          <p:cNvPr id="14" name="TextBox 14"/>
          <p:cNvSpPr txBox="1"/>
          <p:nvPr/>
        </p:nvSpPr>
        <p:spPr>
          <a:xfrm>
            <a:off x="6093838" y="1244336"/>
            <a:ext cx="2683650" cy="920252"/>
          </a:xfrm>
          <a:prstGeom prst="rect">
            <a:avLst/>
          </a:prstGeom>
        </p:spPr>
        <p:txBody>
          <a:bodyPr lIns="0" tIns="0" rIns="0" bIns="0" rtlCol="0" anchor="t">
            <a:spAutoFit/>
          </a:bodyPr>
          <a:lstStyle/>
          <a:p>
            <a:pPr algn="l">
              <a:lnSpc>
                <a:spcPts val="1200"/>
              </a:lnSpc>
            </a:pPr>
            <a:r>
              <a:rPr lang="en-US" sz="996" dirty="0">
                <a:solidFill>
                  <a:srgbClr val="000000"/>
                </a:solidFill>
                <a:latin typeface="Aptos" panose="020B0004020202020204" pitchFamily="34" charset="0"/>
                <a:ea typeface="Heading Now 11-18"/>
                <a:cs typeface="Heading Now 11-18"/>
                <a:sym typeface="Heading Now 11-18"/>
              </a:rPr>
              <a:t>Machine learning is a type of artificial intelligence (AI) that provides computers with the ability to learn without being explicitly programmed. Machine learning focuses on the development of computer programs that can teach themselves to grow and change when exposed to new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880097" y="1187653"/>
            <a:ext cx="2923537" cy="3117132"/>
          </a:xfrm>
          <a:custGeom>
            <a:avLst/>
            <a:gdLst/>
            <a:ahLst/>
            <a:cxnLst/>
            <a:rect l="l" t="t" r="r" b="b"/>
            <a:pathLst>
              <a:path w="2923537" h="3117132">
                <a:moveTo>
                  <a:pt x="0" y="0"/>
                </a:moveTo>
                <a:lnTo>
                  <a:pt x="2923537" y="0"/>
                </a:lnTo>
                <a:lnTo>
                  <a:pt x="2923537" y="3117133"/>
                </a:lnTo>
                <a:lnTo>
                  <a:pt x="0" y="31171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322783" y="4698949"/>
            <a:ext cx="49225"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7</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307019"/>
            <a:ext cx="4639808" cy="186333"/>
          </a:xfrm>
          <a:prstGeom prst="rect">
            <a:avLst/>
          </a:prstGeom>
        </p:spPr>
        <p:txBody>
          <a:bodyPr lIns="0" tIns="0" rIns="0" bIns="0" rtlCol="0" anchor="t">
            <a:spAutoFit/>
          </a:bodyPr>
          <a:lstStyle/>
          <a:p>
            <a:pPr algn="l">
              <a:lnSpc>
                <a:spcPts val="1262"/>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Why we need Machine Learning?</a:t>
            </a:r>
          </a:p>
        </p:txBody>
      </p:sp>
      <p:sp>
        <p:nvSpPr>
          <p:cNvPr id="11" name="TextBox 11"/>
          <p:cNvSpPr txBox="1"/>
          <p:nvPr/>
        </p:nvSpPr>
        <p:spPr>
          <a:xfrm>
            <a:off x="1254519" y="845429"/>
            <a:ext cx="34452" cy="275845"/>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 </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52933" y="845429"/>
            <a:ext cx="53159" cy="1825247"/>
          </a:xfrm>
          <a:prstGeom prst="rect">
            <a:avLst/>
          </a:prstGeom>
        </p:spPr>
        <p:txBody>
          <a:bodyPr lIns="0" tIns="0" rIns="0" bIns="0" rtlCol="0" anchor="t">
            <a:spAutoFit/>
          </a:bodyPr>
          <a:lstStyle/>
          <a:p>
            <a:pPr algn="just">
              <a:lnSpc>
                <a:spcPts val="2400"/>
              </a:lnSpc>
            </a:pPr>
            <a:r>
              <a:rPr lang="en-US" sz="996" dirty="0">
                <a:solidFill>
                  <a:srgbClr val="000000"/>
                </a:solidFill>
                <a:latin typeface="Aptos" panose="020B0004020202020204" pitchFamily="34" charset="0"/>
                <a:ea typeface="Heading Now 11-18"/>
                <a:cs typeface="Heading Now 11-18"/>
                <a:sym typeface="Heading Now 11-18"/>
              </a:rPr>
              <a:t>• • • • • •</a:t>
            </a:r>
          </a:p>
        </p:txBody>
      </p:sp>
      <p:sp>
        <p:nvSpPr>
          <p:cNvPr id="14" name="TextBox 14"/>
          <p:cNvSpPr txBox="1"/>
          <p:nvPr/>
        </p:nvSpPr>
        <p:spPr>
          <a:xfrm>
            <a:off x="769925" y="845429"/>
            <a:ext cx="2982601" cy="266227"/>
          </a:xfrm>
          <a:prstGeom prst="rect">
            <a:avLst/>
          </a:prstGeom>
        </p:spPr>
        <p:txBody>
          <a:bodyPr lIns="0" tIns="0" rIns="0" bIns="0" rtlCol="0" anchor="t">
            <a:spAutoFit/>
          </a:bodyPr>
          <a:lstStyle/>
          <a:p>
            <a:pPr algn="l">
              <a:lnSpc>
                <a:spcPts val="2400"/>
              </a:lnSpc>
            </a:pPr>
            <a:r>
              <a:rPr lang="en-US" sz="996" dirty="0" err="1">
                <a:solidFill>
                  <a:srgbClr val="000000"/>
                </a:solidFill>
                <a:latin typeface="Aptos" panose="020B0004020202020204" pitchFamily="34" charset="0"/>
                <a:ea typeface="Heading Now 11-18"/>
                <a:cs typeface="Heading Now 11-18"/>
                <a:sym typeface="Heading Now 11-18"/>
              </a:rPr>
              <a:t>Volumeofdata</a:t>
            </a:r>
            <a:r>
              <a:rPr lang="en-US" sz="996" dirty="0">
                <a:solidFill>
                  <a:srgbClr val="000000"/>
                </a:solidFill>
                <a:latin typeface="Aptos" panose="020B0004020202020204" pitchFamily="34" charset="0"/>
                <a:ea typeface="Heading Now 11-18"/>
                <a:cs typeface="Heading Now 11-18"/>
                <a:sym typeface="Heading Now 11-18"/>
              </a:rPr>
              <a:t> collected growing </a:t>
            </a:r>
            <a:r>
              <a:rPr lang="en-US" sz="996" dirty="0" err="1">
                <a:solidFill>
                  <a:srgbClr val="000000"/>
                </a:solidFill>
                <a:latin typeface="Aptos" panose="020B0004020202020204" pitchFamily="34" charset="0"/>
                <a:ea typeface="Heading Now 11-18"/>
                <a:cs typeface="Heading Now 11-18"/>
                <a:sym typeface="Heading Now 11-18"/>
              </a:rPr>
              <a:t>dayby</a:t>
            </a:r>
            <a:r>
              <a:rPr lang="en-US" sz="996" dirty="0">
                <a:solidFill>
                  <a:srgbClr val="000000"/>
                </a:solidFill>
                <a:latin typeface="Aptos" panose="020B0004020202020204" pitchFamily="34" charset="0"/>
                <a:ea typeface="Heading Now 11-18"/>
                <a:cs typeface="Heading Now 11-18"/>
                <a:sym typeface="Heading Now 11-18"/>
              </a:rPr>
              <a:t> day.</a:t>
            </a:r>
          </a:p>
        </p:txBody>
      </p:sp>
      <p:sp>
        <p:nvSpPr>
          <p:cNvPr id="15" name="TextBox 15"/>
          <p:cNvSpPr txBox="1"/>
          <p:nvPr/>
        </p:nvSpPr>
        <p:spPr>
          <a:xfrm>
            <a:off x="769925" y="1150229"/>
            <a:ext cx="4651362" cy="1310102"/>
          </a:xfrm>
          <a:prstGeom prst="rect">
            <a:avLst/>
          </a:prstGeom>
        </p:spPr>
        <p:txBody>
          <a:bodyPr lIns="0" tIns="0" rIns="0" bIns="0" rtlCol="0" anchor="t">
            <a:spAutoFit/>
          </a:bodyPr>
          <a:lstStyle/>
          <a:p>
            <a:pPr algn="l">
              <a:lnSpc>
                <a:spcPts val="2400"/>
              </a:lnSpc>
            </a:pPr>
            <a:r>
              <a:rPr lang="en-US" sz="996" spc="0" dirty="0">
                <a:solidFill>
                  <a:srgbClr val="000000"/>
                </a:solidFill>
                <a:latin typeface="Aptos" panose="020B0004020202020204" pitchFamily="34" charset="0"/>
                <a:ea typeface="Heading Now 11-18"/>
                <a:cs typeface="Heading Now 11-18"/>
                <a:sym typeface="Heading Now 11-18"/>
              </a:rPr>
              <a:t>Data production is 5000% greater in 2021 than in 2010. Every day, 2.5 quintillion bytes of data are created Data is </a:t>
            </a:r>
            <a:r>
              <a:rPr lang="en-US" sz="996" spc="0" dirty="0" err="1">
                <a:solidFill>
                  <a:srgbClr val="000000"/>
                </a:solidFill>
                <a:latin typeface="Aptos" panose="020B0004020202020204" pitchFamily="34" charset="0"/>
                <a:ea typeface="Heading Now 11-18"/>
                <a:cs typeface="Heading Now 11-18"/>
                <a:sym typeface="Heading Now 11-18"/>
              </a:rPr>
              <a:t>nearlydoubling</a:t>
            </a:r>
            <a:r>
              <a:rPr lang="en-US" sz="996" spc="0" dirty="0">
                <a:solidFill>
                  <a:srgbClr val="000000"/>
                </a:solidFill>
                <a:latin typeface="Aptos" panose="020B0004020202020204" pitchFamily="34" charset="0"/>
                <a:ea typeface="Heading Now 11-18"/>
                <a:cs typeface="Heading Now 11-18"/>
                <a:sym typeface="Heading Now 11-18"/>
              </a:rPr>
              <a:t> in size every two years. Knowledge Discovery is needed to make sense and use of data. Machine Learning is a technique in which computers learn from data to </a:t>
            </a:r>
          </a:p>
          <a:p>
            <a:pPr algn="l">
              <a:lnSpc>
                <a:spcPts val="498"/>
              </a:lnSpc>
            </a:pPr>
            <a:r>
              <a:rPr lang="en-US" sz="996" spc="0" dirty="0">
                <a:solidFill>
                  <a:srgbClr val="000000"/>
                </a:solidFill>
                <a:latin typeface="Aptos" panose="020B0004020202020204" pitchFamily="34" charset="0"/>
                <a:ea typeface="Heading Now 11-18"/>
                <a:cs typeface="Heading Now 11-18"/>
                <a:sym typeface="Heading Now 11-18"/>
              </a:rPr>
              <a:t>obtain insight and help in knowledge discovery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1091184" y="641604"/>
            <a:ext cx="6361176" cy="4308348"/>
          </a:xfrm>
          <a:custGeom>
            <a:avLst/>
            <a:gdLst/>
            <a:ahLst/>
            <a:cxnLst/>
            <a:rect l="l" t="t" r="r" b="b"/>
            <a:pathLst>
              <a:path w="6361176" h="4308348">
                <a:moveTo>
                  <a:pt x="0" y="0"/>
                </a:moveTo>
                <a:lnTo>
                  <a:pt x="6361176" y="0"/>
                </a:lnTo>
                <a:lnTo>
                  <a:pt x="6361176" y="4308348"/>
                </a:lnTo>
                <a:lnTo>
                  <a:pt x="0" y="430834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18211" y="4645304"/>
            <a:ext cx="56893"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8</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50217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Types of Learning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18211" y="4698949"/>
            <a:ext cx="56798"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9</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1645882"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Use Cases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63296" y="1252728"/>
            <a:ext cx="2842260" cy="554736"/>
          </a:xfrm>
          <a:custGeom>
            <a:avLst/>
            <a:gdLst/>
            <a:ahLst/>
            <a:cxnLst/>
            <a:rect l="l" t="t" r="r" b="b"/>
            <a:pathLst>
              <a:path w="2842260" h="554736">
                <a:moveTo>
                  <a:pt x="0" y="0"/>
                </a:moveTo>
                <a:lnTo>
                  <a:pt x="2842260" y="0"/>
                </a:lnTo>
                <a:lnTo>
                  <a:pt x="2842260" y="554736"/>
                </a:lnTo>
                <a:lnTo>
                  <a:pt x="0" y="554736"/>
                </a:lnTo>
                <a:lnTo>
                  <a:pt x="0" y="0"/>
                </a:lnTo>
                <a:close/>
              </a:path>
            </a:pathLst>
          </a:custGeom>
          <a:blipFill>
            <a:blip r:embed="rId9"/>
            <a:stretch>
              <a:fillRect/>
            </a:stretch>
          </a:blipFill>
        </p:spPr>
        <p:txBody>
          <a:bodyPr/>
          <a:lstStyle/>
          <a:p>
            <a:endParaRPr lang="en-IN"/>
          </a:p>
        </p:txBody>
      </p:sp>
      <p:sp>
        <p:nvSpPr>
          <p:cNvPr id="8" name="Freeform 8"/>
          <p:cNvSpPr/>
          <p:nvPr/>
        </p:nvSpPr>
        <p:spPr>
          <a:xfrm>
            <a:off x="3069336" y="1955292"/>
            <a:ext cx="1813560" cy="490728"/>
          </a:xfrm>
          <a:custGeom>
            <a:avLst/>
            <a:gdLst/>
            <a:ahLst/>
            <a:cxnLst/>
            <a:rect l="l" t="t" r="r" b="b"/>
            <a:pathLst>
              <a:path w="1813560" h="490728">
                <a:moveTo>
                  <a:pt x="0" y="0"/>
                </a:moveTo>
                <a:lnTo>
                  <a:pt x="1813560" y="0"/>
                </a:lnTo>
                <a:lnTo>
                  <a:pt x="1813560" y="490728"/>
                </a:lnTo>
                <a:lnTo>
                  <a:pt x="0" y="490728"/>
                </a:lnTo>
                <a:lnTo>
                  <a:pt x="0" y="0"/>
                </a:lnTo>
                <a:close/>
              </a:path>
            </a:pathLst>
          </a:custGeom>
          <a:blipFill>
            <a:blip r:embed="rId10"/>
            <a:stretch>
              <a:fillRect/>
            </a:stretch>
          </a:blipFill>
        </p:spPr>
        <p:txBody>
          <a:bodyPr/>
          <a:lstStyle/>
          <a:p>
            <a:endParaRPr lang="en-IN"/>
          </a:p>
        </p:txBody>
      </p:sp>
      <p:sp>
        <p:nvSpPr>
          <p:cNvPr id="9" name="Freeform 9"/>
          <p:cNvSpPr/>
          <p:nvPr/>
        </p:nvSpPr>
        <p:spPr>
          <a:xfrm>
            <a:off x="4471416" y="2660904"/>
            <a:ext cx="2237232" cy="2014728"/>
          </a:xfrm>
          <a:custGeom>
            <a:avLst/>
            <a:gdLst/>
            <a:ahLst/>
            <a:cxnLst/>
            <a:rect l="l" t="t" r="r" b="b"/>
            <a:pathLst>
              <a:path w="2237232" h="2014728">
                <a:moveTo>
                  <a:pt x="0" y="0"/>
                </a:moveTo>
                <a:lnTo>
                  <a:pt x="2237232" y="0"/>
                </a:lnTo>
                <a:lnTo>
                  <a:pt x="2237232" y="2014728"/>
                </a:lnTo>
                <a:lnTo>
                  <a:pt x="0" y="2014728"/>
                </a:lnTo>
                <a:lnTo>
                  <a:pt x="0" y="0"/>
                </a:lnTo>
                <a:close/>
              </a:path>
            </a:pathLst>
          </a:custGeom>
          <a:blipFill>
            <a:blip r:embed="rId11"/>
            <a:stretch>
              <a:fillRect/>
            </a:stretch>
          </a:blipFill>
        </p:spPr>
        <p:txBody>
          <a:bodyPr/>
          <a:lstStyle/>
          <a:p>
            <a:endParaRPr lang="en-IN"/>
          </a:p>
        </p:txBody>
      </p:sp>
      <p:sp>
        <p:nvSpPr>
          <p:cNvPr id="10" name="Freeform 10"/>
          <p:cNvSpPr/>
          <p:nvPr/>
        </p:nvSpPr>
        <p:spPr>
          <a:xfrm>
            <a:off x="463296" y="2817876"/>
            <a:ext cx="1700784" cy="1700784"/>
          </a:xfrm>
          <a:custGeom>
            <a:avLst/>
            <a:gdLst/>
            <a:ahLst/>
            <a:cxnLst/>
            <a:rect l="l" t="t" r="r" b="b"/>
            <a:pathLst>
              <a:path w="1700784" h="1700784">
                <a:moveTo>
                  <a:pt x="0" y="0"/>
                </a:moveTo>
                <a:lnTo>
                  <a:pt x="1700784" y="0"/>
                </a:lnTo>
                <a:lnTo>
                  <a:pt x="1700784" y="1700784"/>
                </a:lnTo>
                <a:lnTo>
                  <a:pt x="0" y="1700784"/>
                </a:lnTo>
                <a:lnTo>
                  <a:pt x="0" y="0"/>
                </a:lnTo>
                <a:close/>
              </a:path>
            </a:pathLst>
          </a:custGeom>
          <a:blipFill>
            <a:blip r:embed="rId12"/>
            <a:stretch>
              <a:fillRect/>
            </a:stretch>
          </a:blipFill>
        </p:spPr>
        <p:txBody>
          <a:bodyPr/>
          <a:lstStyle/>
          <a:p>
            <a:endParaRPr lang="en-IN"/>
          </a:p>
        </p:txBody>
      </p:sp>
      <p:sp>
        <p:nvSpPr>
          <p:cNvPr id="11" name="Freeform 11"/>
          <p:cNvSpPr/>
          <p:nvPr/>
        </p:nvSpPr>
        <p:spPr>
          <a:xfrm>
            <a:off x="3069336" y="2766060"/>
            <a:ext cx="3479292" cy="1804416"/>
          </a:xfrm>
          <a:custGeom>
            <a:avLst/>
            <a:gdLst/>
            <a:ahLst/>
            <a:cxnLst/>
            <a:rect l="l" t="t" r="r" b="b"/>
            <a:pathLst>
              <a:path w="3479292" h="1804416">
                <a:moveTo>
                  <a:pt x="0" y="0"/>
                </a:moveTo>
                <a:lnTo>
                  <a:pt x="3479292" y="0"/>
                </a:lnTo>
                <a:lnTo>
                  <a:pt x="3479292" y="1804416"/>
                </a:lnTo>
                <a:lnTo>
                  <a:pt x="0" y="1804416"/>
                </a:lnTo>
                <a:lnTo>
                  <a:pt x="0" y="0"/>
                </a:lnTo>
                <a:close/>
              </a:path>
            </a:pathLst>
          </a:custGeom>
          <a:blipFill>
            <a:blip r:embed="rId13"/>
            <a:stretch>
              <a:fillRect/>
            </a:stretch>
          </a:blipFill>
        </p:spPr>
        <p:txBody>
          <a:bodyPr/>
          <a:lstStyle/>
          <a:p>
            <a:endParaRPr lang="en-IN"/>
          </a:p>
        </p:txBody>
      </p:sp>
      <p:grpSp>
        <p:nvGrpSpPr>
          <p:cNvPr id="12" name="Group 12"/>
          <p:cNvGrpSpPr>
            <a:grpSpLocks noChangeAspect="1"/>
          </p:cNvGrpSpPr>
          <p:nvPr/>
        </p:nvGrpSpPr>
        <p:grpSpPr>
          <a:xfrm>
            <a:off x="6300216" y="917448"/>
            <a:ext cx="2532888" cy="1900428"/>
            <a:chOff x="0" y="0"/>
            <a:chExt cx="3377184" cy="2533904"/>
          </a:xfrm>
        </p:grpSpPr>
        <p:sp>
          <p:nvSpPr>
            <p:cNvPr id="13" name="Freeform 13"/>
            <p:cNvSpPr/>
            <p:nvPr/>
          </p:nvSpPr>
          <p:spPr>
            <a:xfrm>
              <a:off x="0" y="0"/>
              <a:ext cx="3377184" cy="2533904"/>
            </a:xfrm>
            <a:custGeom>
              <a:avLst/>
              <a:gdLst/>
              <a:ahLst/>
              <a:cxnLst/>
              <a:rect l="l" t="t" r="r" b="b"/>
              <a:pathLst>
                <a:path w="3377184" h="2533904">
                  <a:moveTo>
                    <a:pt x="3377184" y="0"/>
                  </a:moveTo>
                  <a:lnTo>
                    <a:pt x="0" y="0"/>
                  </a:lnTo>
                  <a:lnTo>
                    <a:pt x="0" y="2533904"/>
                  </a:lnTo>
                  <a:lnTo>
                    <a:pt x="3377184" y="2533904"/>
                  </a:lnTo>
                  <a:lnTo>
                    <a:pt x="3377184" y="0"/>
                  </a:lnTo>
                  <a:close/>
                </a:path>
              </a:pathLst>
            </a:custGeom>
            <a:blipFill>
              <a:blip r:embed="rId14"/>
              <a:stretch>
                <a:fillRect/>
              </a:stretch>
            </a:blipFill>
          </p:spPr>
          <p:txBody>
            <a:bodyPr/>
            <a:lstStyle/>
            <a:p>
              <a:endParaRPr lang="en-IN"/>
            </a:p>
          </p:txBody>
        </p:sp>
      </p:grpSp>
      <p:sp>
        <p:nvSpPr>
          <p:cNvPr id="14" name="TextBox 14"/>
          <p:cNvSpPr txBox="1"/>
          <p:nvPr/>
        </p:nvSpPr>
        <p:spPr>
          <a:xfrm>
            <a:off x="304495" y="4645304"/>
            <a:ext cx="86154"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10</a:t>
            </a:r>
          </a:p>
        </p:txBody>
      </p:sp>
      <p:sp>
        <p:nvSpPr>
          <p:cNvPr id="15" name="TextBox 15"/>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6" name="TextBox 16"/>
          <p:cNvSpPr txBox="1"/>
          <p:nvPr/>
        </p:nvSpPr>
        <p:spPr>
          <a:xfrm>
            <a:off x="259385" y="145094"/>
            <a:ext cx="259874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Applications of ML</a:t>
            </a:r>
          </a:p>
        </p:txBody>
      </p:sp>
      <p:sp>
        <p:nvSpPr>
          <p:cNvPr id="17" name="TextBox 17"/>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976884" y="1008888"/>
            <a:ext cx="827532" cy="765048"/>
          </a:xfrm>
          <a:custGeom>
            <a:avLst/>
            <a:gdLst/>
            <a:ahLst/>
            <a:cxnLst/>
            <a:rect l="l" t="t" r="r" b="b"/>
            <a:pathLst>
              <a:path w="827532" h="765048">
                <a:moveTo>
                  <a:pt x="0" y="0"/>
                </a:moveTo>
                <a:lnTo>
                  <a:pt x="827532" y="0"/>
                </a:lnTo>
                <a:lnTo>
                  <a:pt x="827532" y="765048"/>
                </a:lnTo>
                <a:lnTo>
                  <a:pt x="0" y="765048"/>
                </a:lnTo>
                <a:lnTo>
                  <a:pt x="0" y="0"/>
                </a:lnTo>
                <a:close/>
              </a:path>
            </a:pathLst>
          </a:custGeom>
          <a:blipFill>
            <a:blip r:embed="rId9"/>
            <a:stretch>
              <a:fillRect/>
            </a:stretch>
          </a:blipFill>
        </p:spPr>
        <p:txBody>
          <a:bodyPr/>
          <a:lstStyle/>
          <a:p>
            <a:endParaRPr lang="en-IN"/>
          </a:p>
        </p:txBody>
      </p:sp>
      <p:sp>
        <p:nvSpPr>
          <p:cNvPr id="8" name="Freeform 8"/>
          <p:cNvSpPr/>
          <p:nvPr/>
        </p:nvSpPr>
        <p:spPr>
          <a:xfrm>
            <a:off x="3698748" y="954024"/>
            <a:ext cx="1545336" cy="873252"/>
          </a:xfrm>
          <a:custGeom>
            <a:avLst/>
            <a:gdLst/>
            <a:ahLst/>
            <a:cxnLst/>
            <a:rect l="l" t="t" r="r" b="b"/>
            <a:pathLst>
              <a:path w="1545336" h="873252">
                <a:moveTo>
                  <a:pt x="0" y="0"/>
                </a:moveTo>
                <a:lnTo>
                  <a:pt x="1545336" y="0"/>
                </a:lnTo>
                <a:lnTo>
                  <a:pt x="1545336" y="873252"/>
                </a:lnTo>
                <a:lnTo>
                  <a:pt x="0" y="873252"/>
                </a:lnTo>
                <a:lnTo>
                  <a:pt x="0" y="0"/>
                </a:lnTo>
                <a:close/>
              </a:path>
            </a:pathLst>
          </a:custGeom>
          <a:blipFill>
            <a:blip r:embed="rId10"/>
            <a:stretch>
              <a:fillRect/>
            </a:stretch>
          </a:blipFill>
        </p:spPr>
        <p:txBody>
          <a:bodyPr/>
          <a:lstStyle/>
          <a:p>
            <a:endParaRPr lang="en-IN"/>
          </a:p>
        </p:txBody>
      </p:sp>
      <p:sp>
        <p:nvSpPr>
          <p:cNvPr id="9" name="Freeform 9"/>
          <p:cNvSpPr/>
          <p:nvPr/>
        </p:nvSpPr>
        <p:spPr>
          <a:xfrm>
            <a:off x="7025640" y="902208"/>
            <a:ext cx="978408" cy="978408"/>
          </a:xfrm>
          <a:custGeom>
            <a:avLst/>
            <a:gdLst/>
            <a:ahLst/>
            <a:cxnLst/>
            <a:rect l="l" t="t" r="r" b="b"/>
            <a:pathLst>
              <a:path w="978408" h="978408">
                <a:moveTo>
                  <a:pt x="0" y="0"/>
                </a:moveTo>
                <a:lnTo>
                  <a:pt x="978408" y="0"/>
                </a:lnTo>
                <a:lnTo>
                  <a:pt x="978408" y="978408"/>
                </a:lnTo>
                <a:lnTo>
                  <a:pt x="0" y="978408"/>
                </a:lnTo>
                <a:lnTo>
                  <a:pt x="0" y="0"/>
                </a:lnTo>
                <a:close/>
              </a:path>
            </a:pathLst>
          </a:custGeom>
          <a:blipFill>
            <a:blip r:embed="rId11"/>
            <a:stretch>
              <a:fillRect/>
            </a:stretch>
          </a:blipFill>
        </p:spPr>
        <p:txBody>
          <a:bodyPr/>
          <a:lstStyle/>
          <a:p>
            <a:endParaRPr lang="en-IN"/>
          </a:p>
        </p:txBody>
      </p:sp>
      <p:sp>
        <p:nvSpPr>
          <p:cNvPr id="10" name="Freeform 10"/>
          <p:cNvSpPr/>
          <p:nvPr/>
        </p:nvSpPr>
        <p:spPr>
          <a:xfrm>
            <a:off x="708660" y="2570988"/>
            <a:ext cx="1362456" cy="1362456"/>
          </a:xfrm>
          <a:custGeom>
            <a:avLst/>
            <a:gdLst/>
            <a:ahLst/>
            <a:cxnLst/>
            <a:rect l="l" t="t" r="r" b="b"/>
            <a:pathLst>
              <a:path w="1362456" h="1362456">
                <a:moveTo>
                  <a:pt x="0" y="0"/>
                </a:moveTo>
                <a:lnTo>
                  <a:pt x="1362456" y="0"/>
                </a:lnTo>
                <a:lnTo>
                  <a:pt x="1362456" y="1362456"/>
                </a:lnTo>
                <a:lnTo>
                  <a:pt x="0" y="1362456"/>
                </a:lnTo>
                <a:lnTo>
                  <a:pt x="0" y="0"/>
                </a:lnTo>
                <a:close/>
              </a:path>
            </a:pathLst>
          </a:custGeom>
          <a:blipFill>
            <a:blip r:embed="rId12"/>
            <a:stretch>
              <a:fillRect/>
            </a:stretch>
          </a:blipFill>
        </p:spPr>
        <p:txBody>
          <a:bodyPr/>
          <a:lstStyle/>
          <a:p>
            <a:endParaRPr lang="en-IN"/>
          </a:p>
        </p:txBody>
      </p:sp>
      <p:sp>
        <p:nvSpPr>
          <p:cNvPr id="11" name="Freeform 11"/>
          <p:cNvSpPr/>
          <p:nvPr/>
        </p:nvSpPr>
        <p:spPr>
          <a:xfrm>
            <a:off x="3698748" y="2570988"/>
            <a:ext cx="1545336" cy="1545336"/>
          </a:xfrm>
          <a:custGeom>
            <a:avLst/>
            <a:gdLst/>
            <a:ahLst/>
            <a:cxnLst/>
            <a:rect l="l" t="t" r="r" b="b"/>
            <a:pathLst>
              <a:path w="1545336" h="1545336">
                <a:moveTo>
                  <a:pt x="0" y="0"/>
                </a:moveTo>
                <a:lnTo>
                  <a:pt x="1545336" y="0"/>
                </a:lnTo>
                <a:lnTo>
                  <a:pt x="1545336" y="1545336"/>
                </a:lnTo>
                <a:lnTo>
                  <a:pt x="0" y="1545336"/>
                </a:lnTo>
                <a:lnTo>
                  <a:pt x="0" y="0"/>
                </a:lnTo>
                <a:close/>
              </a:path>
            </a:pathLst>
          </a:custGeom>
          <a:blipFill>
            <a:blip r:embed="rId13"/>
            <a:stretch>
              <a:fillRect/>
            </a:stretch>
          </a:blipFill>
        </p:spPr>
        <p:txBody>
          <a:bodyPr/>
          <a:lstStyle/>
          <a:p>
            <a:endParaRPr lang="en-IN"/>
          </a:p>
        </p:txBody>
      </p:sp>
      <p:sp>
        <p:nvSpPr>
          <p:cNvPr id="12" name="Freeform 12"/>
          <p:cNvSpPr/>
          <p:nvPr/>
        </p:nvSpPr>
        <p:spPr>
          <a:xfrm>
            <a:off x="7037832" y="2802636"/>
            <a:ext cx="1083564" cy="1082040"/>
          </a:xfrm>
          <a:custGeom>
            <a:avLst/>
            <a:gdLst/>
            <a:ahLst/>
            <a:cxnLst/>
            <a:rect l="l" t="t" r="r" b="b"/>
            <a:pathLst>
              <a:path w="1083564" h="1082040">
                <a:moveTo>
                  <a:pt x="0" y="0"/>
                </a:moveTo>
                <a:lnTo>
                  <a:pt x="1083564" y="0"/>
                </a:lnTo>
                <a:lnTo>
                  <a:pt x="1083564" y="1082040"/>
                </a:lnTo>
                <a:lnTo>
                  <a:pt x="0" y="1082040"/>
                </a:lnTo>
                <a:lnTo>
                  <a:pt x="0" y="0"/>
                </a:lnTo>
                <a:close/>
              </a:path>
            </a:pathLst>
          </a:custGeom>
          <a:blipFill>
            <a:blip r:embed="rId14"/>
            <a:stretch>
              <a:fillRect/>
            </a:stretch>
          </a:blipFill>
        </p:spPr>
        <p:txBody>
          <a:bodyPr/>
          <a:lstStyle/>
          <a:p>
            <a:endParaRPr lang="en-IN"/>
          </a:p>
        </p:txBody>
      </p:sp>
      <p:sp>
        <p:nvSpPr>
          <p:cNvPr id="13" name="TextBox 13"/>
          <p:cNvSpPr txBox="1"/>
          <p:nvPr/>
        </p:nvSpPr>
        <p:spPr>
          <a:xfrm>
            <a:off x="318211" y="4645304"/>
            <a:ext cx="58388"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11</a:t>
            </a:r>
          </a:p>
        </p:txBody>
      </p:sp>
      <p:sp>
        <p:nvSpPr>
          <p:cNvPr id="14" name="TextBox 14"/>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5" name="TextBox 15"/>
          <p:cNvSpPr txBox="1"/>
          <p:nvPr/>
        </p:nvSpPr>
        <p:spPr>
          <a:xfrm>
            <a:off x="259385" y="145094"/>
            <a:ext cx="316811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Health Care Use Cases</a:t>
            </a:r>
          </a:p>
        </p:txBody>
      </p:sp>
      <p:sp>
        <p:nvSpPr>
          <p:cNvPr id="16" name="TextBox 16"/>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7" name="TextBox 17"/>
          <p:cNvSpPr txBox="1"/>
          <p:nvPr/>
        </p:nvSpPr>
        <p:spPr>
          <a:xfrm>
            <a:off x="455676" y="3855529"/>
            <a:ext cx="1941138" cy="170047"/>
          </a:xfrm>
          <a:prstGeom prst="rect">
            <a:avLst/>
          </a:prstGeom>
        </p:spPr>
        <p:txBody>
          <a:bodyPr lIns="0" tIns="0" rIns="0" bIns="0" rtlCol="0" anchor="t">
            <a:spAutoFit/>
          </a:bodyPr>
          <a:lstStyle/>
          <a:p>
            <a:pPr algn="l">
              <a:lnSpc>
                <a:spcPts val="1380"/>
              </a:lnSpc>
            </a:pPr>
            <a:r>
              <a:rPr lang="en-US" sz="996" spc="0" dirty="0">
                <a:solidFill>
                  <a:srgbClr val="000000"/>
                </a:solidFill>
                <a:latin typeface="Aptos" panose="020B0004020202020204" pitchFamily="34" charset="0"/>
                <a:ea typeface="Heading Now 11-18"/>
                <a:cs typeface="Heading Now 11-18"/>
                <a:sym typeface="Heading Now 11-18"/>
              </a:rPr>
              <a:t>Preventing Medical Insurance </a:t>
            </a:r>
          </a:p>
        </p:txBody>
      </p:sp>
      <p:sp>
        <p:nvSpPr>
          <p:cNvPr id="18" name="TextBox 18"/>
          <p:cNvSpPr txBox="1"/>
          <p:nvPr/>
        </p:nvSpPr>
        <p:spPr>
          <a:xfrm>
            <a:off x="1176528" y="4030790"/>
            <a:ext cx="437512" cy="170047"/>
          </a:xfrm>
          <a:prstGeom prst="rect">
            <a:avLst/>
          </a:prstGeom>
        </p:spPr>
        <p:txBody>
          <a:bodyPr lIns="0" tIns="0" rIns="0" bIns="0" rtlCol="0" anchor="t">
            <a:spAutoFit/>
          </a:bodyPr>
          <a:lstStyle/>
          <a:p>
            <a:pPr algn="l">
              <a:lnSpc>
                <a:spcPts val="1380"/>
              </a:lnSpc>
            </a:pPr>
            <a:r>
              <a:rPr lang="en-US" sz="996" dirty="0">
                <a:solidFill>
                  <a:srgbClr val="000000"/>
                </a:solidFill>
                <a:latin typeface="Aptos" panose="020B0004020202020204" pitchFamily="34" charset="0"/>
                <a:ea typeface="Heading Now 11-18"/>
                <a:cs typeface="Heading Now 11-18"/>
                <a:sym typeface="Heading Now 11-18"/>
              </a:rPr>
              <a:t>Frauds</a:t>
            </a:r>
          </a:p>
        </p:txBody>
      </p:sp>
      <p:sp>
        <p:nvSpPr>
          <p:cNvPr id="19" name="TextBox 19"/>
          <p:cNvSpPr txBox="1"/>
          <p:nvPr/>
        </p:nvSpPr>
        <p:spPr>
          <a:xfrm>
            <a:off x="560832" y="1885559"/>
            <a:ext cx="1841916" cy="170047"/>
          </a:xfrm>
          <a:prstGeom prst="rect">
            <a:avLst/>
          </a:prstGeom>
        </p:spPr>
        <p:txBody>
          <a:bodyPr lIns="0" tIns="0" rIns="0" bIns="0" rtlCol="0" anchor="t">
            <a:spAutoFit/>
          </a:bodyPr>
          <a:lstStyle/>
          <a:p>
            <a:pPr algn="l">
              <a:lnSpc>
                <a:spcPts val="1380"/>
              </a:lnSpc>
            </a:pPr>
            <a:r>
              <a:rPr lang="en-US" sz="996" dirty="0">
                <a:solidFill>
                  <a:srgbClr val="000000"/>
                </a:solidFill>
                <a:latin typeface="Aptos" panose="020B0004020202020204" pitchFamily="34" charset="0"/>
                <a:ea typeface="Heading Now 11-18"/>
                <a:cs typeface="Heading Now 11-18"/>
                <a:sym typeface="Heading Now 11-18"/>
              </a:rPr>
              <a:t>Better Imaging &amp; Diagnostic </a:t>
            </a:r>
          </a:p>
        </p:txBody>
      </p:sp>
      <p:sp>
        <p:nvSpPr>
          <p:cNvPr id="20" name="TextBox 20"/>
          <p:cNvSpPr txBox="1"/>
          <p:nvPr/>
        </p:nvSpPr>
        <p:spPr>
          <a:xfrm>
            <a:off x="1085088" y="2060819"/>
            <a:ext cx="738911" cy="170047"/>
          </a:xfrm>
          <a:prstGeom prst="rect">
            <a:avLst/>
          </a:prstGeom>
        </p:spPr>
        <p:txBody>
          <a:bodyPr lIns="0" tIns="0" rIns="0" bIns="0" rtlCol="0" anchor="t">
            <a:spAutoFit/>
          </a:bodyPr>
          <a:lstStyle/>
          <a:p>
            <a:pPr algn="l">
              <a:lnSpc>
                <a:spcPts val="1380"/>
              </a:lnSpc>
            </a:pPr>
            <a:r>
              <a:rPr lang="en-US" sz="996" dirty="0">
                <a:solidFill>
                  <a:srgbClr val="000000"/>
                </a:solidFill>
                <a:latin typeface="Aptos" panose="020B0004020202020204" pitchFamily="34" charset="0"/>
                <a:ea typeface="Heading Now 11-18"/>
                <a:cs typeface="Heading Now 11-18"/>
                <a:sym typeface="Heading Now 11-18"/>
              </a:rPr>
              <a:t>Techniques</a:t>
            </a:r>
          </a:p>
        </p:txBody>
      </p:sp>
      <p:sp>
        <p:nvSpPr>
          <p:cNvPr id="21" name="TextBox 21"/>
          <p:cNvSpPr txBox="1"/>
          <p:nvPr/>
        </p:nvSpPr>
        <p:spPr>
          <a:xfrm>
            <a:off x="3897506" y="3855529"/>
            <a:ext cx="1103395" cy="349583"/>
          </a:xfrm>
          <a:prstGeom prst="rect">
            <a:avLst/>
          </a:prstGeom>
        </p:spPr>
        <p:txBody>
          <a:bodyPr lIns="0" tIns="0" rIns="0" bIns="0" rtlCol="0" anchor="t">
            <a:spAutoFit/>
          </a:bodyPr>
          <a:lstStyle/>
          <a:p>
            <a:pPr algn="ctr">
              <a:lnSpc>
                <a:spcPts val="1380"/>
              </a:lnSpc>
            </a:pPr>
            <a:r>
              <a:rPr lang="en-US" sz="996" spc="2" dirty="0">
                <a:solidFill>
                  <a:srgbClr val="000000"/>
                </a:solidFill>
                <a:latin typeface="Aptos" panose="020B0004020202020204" pitchFamily="34" charset="0"/>
                <a:ea typeface="Heading Now 11-18"/>
                <a:cs typeface="Heading Now 11-18"/>
                <a:sym typeface="Heading Now 11-18"/>
              </a:rPr>
              <a:t>Drug Discovery &amp; Research</a:t>
            </a:r>
          </a:p>
        </p:txBody>
      </p:sp>
      <p:sp>
        <p:nvSpPr>
          <p:cNvPr id="22" name="TextBox 22"/>
          <p:cNvSpPr txBox="1"/>
          <p:nvPr/>
        </p:nvSpPr>
        <p:spPr>
          <a:xfrm>
            <a:off x="3575561" y="1935337"/>
            <a:ext cx="2174015" cy="170047"/>
          </a:xfrm>
          <a:prstGeom prst="rect">
            <a:avLst/>
          </a:prstGeom>
        </p:spPr>
        <p:txBody>
          <a:bodyPr lIns="0" tIns="0" rIns="0" bIns="0" rtlCol="0" anchor="t">
            <a:spAutoFit/>
          </a:bodyPr>
          <a:lstStyle/>
          <a:p>
            <a:pPr algn="l">
              <a:lnSpc>
                <a:spcPts val="1380"/>
              </a:lnSpc>
            </a:pPr>
            <a:r>
              <a:rPr lang="en-US" sz="996" spc="1" dirty="0">
                <a:solidFill>
                  <a:srgbClr val="000000"/>
                </a:solidFill>
                <a:latin typeface="Aptos" panose="020B0004020202020204" pitchFamily="34" charset="0"/>
                <a:ea typeface="Heading Now 11-18"/>
                <a:cs typeface="Heading Now 11-18"/>
                <a:sym typeface="Heading Now 11-18"/>
              </a:rPr>
              <a:t>Disease Detection using Machine </a:t>
            </a:r>
          </a:p>
        </p:txBody>
      </p:sp>
      <p:sp>
        <p:nvSpPr>
          <p:cNvPr id="23" name="TextBox 23"/>
          <p:cNvSpPr txBox="1"/>
          <p:nvPr/>
        </p:nvSpPr>
        <p:spPr>
          <a:xfrm>
            <a:off x="4352801" y="2110597"/>
            <a:ext cx="553764" cy="170047"/>
          </a:xfrm>
          <a:prstGeom prst="rect">
            <a:avLst/>
          </a:prstGeom>
        </p:spPr>
        <p:txBody>
          <a:bodyPr lIns="0" tIns="0" rIns="0" bIns="0" rtlCol="0" anchor="t">
            <a:spAutoFit/>
          </a:bodyPr>
          <a:lstStyle/>
          <a:p>
            <a:pPr algn="l">
              <a:lnSpc>
                <a:spcPts val="1380"/>
              </a:lnSpc>
            </a:pPr>
            <a:r>
              <a:rPr lang="en-US" sz="996" dirty="0">
                <a:solidFill>
                  <a:srgbClr val="000000"/>
                </a:solidFill>
                <a:latin typeface="Aptos" panose="020B0004020202020204" pitchFamily="34" charset="0"/>
                <a:ea typeface="Heading Now 11-18"/>
                <a:cs typeface="Heading Now 11-18"/>
                <a:sym typeface="Heading Now 11-18"/>
              </a:rPr>
              <a:t>Learning</a:t>
            </a:r>
          </a:p>
        </p:txBody>
      </p:sp>
      <p:sp>
        <p:nvSpPr>
          <p:cNvPr id="24" name="TextBox 24"/>
          <p:cNvSpPr txBox="1"/>
          <p:nvPr/>
        </p:nvSpPr>
        <p:spPr>
          <a:xfrm>
            <a:off x="6621142" y="3840290"/>
            <a:ext cx="1956483" cy="170047"/>
          </a:xfrm>
          <a:prstGeom prst="rect">
            <a:avLst/>
          </a:prstGeom>
        </p:spPr>
        <p:txBody>
          <a:bodyPr lIns="0" tIns="0" rIns="0" bIns="0" rtlCol="0" anchor="t">
            <a:spAutoFit/>
          </a:bodyPr>
          <a:lstStyle/>
          <a:p>
            <a:pPr algn="l">
              <a:lnSpc>
                <a:spcPts val="1380"/>
              </a:lnSpc>
            </a:pPr>
            <a:r>
              <a:rPr lang="en-US" sz="996" spc="1" dirty="0">
                <a:solidFill>
                  <a:srgbClr val="000000"/>
                </a:solidFill>
                <a:latin typeface="Aptos" panose="020B0004020202020204" pitchFamily="34" charset="0"/>
                <a:ea typeface="Heading Now 11-18"/>
                <a:cs typeface="Heading Now 11-18"/>
                <a:sym typeface="Heading Now 11-18"/>
              </a:rPr>
              <a:t>Disease detection using Deep </a:t>
            </a:r>
          </a:p>
        </p:txBody>
      </p:sp>
      <p:sp>
        <p:nvSpPr>
          <p:cNvPr id="25" name="TextBox 25"/>
          <p:cNvSpPr txBox="1"/>
          <p:nvPr/>
        </p:nvSpPr>
        <p:spPr>
          <a:xfrm>
            <a:off x="7291702" y="4015550"/>
            <a:ext cx="553764" cy="170047"/>
          </a:xfrm>
          <a:prstGeom prst="rect">
            <a:avLst/>
          </a:prstGeom>
        </p:spPr>
        <p:txBody>
          <a:bodyPr lIns="0" tIns="0" rIns="0" bIns="0" rtlCol="0" anchor="t">
            <a:spAutoFit/>
          </a:bodyPr>
          <a:lstStyle/>
          <a:p>
            <a:pPr algn="l">
              <a:lnSpc>
                <a:spcPts val="1380"/>
              </a:lnSpc>
            </a:pPr>
            <a:r>
              <a:rPr lang="en-US" sz="996" dirty="0">
                <a:solidFill>
                  <a:srgbClr val="000000"/>
                </a:solidFill>
                <a:latin typeface="Aptos" panose="020B0004020202020204" pitchFamily="34" charset="0"/>
                <a:ea typeface="Heading Now 11-18"/>
                <a:cs typeface="Heading Now 11-18"/>
                <a:sym typeface="Heading Now 11-18"/>
              </a:rPr>
              <a:t>Learning</a:t>
            </a:r>
          </a:p>
        </p:txBody>
      </p:sp>
      <p:sp>
        <p:nvSpPr>
          <p:cNvPr id="26" name="TextBox 26"/>
          <p:cNvSpPr txBox="1"/>
          <p:nvPr/>
        </p:nvSpPr>
        <p:spPr>
          <a:xfrm>
            <a:off x="6523987" y="1935337"/>
            <a:ext cx="2156212" cy="170047"/>
          </a:xfrm>
          <a:prstGeom prst="rect">
            <a:avLst/>
          </a:prstGeom>
        </p:spPr>
        <p:txBody>
          <a:bodyPr lIns="0" tIns="0" rIns="0" bIns="0" rtlCol="0" anchor="t">
            <a:spAutoFit/>
          </a:bodyPr>
          <a:lstStyle/>
          <a:p>
            <a:pPr algn="l">
              <a:lnSpc>
                <a:spcPts val="1394"/>
              </a:lnSpc>
            </a:pPr>
            <a:r>
              <a:rPr lang="en-US" sz="996" spc="0" dirty="0">
                <a:solidFill>
                  <a:srgbClr val="000000"/>
                </a:solidFill>
                <a:latin typeface="Aptos" panose="020B0004020202020204" pitchFamily="34" charset="0"/>
                <a:ea typeface="Heading Now 11-18"/>
                <a:cs typeface="Heading Now 11-18"/>
                <a:sym typeface="Heading Now 11-18"/>
              </a:rPr>
              <a:t>Providing Personalized Treatment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7543" y="4698949"/>
            <a:ext cx="81382"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12</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2855890"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Types of Learning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348484" y="976884"/>
            <a:ext cx="6577584" cy="3698748"/>
          </a:xfrm>
          <a:custGeom>
            <a:avLst/>
            <a:gdLst/>
            <a:ahLst/>
            <a:cxnLst/>
            <a:rect l="l" t="t" r="r" b="b"/>
            <a:pathLst>
              <a:path w="6577584" h="3698748">
                <a:moveTo>
                  <a:pt x="0" y="0"/>
                </a:moveTo>
                <a:lnTo>
                  <a:pt x="6577584" y="0"/>
                </a:lnTo>
                <a:lnTo>
                  <a:pt x="6577584" y="3698748"/>
                </a:lnTo>
                <a:lnTo>
                  <a:pt x="0" y="369874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6019" y="4645304"/>
            <a:ext cx="82639"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13</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50217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Types of Learning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62686" y="1379306"/>
            <a:ext cx="124358" cy="1366656"/>
          </a:xfrm>
          <a:prstGeom prst="rect">
            <a:avLst/>
          </a:prstGeom>
        </p:spPr>
        <p:txBody>
          <a:bodyPr lIns="0" tIns="0" rIns="0" bIns="0" rtlCol="0" anchor="t">
            <a:spAutoFit/>
          </a:bodyPr>
          <a:lstStyle/>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1.</a:t>
            </a:r>
          </a:p>
          <a:p>
            <a:pPr algn="just">
              <a:lnSpc>
                <a:spcPts val="2268"/>
              </a:lnSpc>
            </a:pPr>
            <a:r>
              <a:rPr lang="en-US" sz="1200" spc="6" dirty="0">
                <a:solidFill>
                  <a:srgbClr val="000000"/>
                </a:solidFill>
                <a:latin typeface="Aptos" panose="020B0004020202020204" pitchFamily="34" charset="0"/>
                <a:ea typeface="Heading Now 11-18"/>
                <a:cs typeface="Heading Now 11-18"/>
                <a:sym typeface="Heading Now 11-18"/>
              </a:rPr>
              <a:t>2. 3.</a:t>
            </a:r>
          </a:p>
        </p:txBody>
      </p:sp>
      <p:sp>
        <p:nvSpPr>
          <p:cNvPr id="13" name="TextBox 13"/>
          <p:cNvSpPr txBox="1"/>
          <p:nvPr/>
        </p:nvSpPr>
        <p:spPr>
          <a:xfrm>
            <a:off x="767486" y="1379306"/>
            <a:ext cx="1141295" cy="776751"/>
          </a:xfrm>
          <a:prstGeom prst="rect">
            <a:avLst/>
          </a:prstGeom>
        </p:spPr>
        <p:txBody>
          <a:bodyPr lIns="0" tIns="0" rIns="0" bIns="0" rtlCol="0" anchor="t">
            <a:spAutoFit/>
          </a:bodyPr>
          <a:lstStyle/>
          <a:p>
            <a:pPr algn="l">
              <a:lnSpc>
                <a:spcPts val="1683"/>
              </a:lnSpc>
            </a:pPr>
            <a:r>
              <a:rPr lang="en-US" sz="1202" dirty="0">
                <a:solidFill>
                  <a:srgbClr val="000000"/>
                </a:solidFill>
                <a:latin typeface="Aptos" panose="020B0004020202020204" pitchFamily="34" charset="0"/>
                <a:ea typeface="Heading Now 11-18"/>
                <a:cs typeface="Heading Now 11-18"/>
                <a:sym typeface="Heading Now 11-18"/>
              </a:rPr>
              <a:t>Supervised</a:t>
            </a:r>
          </a:p>
          <a:p>
            <a:pPr algn="l">
              <a:lnSpc>
                <a:spcPts val="2268"/>
              </a:lnSpc>
            </a:pPr>
            <a:r>
              <a:rPr lang="en-US" sz="1200" dirty="0">
                <a:solidFill>
                  <a:srgbClr val="000000"/>
                </a:solidFill>
                <a:latin typeface="Aptos" panose="020B0004020202020204" pitchFamily="34" charset="0"/>
                <a:ea typeface="Heading Now 11-18"/>
                <a:cs typeface="Heading Now 11-18"/>
                <a:sym typeface="Heading Now 11-18"/>
              </a:rPr>
              <a:t>Unsupervised Reinforcement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71500" y="810768"/>
            <a:ext cx="8001000" cy="3973068"/>
          </a:xfrm>
          <a:custGeom>
            <a:avLst/>
            <a:gdLst/>
            <a:ahLst/>
            <a:cxnLst/>
            <a:rect l="l" t="t" r="r" b="b"/>
            <a:pathLst>
              <a:path w="8001000" h="3973068">
                <a:moveTo>
                  <a:pt x="0" y="0"/>
                </a:moveTo>
                <a:lnTo>
                  <a:pt x="8001000" y="0"/>
                </a:lnTo>
                <a:lnTo>
                  <a:pt x="8001000" y="3973068"/>
                </a:lnTo>
                <a:lnTo>
                  <a:pt x="0" y="397306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45304"/>
            <a:ext cx="86249"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14</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198312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Learning Path</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444240" y="0"/>
            <a:ext cx="2709672" cy="5143500"/>
          </a:xfrm>
          <a:custGeom>
            <a:avLst/>
            <a:gdLst/>
            <a:ahLst/>
            <a:cxnLst/>
            <a:rect l="l" t="t" r="r" b="b"/>
            <a:pathLst>
              <a:path w="2709672" h="5143500">
                <a:moveTo>
                  <a:pt x="0" y="0"/>
                </a:moveTo>
                <a:lnTo>
                  <a:pt x="2709672" y="0"/>
                </a:lnTo>
                <a:lnTo>
                  <a:pt x="2709672" y="5143500"/>
                </a:lnTo>
                <a:lnTo>
                  <a:pt x="0" y="5143500"/>
                </a:lnTo>
                <a:lnTo>
                  <a:pt x="0" y="0"/>
                </a:lnTo>
                <a:close/>
              </a:path>
            </a:pathLst>
          </a:custGeom>
          <a:blipFill>
            <a:blip r:embed="rId9"/>
            <a:stretch>
              <a:fillRect/>
            </a:stretch>
          </a:blipFill>
        </p:spPr>
        <p:txBody>
          <a:bodyPr/>
          <a:lstStyle/>
          <a:p>
            <a:endParaRPr lang="en-IN"/>
          </a:p>
        </p:txBody>
      </p:sp>
      <p:sp>
        <p:nvSpPr>
          <p:cNvPr id="8" name="Freeform 8"/>
          <p:cNvSpPr/>
          <p:nvPr/>
        </p:nvSpPr>
        <p:spPr>
          <a:xfrm>
            <a:off x="3432048" y="-1"/>
            <a:ext cx="2734056" cy="5143500"/>
          </a:xfrm>
          <a:custGeom>
            <a:avLst/>
            <a:gdLst/>
            <a:ahLst/>
            <a:cxnLst/>
            <a:rect l="l" t="t" r="r" b="b"/>
            <a:pathLst>
              <a:path w="2734056" h="5143500">
                <a:moveTo>
                  <a:pt x="0" y="0"/>
                </a:moveTo>
                <a:lnTo>
                  <a:pt x="2734056" y="0"/>
                </a:lnTo>
                <a:lnTo>
                  <a:pt x="2734056" y="5143500"/>
                </a:lnTo>
                <a:lnTo>
                  <a:pt x="0" y="51435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304495" y="4698949"/>
            <a:ext cx="86154"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15</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latin typeface="Aptos" panose="020B0004020202020204" pitchFamily="34" charset="0"/>
            </a:endParaRPr>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latin typeface="Aptos" panose="020B0004020202020204" pitchFamily="34" charset="0"/>
            </a:endParaRPr>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latin typeface="Aptos" panose="020B0004020202020204" pitchFamily="34" charset="0"/>
            </a:endParaRPr>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latin typeface="Aptos" panose="020B0004020202020204" pitchFamily="34" charset="0"/>
            </a:endParaRPr>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latin typeface="Aptos" panose="020B0004020202020204" pitchFamily="34" charset="0"/>
            </a:endParaRPr>
          </a:p>
        </p:txBody>
      </p:sp>
      <p:sp>
        <p:nvSpPr>
          <p:cNvPr id="7" name="TextBox 7"/>
          <p:cNvSpPr txBox="1"/>
          <p:nvPr/>
        </p:nvSpPr>
        <p:spPr>
          <a:xfrm>
            <a:off x="304495" y="4645304"/>
            <a:ext cx="86782"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16</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3283182" cy="353495"/>
          </a:xfrm>
          <a:prstGeom prst="rect">
            <a:avLst/>
          </a:prstGeom>
        </p:spPr>
        <p:txBody>
          <a:bodyPr lIns="0" tIns="0" rIns="0" bIns="0" rtlCol="0" anchor="t">
            <a:spAutoFit/>
          </a:bodyPr>
          <a:lstStyle/>
          <a:p>
            <a:pPr algn="l">
              <a:lnSpc>
                <a:spcPts val="2940"/>
              </a:lnSpc>
            </a:pPr>
            <a:r>
              <a:rPr lang="en-US" sz="2100" b="1" dirty="0">
                <a:solidFill>
                  <a:srgbClr val="000000"/>
                </a:solidFill>
                <a:latin typeface="Aptos" panose="020B0004020202020204" pitchFamily="34" charset="0"/>
                <a:ea typeface="29LT Bukra Bold"/>
                <a:cs typeface="Arial" panose="020B0604020202020204" pitchFamily="34" charset="0"/>
                <a:sym typeface="29LT Bukra Bold"/>
              </a:rPr>
              <a:t>Getting your dream job</a:t>
            </a:r>
          </a:p>
        </p:txBody>
      </p:sp>
      <p:sp>
        <p:nvSpPr>
          <p:cNvPr id="10" name="TextBox 10"/>
          <p:cNvSpPr txBox="1"/>
          <p:nvPr/>
        </p:nvSpPr>
        <p:spPr>
          <a:xfrm>
            <a:off x="7499347" y="4793875"/>
            <a:ext cx="1578264" cy="242310"/>
          </a:xfrm>
          <a:prstGeom prst="rect">
            <a:avLst/>
          </a:prstGeom>
        </p:spPr>
        <p:txBody>
          <a:bodyPr lIns="0" tIns="0" rIns="0" bIns="0" rtlCol="0" anchor="t">
            <a:spAutoFit/>
          </a:bodyPr>
          <a:lstStyle/>
          <a:p>
            <a:pPr algn="l">
              <a:lnSpc>
                <a:spcPts val="1968"/>
              </a:lnSpc>
            </a:pPr>
            <a:r>
              <a:rPr lang="en-US" sz="1406">
                <a:solidFill>
                  <a:srgbClr val="000000"/>
                </a:solidFill>
                <a:latin typeface="Aptos" panose="020B0004020202020204" pitchFamily="34" charset="0"/>
                <a:ea typeface="Arial"/>
                <a:cs typeface="Arial"/>
                <a:sym typeface="Arial"/>
              </a:rPr>
              <a:t>© zepanalytics.com</a:t>
            </a:r>
          </a:p>
        </p:txBody>
      </p:sp>
      <p:sp>
        <p:nvSpPr>
          <p:cNvPr id="17" name="TextBox 17"/>
          <p:cNvSpPr txBox="1"/>
          <p:nvPr/>
        </p:nvSpPr>
        <p:spPr>
          <a:xfrm>
            <a:off x="1226210" y="2706500"/>
            <a:ext cx="41500" cy="263790"/>
          </a:xfrm>
          <a:prstGeom prst="rect">
            <a:avLst/>
          </a:prstGeom>
        </p:spPr>
        <p:txBody>
          <a:bodyPr lIns="0" tIns="0" rIns="0" bIns="0" rtlCol="0" anchor="t">
            <a:spAutoFit/>
          </a:bodyPr>
          <a:lstStyle/>
          <a:p>
            <a:pPr algn="l">
              <a:lnSpc>
                <a:spcPts val="2279"/>
              </a:lnSpc>
            </a:pPr>
            <a:r>
              <a:rPr lang="en-US" sz="1200" dirty="0">
                <a:solidFill>
                  <a:srgbClr val="000000"/>
                </a:solidFill>
                <a:latin typeface="Aptos" panose="020B0004020202020204" pitchFamily="34" charset="0"/>
                <a:ea typeface="Heading Now 11-18"/>
                <a:cs typeface="Heading Now 11-18"/>
                <a:sym typeface="Heading Now 11-18"/>
              </a:rPr>
              <a:t> </a:t>
            </a:r>
          </a:p>
        </p:txBody>
      </p:sp>
      <p:sp>
        <p:nvSpPr>
          <p:cNvPr id="24" name="TextBox 23">
            <a:extLst>
              <a:ext uri="{FF2B5EF4-FFF2-40B4-BE49-F238E27FC236}">
                <a16:creationId xmlns:a16="http://schemas.microsoft.com/office/drawing/2014/main" id="{B9BA4428-5B8F-3275-3B0E-C316AB41D747}"/>
              </a:ext>
            </a:extLst>
          </p:cNvPr>
          <p:cNvSpPr txBox="1"/>
          <p:nvPr/>
        </p:nvSpPr>
        <p:spPr>
          <a:xfrm>
            <a:off x="609600" y="1047751"/>
            <a:ext cx="8429244" cy="4524315"/>
          </a:xfrm>
          <a:prstGeom prst="rect">
            <a:avLst/>
          </a:prstGeom>
          <a:noFill/>
        </p:spPr>
        <p:txBody>
          <a:bodyPr wrap="square" rtlCol="0">
            <a:spAutoFit/>
          </a:bodyPr>
          <a:lstStyle/>
          <a:p>
            <a:r>
              <a:rPr lang="en-US" b="1"/>
              <a:t>1. Internet presence</a:t>
            </a:r>
            <a:r>
              <a:rPr lang="en-US"/>
              <a:t>–Create profiles on Naukri, Monster, LinkedIn, Hirist, Glassdoor, Indeed, StackOverFlow etc. </a:t>
            </a:r>
            <a:endParaRPr lang="en-IN"/>
          </a:p>
          <a:p>
            <a:r>
              <a:rPr lang="en-US"/>
              <a:t>2. Pushreusablecode/ apps to </a:t>
            </a:r>
            <a:r>
              <a:rPr lang="en-US" b="1"/>
              <a:t>Github</a:t>
            </a:r>
            <a:r>
              <a:rPr lang="en-US"/>
              <a:t>. Link it to your profile.</a:t>
            </a:r>
            <a:endParaRPr lang="en-IN"/>
          </a:p>
          <a:p>
            <a:r>
              <a:rPr lang="en-US" b="1"/>
              <a:t>3.Write Blogs</a:t>
            </a:r>
            <a:r>
              <a:rPr lang="en-US"/>
              <a:t> ,link it on your profiles.</a:t>
            </a:r>
            <a:endParaRPr lang="en-IN"/>
          </a:p>
          <a:p>
            <a:r>
              <a:rPr lang="en-US" b="1"/>
              <a:t>4. Differentiator  - </a:t>
            </a:r>
            <a:r>
              <a:rPr lang="en-US"/>
              <a:t>Focus both on depth and breadth of Data Science.</a:t>
            </a:r>
            <a:endParaRPr lang="en-IN"/>
          </a:p>
          <a:p>
            <a:r>
              <a:rPr lang="en-US"/>
              <a:t>5. Profiles should contain all the </a:t>
            </a:r>
            <a:r>
              <a:rPr lang="en-US" b="1"/>
              <a:t>tech stacks keywords</a:t>
            </a:r>
            <a:r>
              <a:rPr lang="en-US"/>
              <a:t>–e.g. Deep Learning, Machine Learning, NLP, Spark, Flask, Kafka, NoSQL, Python etc.</a:t>
            </a:r>
            <a:endParaRPr lang="en-IN"/>
          </a:p>
          <a:p>
            <a:r>
              <a:rPr lang="en-US"/>
              <a:t>6. </a:t>
            </a:r>
            <a:r>
              <a:rPr lang="en-US" b="1"/>
              <a:t>Headlines are important</a:t>
            </a:r>
            <a:r>
              <a:rPr lang="en-US"/>
              <a:t>–Data Scientist, Machine Learning Engineer, etc</a:t>
            </a:r>
            <a:endParaRPr lang="en-IN"/>
          </a:p>
          <a:p>
            <a:r>
              <a:rPr lang="en-US"/>
              <a:t>7. </a:t>
            </a:r>
            <a:r>
              <a:rPr lang="en-US" b="1"/>
              <a:t>Prefix-Suffix </a:t>
            </a:r>
            <a:r>
              <a:rPr lang="en-US"/>
              <a:t>with lead/ architect/ Head based on the years of experience and current role. </a:t>
            </a:r>
            <a:endParaRPr lang="en-IN"/>
          </a:p>
          <a:p>
            <a:r>
              <a:rPr lang="en-US"/>
              <a:t>8.</a:t>
            </a:r>
            <a:r>
              <a:rPr lang="en-US" b="1"/>
              <a:t>Project are a must</a:t>
            </a:r>
            <a:r>
              <a:rPr lang="en-US"/>
              <a:t>showing good amount of relevant project experience solving industry level use cases.</a:t>
            </a:r>
            <a:endParaRPr lang="en-IN"/>
          </a:p>
          <a:p>
            <a:r>
              <a:rPr lang="en-US"/>
              <a:t>9.Participate in </a:t>
            </a:r>
            <a:r>
              <a:rPr lang="en-US" b="1"/>
              <a:t>online Hackathons</a:t>
            </a:r>
            <a:r>
              <a:rPr lang="en-US"/>
              <a:t>and </a:t>
            </a:r>
            <a:r>
              <a:rPr lang="en-US" b="1"/>
              <a:t>Code challenges</a:t>
            </a:r>
            <a:r>
              <a:rPr lang="en-US"/>
              <a:t>.</a:t>
            </a:r>
            <a:endParaRPr lang="en-IN"/>
          </a:p>
          <a:p>
            <a:r>
              <a:rPr lang="en-IN"/>
              <a:t> </a:t>
            </a:r>
          </a:p>
          <a:p>
            <a:r>
              <a:rPr lang="en-IN"/>
              <a:t> </a:t>
            </a:r>
          </a:p>
          <a:p>
            <a:r>
              <a:rPr lang="en-IN"/>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7543" y="4698949"/>
            <a:ext cx="78762"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17</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2982735"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Essential Libraries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954268" y="1772412"/>
            <a:ext cx="2602992" cy="2862072"/>
          </a:xfrm>
          <a:custGeom>
            <a:avLst/>
            <a:gdLst/>
            <a:ahLst/>
            <a:cxnLst/>
            <a:rect l="l" t="t" r="r" b="b"/>
            <a:pathLst>
              <a:path w="2602992" h="2862072">
                <a:moveTo>
                  <a:pt x="0" y="0"/>
                </a:moveTo>
                <a:lnTo>
                  <a:pt x="2602992" y="0"/>
                </a:lnTo>
                <a:lnTo>
                  <a:pt x="2602992" y="2862072"/>
                </a:lnTo>
                <a:lnTo>
                  <a:pt x="0" y="2862072"/>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45304"/>
            <a:ext cx="86430"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18</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60880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Essential Libraries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1029005" y="1076944"/>
            <a:ext cx="109480" cy="1929889"/>
          </a:xfrm>
          <a:prstGeom prst="rect">
            <a:avLst/>
          </a:prstGeom>
        </p:spPr>
        <p:txBody>
          <a:bodyPr lIns="0" tIns="0" rIns="0" bIns="0" rtlCol="0" anchor="t">
            <a:spAutoFit/>
          </a:bodyPr>
          <a:lstStyle/>
          <a:p>
            <a:pPr algn="just">
              <a:lnSpc>
                <a:spcPts val="1897"/>
              </a:lnSpc>
            </a:pPr>
            <a:r>
              <a:rPr lang="en-US" sz="996" spc="4" dirty="0">
                <a:solidFill>
                  <a:srgbClr val="000000"/>
                </a:solidFill>
                <a:latin typeface="Aptos" panose="020B0004020202020204" pitchFamily="34" charset="0"/>
                <a:ea typeface="Heading Now 11-18"/>
                <a:cs typeface="Heading Now 11-18"/>
                <a:sym typeface="Heading Now 11-18"/>
              </a:rPr>
              <a:t>1. 2. 3. 4. 5. 6. 7. 8.</a:t>
            </a:r>
          </a:p>
        </p:txBody>
      </p:sp>
      <p:sp>
        <p:nvSpPr>
          <p:cNvPr id="13" name="TextBox 13"/>
          <p:cNvSpPr txBox="1"/>
          <p:nvPr/>
        </p:nvSpPr>
        <p:spPr>
          <a:xfrm>
            <a:off x="1321565" y="1076944"/>
            <a:ext cx="4781512" cy="705450"/>
          </a:xfrm>
          <a:prstGeom prst="rect">
            <a:avLst/>
          </a:prstGeom>
        </p:spPr>
        <p:txBody>
          <a:bodyPr lIns="0" tIns="0" rIns="0" bIns="0" rtlCol="0" anchor="t">
            <a:spAutoFit/>
          </a:bodyPr>
          <a:lstStyle/>
          <a:p>
            <a:pPr algn="l">
              <a:lnSpc>
                <a:spcPts val="1897"/>
              </a:lnSpc>
            </a:pPr>
            <a:r>
              <a:rPr lang="en-US" sz="996" spc="0" dirty="0" err="1">
                <a:solidFill>
                  <a:srgbClr val="000000"/>
                </a:solidFill>
                <a:latin typeface="Aptos" panose="020B0004020202020204" pitchFamily="34" charset="0"/>
                <a:ea typeface="Heading Now 11-18"/>
                <a:cs typeface="Heading Now 11-18"/>
                <a:sym typeface="Heading Now 11-18"/>
              </a:rPr>
              <a:t>numpy</a:t>
            </a:r>
            <a:r>
              <a:rPr lang="en-US" sz="996" spc="0" dirty="0">
                <a:solidFill>
                  <a:srgbClr val="000000"/>
                </a:solidFill>
                <a:latin typeface="Aptos" panose="020B0004020202020204" pitchFamily="34" charset="0"/>
                <a:ea typeface="Heading Now 11-18"/>
                <a:cs typeface="Heading Now 11-18"/>
                <a:sym typeface="Heading Now 11-18"/>
              </a:rPr>
              <a:t>: The matrix / numerical analysis layer at the bottom </a:t>
            </a:r>
            <a:r>
              <a:rPr lang="en-US" sz="996" spc="0" dirty="0" err="1">
                <a:solidFill>
                  <a:srgbClr val="000000"/>
                </a:solidFill>
                <a:latin typeface="Aptos" panose="020B0004020202020204" pitchFamily="34" charset="0"/>
                <a:ea typeface="Heading Now 11-18"/>
                <a:cs typeface="Heading Now 11-18"/>
                <a:sym typeface="Heading Now 11-18"/>
              </a:rPr>
              <a:t>scipy</a:t>
            </a:r>
            <a:r>
              <a:rPr lang="en-US" sz="996" spc="0" dirty="0">
                <a:solidFill>
                  <a:srgbClr val="000000"/>
                </a:solidFill>
                <a:latin typeface="Aptos" panose="020B0004020202020204" pitchFamily="34" charset="0"/>
                <a:ea typeface="Heading Now 11-18"/>
                <a:cs typeface="Heading Now 11-18"/>
                <a:sym typeface="Heading Now 11-18"/>
              </a:rPr>
              <a:t>: Scientific computing utilities (</a:t>
            </a:r>
            <a:r>
              <a:rPr lang="en-US" sz="996" spc="0" dirty="0" err="1">
                <a:solidFill>
                  <a:srgbClr val="000000"/>
                </a:solidFill>
                <a:latin typeface="Aptos" panose="020B0004020202020204" pitchFamily="34" charset="0"/>
                <a:ea typeface="Heading Now 11-18"/>
                <a:cs typeface="Heading Now 11-18"/>
                <a:sym typeface="Heading Now 11-18"/>
              </a:rPr>
              <a:t>linalg</a:t>
            </a:r>
            <a:r>
              <a:rPr lang="en-US" sz="996" spc="0" dirty="0">
                <a:solidFill>
                  <a:srgbClr val="000000"/>
                </a:solidFill>
                <a:latin typeface="Aptos" panose="020B0004020202020204" pitchFamily="34" charset="0"/>
                <a:ea typeface="Heading Now 11-18"/>
                <a:cs typeface="Heading Now 11-18"/>
                <a:sym typeface="Heading Now 11-18"/>
              </a:rPr>
              <a:t>, FFT, signal/image processing...) </a:t>
            </a:r>
            <a:r>
              <a:rPr lang="en-US" sz="996" spc="0" dirty="0" err="1">
                <a:solidFill>
                  <a:srgbClr val="000000"/>
                </a:solidFill>
                <a:latin typeface="Aptos" panose="020B0004020202020204" pitchFamily="34" charset="0"/>
                <a:ea typeface="Heading Now 11-18"/>
                <a:cs typeface="Heading Now 11-18"/>
                <a:sym typeface="Heading Now 11-18"/>
              </a:rPr>
              <a:t>sklearn</a:t>
            </a:r>
            <a:r>
              <a:rPr lang="en-US" sz="996" spc="0" dirty="0">
                <a:solidFill>
                  <a:srgbClr val="000000"/>
                </a:solidFill>
                <a:latin typeface="Aptos" panose="020B0004020202020204" pitchFamily="34" charset="0"/>
                <a:ea typeface="Heading Now 11-18"/>
                <a:cs typeface="Heading Now 11-18"/>
                <a:sym typeface="Heading Now 11-18"/>
              </a:rPr>
              <a:t>: Machine learning (our focus here) matplotlib: Plotting and visualization</a:t>
            </a:r>
          </a:p>
        </p:txBody>
      </p:sp>
      <p:sp>
        <p:nvSpPr>
          <p:cNvPr id="14" name="TextBox 14"/>
          <p:cNvSpPr txBox="1"/>
          <p:nvPr/>
        </p:nvSpPr>
        <p:spPr>
          <a:xfrm>
            <a:off x="1355093" y="2040369"/>
            <a:ext cx="1610706" cy="218137"/>
          </a:xfrm>
          <a:prstGeom prst="rect">
            <a:avLst/>
          </a:prstGeom>
        </p:spPr>
        <p:txBody>
          <a:bodyPr lIns="0" tIns="0" rIns="0" bIns="0" rtlCol="0" anchor="t">
            <a:spAutoFit/>
          </a:bodyPr>
          <a:lstStyle/>
          <a:p>
            <a:pPr algn="l">
              <a:lnSpc>
                <a:spcPts val="1897"/>
              </a:lnSpc>
            </a:pPr>
            <a:r>
              <a:rPr lang="en-US" sz="996" spc="0" dirty="0" err="1">
                <a:solidFill>
                  <a:srgbClr val="000000"/>
                </a:solidFill>
                <a:latin typeface="Aptos" panose="020B0004020202020204" pitchFamily="34" charset="0"/>
                <a:ea typeface="Heading Now 11-18"/>
                <a:cs typeface="Heading Now 11-18"/>
                <a:sym typeface="Heading Now 11-18"/>
              </a:rPr>
              <a:t>opencv</a:t>
            </a:r>
            <a:r>
              <a:rPr lang="en-US" sz="996" spc="0" dirty="0">
                <a:solidFill>
                  <a:srgbClr val="000000"/>
                </a:solidFill>
                <a:latin typeface="Aptos" panose="020B0004020202020204" pitchFamily="34" charset="0"/>
                <a:ea typeface="Heading Now 11-18"/>
                <a:cs typeface="Heading Now 11-18"/>
                <a:sym typeface="Heading Now 11-18"/>
              </a:rPr>
              <a:t>: Computer vision</a:t>
            </a:r>
          </a:p>
        </p:txBody>
      </p:sp>
      <p:sp>
        <p:nvSpPr>
          <p:cNvPr id="15" name="TextBox 15"/>
          <p:cNvSpPr txBox="1"/>
          <p:nvPr/>
        </p:nvSpPr>
        <p:spPr>
          <a:xfrm>
            <a:off x="1321565" y="2281418"/>
            <a:ext cx="4319092" cy="461793"/>
          </a:xfrm>
          <a:prstGeom prst="rect">
            <a:avLst/>
          </a:prstGeom>
        </p:spPr>
        <p:txBody>
          <a:bodyPr lIns="0" tIns="0" rIns="0" bIns="0" rtlCol="0" anchor="t">
            <a:spAutoFit/>
          </a:bodyPr>
          <a:lstStyle/>
          <a:p>
            <a:pPr algn="l">
              <a:lnSpc>
                <a:spcPts val="1897"/>
              </a:lnSpc>
            </a:pPr>
            <a:r>
              <a:rPr lang="en-US" sz="996" dirty="0">
                <a:solidFill>
                  <a:srgbClr val="000000"/>
                </a:solidFill>
                <a:latin typeface="Aptos" panose="020B0004020202020204" pitchFamily="34" charset="0"/>
                <a:ea typeface="Heading Now 11-18"/>
                <a:cs typeface="Heading Now 11-18"/>
                <a:sym typeface="Heading Now 11-18"/>
              </a:rPr>
              <a:t>pandas: Data analysis caffe, </a:t>
            </a:r>
            <a:r>
              <a:rPr lang="en-US" sz="996" dirty="0" err="1">
                <a:solidFill>
                  <a:srgbClr val="000000"/>
                </a:solidFill>
                <a:latin typeface="Aptos" panose="020B0004020202020204" pitchFamily="34" charset="0"/>
                <a:ea typeface="Heading Now 11-18"/>
                <a:cs typeface="Heading Now 11-18"/>
                <a:sym typeface="Heading Now 11-18"/>
              </a:rPr>
              <a:t>theano</a:t>
            </a:r>
            <a:r>
              <a:rPr lang="en-US" sz="996" dirty="0">
                <a:solidFill>
                  <a:srgbClr val="000000"/>
                </a:solidFill>
                <a:latin typeface="Aptos" panose="020B0004020202020204" pitchFamily="34" charset="0"/>
                <a:ea typeface="Heading Now 11-18"/>
                <a:cs typeface="Heading Now 11-18"/>
                <a:sym typeface="Heading Now 11-18"/>
              </a:rPr>
              <a:t>, </a:t>
            </a:r>
            <a:r>
              <a:rPr lang="en-US" sz="996" dirty="0" err="1">
                <a:solidFill>
                  <a:srgbClr val="000000"/>
                </a:solidFill>
                <a:latin typeface="Aptos" panose="020B0004020202020204" pitchFamily="34" charset="0"/>
                <a:ea typeface="Heading Now 11-18"/>
                <a:cs typeface="Heading Now 11-18"/>
                <a:sym typeface="Heading Now 11-18"/>
              </a:rPr>
              <a:t>minerva</a:t>
            </a:r>
            <a:r>
              <a:rPr lang="en-US" sz="996" dirty="0">
                <a:solidFill>
                  <a:srgbClr val="000000"/>
                </a:solidFill>
                <a:latin typeface="Aptos" panose="020B0004020202020204" pitchFamily="34" charset="0"/>
                <a:ea typeface="Heading Now 11-18"/>
                <a:cs typeface="Heading Now 11-18"/>
                <a:sym typeface="Heading Now 11-18"/>
              </a:rPr>
              <a:t>, </a:t>
            </a:r>
            <a:r>
              <a:rPr lang="en-US" sz="996" dirty="0" err="1">
                <a:solidFill>
                  <a:srgbClr val="000000"/>
                </a:solidFill>
                <a:latin typeface="Aptos" panose="020B0004020202020204" pitchFamily="34" charset="0"/>
                <a:ea typeface="Heading Now 11-18"/>
                <a:cs typeface="Heading Now 11-18"/>
                <a:sym typeface="Heading Now 11-18"/>
              </a:rPr>
              <a:t>tensorflow</a:t>
            </a:r>
            <a:r>
              <a:rPr lang="en-US" sz="996" dirty="0">
                <a:solidFill>
                  <a:srgbClr val="000000"/>
                </a:solidFill>
                <a:latin typeface="Aptos" panose="020B0004020202020204" pitchFamily="34" charset="0"/>
                <a:ea typeface="Heading Now 11-18"/>
                <a:cs typeface="Heading Now 11-18"/>
                <a:sym typeface="Heading Now 11-18"/>
              </a:rPr>
              <a:t>, </a:t>
            </a:r>
            <a:r>
              <a:rPr lang="en-US" sz="996" dirty="0" err="1">
                <a:solidFill>
                  <a:srgbClr val="000000"/>
                </a:solidFill>
                <a:latin typeface="Aptos" panose="020B0004020202020204" pitchFamily="34" charset="0"/>
                <a:ea typeface="Heading Now 11-18"/>
                <a:cs typeface="Heading Now 11-18"/>
                <a:sym typeface="Heading Now 11-18"/>
              </a:rPr>
              <a:t>keras</a:t>
            </a:r>
            <a:r>
              <a:rPr lang="en-US" sz="996" dirty="0">
                <a:solidFill>
                  <a:srgbClr val="000000"/>
                </a:solidFill>
                <a:latin typeface="Aptos" panose="020B0004020202020204" pitchFamily="34" charset="0"/>
                <a:ea typeface="Heading Now 11-18"/>
                <a:cs typeface="Heading Now 11-18"/>
                <a:sym typeface="Heading Now 11-18"/>
              </a:rPr>
              <a:t>: Deep neural networks spyder: The front end (Scientific Python Development Environment)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98949"/>
            <a:ext cx="86335"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19</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2546547"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Feature Scaling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37833" y="862460"/>
            <a:ext cx="8498319" cy="3937025"/>
          </a:xfrm>
          <a:custGeom>
            <a:avLst/>
            <a:gdLst/>
            <a:ahLst/>
            <a:cxnLst/>
            <a:rect l="l" t="t" r="r" b="b"/>
            <a:pathLst>
              <a:path w="8498319" h="3937025">
                <a:moveTo>
                  <a:pt x="0" y="0"/>
                </a:moveTo>
                <a:lnTo>
                  <a:pt x="8498319" y="0"/>
                </a:lnTo>
                <a:lnTo>
                  <a:pt x="8498319" y="3937026"/>
                </a:lnTo>
                <a:lnTo>
                  <a:pt x="0" y="393702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3827" y="4645304"/>
            <a:ext cx="107918"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20</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297494"/>
            <a:ext cx="2104844" cy="442557"/>
          </a:xfrm>
          <a:prstGeom prst="rect">
            <a:avLst/>
          </a:prstGeom>
        </p:spPr>
        <p:txBody>
          <a:bodyPr lIns="0" tIns="0" rIns="0" bIns="0" rtlCol="0" anchor="t">
            <a:spAutoFit/>
          </a:bodyPr>
          <a:lstStyle/>
          <a:p>
            <a:pPr algn="r">
              <a:lnSpc>
                <a:spcPts val="1335"/>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Train Test Split</a:t>
            </a:r>
          </a:p>
          <a:p>
            <a:pPr algn="r">
              <a:lnSpc>
                <a:spcPts val="2490"/>
              </a:lnSpc>
            </a:pPr>
            <a:r>
              <a:rPr lang="en-US" sz="996" dirty="0">
                <a:solidFill>
                  <a:srgbClr val="000000"/>
                </a:solidFill>
                <a:latin typeface="Aptos" panose="020B0004020202020204" pitchFamily="34" charset="0"/>
                <a:ea typeface="Heading Now 11-18"/>
                <a:cs typeface="Heading Now 11-18"/>
                <a:sym typeface="Heading Now 11-18"/>
              </a:rPr>
              <a:t> </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01422" y="833485"/>
            <a:ext cx="5005664" cy="246991"/>
          </a:xfrm>
          <a:prstGeom prst="rect">
            <a:avLst/>
          </a:prstGeom>
        </p:spPr>
        <p:txBody>
          <a:bodyPr lIns="0" tIns="0" rIns="0" bIns="0" rtlCol="0" anchor="t">
            <a:spAutoFit/>
          </a:bodyPr>
          <a:lstStyle/>
          <a:p>
            <a:pPr algn="l">
              <a:lnSpc>
                <a:spcPts val="2184"/>
              </a:lnSpc>
            </a:pPr>
            <a:r>
              <a:rPr lang="en-US" sz="996" dirty="0">
                <a:solidFill>
                  <a:srgbClr val="000000"/>
                </a:solidFill>
                <a:latin typeface="Aptos" panose="020B0004020202020204" pitchFamily="34" charset="0"/>
                <a:ea typeface="Heading Now 11-18"/>
                <a:cs typeface="Heading Now 11-18"/>
                <a:sym typeface="Heading Now 11-18"/>
              </a:rPr>
              <a:t>The </a:t>
            </a:r>
            <a:r>
              <a:rPr lang="en-US" sz="996" dirty="0" err="1">
                <a:solidFill>
                  <a:srgbClr val="000000"/>
                </a:solidFill>
                <a:latin typeface="Aptos" panose="020B0004020202020204" pitchFamily="34" charset="0"/>
                <a:ea typeface="Heading Now 11-18"/>
                <a:cs typeface="Heading Now 11-18"/>
                <a:sym typeface="Heading Now 11-18"/>
              </a:rPr>
              <a:t>train_test_split</a:t>
            </a:r>
            <a:r>
              <a:rPr lang="en-US" sz="996" dirty="0">
                <a:solidFill>
                  <a:srgbClr val="000000"/>
                </a:solidFill>
                <a:latin typeface="Aptos" panose="020B0004020202020204" pitchFamily="34" charset="0"/>
                <a:ea typeface="Heading Now 11-18"/>
                <a:cs typeface="Heading Now 11-18"/>
                <a:sym typeface="Heading Now 11-18"/>
              </a:rPr>
              <a:t>() </a:t>
            </a:r>
            <a:r>
              <a:rPr lang="en-US" sz="996" dirty="0" err="1">
                <a:solidFill>
                  <a:srgbClr val="000000"/>
                </a:solidFill>
                <a:latin typeface="Aptos" panose="020B0004020202020204" pitchFamily="34" charset="0"/>
                <a:ea typeface="Heading Now 11-18"/>
                <a:cs typeface="Heading Now 11-18"/>
                <a:sym typeface="Heading Now 11-18"/>
              </a:rPr>
              <a:t>methodis</a:t>
            </a:r>
            <a:r>
              <a:rPr lang="en-US" sz="996" dirty="0">
                <a:solidFill>
                  <a:srgbClr val="000000"/>
                </a:solidFill>
                <a:latin typeface="Aptos" panose="020B0004020202020204" pitchFamily="34" charset="0"/>
                <a:ea typeface="Heading Now 11-18"/>
                <a:cs typeface="Heading Now 11-18"/>
                <a:sym typeface="Heading Now 11-18"/>
              </a:rPr>
              <a:t> used to split our data into train and test sets. </a:t>
            </a:r>
          </a:p>
        </p:txBody>
      </p:sp>
      <p:sp>
        <p:nvSpPr>
          <p:cNvPr id="13" name="TextBox 13"/>
          <p:cNvSpPr txBox="1"/>
          <p:nvPr/>
        </p:nvSpPr>
        <p:spPr>
          <a:xfrm>
            <a:off x="401422" y="1110853"/>
            <a:ext cx="8524465" cy="1758943"/>
          </a:xfrm>
          <a:prstGeom prst="rect">
            <a:avLst/>
          </a:prstGeom>
        </p:spPr>
        <p:txBody>
          <a:bodyPr lIns="0" tIns="0" rIns="0" bIns="0" rtlCol="0" anchor="t">
            <a:spAutoFit/>
          </a:bodyPr>
          <a:lstStyle/>
          <a:p>
            <a:pPr algn="l">
              <a:lnSpc>
                <a:spcPts val="2184"/>
              </a:lnSpc>
            </a:pPr>
            <a:r>
              <a:rPr lang="en-US" sz="996" dirty="0">
                <a:solidFill>
                  <a:srgbClr val="000000"/>
                </a:solidFill>
                <a:latin typeface="Aptos" panose="020B0004020202020204" pitchFamily="34" charset="0"/>
                <a:ea typeface="Heading Now 11-18"/>
                <a:cs typeface="Heading Now 11-18"/>
                <a:sym typeface="Heading Now 11-18"/>
              </a:rPr>
              <a:t>First, we need to divide our data into features (X) and labels (y). The </a:t>
            </a:r>
            <a:r>
              <a:rPr lang="en-US" sz="996" dirty="0" err="1">
                <a:solidFill>
                  <a:srgbClr val="000000"/>
                </a:solidFill>
                <a:latin typeface="Aptos" panose="020B0004020202020204" pitchFamily="34" charset="0"/>
                <a:ea typeface="Heading Now 11-18"/>
                <a:cs typeface="Heading Now 11-18"/>
                <a:sym typeface="Heading Now 11-18"/>
              </a:rPr>
              <a:t>dataframe</a:t>
            </a:r>
            <a:r>
              <a:rPr lang="en-US" sz="996" dirty="0">
                <a:solidFill>
                  <a:srgbClr val="000000"/>
                </a:solidFill>
                <a:latin typeface="Aptos" panose="020B0004020202020204" pitchFamily="34" charset="0"/>
                <a:ea typeface="Heading Now 11-18"/>
                <a:cs typeface="Heading Now 11-18"/>
                <a:sym typeface="Heading Now 11-18"/>
              </a:rPr>
              <a:t> gets divided into </a:t>
            </a:r>
            <a:r>
              <a:rPr lang="en-US" sz="996" dirty="0" err="1">
                <a:solidFill>
                  <a:srgbClr val="000000"/>
                </a:solidFill>
                <a:latin typeface="Aptos" panose="020B0004020202020204" pitchFamily="34" charset="0"/>
                <a:ea typeface="Heading Now 11-18"/>
                <a:cs typeface="Heading Now 11-18"/>
                <a:sym typeface="Heading Now 11-18"/>
              </a:rPr>
              <a:t>X_train,X_test</a:t>
            </a:r>
            <a:r>
              <a:rPr lang="en-US" sz="996" dirty="0">
                <a:solidFill>
                  <a:srgbClr val="000000"/>
                </a:solidFill>
                <a:latin typeface="Aptos" panose="020B0004020202020204" pitchFamily="34" charset="0"/>
                <a:ea typeface="Heading Now 11-18"/>
                <a:cs typeface="Heading Now 11-18"/>
                <a:sym typeface="Heading Now 11-18"/>
              </a:rPr>
              <a:t> , </a:t>
            </a:r>
            <a:r>
              <a:rPr lang="en-US" sz="996" dirty="0" err="1">
                <a:solidFill>
                  <a:srgbClr val="000000"/>
                </a:solidFill>
                <a:latin typeface="Aptos" panose="020B0004020202020204" pitchFamily="34" charset="0"/>
                <a:ea typeface="Heading Now 11-18"/>
                <a:cs typeface="Heading Now 11-18"/>
                <a:sym typeface="Heading Now 11-18"/>
              </a:rPr>
              <a:t>y_train</a:t>
            </a:r>
            <a:r>
              <a:rPr lang="en-US" sz="996" dirty="0">
                <a:solidFill>
                  <a:srgbClr val="000000"/>
                </a:solidFill>
                <a:latin typeface="Aptos" panose="020B0004020202020204" pitchFamily="34" charset="0"/>
                <a:ea typeface="Heading Now 11-18"/>
                <a:cs typeface="Heading Now 11-18"/>
                <a:sym typeface="Heading Now 11-18"/>
              </a:rPr>
              <a:t> </a:t>
            </a:r>
            <a:r>
              <a:rPr lang="en-US" sz="996" dirty="0" err="1">
                <a:solidFill>
                  <a:srgbClr val="000000"/>
                </a:solidFill>
                <a:latin typeface="Aptos" panose="020B0004020202020204" pitchFamily="34" charset="0"/>
                <a:ea typeface="Heading Now 11-18"/>
                <a:cs typeface="Heading Now 11-18"/>
                <a:sym typeface="Heading Now 11-18"/>
              </a:rPr>
              <a:t>andy_test</a:t>
            </a:r>
            <a:r>
              <a:rPr lang="en-US" sz="996" dirty="0">
                <a:solidFill>
                  <a:srgbClr val="000000"/>
                </a:solidFill>
                <a:latin typeface="Aptos" panose="020B0004020202020204" pitchFamily="34" charset="0"/>
                <a:ea typeface="Heading Now 11-18"/>
                <a:cs typeface="Heading Now 11-18"/>
                <a:sym typeface="Heading Now 11-18"/>
              </a:rPr>
              <a:t>. </a:t>
            </a:r>
          </a:p>
          <a:p>
            <a:pPr algn="l">
              <a:lnSpc>
                <a:spcPts val="574"/>
              </a:lnSpc>
            </a:pPr>
            <a:r>
              <a:rPr lang="en-US" sz="998" dirty="0" err="1">
                <a:solidFill>
                  <a:srgbClr val="000000"/>
                </a:solidFill>
                <a:latin typeface="Aptos" panose="020B0004020202020204" pitchFamily="34" charset="0"/>
                <a:ea typeface="Heading Now 11-18"/>
                <a:cs typeface="Heading Now 11-18"/>
                <a:sym typeface="Heading Now 11-18"/>
              </a:rPr>
              <a:t>X_train</a:t>
            </a:r>
            <a:r>
              <a:rPr lang="en-US" sz="998" dirty="0">
                <a:solidFill>
                  <a:srgbClr val="000000"/>
                </a:solidFill>
                <a:latin typeface="Aptos" panose="020B0004020202020204" pitchFamily="34" charset="0"/>
                <a:ea typeface="Heading Now 11-18"/>
                <a:cs typeface="Heading Now 11-18"/>
                <a:sym typeface="Heading Now 11-18"/>
              </a:rPr>
              <a:t> and </a:t>
            </a:r>
            <a:r>
              <a:rPr lang="en-US" sz="998" dirty="0" err="1">
                <a:solidFill>
                  <a:srgbClr val="000000"/>
                </a:solidFill>
                <a:latin typeface="Aptos" panose="020B0004020202020204" pitchFamily="34" charset="0"/>
                <a:ea typeface="Heading Now 11-18"/>
                <a:cs typeface="Heading Now 11-18"/>
                <a:sym typeface="Heading Now 11-18"/>
              </a:rPr>
              <a:t>y_train</a:t>
            </a:r>
            <a:r>
              <a:rPr lang="en-US" sz="998" dirty="0">
                <a:solidFill>
                  <a:srgbClr val="000000"/>
                </a:solidFill>
                <a:latin typeface="Aptos" panose="020B0004020202020204" pitchFamily="34" charset="0"/>
                <a:ea typeface="Heading Now 11-18"/>
                <a:cs typeface="Heading Now 11-18"/>
                <a:sym typeface="Heading Now 11-18"/>
              </a:rPr>
              <a:t> sets are used for training and fitting the model. The </a:t>
            </a:r>
            <a:r>
              <a:rPr lang="en-US" sz="998" dirty="0" err="1">
                <a:solidFill>
                  <a:srgbClr val="000000"/>
                </a:solidFill>
                <a:latin typeface="Aptos" panose="020B0004020202020204" pitchFamily="34" charset="0"/>
                <a:ea typeface="Heading Now 11-18"/>
                <a:cs typeface="Heading Now 11-18"/>
                <a:sym typeface="Heading Now 11-18"/>
              </a:rPr>
              <a:t>X_test</a:t>
            </a:r>
            <a:r>
              <a:rPr lang="en-US" sz="998" dirty="0">
                <a:solidFill>
                  <a:srgbClr val="000000"/>
                </a:solidFill>
                <a:latin typeface="Aptos" panose="020B0004020202020204" pitchFamily="34" charset="0"/>
                <a:ea typeface="Heading Now 11-18"/>
                <a:cs typeface="Heading Now 11-18"/>
                <a:sym typeface="Heading Now 11-18"/>
              </a:rPr>
              <a:t> and </a:t>
            </a:r>
            <a:r>
              <a:rPr lang="en-US" sz="998" dirty="0" err="1">
                <a:solidFill>
                  <a:srgbClr val="000000"/>
                </a:solidFill>
                <a:latin typeface="Aptos" panose="020B0004020202020204" pitchFamily="34" charset="0"/>
                <a:ea typeface="Heading Now 11-18"/>
                <a:cs typeface="Heading Now 11-18"/>
                <a:sym typeface="Heading Now 11-18"/>
              </a:rPr>
              <a:t>y_test</a:t>
            </a:r>
            <a:r>
              <a:rPr lang="en-US" sz="998" dirty="0">
                <a:solidFill>
                  <a:srgbClr val="000000"/>
                </a:solidFill>
                <a:latin typeface="Aptos" panose="020B0004020202020204" pitchFamily="34" charset="0"/>
                <a:ea typeface="Heading Now 11-18"/>
                <a:cs typeface="Heading Now 11-18"/>
                <a:sym typeface="Heading Now 11-18"/>
              </a:rPr>
              <a:t> sets are used for testing the model if it’s </a:t>
            </a:r>
          </a:p>
          <a:p>
            <a:pPr algn="l">
              <a:lnSpc>
                <a:spcPts val="2193"/>
              </a:lnSpc>
            </a:pPr>
            <a:r>
              <a:rPr lang="en-US" sz="996" spc="1" dirty="0">
                <a:solidFill>
                  <a:srgbClr val="000000"/>
                </a:solidFill>
                <a:latin typeface="Aptos" panose="020B0004020202020204" pitchFamily="34" charset="0"/>
                <a:ea typeface="Heading Now 11-18"/>
                <a:cs typeface="Heading Now 11-18"/>
                <a:sym typeface="Heading Now 11-18"/>
              </a:rPr>
              <a:t>predicting the right outputs/labels. we can explicitly test the size of the train and test sets. It is suggested to keep our train sets </a:t>
            </a:r>
          </a:p>
          <a:p>
            <a:pPr algn="l">
              <a:lnSpc>
                <a:spcPts val="566"/>
              </a:lnSpc>
            </a:pPr>
            <a:r>
              <a:rPr lang="en-US" sz="996" spc="0" dirty="0">
                <a:solidFill>
                  <a:srgbClr val="000000"/>
                </a:solidFill>
                <a:latin typeface="Aptos" panose="020B0004020202020204" pitchFamily="34" charset="0"/>
                <a:ea typeface="Heading Now 11-18"/>
                <a:cs typeface="Heading Now 11-18"/>
                <a:sym typeface="Heading Now 11-18"/>
              </a:rPr>
              <a:t>larger than the test sets.</a:t>
            </a:r>
          </a:p>
          <a:p>
            <a:pPr algn="l">
              <a:lnSpc>
                <a:spcPts val="2490"/>
              </a:lnSpc>
            </a:pPr>
            <a:r>
              <a:rPr lang="en-US" sz="996" spc="0" dirty="0">
                <a:solidFill>
                  <a:srgbClr val="000000"/>
                </a:solidFill>
                <a:latin typeface="Aptos" panose="020B0004020202020204" pitchFamily="34" charset="0"/>
                <a:ea typeface="Heading Now 11-18"/>
                <a:cs typeface="Heading Now 11-18"/>
                <a:sym typeface="Heading Now 11-18"/>
              </a:rPr>
              <a:t>The </a:t>
            </a:r>
            <a:r>
              <a:rPr lang="en-US" sz="996" spc="0" dirty="0" err="1">
                <a:solidFill>
                  <a:srgbClr val="000000"/>
                </a:solidFill>
                <a:latin typeface="Aptos" panose="020B0004020202020204" pitchFamily="34" charset="0"/>
                <a:ea typeface="Heading Now 11-18"/>
                <a:cs typeface="Heading Now 11-18"/>
                <a:sym typeface="Heading Now 11-18"/>
              </a:rPr>
              <a:t>train_test_split</a:t>
            </a:r>
            <a:r>
              <a:rPr lang="en-US" sz="996" spc="0" dirty="0">
                <a:solidFill>
                  <a:srgbClr val="000000"/>
                </a:solidFill>
                <a:latin typeface="Aptos" panose="020B0004020202020204" pitchFamily="34" charset="0"/>
                <a:ea typeface="Heading Now 11-18"/>
                <a:cs typeface="Heading Now 11-18"/>
                <a:sym typeface="Heading Now 11-18"/>
              </a:rPr>
              <a:t>() method is used to split our data into train and test sets. </a:t>
            </a:r>
          </a:p>
          <a:p>
            <a:pPr algn="l">
              <a:lnSpc>
                <a:spcPts val="1853"/>
              </a:lnSpc>
            </a:pPr>
            <a:r>
              <a:rPr lang="en-US" sz="996" dirty="0">
                <a:solidFill>
                  <a:srgbClr val="000000"/>
                </a:solidFill>
                <a:latin typeface="Aptos" panose="020B0004020202020204" pitchFamily="34" charset="0"/>
                <a:ea typeface="Heading Now 11-18"/>
                <a:cs typeface="Heading Now 11-18"/>
                <a:sym typeface="Heading Now 11-18"/>
              </a:rPr>
              <a:t>First, we need to divide our data into features (X) and labels (y). The </a:t>
            </a:r>
            <a:r>
              <a:rPr lang="en-US" sz="996" dirty="0" err="1">
                <a:solidFill>
                  <a:srgbClr val="000000"/>
                </a:solidFill>
                <a:latin typeface="Aptos" panose="020B0004020202020204" pitchFamily="34" charset="0"/>
                <a:ea typeface="Heading Now 11-18"/>
                <a:cs typeface="Heading Now 11-18"/>
                <a:sym typeface="Heading Now 11-18"/>
              </a:rPr>
              <a:t>dataframe</a:t>
            </a:r>
            <a:r>
              <a:rPr lang="en-US" sz="996" dirty="0">
                <a:solidFill>
                  <a:srgbClr val="000000"/>
                </a:solidFill>
                <a:latin typeface="Aptos" panose="020B0004020202020204" pitchFamily="34" charset="0"/>
                <a:ea typeface="Heading Now 11-18"/>
                <a:cs typeface="Heading Now 11-18"/>
                <a:sym typeface="Heading Now 11-18"/>
              </a:rPr>
              <a:t> gets divided into </a:t>
            </a:r>
            <a:r>
              <a:rPr lang="en-US" sz="996" dirty="0" err="1">
                <a:solidFill>
                  <a:srgbClr val="000000"/>
                </a:solidFill>
                <a:latin typeface="Aptos" panose="020B0004020202020204" pitchFamily="34" charset="0"/>
                <a:ea typeface="Heading Now 11-18"/>
                <a:cs typeface="Heading Now 11-18"/>
                <a:sym typeface="Heading Now 11-18"/>
              </a:rPr>
              <a:t>X_train,X_test</a:t>
            </a:r>
            <a:r>
              <a:rPr lang="en-US" sz="996" dirty="0">
                <a:solidFill>
                  <a:srgbClr val="000000"/>
                </a:solidFill>
                <a:latin typeface="Aptos" panose="020B0004020202020204" pitchFamily="34" charset="0"/>
                <a:ea typeface="Heading Now 11-18"/>
                <a:cs typeface="Heading Now 11-18"/>
                <a:sym typeface="Heading Now 11-18"/>
              </a:rPr>
              <a:t> , </a:t>
            </a:r>
            <a:r>
              <a:rPr lang="en-US" sz="996" dirty="0" err="1">
                <a:solidFill>
                  <a:srgbClr val="000000"/>
                </a:solidFill>
                <a:latin typeface="Aptos" panose="020B0004020202020204" pitchFamily="34" charset="0"/>
                <a:ea typeface="Heading Now 11-18"/>
                <a:cs typeface="Heading Now 11-18"/>
                <a:sym typeface="Heading Now 11-18"/>
              </a:rPr>
              <a:t>y_train</a:t>
            </a:r>
            <a:r>
              <a:rPr lang="en-US" sz="996" dirty="0">
                <a:solidFill>
                  <a:srgbClr val="000000"/>
                </a:solidFill>
                <a:latin typeface="Aptos" panose="020B0004020202020204" pitchFamily="34" charset="0"/>
                <a:ea typeface="Heading Now 11-18"/>
                <a:cs typeface="Heading Now 11-18"/>
                <a:sym typeface="Heading Now 11-18"/>
              </a:rPr>
              <a:t> </a:t>
            </a:r>
            <a:r>
              <a:rPr lang="en-US" sz="996" dirty="0" err="1">
                <a:solidFill>
                  <a:srgbClr val="000000"/>
                </a:solidFill>
                <a:latin typeface="Aptos" panose="020B0004020202020204" pitchFamily="34" charset="0"/>
                <a:ea typeface="Heading Now 11-18"/>
                <a:cs typeface="Heading Now 11-18"/>
                <a:sym typeface="Heading Now 11-18"/>
              </a:rPr>
              <a:t>andy_test</a:t>
            </a:r>
            <a:r>
              <a:rPr lang="en-US" sz="996" dirty="0">
                <a:solidFill>
                  <a:srgbClr val="000000"/>
                </a:solidFill>
                <a:latin typeface="Aptos" panose="020B0004020202020204" pitchFamily="34" charset="0"/>
                <a:ea typeface="Heading Now 11-18"/>
                <a:cs typeface="Heading Now 11-18"/>
                <a:sym typeface="Heading Now 11-18"/>
              </a:rPr>
              <a:t>. </a:t>
            </a:r>
          </a:p>
          <a:p>
            <a:pPr algn="l">
              <a:lnSpc>
                <a:spcPts val="903"/>
              </a:lnSpc>
            </a:pPr>
            <a:r>
              <a:rPr lang="en-US" sz="998" dirty="0" err="1">
                <a:solidFill>
                  <a:srgbClr val="000000"/>
                </a:solidFill>
                <a:latin typeface="Aptos" panose="020B0004020202020204" pitchFamily="34" charset="0"/>
                <a:ea typeface="Heading Now 11-18"/>
                <a:cs typeface="Heading Now 11-18"/>
                <a:sym typeface="Heading Now 11-18"/>
              </a:rPr>
              <a:t>X_train</a:t>
            </a:r>
            <a:r>
              <a:rPr lang="en-US" sz="998" dirty="0">
                <a:solidFill>
                  <a:srgbClr val="000000"/>
                </a:solidFill>
                <a:latin typeface="Aptos" panose="020B0004020202020204" pitchFamily="34" charset="0"/>
                <a:ea typeface="Heading Now 11-18"/>
                <a:cs typeface="Heading Now 11-18"/>
                <a:sym typeface="Heading Now 11-18"/>
              </a:rPr>
              <a:t> and </a:t>
            </a:r>
            <a:r>
              <a:rPr lang="en-US" sz="998" dirty="0" err="1">
                <a:solidFill>
                  <a:srgbClr val="000000"/>
                </a:solidFill>
                <a:latin typeface="Aptos" panose="020B0004020202020204" pitchFamily="34" charset="0"/>
                <a:ea typeface="Heading Now 11-18"/>
                <a:cs typeface="Heading Now 11-18"/>
                <a:sym typeface="Heading Now 11-18"/>
              </a:rPr>
              <a:t>y_train</a:t>
            </a:r>
            <a:r>
              <a:rPr lang="en-US" sz="998" dirty="0">
                <a:solidFill>
                  <a:srgbClr val="000000"/>
                </a:solidFill>
                <a:latin typeface="Aptos" panose="020B0004020202020204" pitchFamily="34" charset="0"/>
                <a:ea typeface="Heading Now 11-18"/>
                <a:cs typeface="Heading Now 11-18"/>
                <a:sym typeface="Heading Now 11-18"/>
              </a:rPr>
              <a:t> sets are used for training and fitting the model. The </a:t>
            </a:r>
            <a:r>
              <a:rPr lang="en-US" sz="998" dirty="0" err="1">
                <a:solidFill>
                  <a:srgbClr val="000000"/>
                </a:solidFill>
                <a:latin typeface="Aptos" panose="020B0004020202020204" pitchFamily="34" charset="0"/>
                <a:ea typeface="Heading Now 11-18"/>
                <a:cs typeface="Heading Now 11-18"/>
                <a:sym typeface="Heading Now 11-18"/>
              </a:rPr>
              <a:t>X_test</a:t>
            </a:r>
            <a:r>
              <a:rPr lang="en-US" sz="998" dirty="0">
                <a:solidFill>
                  <a:srgbClr val="000000"/>
                </a:solidFill>
                <a:latin typeface="Aptos" panose="020B0004020202020204" pitchFamily="34" charset="0"/>
                <a:ea typeface="Heading Now 11-18"/>
                <a:cs typeface="Heading Now 11-18"/>
                <a:sym typeface="Heading Now 11-18"/>
              </a:rPr>
              <a:t> and </a:t>
            </a:r>
            <a:r>
              <a:rPr lang="en-US" sz="998" dirty="0" err="1">
                <a:solidFill>
                  <a:srgbClr val="000000"/>
                </a:solidFill>
                <a:latin typeface="Aptos" panose="020B0004020202020204" pitchFamily="34" charset="0"/>
                <a:ea typeface="Heading Now 11-18"/>
                <a:cs typeface="Heading Now 11-18"/>
                <a:sym typeface="Heading Now 11-18"/>
              </a:rPr>
              <a:t>y_test</a:t>
            </a:r>
            <a:r>
              <a:rPr lang="en-US" sz="998" dirty="0">
                <a:solidFill>
                  <a:srgbClr val="000000"/>
                </a:solidFill>
                <a:latin typeface="Aptos" panose="020B0004020202020204" pitchFamily="34" charset="0"/>
                <a:ea typeface="Heading Now 11-18"/>
                <a:cs typeface="Heading Now 11-18"/>
                <a:sym typeface="Heading Now 11-18"/>
              </a:rPr>
              <a:t> sets are used for testing the model if it’s </a:t>
            </a:r>
          </a:p>
          <a:p>
            <a:pPr algn="l">
              <a:lnSpc>
                <a:spcPts val="1862"/>
              </a:lnSpc>
            </a:pPr>
            <a:r>
              <a:rPr lang="en-US" sz="996" spc="1" dirty="0">
                <a:solidFill>
                  <a:srgbClr val="000000"/>
                </a:solidFill>
                <a:latin typeface="Aptos" panose="020B0004020202020204" pitchFamily="34" charset="0"/>
                <a:ea typeface="Heading Now 11-18"/>
                <a:cs typeface="Heading Now 11-18"/>
                <a:sym typeface="Heading Now 11-18"/>
              </a:rPr>
              <a:t>predicting the right outputs/labels. we can explicitly test the size of the train and test sets. It is suggested to keep our train sets </a:t>
            </a:r>
          </a:p>
          <a:p>
            <a:pPr algn="l">
              <a:lnSpc>
                <a:spcPts val="897"/>
              </a:lnSpc>
            </a:pPr>
            <a:r>
              <a:rPr lang="en-US" sz="996" spc="0" dirty="0">
                <a:solidFill>
                  <a:srgbClr val="000000"/>
                </a:solidFill>
                <a:latin typeface="Aptos" panose="020B0004020202020204" pitchFamily="34" charset="0"/>
                <a:ea typeface="Heading Now 11-18"/>
                <a:cs typeface="Heading Now 11-18"/>
                <a:sym typeface="Heading Now 11-18"/>
              </a:rPr>
              <a:t>larger than the test sets.</a:t>
            </a:r>
          </a:p>
        </p:txBody>
      </p:sp>
      <p:sp>
        <p:nvSpPr>
          <p:cNvPr id="14" name="TextBox 14"/>
          <p:cNvSpPr txBox="1"/>
          <p:nvPr/>
        </p:nvSpPr>
        <p:spPr>
          <a:xfrm>
            <a:off x="738016" y="2974457"/>
            <a:ext cx="29804" cy="291465"/>
          </a:xfrm>
          <a:prstGeom prst="rect">
            <a:avLst/>
          </a:prstGeom>
        </p:spPr>
        <p:txBody>
          <a:bodyPr lIns="0" tIns="0" rIns="0" bIns="0" rtlCol="0" anchor="t">
            <a:spAutoFit/>
          </a:bodyPr>
          <a:lstStyle/>
          <a:p>
            <a:pPr algn="l">
              <a:lnSpc>
                <a:spcPts val="2490"/>
              </a:lnSpc>
            </a:pPr>
            <a:r>
              <a:rPr lang="en-US" sz="996">
                <a:solidFill>
                  <a:srgbClr val="000000"/>
                </a:solidFill>
                <a:latin typeface="字由点字典黑 45J"/>
                <a:ea typeface="字由点字典黑 45J"/>
                <a:cs typeface="字由点字典黑 45J"/>
                <a:sym typeface="字由点字典黑 45J"/>
              </a:rPr>
              <a:t> </a:t>
            </a:r>
          </a:p>
        </p:txBody>
      </p:sp>
      <p:sp>
        <p:nvSpPr>
          <p:cNvPr id="15" name="TextBox 15"/>
          <p:cNvSpPr txBox="1"/>
          <p:nvPr/>
        </p:nvSpPr>
        <p:spPr>
          <a:xfrm>
            <a:off x="401422" y="3069707"/>
            <a:ext cx="8501129" cy="196215"/>
          </a:xfrm>
          <a:prstGeom prst="rect">
            <a:avLst/>
          </a:prstGeom>
        </p:spPr>
        <p:txBody>
          <a:bodyPr lIns="0" tIns="0" rIns="0" bIns="0" rtlCol="0" anchor="t">
            <a:spAutoFit/>
          </a:bodyPr>
          <a:lstStyle/>
          <a:p>
            <a:pPr algn="l">
              <a:lnSpc>
                <a:spcPts val="1380"/>
              </a:lnSpc>
            </a:pPr>
            <a:r>
              <a:rPr lang="en-US" sz="996" dirty="0" err="1">
                <a:solidFill>
                  <a:srgbClr val="000000"/>
                </a:solidFill>
                <a:latin typeface="Heading Now 31-38"/>
                <a:ea typeface="Heading Now 31-38"/>
                <a:cs typeface="Heading Now 31-38"/>
                <a:sym typeface="Heading Now 31-38"/>
              </a:rPr>
              <a:t>Trainset:</a:t>
            </a:r>
            <a:r>
              <a:rPr lang="en-US" sz="996" i="1" dirty="0" err="1">
                <a:solidFill>
                  <a:srgbClr val="000000"/>
                </a:solidFill>
                <a:latin typeface="Heading Now 31-38 Italics"/>
                <a:ea typeface="Heading Now 31-38 Italics"/>
                <a:cs typeface="Heading Now 31-38 Italics"/>
                <a:sym typeface="Heading Now 31-38 Italics"/>
              </a:rPr>
              <a:t>Thetraining</a:t>
            </a:r>
            <a:r>
              <a:rPr lang="en-US" sz="996" i="1" dirty="0">
                <a:solidFill>
                  <a:srgbClr val="000000"/>
                </a:solidFill>
                <a:latin typeface="Heading Now 31-38 Italics"/>
                <a:ea typeface="Heading Now 31-38 Italics"/>
                <a:cs typeface="Heading Now 31-38 Italics"/>
                <a:sym typeface="Heading Now 31-38 Italics"/>
              </a:rPr>
              <a:t> datasetisasetofdatathatwasutilizedtofitthemodel.Thedatasetonwhichthemodelistrained.Thisdata</a:t>
            </a:r>
          </a:p>
        </p:txBody>
      </p:sp>
      <p:sp>
        <p:nvSpPr>
          <p:cNvPr id="16" name="TextBox 16"/>
          <p:cNvSpPr txBox="1"/>
          <p:nvPr/>
        </p:nvSpPr>
        <p:spPr>
          <a:xfrm>
            <a:off x="401422" y="3244967"/>
            <a:ext cx="8523199" cy="925039"/>
          </a:xfrm>
          <a:prstGeom prst="rect">
            <a:avLst/>
          </a:prstGeom>
        </p:spPr>
        <p:txBody>
          <a:bodyPr lIns="0" tIns="0" rIns="0" bIns="0" rtlCol="0" anchor="t">
            <a:spAutoFit/>
          </a:bodyPr>
          <a:lstStyle/>
          <a:p>
            <a:pPr algn="l">
              <a:lnSpc>
                <a:spcPts val="1380"/>
              </a:lnSpc>
            </a:pPr>
            <a:r>
              <a:rPr lang="en-US" sz="996" i="1" spc="2" dirty="0">
                <a:solidFill>
                  <a:srgbClr val="000000"/>
                </a:solidFill>
                <a:latin typeface="Heading Now 31-38 Italics"/>
                <a:ea typeface="Heading Now 31-38 Italics"/>
                <a:cs typeface="Heading Now 31-38 Italics"/>
                <a:sym typeface="Heading Now 31-38 Italics"/>
              </a:rPr>
              <a:t>is seen and learned by the model.</a:t>
            </a:r>
          </a:p>
          <a:p>
            <a:pPr algn="l">
              <a:lnSpc>
                <a:spcPts val="2496"/>
              </a:lnSpc>
            </a:pPr>
            <a:r>
              <a:rPr lang="en-US" sz="998" dirty="0">
                <a:solidFill>
                  <a:srgbClr val="000000"/>
                </a:solidFill>
                <a:latin typeface="Heading Now 31-38"/>
                <a:ea typeface="Heading Now 31-38"/>
                <a:cs typeface="Heading Now 31-38"/>
                <a:sym typeface="Heading Now 31-38"/>
              </a:rPr>
              <a:t>Test </a:t>
            </a:r>
            <a:r>
              <a:rPr lang="en-US" sz="998" dirty="0" err="1">
                <a:solidFill>
                  <a:srgbClr val="000000"/>
                </a:solidFill>
                <a:latin typeface="Heading Now 31-38"/>
                <a:ea typeface="Heading Now 31-38"/>
                <a:cs typeface="Heading Now 31-38"/>
                <a:sym typeface="Heading Now 31-38"/>
              </a:rPr>
              <a:t>set:</a:t>
            </a:r>
            <a:r>
              <a:rPr lang="en-US" sz="998" i="1" dirty="0" err="1">
                <a:solidFill>
                  <a:srgbClr val="000000"/>
                </a:solidFill>
                <a:latin typeface="Heading Now 31-38 Italics"/>
                <a:ea typeface="Heading Now 31-38 Italics"/>
                <a:cs typeface="Heading Now 31-38 Italics"/>
                <a:sym typeface="Heading Now 31-38 Italics"/>
              </a:rPr>
              <a:t>The</a:t>
            </a:r>
            <a:r>
              <a:rPr lang="en-US" sz="998" i="1" dirty="0">
                <a:solidFill>
                  <a:srgbClr val="000000"/>
                </a:solidFill>
                <a:latin typeface="Heading Now 31-38 Italics"/>
                <a:ea typeface="Heading Now 31-38 Italics"/>
                <a:cs typeface="Heading Now 31-38 Italics"/>
                <a:sym typeface="Heading Now 31-38 Italics"/>
              </a:rPr>
              <a:t> test dataset is a subset of the training dataset that is utilized to give an accurate evaluation of a final model fit.</a:t>
            </a:r>
          </a:p>
          <a:p>
            <a:pPr algn="l">
              <a:lnSpc>
                <a:spcPts val="1855"/>
              </a:lnSpc>
            </a:pPr>
            <a:r>
              <a:rPr lang="en-US" sz="996" dirty="0">
                <a:solidFill>
                  <a:srgbClr val="000000"/>
                </a:solidFill>
                <a:latin typeface="Heading Now 31-38"/>
                <a:ea typeface="Heading Now 31-38"/>
                <a:cs typeface="Heading Now 31-38"/>
                <a:sym typeface="Heading Now 31-38"/>
              </a:rPr>
              <a:t>validation </a:t>
            </a:r>
            <a:r>
              <a:rPr lang="en-US" sz="996" dirty="0" err="1">
                <a:solidFill>
                  <a:srgbClr val="000000"/>
                </a:solidFill>
                <a:latin typeface="Heading Now 31-38"/>
                <a:ea typeface="Heading Now 31-38"/>
                <a:cs typeface="Heading Now 31-38"/>
                <a:sym typeface="Heading Now 31-38"/>
              </a:rPr>
              <a:t>set:</a:t>
            </a:r>
            <a:r>
              <a:rPr lang="en-US" sz="996" i="1" dirty="0" err="1">
                <a:solidFill>
                  <a:srgbClr val="000000"/>
                </a:solidFill>
                <a:latin typeface="Heading Now 31-38 Italics"/>
                <a:ea typeface="Heading Now 31-38 Italics"/>
                <a:cs typeface="Heading Now 31-38 Italics"/>
                <a:sym typeface="Heading Now 31-38 Italics"/>
              </a:rPr>
              <a:t>A</a:t>
            </a:r>
            <a:r>
              <a:rPr lang="en-US" sz="996" i="1" dirty="0">
                <a:solidFill>
                  <a:srgbClr val="000000"/>
                </a:solidFill>
                <a:latin typeface="Heading Now 31-38 Italics"/>
                <a:ea typeface="Heading Now 31-38 Italics"/>
                <a:cs typeface="Heading Now 31-38 Italics"/>
                <a:sym typeface="Heading Now 31-38 Italics"/>
              </a:rPr>
              <a:t> validation dataset is a sample of data from your model’s training set that is used to estimate model performance </a:t>
            </a:r>
          </a:p>
          <a:p>
            <a:pPr algn="l">
              <a:lnSpc>
                <a:spcPts val="904"/>
              </a:lnSpc>
            </a:pPr>
            <a:r>
              <a:rPr lang="en-US" sz="996" i="1" spc="1" dirty="0">
                <a:solidFill>
                  <a:srgbClr val="000000"/>
                </a:solidFill>
                <a:latin typeface="Heading Now 31-38 Italics"/>
                <a:ea typeface="Heading Now 31-38 Italics"/>
                <a:cs typeface="Heading Now 31-38 Italics"/>
                <a:sym typeface="Heading Now 31-38 Italics"/>
              </a:rPr>
              <a:t>while tuning the model’s hyperparameters.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327904" y="2782824"/>
            <a:ext cx="3261360" cy="1818132"/>
          </a:xfrm>
          <a:custGeom>
            <a:avLst/>
            <a:gdLst/>
            <a:ahLst/>
            <a:cxnLst/>
            <a:rect l="l" t="t" r="r" b="b"/>
            <a:pathLst>
              <a:path w="3261360" h="1818132">
                <a:moveTo>
                  <a:pt x="0" y="0"/>
                </a:moveTo>
                <a:lnTo>
                  <a:pt x="3261360" y="0"/>
                </a:lnTo>
                <a:lnTo>
                  <a:pt x="3261360" y="1818132"/>
                </a:lnTo>
                <a:lnTo>
                  <a:pt x="0" y="1818132"/>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7543" y="4645304"/>
            <a:ext cx="80153" cy="24910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21</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297494"/>
            <a:ext cx="2225507" cy="186333"/>
          </a:xfrm>
          <a:prstGeom prst="rect">
            <a:avLst/>
          </a:prstGeom>
        </p:spPr>
        <p:txBody>
          <a:bodyPr lIns="0" tIns="0" rIns="0" bIns="0" rtlCol="0" anchor="t">
            <a:spAutoFit/>
          </a:bodyPr>
          <a:lstStyle/>
          <a:p>
            <a:pPr algn="l">
              <a:lnSpc>
                <a:spcPts val="1327"/>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Feature Scaling</a:t>
            </a:r>
          </a:p>
        </p:txBody>
      </p:sp>
      <p:sp>
        <p:nvSpPr>
          <p:cNvPr id="11" name="TextBox 11"/>
          <p:cNvSpPr txBox="1"/>
          <p:nvPr/>
        </p:nvSpPr>
        <p:spPr>
          <a:xfrm>
            <a:off x="1631937" y="838057"/>
            <a:ext cx="577891" cy="272415"/>
          </a:xfrm>
          <a:prstGeom prst="rect">
            <a:avLst/>
          </a:prstGeom>
        </p:spPr>
        <p:txBody>
          <a:bodyPr lIns="0" tIns="0" rIns="0" bIns="0" rtlCol="0" anchor="t">
            <a:spAutoFit/>
          </a:bodyPr>
          <a:lstStyle/>
          <a:p>
            <a:pPr algn="l">
              <a:lnSpc>
                <a:spcPts val="2490"/>
              </a:lnSpc>
            </a:pPr>
            <a:r>
              <a:rPr lang="en-US" sz="996" spc="796">
                <a:solidFill>
                  <a:srgbClr val="000000"/>
                </a:solidFill>
                <a:latin typeface="IBM Plex Sans"/>
                <a:ea typeface="IBM Plex Sans"/>
                <a:cs typeface="IBM Plex Sans"/>
                <a:sym typeface="IBM Plex Sans"/>
              </a:rPr>
              <a:t> →</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01422" y="809482"/>
            <a:ext cx="1665542" cy="275845"/>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Sepal Length, </a:t>
            </a:r>
            <a:r>
              <a:rPr lang="en-US" sz="996" dirty="0" err="1">
                <a:solidFill>
                  <a:srgbClr val="000000"/>
                </a:solidFill>
                <a:latin typeface="Aptos" panose="020B0004020202020204" pitchFamily="34" charset="0"/>
                <a:ea typeface="Heading Now 11-18"/>
                <a:cs typeface="Heading Now 11-18"/>
                <a:sym typeface="Heading Now 11-18"/>
              </a:rPr>
              <a:t>SepalWidth</a:t>
            </a:r>
            <a:endParaRPr lang="en-US" sz="996" dirty="0">
              <a:solidFill>
                <a:srgbClr val="000000"/>
              </a:solidFill>
              <a:latin typeface="Aptos" panose="020B0004020202020204" pitchFamily="34" charset="0"/>
              <a:ea typeface="Heading Now 11-18"/>
              <a:cs typeface="Heading Now 11-18"/>
              <a:sym typeface="Heading Now 11-18"/>
            </a:endParaRPr>
          </a:p>
        </p:txBody>
      </p:sp>
      <p:sp>
        <p:nvSpPr>
          <p:cNvPr id="14" name="TextBox 14"/>
          <p:cNvSpPr txBox="1"/>
          <p:nvPr/>
        </p:nvSpPr>
        <p:spPr>
          <a:xfrm>
            <a:off x="2232022" y="809482"/>
            <a:ext cx="1980486" cy="275845"/>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What is the magnitude &amp; Units.</a:t>
            </a:r>
          </a:p>
        </p:txBody>
      </p:sp>
      <p:sp>
        <p:nvSpPr>
          <p:cNvPr id="15" name="TextBox 15"/>
          <p:cNvSpPr txBox="1"/>
          <p:nvPr/>
        </p:nvSpPr>
        <p:spPr>
          <a:xfrm>
            <a:off x="401422" y="1356855"/>
            <a:ext cx="8249450" cy="404085"/>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Most ML’s use Euclidean distance, hence without feature scaling, most of the algo’s neglect the Units and focus on </a:t>
            </a:r>
            <a:r>
              <a:rPr lang="en-US" sz="996" dirty="0" err="1">
                <a:solidFill>
                  <a:srgbClr val="000000"/>
                </a:solidFill>
                <a:latin typeface="Aptos" panose="020B0004020202020204" pitchFamily="34" charset="0"/>
                <a:ea typeface="Heading Now 11-18"/>
                <a:cs typeface="Heading Now 11-18"/>
                <a:sym typeface="Heading Now 11-18"/>
              </a:rPr>
              <a:t>Magnitude,in</a:t>
            </a:r>
            <a:endParaRPr lang="en-US" sz="996" dirty="0">
              <a:solidFill>
                <a:srgbClr val="000000"/>
              </a:solidFill>
              <a:latin typeface="Aptos" panose="020B0004020202020204" pitchFamily="34" charset="0"/>
              <a:ea typeface="Heading Now 11-18"/>
              <a:cs typeface="Heading Now 11-18"/>
              <a:sym typeface="Heading Now 11-18"/>
            </a:endParaRPr>
          </a:p>
          <a:p>
            <a:pPr algn="l">
              <a:lnSpc>
                <a:spcPts val="498"/>
              </a:lnSpc>
            </a:pPr>
            <a:r>
              <a:rPr lang="en-US" sz="996" spc="0" dirty="0">
                <a:solidFill>
                  <a:srgbClr val="000000"/>
                </a:solidFill>
                <a:latin typeface="Aptos" panose="020B0004020202020204" pitchFamily="34" charset="0"/>
                <a:ea typeface="Heading Now 11-18"/>
                <a:cs typeface="Heading Now 11-18"/>
                <a:sym typeface="Heading Now 11-18"/>
              </a:rPr>
              <a:t>that case the Euclidean distance may vary significantly →Hence, o/p will be impacted.</a:t>
            </a:r>
          </a:p>
        </p:txBody>
      </p:sp>
      <p:sp>
        <p:nvSpPr>
          <p:cNvPr id="16" name="TextBox 16"/>
          <p:cNvSpPr txBox="1"/>
          <p:nvPr/>
        </p:nvSpPr>
        <p:spPr>
          <a:xfrm>
            <a:off x="566014" y="2085327"/>
            <a:ext cx="107928" cy="758669"/>
          </a:xfrm>
          <a:prstGeom prst="rect">
            <a:avLst/>
          </a:prstGeom>
        </p:spPr>
        <p:txBody>
          <a:bodyPr lIns="0" tIns="0" rIns="0" bIns="0" rtlCol="0" anchor="t">
            <a:spAutoFit/>
          </a:bodyPr>
          <a:lstStyle/>
          <a:p>
            <a:pPr algn="just">
              <a:lnSpc>
                <a:spcPts val="2490"/>
              </a:lnSpc>
            </a:pPr>
            <a:r>
              <a:rPr lang="en-US" sz="996" dirty="0">
                <a:solidFill>
                  <a:srgbClr val="000000"/>
                </a:solidFill>
                <a:latin typeface="Aptos" panose="020B0004020202020204" pitchFamily="34" charset="0"/>
                <a:ea typeface="Heading Now 11-18"/>
                <a:cs typeface="Heading Now 11-18"/>
                <a:sym typeface="Heading Now 11-18"/>
              </a:rPr>
              <a:t>1.</a:t>
            </a:r>
            <a:r>
              <a:rPr lang="en-US" sz="996" dirty="0">
                <a:solidFill>
                  <a:srgbClr val="FFFFFF"/>
                </a:solidFill>
                <a:latin typeface="Aptos" panose="020B0004020202020204" pitchFamily="34" charset="0"/>
                <a:ea typeface="Heading Now 11-18"/>
                <a:cs typeface="Heading Now 11-18"/>
                <a:sym typeface="Heading Now 11-18"/>
              </a:rPr>
              <a:t> </a:t>
            </a:r>
          </a:p>
          <a:p>
            <a:pPr algn="just">
              <a:lnSpc>
                <a:spcPts val="498"/>
              </a:lnSpc>
            </a:pPr>
            <a:r>
              <a:rPr lang="en-US" sz="996" dirty="0">
                <a:solidFill>
                  <a:srgbClr val="000000"/>
                </a:solidFill>
                <a:latin typeface="Aptos" panose="020B0004020202020204" pitchFamily="34" charset="0"/>
                <a:ea typeface="Heading Now 11-18"/>
                <a:cs typeface="Heading Now 11-18"/>
                <a:sym typeface="Heading Now 11-18"/>
              </a:rPr>
              <a:t>2.</a:t>
            </a:r>
          </a:p>
          <a:p>
            <a:pPr algn="just">
              <a:lnSpc>
                <a:spcPts val="2337"/>
              </a:lnSpc>
            </a:pPr>
            <a:r>
              <a:rPr lang="en-US" sz="996" dirty="0">
                <a:solidFill>
                  <a:srgbClr val="000000"/>
                </a:solidFill>
                <a:latin typeface="Aptos" panose="020B0004020202020204" pitchFamily="34" charset="0"/>
                <a:ea typeface="Heading Now 11-18"/>
                <a:cs typeface="Heading Now 11-18"/>
                <a:sym typeface="Heading Now 11-18"/>
              </a:rPr>
              <a:t>3.</a:t>
            </a:r>
          </a:p>
          <a:p>
            <a:pPr algn="just">
              <a:lnSpc>
                <a:spcPts val="498"/>
              </a:lnSpc>
            </a:pPr>
            <a:r>
              <a:rPr lang="en-US" sz="996" dirty="0">
                <a:solidFill>
                  <a:srgbClr val="000000"/>
                </a:solidFill>
                <a:latin typeface="Aptos" panose="020B0004020202020204" pitchFamily="34" charset="0"/>
                <a:ea typeface="Heading Now 11-18"/>
                <a:cs typeface="Heading Now 11-18"/>
                <a:sym typeface="Heading Now 11-18"/>
              </a:rPr>
              <a:t>4.</a:t>
            </a:r>
          </a:p>
        </p:txBody>
      </p:sp>
      <p:sp>
        <p:nvSpPr>
          <p:cNvPr id="17" name="TextBox 17"/>
          <p:cNvSpPr txBox="1"/>
          <p:nvPr/>
        </p:nvSpPr>
        <p:spPr>
          <a:xfrm>
            <a:off x="858622" y="2085327"/>
            <a:ext cx="1287247" cy="758669"/>
          </a:xfrm>
          <a:prstGeom prst="rect">
            <a:avLst/>
          </a:prstGeom>
        </p:spPr>
        <p:txBody>
          <a:bodyPr lIns="0" tIns="0" rIns="0" bIns="0" rtlCol="0" anchor="t">
            <a:spAutoFit/>
          </a:bodyPr>
          <a:lstStyle/>
          <a:p>
            <a:pPr algn="l">
              <a:lnSpc>
                <a:spcPts val="2490"/>
              </a:lnSpc>
            </a:pPr>
            <a:r>
              <a:rPr lang="en-US" sz="996" dirty="0" err="1">
                <a:solidFill>
                  <a:srgbClr val="000000"/>
                </a:solidFill>
                <a:latin typeface="Aptos" panose="020B0004020202020204" pitchFamily="34" charset="0"/>
                <a:ea typeface="Heading Now 11-18"/>
                <a:cs typeface="Heading Now 11-18"/>
                <a:sym typeface="Heading Now 11-18"/>
              </a:rPr>
              <a:t>Standardisation</a:t>
            </a:r>
            <a:endParaRPr lang="en-US" sz="996" dirty="0">
              <a:solidFill>
                <a:srgbClr val="000000"/>
              </a:solidFill>
              <a:latin typeface="Aptos" panose="020B0004020202020204" pitchFamily="34" charset="0"/>
              <a:ea typeface="Heading Now 11-18"/>
              <a:cs typeface="Heading Now 11-18"/>
              <a:sym typeface="Heading Now 11-18"/>
            </a:endParaRPr>
          </a:p>
          <a:p>
            <a:pPr algn="l">
              <a:lnSpc>
                <a:spcPts val="498"/>
              </a:lnSpc>
            </a:pPr>
            <a:r>
              <a:rPr lang="en-US" sz="996" dirty="0">
                <a:solidFill>
                  <a:srgbClr val="000000"/>
                </a:solidFill>
                <a:latin typeface="Aptos" panose="020B0004020202020204" pitchFamily="34" charset="0"/>
                <a:ea typeface="Heading Now 11-18"/>
                <a:cs typeface="Heading Now 11-18"/>
                <a:sym typeface="Heading Now 11-18"/>
              </a:rPr>
              <a:t>Mean Normalization</a:t>
            </a:r>
          </a:p>
          <a:p>
            <a:pPr algn="l">
              <a:lnSpc>
                <a:spcPts val="2337"/>
              </a:lnSpc>
            </a:pPr>
            <a:r>
              <a:rPr lang="en-US" sz="996" dirty="0">
                <a:solidFill>
                  <a:srgbClr val="000000"/>
                </a:solidFill>
                <a:latin typeface="Aptos" panose="020B0004020202020204" pitchFamily="34" charset="0"/>
                <a:ea typeface="Heading Now 11-18"/>
                <a:cs typeface="Heading Now 11-18"/>
                <a:sym typeface="Heading Now 11-18"/>
              </a:rPr>
              <a:t>Min-Max Scaling</a:t>
            </a:r>
          </a:p>
          <a:p>
            <a:pPr algn="l">
              <a:lnSpc>
                <a:spcPts val="498"/>
              </a:lnSpc>
            </a:pPr>
            <a:r>
              <a:rPr lang="en-US" sz="996" dirty="0">
                <a:solidFill>
                  <a:srgbClr val="000000"/>
                </a:solidFill>
                <a:latin typeface="Aptos" panose="020B0004020202020204" pitchFamily="34" charset="0"/>
                <a:ea typeface="Heading Now 11-18"/>
                <a:cs typeface="Heading Now 11-18"/>
                <a:sym typeface="Heading Now 11-18"/>
              </a:rPr>
              <a:t>Vector Scaling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6875" y="4698949"/>
            <a:ext cx="103137"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22</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3734791"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Regression Algorithms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295351" y="4645304"/>
            <a:ext cx="104404"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23</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1593847"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Regression</a:t>
            </a:r>
          </a:p>
        </p:txBody>
      </p:sp>
      <p:sp>
        <p:nvSpPr>
          <p:cNvPr id="10" name="TextBox 10"/>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1" name="TextBox 11"/>
          <p:cNvSpPr txBox="1"/>
          <p:nvPr/>
        </p:nvSpPr>
        <p:spPr>
          <a:xfrm>
            <a:off x="491033" y="1350645"/>
            <a:ext cx="3429333" cy="1533782"/>
          </a:xfrm>
          <a:prstGeom prst="rect">
            <a:avLst/>
          </a:prstGeom>
        </p:spPr>
        <p:txBody>
          <a:bodyPr lIns="0" tIns="0" rIns="0" bIns="0" rtlCol="0" anchor="t">
            <a:spAutoFit/>
          </a:bodyPr>
          <a:lstStyle/>
          <a:p>
            <a:pPr algn="l">
              <a:lnSpc>
                <a:spcPts val="1699"/>
              </a:lnSpc>
            </a:pPr>
            <a:r>
              <a:rPr lang="en-US" sz="1200" spc="1" dirty="0">
                <a:solidFill>
                  <a:srgbClr val="000000"/>
                </a:solidFill>
                <a:latin typeface="Aptos" panose="020B0004020202020204" pitchFamily="34" charset="0"/>
                <a:ea typeface="Heading Now 11-18"/>
                <a:cs typeface="Heading Now 11-18"/>
                <a:sym typeface="Heading Now 11-18"/>
              </a:rPr>
              <a:t>Regression analysis is a form of predictive modelling technique which investigates the relationship between a dependent (target) and independent variable (s) (predictor). This technique is used for forecasting, time series modelling and finding the causal effect relationship between the variables.</a:t>
            </a:r>
          </a:p>
        </p:txBody>
      </p:sp>
      <p:sp>
        <p:nvSpPr>
          <p:cNvPr id="12" name="TextBox 12"/>
          <p:cNvSpPr txBox="1"/>
          <p:nvPr/>
        </p:nvSpPr>
        <p:spPr>
          <a:xfrm>
            <a:off x="4816259" y="1921212"/>
            <a:ext cx="41586" cy="206210"/>
          </a:xfrm>
          <a:prstGeom prst="rect">
            <a:avLst/>
          </a:prstGeom>
        </p:spPr>
        <p:txBody>
          <a:bodyPr lIns="0" tIns="0" rIns="0" bIns="0" rtlCol="0" anchor="t">
            <a:spAutoFit/>
          </a:bodyPr>
          <a:lstStyle/>
          <a:p>
            <a:pPr algn="l">
              <a:lnSpc>
                <a:spcPts val="1707"/>
              </a:lnSpc>
            </a:pPr>
            <a:r>
              <a:rPr lang="en-US" sz="1202" dirty="0">
                <a:solidFill>
                  <a:srgbClr val="000000"/>
                </a:solidFill>
                <a:latin typeface="Aptos" panose="020B0004020202020204" pitchFamily="34" charset="0"/>
                <a:ea typeface="Heading Now 11-18"/>
                <a:cs typeface="Heading Now 11-18"/>
                <a:sym typeface="Heading Now 11-18"/>
              </a:rPr>
              <a:t> </a:t>
            </a:r>
          </a:p>
        </p:txBody>
      </p:sp>
      <p:sp>
        <p:nvSpPr>
          <p:cNvPr id="13" name="TextBox 13"/>
          <p:cNvSpPr txBox="1"/>
          <p:nvPr/>
        </p:nvSpPr>
        <p:spPr>
          <a:xfrm>
            <a:off x="4735325" y="2138172"/>
            <a:ext cx="1955540" cy="860107"/>
          </a:xfrm>
          <a:prstGeom prst="rect">
            <a:avLst/>
          </a:prstGeom>
        </p:spPr>
        <p:txBody>
          <a:bodyPr lIns="0" tIns="0" rIns="0" bIns="0" rtlCol="0" anchor="t">
            <a:spAutoFit/>
          </a:bodyPr>
          <a:lstStyle/>
          <a:p>
            <a:pPr algn="l">
              <a:lnSpc>
                <a:spcPts val="1704"/>
              </a:lnSpc>
            </a:pPr>
            <a:r>
              <a:rPr lang="en-US" sz="1200" dirty="0">
                <a:solidFill>
                  <a:srgbClr val="000000"/>
                </a:solidFill>
                <a:latin typeface="Aptos" panose="020B0004020202020204" pitchFamily="34" charset="0"/>
                <a:ea typeface="Heading Now 11-18"/>
                <a:cs typeface="Heading Now 11-18"/>
                <a:sym typeface="Heading Now 11-18"/>
              </a:rPr>
              <a:t>2. Lasso Regression 3. Polynomial Regression 4. Stepwise Regression 5. Ridge Regression </a:t>
            </a:r>
          </a:p>
        </p:txBody>
      </p:sp>
      <p:sp>
        <p:nvSpPr>
          <p:cNvPr id="14" name="TextBox 14"/>
          <p:cNvSpPr txBox="1"/>
          <p:nvPr/>
        </p:nvSpPr>
        <p:spPr>
          <a:xfrm>
            <a:off x="4735325" y="1347340"/>
            <a:ext cx="3663439"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Let’s go through various regression algorithms: </a:t>
            </a:r>
          </a:p>
        </p:txBody>
      </p:sp>
      <p:sp>
        <p:nvSpPr>
          <p:cNvPr id="15" name="TextBox 15"/>
          <p:cNvSpPr txBox="1"/>
          <p:nvPr/>
        </p:nvSpPr>
        <p:spPr>
          <a:xfrm>
            <a:off x="4735325" y="1930737"/>
            <a:ext cx="1481576" cy="204993"/>
          </a:xfrm>
          <a:prstGeom prst="rect">
            <a:avLst/>
          </a:prstGeom>
        </p:spPr>
        <p:txBody>
          <a:bodyPr lIns="0" tIns="0" rIns="0" bIns="0" rtlCol="0" anchor="t">
            <a:spAutoFit/>
          </a:bodyPr>
          <a:lstStyle/>
          <a:p>
            <a:pPr algn="l">
              <a:lnSpc>
                <a:spcPts val="1683"/>
              </a:lnSpc>
            </a:pPr>
            <a:r>
              <a:rPr lang="en-US" sz="1202" dirty="0">
                <a:solidFill>
                  <a:srgbClr val="000000"/>
                </a:solidFill>
                <a:latin typeface="Aptos" panose="020B0004020202020204" pitchFamily="34" charset="0"/>
                <a:ea typeface="Heading Now 11-18"/>
                <a:cs typeface="Heading Now 11-18"/>
                <a:sym typeface="Heading Now 11-18"/>
              </a:rPr>
              <a:t>1.</a:t>
            </a:r>
            <a:r>
              <a:rPr lang="en-US" sz="1202" dirty="0">
                <a:solidFill>
                  <a:srgbClr val="FFFFFF"/>
                </a:solidFill>
                <a:latin typeface="Aptos" panose="020B0004020202020204" pitchFamily="34" charset="0"/>
                <a:ea typeface="Heading Now 11-18"/>
                <a:cs typeface="Heading Now 11-18"/>
                <a:sym typeface="Heading Now 11-18"/>
              </a:rPr>
              <a:t> </a:t>
            </a:r>
            <a:r>
              <a:rPr lang="en-US" sz="1202" dirty="0">
                <a:solidFill>
                  <a:srgbClr val="000000"/>
                </a:solidFill>
                <a:latin typeface="Aptos" panose="020B0004020202020204" pitchFamily="34" charset="0"/>
                <a:ea typeface="Heading Now 11-18"/>
                <a:cs typeface="Heading Now 11-18"/>
                <a:sym typeface="Heading Now 11-18"/>
              </a:rPr>
              <a:t>Linear</a:t>
            </a:r>
            <a:r>
              <a:rPr lang="en-US" sz="1202" dirty="0">
                <a:solidFill>
                  <a:srgbClr val="FFFFFF"/>
                </a:solidFill>
                <a:latin typeface="Aptos" panose="020B0004020202020204" pitchFamily="34" charset="0"/>
                <a:ea typeface="Heading Now 11-18"/>
                <a:cs typeface="Heading Now 11-18"/>
                <a:sym typeface="Heading Now 11-18"/>
              </a:rPr>
              <a:t> </a:t>
            </a:r>
            <a:r>
              <a:rPr lang="en-US" sz="1202" dirty="0">
                <a:solidFill>
                  <a:srgbClr val="000000"/>
                </a:solidFill>
                <a:latin typeface="Aptos" panose="020B0004020202020204" pitchFamily="34" charset="0"/>
                <a:ea typeface="Heading Now 11-18"/>
                <a:cs typeface="Heading Now 11-18"/>
                <a:sym typeface="Heading Now 11-18"/>
              </a:rPr>
              <a:t>Regression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75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80772" y="2912364"/>
            <a:ext cx="5375148" cy="1705356"/>
          </a:xfrm>
          <a:custGeom>
            <a:avLst/>
            <a:gdLst/>
            <a:ahLst/>
            <a:cxnLst/>
            <a:rect l="l" t="t" r="r" b="b"/>
            <a:pathLst>
              <a:path w="5375148" h="1705356">
                <a:moveTo>
                  <a:pt x="0" y="0"/>
                </a:moveTo>
                <a:lnTo>
                  <a:pt x="5375148" y="0"/>
                </a:lnTo>
                <a:lnTo>
                  <a:pt x="5375148" y="1705356"/>
                </a:lnTo>
                <a:lnTo>
                  <a:pt x="0" y="1705356"/>
                </a:lnTo>
                <a:lnTo>
                  <a:pt x="0" y="0"/>
                </a:lnTo>
                <a:close/>
              </a:path>
            </a:pathLst>
          </a:custGeom>
          <a:blipFill>
            <a:blip r:embed="rId9"/>
            <a:stretch>
              <a:fillRect/>
            </a:stretch>
          </a:blipFill>
        </p:spPr>
        <p:txBody>
          <a:bodyPr/>
          <a:lstStyle/>
          <a:p>
            <a:endParaRPr lang="en-IN"/>
          </a:p>
        </p:txBody>
      </p:sp>
      <p:sp>
        <p:nvSpPr>
          <p:cNvPr id="8" name="Freeform 8"/>
          <p:cNvSpPr/>
          <p:nvPr/>
        </p:nvSpPr>
        <p:spPr>
          <a:xfrm>
            <a:off x="3525012" y="3089148"/>
            <a:ext cx="5538216" cy="1351788"/>
          </a:xfrm>
          <a:custGeom>
            <a:avLst/>
            <a:gdLst/>
            <a:ahLst/>
            <a:cxnLst/>
            <a:rect l="l" t="t" r="r" b="b"/>
            <a:pathLst>
              <a:path w="5538216" h="1351788">
                <a:moveTo>
                  <a:pt x="0" y="0"/>
                </a:moveTo>
                <a:lnTo>
                  <a:pt x="5538216" y="0"/>
                </a:lnTo>
                <a:lnTo>
                  <a:pt x="5538216" y="1351788"/>
                </a:lnTo>
                <a:lnTo>
                  <a:pt x="0" y="1351788"/>
                </a:lnTo>
                <a:lnTo>
                  <a:pt x="0" y="0"/>
                </a:lnTo>
                <a:close/>
              </a:path>
            </a:pathLst>
          </a:custGeom>
          <a:blipFill>
            <a:blip r:embed="rId10"/>
            <a:stretch>
              <a:fillRect/>
            </a:stretch>
          </a:blipFill>
        </p:spPr>
        <p:txBody>
          <a:bodyPr/>
          <a:lstStyle/>
          <a:p>
            <a:endParaRPr lang="en-IN"/>
          </a:p>
        </p:txBody>
      </p:sp>
      <p:sp>
        <p:nvSpPr>
          <p:cNvPr id="9" name="TextBox 9"/>
          <p:cNvSpPr txBox="1"/>
          <p:nvPr/>
        </p:nvSpPr>
        <p:spPr>
          <a:xfrm>
            <a:off x="293827" y="4645304"/>
            <a:ext cx="108004"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24</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253236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Linear Regression</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281026" y="928116"/>
            <a:ext cx="8700230" cy="1415772"/>
          </a:xfrm>
          <a:prstGeom prst="rect">
            <a:avLst/>
          </a:prstGeom>
        </p:spPr>
        <p:txBody>
          <a:bodyPr lIns="0" tIns="0" rIns="0" bIns="0" rtlCol="0" anchor="t">
            <a:spAutoFit/>
          </a:bodyPr>
          <a:lstStyle/>
          <a:p>
            <a:pPr algn="l">
              <a:lnSpc>
                <a:spcPts val="1704"/>
              </a:lnSpc>
            </a:pPr>
            <a:r>
              <a:rPr lang="en-US" sz="1200" spc="1" dirty="0">
                <a:solidFill>
                  <a:srgbClr val="000000"/>
                </a:solidFill>
                <a:latin typeface="Aptos" panose="020B0004020202020204" pitchFamily="34" charset="0"/>
                <a:ea typeface="Heading Now 11-18"/>
                <a:cs typeface="Heading Now 11-18"/>
                <a:sym typeface="Heading Now 11-18"/>
              </a:rPr>
              <a:t>Simple linear regression is a statistical method that enables users to </a:t>
            </a:r>
            <a:r>
              <a:rPr lang="en-US" sz="1200" spc="1" dirty="0" err="1">
                <a:solidFill>
                  <a:srgbClr val="000000"/>
                </a:solidFill>
                <a:latin typeface="Aptos" panose="020B0004020202020204" pitchFamily="34" charset="0"/>
                <a:ea typeface="Heading Now 11-18"/>
                <a:cs typeface="Heading Now 11-18"/>
                <a:sym typeface="Heading Now 11-18"/>
              </a:rPr>
              <a:t>summarise</a:t>
            </a:r>
            <a:r>
              <a:rPr lang="en-US" sz="1200" spc="1" dirty="0">
                <a:solidFill>
                  <a:srgbClr val="000000"/>
                </a:solidFill>
                <a:latin typeface="Aptos" panose="020B0004020202020204" pitchFamily="34" charset="0"/>
                <a:ea typeface="Heading Now 11-18"/>
                <a:cs typeface="Heading Now 11-18"/>
                <a:sym typeface="Heading Now 11-18"/>
              </a:rPr>
              <a:t> and study the relationships between two continuous (quantitative) variables. Linear regression is a linear model wherein a model that assumes a linear relationship between the input variables (x) and the single output variable (y). Here, y can be calculated from a linear combination of the input variables (x). When there is a single input variable (x), the method</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is</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called</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a</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simple</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linear</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regression.</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When</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there</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are</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multiple</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input</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variables,</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the</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procedure</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is</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referred</a:t>
            </a:r>
            <a:r>
              <a:rPr lang="en-US" sz="1200" spc="1" dirty="0">
                <a:solidFill>
                  <a:srgbClr val="FFFFFF"/>
                </a:solidFill>
                <a:latin typeface="Aptos" panose="020B0004020202020204" pitchFamily="34" charset="0"/>
                <a:ea typeface="Heading Now 11-18"/>
                <a:cs typeface="Heading Now 11-18"/>
                <a:sym typeface="Heading Now 11-18"/>
              </a:rPr>
              <a:t> </a:t>
            </a:r>
            <a:r>
              <a:rPr lang="en-US" sz="1200" spc="1" dirty="0">
                <a:solidFill>
                  <a:srgbClr val="000000"/>
                </a:solidFill>
                <a:latin typeface="Aptos" panose="020B0004020202020204" pitchFamily="34" charset="0"/>
                <a:ea typeface="Heading Now 11-18"/>
                <a:cs typeface="Heading Now 11-18"/>
                <a:sym typeface="Heading Now 11-18"/>
              </a:rPr>
              <a:t>to</a:t>
            </a:r>
          </a:p>
          <a:p>
            <a:pPr algn="l">
              <a:lnSpc>
                <a:spcPts val="3000"/>
              </a:lnSpc>
            </a:pPr>
            <a:r>
              <a:rPr lang="en-US" sz="1200" spc="1" dirty="0">
                <a:solidFill>
                  <a:srgbClr val="000000"/>
                </a:solidFill>
                <a:latin typeface="Aptos" panose="020B0004020202020204" pitchFamily="34" charset="0"/>
                <a:ea typeface="Heading Now 11-18"/>
                <a:cs typeface="Heading Now 11-18"/>
                <a:sym typeface="Heading Now 11-18"/>
              </a:rPr>
              <a:t>as multiple linear regression.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428EA-6114-0DA6-CCD3-A1D26E436BF2}"/>
              </a:ext>
            </a:extLst>
          </p:cNvPr>
          <p:cNvPicPr>
            <a:picLocks noChangeAspect="1"/>
          </p:cNvPicPr>
          <p:nvPr/>
        </p:nvPicPr>
        <p:blipFill>
          <a:blip r:embed="rId2"/>
          <a:stretch>
            <a:fillRect/>
          </a:stretch>
        </p:blipFill>
        <p:spPr>
          <a:xfrm>
            <a:off x="0" y="62106"/>
            <a:ext cx="9144000" cy="5019287"/>
          </a:xfrm>
          <a:prstGeom prst="rect">
            <a:avLst/>
          </a:prstGeom>
        </p:spPr>
      </p:pic>
    </p:spTree>
    <p:extLst>
      <p:ext uri="{BB962C8B-B14F-4D97-AF65-F5344CB8AC3E}">
        <p14:creationId xmlns:p14="http://schemas.microsoft.com/office/powerpoint/2010/main" val="310681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892FF5-817A-1949-FC46-DA4464C7FEDB}"/>
              </a:ext>
            </a:extLst>
          </p:cNvPr>
          <p:cNvPicPr>
            <a:picLocks noChangeAspect="1"/>
          </p:cNvPicPr>
          <p:nvPr/>
        </p:nvPicPr>
        <p:blipFill>
          <a:blip r:embed="rId2"/>
          <a:stretch>
            <a:fillRect/>
          </a:stretch>
        </p:blipFill>
        <p:spPr>
          <a:xfrm>
            <a:off x="0" y="47675"/>
            <a:ext cx="9144000" cy="5048149"/>
          </a:xfrm>
          <a:prstGeom prst="rect">
            <a:avLst/>
          </a:prstGeom>
        </p:spPr>
      </p:pic>
    </p:spTree>
    <p:extLst>
      <p:ext uri="{BB962C8B-B14F-4D97-AF65-F5344CB8AC3E}">
        <p14:creationId xmlns:p14="http://schemas.microsoft.com/office/powerpoint/2010/main" val="385694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CD6105-2506-82C0-4734-38072B6BF138}"/>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kern="1200" dirty="0">
                <a:solidFill>
                  <a:srgbClr val="FFFFFF"/>
                </a:solidFill>
                <a:latin typeface="+mj-lt"/>
                <a:ea typeface="+mj-ea"/>
                <a:cs typeface="+mj-cs"/>
              </a:rPr>
              <a:t>Simple Linear Regression</a:t>
            </a:r>
          </a:p>
        </p:txBody>
      </p:sp>
      <p:sp>
        <p:nvSpPr>
          <p:cNvPr id="3" name="TextBox 2">
            <a:extLst>
              <a:ext uri="{FF2B5EF4-FFF2-40B4-BE49-F238E27FC236}">
                <a16:creationId xmlns:a16="http://schemas.microsoft.com/office/drawing/2014/main" id="{03DF6D66-EC6A-E5DD-9654-FCF794226541}"/>
              </a:ext>
            </a:extLst>
          </p:cNvPr>
          <p:cNvSpPr txBox="1"/>
          <p:nvPr/>
        </p:nvSpPr>
        <p:spPr>
          <a:xfrm>
            <a:off x="1028699" y="1738647"/>
            <a:ext cx="7293023" cy="27625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400" dirty="0"/>
              <a:t>Simple Linear Regression is a statistical method used to model the relationship between:</a:t>
            </a:r>
          </a:p>
          <a:p>
            <a:pPr indent="-228600">
              <a:lnSpc>
                <a:spcPct val="90000"/>
              </a:lnSpc>
              <a:spcAft>
                <a:spcPts val="600"/>
              </a:spcAft>
              <a:buFont typeface="Arial" panose="020B0604020202020204" pitchFamily="34" charset="0"/>
              <a:buChar char="•"/>
            </a:pPr>
            <a:r>
              <a:rPr lang="en-US" sz="1400" b="1" dirty="0"/>
              <a:t>One independent variable (X)</a:t>
            </a:r>
            <a:r>
              <a:rPr lang="en-US" sz="1400" dirty="0"/>
              <a:t> — the predictor</a:t>
            </a:r>
          </a:p>
          <a:p>
            <a:pPr indent="-228600">
              <a:lnSpc>
                <a:spcPct val="90000"/>
              </a:lnSpc>
              <a:spcAft>
                <a:spcPts val="600"/>
              </a:spcAft>
              <a:buFont typeface="Arial" panose="020B0604020202020204" pitchFamily="34" charset="0"/>
              <a:buChar char="•"/>
            </a:pPr>
            <a:r>
              <a:rPr lang="en-US" sz="1400" b="1" dirty="0"/>
              <a:t>One dependent variable (Y)</a:t>
            </a:r>
            <a:r>
              <a:rPr lang="en-US" sz="1400" dirty="0"/>
              <a:t> — the outcome</a:t>
            </a:r>
          </a:p>
          <a:p>
            <a:pPr indent="-228600">
              <a:lnSpc>
                <a:spcPct val="90000"/>
              </a:lnSpc>
              <a:spcAft>
                <a:spcPts val="600"/>
              </a:spcAft>
              <a:buFont typeface="Arial" panose="020B0604020202020204" pitchFamily="34" charset="0"/>
              <a:buChar char="•"/>
            </a:pPr>
            <a:r>
              <a:rPr lang="en-US" sz="1400" dirty="0"/>
              <a:t>It fits a straight line (called the </a:t>
            </a:r>
            <a:r>
              <a:rPr lang="en-US" sz="1400" b="1" dirty="0"/>
              <a:t>regression line</a:t>
            </a:r>
            <a:r>
              <a:rPr lang="en-US" sz="1400" dirty="0"/>
              <a:t>) through the data points to predict Y based on X.</a:t>
            </a:r>
          </a:p>
          <a:p>
            <a:pPr indent="-228600">
              <a:lnSpc>
                <a:spcPct val="90000"/>
              </a:lnSpc>
              <a:spcAft>
                <a:spcPts val="600"/>
              </a:spcAft>
              <a:buFont typeface="Arial" panose="020B0604020202020204" pitchFamily="34" charset="0"/>
              <a:buChar char="•"/>
            </a:pPr>
            <a:endParaRPr lang="en-US" sz="1400" b="1" dirty="0"/>
          </a:p>
          <a:p>
            <a:pPr indent="-228600">
              <a:lnSpc>
                <a:spcPct val="90000"/>
              </a:lnSpc>
              <a:spcAft>
                <a:spcPts val="600"/>
              </a:spcAft>
              <a:buFont typeface="Arial" panose="020B0604020202020204" pitchFamily="34" charset="0"/>
              <a:buChar char="•"/>
            </a:pPr>
            <a:r>
              <a:rPr lang="en-US" sz="1400" b="1" dirty="0"/>
              <a:t>Equation:</a:t>
            </a:r>
            <a:endParaRPr lang="en-US" sz="1400" dirty="0"/>
          </a:p>
          <a:p>
            <a:pPr indent="-228600">
              <a:lnSpc>
                <a:spcPct val="90000"/>
              </a:lnSpc>
              <a:spcAft>
                <a:spcPts val="600"/>
              </a:spcAft>
              <a:buFont typeface="Arial" panose="020B0604020202020204" pitchFamily="34" charset="0"/>
              <a:buChar char="•"/>
            </a:pPr>
            <a:r>
              <a:rPr lang="en-US" sz="1400" dirty="0"/>
              <a:t>Y=</a:t>
            </a:r>
            <a:r>
              <a:rPr lang="en-US" sz="1400" dirty="0" err="1"/>
              <a:t>a+bX</a:t>
            </a:r>
            <a:endParaRPr lang="en-US" sz="1400" dirty="0"/>
          </a:p>
          <a:p>
            <a:pPr indent="-228600">
              <a:lnSpc>
                <a:spcPct val="90000"/>
              </a:lnSpc>
              <a:spcAft>
                <a:spcPts val="600"/>
              </a:spcAft>
              <a:buFont typeface="Arial" panose="020B0604020202020204" pitchFamily="34" charset="0"/>
              <a:buChar char="•"/>
            </a:pPr>
            <a:r>
              <a:rPr lang="en-US" sz="1400" b="1" dirty="0"/>
              <a:t>a</a:t>
            </a:r>
            <a:r>
              <a:rPr lang="en-US" sz="1400" dirty="0"/>
              <a:t> = intercept (value of Y when X = 0)</a:t>
            </a:r>
          </a:p>
          <a:p>
            <a:pPr indent="-228600">
              <a:lnSpc>
                <a:spcPct val="90000"/>
              </a:lnSpc>
              <a:spcAft>
                <a:spcPts val="600"/>
              </a:spcAft>
              <a:buFont typeface="Arial" panose="020B0604020202020204" pitchFamily="34" charset="0"/>
              <a:buChar char="•"/>
            </a:pPr>
            <a:r>
              <a:rPr lang="en-US" sz="1400" b="1" dirty="0"/>
              <a:t>b</a:t>
            </a:r>
            <a:r>
              <a:rPr lang="en-US" sz="1400" dirty="0"/>
              <a:t> = slope (how much Y changes for a unit change in X)</a:t>
            </a:r>
          </a:p>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3305465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D2A3520-638D-EEE9-0A09-B26D70D10EC1}"/>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kern="1200" dirty="0">
                <a:solidFill>
                  <a:srgbClr val="FFFFFF"/>
                </a:solidFill>
                <a:latin typeface="+mj-lt"/>
                <a:ea typeface="+mj-ea"/>
                <a:cs typeface="+mj-cs"/>
              </a:rPr>
              <a:t>Simple Linear Regression </a:t>
            </a:r>
          </a:p>
        </p:txBody>
      </p:sp>
      <p:sp>
        <p:nvSpPr>
          <p:cNvPr id="3" name="TextBox 2">
            <a:extLst>
              <a:ext uri="{FF2B5EF4-FFF2-40B4-BE49-F238E27FC236}">
                <a16:creationId xmlns:a16="http://schemas.microsoft.com/office/drawing/2014/main" id="{10F9C9B1-E402-F1D9-E661-C3C0508F9FE4}"/>
              </a:ext>
            </a:extLst>
          </p:cNvPr>
          <p:cNvSpPr txBox="1"/>
          <p:nvPr/>
        </p:nvSpPr>
        <p:spPr>
          <a:xfrm>
            <a:off x="1028699" y="1738647"/>
            <a:ext cx="7293023" cy="27625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200" b="1"/>
              <a:t>Why It's Important</a:t>
            </a:r>
          </a:p>
          <a:p>
            <a:pPr indent="-228600">
              <a:lnSpc>
                <a:spcPct val="90000"/>
              </a:lnSpc>
              <a:spcAft>
                <a:spcPts val="600"/>
              </a:spcAft>
              <a:buFont typeface="Arial" panose="020B0604020202020204" pitchFamily="34" charset="0"/>
              <a:buChar char="•"/>
            </a:pPr>
            <a:r>
              <a:rPr lang="en-US" sz="1200" b="1"/>
              <a:t>Prediction</a:t>
            </a:r>
            <a:r>
              <a:rPr lang="en-US" sz="1200"/>
              <a:t>: Helps forecast outcomes (e.g., predicting sales based on advertising spend).</a:t>
            </a:r>
          </a:p>
          <a:p>
            <a:pPr indent="-228600">
              <a:lnSpc>
                <a:spcPct val="90000"/>
              </a:lnSpc>
              <a:spcAft>
                <a:spcPts val="600"/>
              </a:spcAft>
              <a:buFont typeface="Arial" panose="020B0604020202020204" pitchFamily="34" charset="0"/>
              <a:buChar char="•"/>
            </a:pPr>
            <a:r>
              <a:rPr lang="en-US" sz="1200" b="1"/>
              <a:t>Understanding relationships</a:t>
            </a:r>
            <a:r>
              <a:rPr lang="en-US" sz="1200"/>
              <a:t>: Reveals how one variable affects another.</a:t>
            </a:r>
          </a:p>
          <a:p>
            <a:pPr indent="-228600">
              <a:lnSpc>
                <a:spcPct val="90000"/>
              </a:lnSpc>
              <a:spcAft>
                <a:spcPts val="600"/>
              </a:spcAft>
              <a:buFont typeface="Arial" panose="020B0604020202020204" pitchFamily="34" charset="0"/>
              <a:buChar char="•"/>
            </a:pPr>
            <a:r>
              <a:rPr lang="en-US" sz="1200" b="1"/>
              <a:t>Foundation for advanced models</a:t>
            </a:r>
            <a:r>
              <a:rPr lang="en-US" sz="1200"/>
              <a:t>: It's the building block for multiple regression, logistic regression, and machine learning models.</a:t>
            </a:r>
          </a:p>
          <a:p>
            <a:pPr indent="-228600">
              <a:lnSpc>
                <a:spcPct val="90000"/>
              </a:lnSpc>
              <a:buFont typeface="Arial" panose="020B0604020202020204" pitchFamily="34" charset="0"/>
              <a:buChar char="•"/>
            </a:pPr>
            <a:r>
              <a:rPr lang="en-US" sz="1200" b="1"/>
              <a:t>Key Points to Remember</a:t>
            </a:r>
          </a:p>
          <a:p>
            <a:pPr indent="-228600">
              <a:lnSpc>
                <a:spcPct val="90000"/>
              </a:lnSpc>
              <a:buFont typeface="Arial" panose="020B0604020202020204" pitchFamily="34" charset="0"/>
              <a:buChar char="•"/>
            </a:pPr>
            <a:r>
              <a:rPr lang="en-US" sz="1200" b="1"/>
              <a:t>Linearity</a:t>
            </a:r>
            <a:r>
              <a:rPr lang="en-US" sz="1200"/>
              <a:t>: Assumes a straight-line relationship between X and Y.</a:t>
            </a:r>
          </a:p>
          <a:p>
            <a:pPr indent="-228600">
              <a:lnSpc>
                <a:spcPct val="90000"/>
              </a:lnSpc>
              <a:buFont typeface="Arial" panose="020B0604020202020204" pitchFamily="34" charset="0"/>
              <a:buChar char="•"/>
            </a:pPr>
            <a:r>
              <a:rPr lang="en-US" sz="1200" b="1"/>
              <a:t>Residuals</a:t>
            </a:r>
            <a:r>
              <a:rPr lang="en-US" sz="1200"/>
              <a:t>: Differences between actual and predicted values; used to assess model accuracy.</a:t>
            </a:r>
          </a:p>
          <a:p>
            <a:pPr indent="-228600">
              <a:lnSpc>
                <a:spcPct val="90000"/>
              </a:lnSpc>
              <a:buFont typeface="Arial" panose="020B0604020202020204" pitchFamily="34" charset="0"/>
              <a:buChar char="•"/>
            </a:pPr>
            <a:r>
              <a:rPr lang="en-US" sz="1200" b="1"/>
              <a:t>Least Squares Method</a:t>
            </a:r>
            <a:r>
              <a:rPr lang="en-US" sz="1200"/>
              <a:t>: Minimizes the sum of squared residuals to find the best-fitting line.</a:t>
            </a:r>
          </a:p>
          <a:p>
            <a:pPr indent="-228600">
              <a:lnSpc>
                <a:spcPct val="90000"/>
              </a:lnSpc>
              <a:buFont typeface="Arial" panose="020B0604020202020204" pitchFamily="34" charset="0"/>
              <a:buChar char="•"/>
            </a:pPr>
            <a:r>
              <a:rPr lang="en-US" sz="1200" b="1"/>
              <a:t>Assumptions</a:t>
            </a:r>
            <a:r>
              <a:rPr lang="en-US" sz="1200"/>
              <a:t>:</a:t>
            </a:r>
          </a:p>
          <a:p>
            <a:pPr marL="800100" lvl="1" indent="-228600">
              <a:lnSpc>
                <a:spcPct val="90000"/>
              </a:lnSpc>
              <a:buFont typeface="Arial" panose="020B0604020202020204" pitchFamily="34" charset="0"/>
              <a:buChar char="•"/>
            </a:pPr>
            <a:r>
              <a:rPr lang="en-US" sz="1200"/>
              <a:t>Linearity</a:t>
            </a:r>
          </a:p>
          <a:p>
            <a:pPr marL="800100" lvl="1" indent="-228600">
              <a:lnSpc>
                <a:spcPct val="90000"/>
              </a:lnSpc>
              <a:buFont typeface="Arial" panose="020B0604020202020204" pitchFamily="34" charset="0"/>
              <a:buChar char="•"/>
            </a:pPr>
            <a:r>
              <a:rPr lang="en-US" sz="1200"/>
              <a:t>Independence of errors</a:t>
            </a:r>
          </a:p>
          <a:p>
            <a:pPr marL="800100" lvl="1" indent="-228600">
              <a:lnSpc>
                <a:spcPct val="90000"/>
              </a:lnSpc>
              <a:buFont typeface="Arial" panose="020B0604020202020204" pitchFamily="34" charset="0"/>
              <a:buChar char="•"/>
            </a:pPr>
            <a:r>
              <a:rPr lang="en-US" sz="1200"/>
              <a:t>Constant variance (homoscedasticity)</a:t>
            </a:r>
          </a:p>
          <a:p>
            <a:pPr marL="800100" lvl="1" indent="-228600">
              <a:lnSpc>
                <a:spcPct val="90000"/>
              </a:lnSpc>
              <a:buFont typeface="Arial" panose="020B0604020202020204" pitchFamily="34" charset="0"/>
              <a:buChar char="•"/>
            </a:pPr>
            <a:r>
              <a:rPr lang="en-US" sz="1200"/>
              <a:t>Normal distribution of errors</a:t>
            </a:r>
          </a:p>
          <a:p>
            <a:pPr indent="-228600">
              <a:lnSpc>
                <a:spcPct val="90000"/>
              </a:lnSpc>
              <a:spcAft>
                <a:spcPts val="600"/>
              </a:spcAft>
              <a:buFont typeface="Arial" panose="020B0604020202020204" pitchFamily="34" charset="0"/>
              <a:buChar char="•"/>
            </a:pPr>
            <a:endParaRPr lang="en-US" sz="1200"/>
          </a:p>
        </p:txBody>
      </p:sp>
    </p:spTree>
    <p:extLst>
      <p:ext uri="{BB962C8B-B14F-4D97-AF65-F5344CB8AC3E}">
        <p14:creationId xmlns:p14="http://schemas.microsoft.com/office/powerpoint/2010/main" val="1805939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6708FAB-3898-47A9-B05A-AB9ECBD9E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51434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8954506-92C4-8823-CC08-84A70F8FA390}"/>
              </a:ext>
            </a:extLst>
          </p:cNvPr>
          <p:cNvSpPr txBox="1"/>
          <p:nvPr/>
        </p:nvSpPr>
        <p:spPr>
          <a:xfrm>
            <a:off x="852298" y="342900"/>
            <a:ext cx="7588358" cy="86285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a:latin typeface="+mj-lt"/>
                <a:ea typeface="+mj-ea"/>
                <a:cs typeface="+mj-cs"/>
              </a:rPr>
              <a:t>What Is the Best Fit Line?</a:t>
            </a:r>
          </a:p>
          <a:p>
            <a:pPr>
              <a:lnSpc>
                <a:spcPct val="90000"/>
              </a:lnSpc>
              <a:spcBef>
                <a:spcPct val="0"/>
              </a:spcBef>
              <a:spcAft>
                <a:spcPts val="600"/>
              </a:spcAft>
            </a:pPr>
            <a:endParaRPr lang="en-US" sz="3000" b="1">
              <a:latin typeface="+mj-lt"/>
              <a:ea typeface="+mj-ea"/>
              <a:cs typeface="+mj-cs"/>
            </a:endParaRPr>
          </a:p>
        </p:txBody>
      </p:sp>
      <p:sp>
        <p:nvSpPr>
          <p:cNvPr id="3" name="TextBox 2">
            <a:extLst>
              <a:ext uri="{FF2B5EF4-FFF2-40B4-BE49-F238E27FC236}">
                <a16:creationId xmlns:a16="http://schemas.microsoft.com/office/drawing/2014/main" id="{8EA2D9C5-3D68-3F6D-2F8C-B7A51E569E78}"/>
              </a:ext>
            </a:extLst>
          </p:cNvPr>
          <p:cNvSpPr txBox="1"/>
          <p:nvPr/>
        </p:nvSpPr>
        <p:spPr>
          <a:xfrm>
            <a:off x="862714" y="1485581"/>
            <a:ext cx="4501377" cy="272461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100"/>
              <a:t>The </a:t>
            </a:r>
            <a:r>
              <a:rPr lang="en-US" sz="1100" b="1"/>
              <a:t>best fit line</a:t>
            </a:r>
            <a:r>
              <a:rPr lang="en-US" sz="1100"/>
              <a:t> is the line that minimizes the total squared differences between the observed values and the predicted values. It’s the most accurate representation of the trend in the data.</a:t>
            </a:r>
          </a:p>
          <a:p>
            <a:pPr indent="-228600">
              <a:lnSpc>
                <a:spcPct val="90000"/>
              </a:lnSpc>
              <a:spcAft>
                <a:spcPts val="600"/>
              </a:spcAft>
              <a:buFont typeface="Arial" panose="020B0604020202020204" pitchFamily="34" charset="0"/>
              <a:buChar char="•"/>
            </a:pPr>
            <a:r>
              <a:rPr lang="en-US" sz="1100" b="1"/>
              <a:t>Example</a:t>
            </a:r>
            <a:r>
              <a:rPr lang="en-US" sz="1100"/>
              <a:t>: If you plot hours studied (X) vs. test scores (Y), the best fit line shows how scores typically increase with more study time</a:t>
            </a:r>
          </a:p>
          <a:p>
            <a:pPr indent="-228600">
              <a:lnSpc>
                <a:spcPct val="90000"/>
              </a:lnSpc>
              <a:spcAft>
                <a:spcPts val="600"/>
              </a:spcAft>
              <a:buFont typeface="Arial" panose="020B0604020202020204" pitchFamily="34" charset="0"/>
              <a:buChar char="•"/>
            </a:pPr>
            <a:endParaRPr lang="en-US" sz="1100"/>
          </a:p>
          <a:p>
            <a:pPr indent="-228600">
              <a:lnSpc>
                <a:spcPct val="90000"/>
              </a:lnSpc>
              <a:buFont typeface="Arial" panose="020B0604020202020204" pitchFamily="34" charset="0"/>
              <a:buChar char="•"/>
            </a:pPr>
            <a:r>
              <a:rPr lang="en-US" sz="1100"/>
              <a:t>Here’s your visual of the </a:t>
            </a:r>
            <a:r>
              <a:rPr lang="en-US" sz="1100" b="1"/>
              <a:t>best fit line</a:t>
            </a:r>
            <a:r>
              <a:rPr lang="en-US" sz="1100"/>
              <a:t> for the relationship between hours studied and test scores:</a:t>
            </a:r>
          </a:p>
          <a:p>
            <a:pPr indent="-228600">
              <a:lnSpc>
                <a:spcPct val="90000"/>
              </a:lnSpc>
              <a:buFont typeface="Arial" panose="020B0604020202020204" pitchFamily="34" charset="0"/>
              <a:buChar char="•"/>
            </a:pPr>
            <a:r>
              <a:rPr lang="en-US" sz="1100"/>
              <a:t> </a:t>
            </a:r>
            <a:r>
              <a:rPr lang="en-US" sz="1100" b="1"/>
              <a:t>Blue dots</a:t>
            </a:r>
            <a:r>
              <a:rPr lang="en-US" sz="1100"/>
              <a:t> represent actual data points.</a:t>
            </a:r>
          </a:p>
          <a:p>
            <a:pPr indent="-228600">
              <a:lnSpc>
                <a:spcPct val="90000"/>
              </a:lnSpc>
              <a:buFont typeface="Arial" panose="020B0604020202020204" pitchFamily="34" charset="0"/>
              <a:buChar char="•"/>
            </a:pPr>
            <a:r>
              <a:rPr lang="en-US" sz="1100"/>
              <a:t> </a:t>
            </a:r>
            <a:r>
              <a:rPr lang="en-US" sz="1100" b="1"/>
              <a:t>Red line</a:t>
            </a:r>
            <a:r>
              <a:rPr lang="en-US" sz="1100"/>
              <a:t> is the best fit line from simple linear regression.</a:t>
            </a:r>
          </a:p>
          <a:p>
            <a:pPr indent="-228600">
              <a:lnSpc>
                <a:spcPct val="90000"/>
              </a:lnSpc>
              <a:buFont typeface="Arial" panose="020B0604020202020204" pitchFamily="34" charset="0"/>
              <a:buChar char="•"/>
            </a:pPr>
            <a:endParaRPr lang="en-US" sz="1100"/>
          </a:p>
          <a:p>
            <a:pPr indent="-228600">
              <a:lnSpc>
                <a:spcPct val="90000"/>
              </a:lnSpc>
              <a:buFont typeface="Arial" panose="020B0604020202020204" pitchFamily="34" charset="0"/>
              <a:buChar char="•"/>
            </a:pPr>
            <a:r>
              <a:rPr lang="en-US" sz="1100"/>
              <a:t>The upward slope shows a positive correlation — more study hours tend to lead to higher scores.</a:t>
            </a:r>
          </a:p>
          <a:p>
            <a:pPr indent="-228600">
              <a:lnSpc>
                <a:spcPct val="90000"/>
              </a:lnSpc>
              <a:spcAft>
                <a:spcPts val="600"/>
              </a:spcAft>
              <a:buFont typeface="Arial" panose="020B0604020202020204" pitchFamily="34" charset="0"/>
              <a:buChar char="•"/>
            </a:pPr>
            <a:endParaRPr lang="en-US" sz="1100"/>
          </a:p>
          <a:p>
            <a:pPr indent="-228600">
              <a:lnSpc>
                <a:spcPct val="90000"/>
              </a:lnSpc>
              <a:spcAft>
                <a:spcPts val="600"/>
              </a:spcAft>
              <a:buFont typeface="Arial" panose="020B0604020202020204" pitchFamily="34" charset="0"/>
              <a:buChar char="•"/>
            </a:pPr>
            <a:endParaRPr lang="en-US" sz="1100"/>
          </a:p>
          <a:p>
            <a:pPr indent="-228600">
              <a:lnSpc>
                <a:spcPct val="90000"/>
              </a:lnSpc>
              <a:spcAft>
                <a:spcPts val="600"/>
              </a:spcAft>
              <a:buFont typeface="Arial" panose="020B0604020202020204" pitchFamily="34" charset="0"/>
              <a:buChar char="•"/>
            </a:pPr>
            <a:endParaRPr lang="en-US" sz="1100"/>
          </a:p>
          <a:p>
            <a:pPr indent="-228600">
              <a:lnSpc>
                <a:spcPct val="90000"/>
              </a:lnSpc>
              <a:spcAft>
                <a:spcPts val="600"/>
              </a:spcAft>
              <a:buFont typeface="Arial" panose="020B0604020202020204" pitchFamily="34" charset="0"/>
              <a:buChar char="•"/>
            </a:pPr>
            <a:endParaRPr lang="en-US" sz="1100"/>
          </a:p>
          <a:p>
            <a:pPr indent="-228600">
              <a:lnSpc>
                <a:spcPct val="90000"/>
              </a:lnSpc>
              <a:spcAft>
                <a:spcPts val="600"/>
              </a:spcAft>
              <a:buFont typeface="Arial" panose="020B0604020202020204" pitchFamily="34" charset="0"/>
              <a:buChar char="•"/>
            </a:pPr>
            <a:endParaRPr lang="en-US" sz="1100"/>
          </a:p>
        </p:txBody>
      </p:sp>
      <p:pic>
        <p:nvPicPr>
          <p:cNvPr id="6146" name="Picture 2" descr="Generated Image">
            <a:extLst>
              <a:ext uri="{FF2B5EF4-FFF2-40B4-BE49-F238E27FC236}">
                <a16:creationId xmlns:a16="http://schemas.microsoft.com/office/drawing/2014/main" id="{417A85C0-3529-28FC-9C27-9D24EAF33C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2604" b="-1"/>
          <a:stretch>
            <a:fillRect/>
          </a:stretch>
        </p:blipFill>
        <p:spPr bwMode="auto">
          <a:xfrm>
            <a:off x="5735128" y="1485581"/>
            <a:ext cx="2811644" cy="2724618"/>
          </a:xfrm>
          <a:prstGeom prst="rect">
            <a:avLst/>
          </a:prstGeom>
          <a:noFill/>
          <a:extLst>
            <a:ext uri="{909E8E84-426E-40DD-AFC4-6F175D3DCCD1}">
              <a14:hiddenFill xmlns:a14="http://schemas.microsoft.com/office/drawing/2010/main">
                <a:solidFill>
                  <a:srgbClr val="FFFFFF"/>
                </a:solidFill>
              </a14:hiddenFill>
            </a:ext>
          </a:extLst>
        </p:spPr>
      </p:pic>
      <p:sp>
        <p:nvSpPr>
          <p:cNvPr id="6153" name="Rectangle 6152">
            <a:extLst>
              <a:ext uri="{FF2B5EF4-FFF2-40B4-BE49-F238E27FC236}">
                <a16:creationId xmlns:a16="http://schemas.microsoft.com/office/drawing/2014/main" id="{2E438CA0-CB4D-4C94-8C39-9C7FC9BBE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01471"/>
            <a:ext cx="9143998" cy="346331"/>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6B2C05E3-84E7-4957-95EF-B471CBF71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01471"/>
            <a:ext cx="3057523" cy="3482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8915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223D28-9227-9230-D1FE-0616C78EF47F}"/>
              </a:ext>
            </a:extLst>
          </p:cNvPr>
          <p:cNvSpPr txBox="1"/>
          <p:nvPr/>
        </p:nvSpPr>
        <p:spPr>
          <a:xfrm>
            <a:off x="524784" y="186028"/>
            <a:ext cx="5297791" cy="8694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kern="1200">
                <a:solidFill>
                  <a:srgbClr val="FFFFFF"/>
                </a:solidFill>
                <a:latin typeface="+mj-lt"/>
                <a:ea typeface="+mj-ea"/>
                <a:cs typeface="+mj-cs"/>
              </a:rPr>
              <a:t>Linear Regresion</a:t>
            </a:r>
          </a:p>
        </p:txBody>
      </p:sp>
      <p:pic>
        <p:nvPicPr>
          <p:cNvPr id="8" name="Picture 7">
            <a:extLst>
              <a:ext uri="{FF2B5EF4-FFF2-40B4-BE49-F238E27FC236}">
                <a16:creationId xmlns:a16="http://schemas.microsoft.com/office/drawing/2014/main" id="{FFF8082E-8A79-4B0D-FE11-91B4D21944F4}"/>
              </a:ext>
            </a:extLst>
          </p:cNvPr>
          <p:cNvPicPr>
            <a:picLocks noChangeAspect="1"/>
          </p:cNvPicPr>
          <p:nvPr/>
        </p:nvPicPr>
        <p:blipFill>
          <a:blip r:embed="rId2"/>
          <a:stretch>
            <a:fillRect/>
          </a:stretch>
        </p:blipFill>
        <p:spPr>
          <a:xfrm>
            <a:off x="228598" y="1241029"/>
            <a:ext cx="8686800" cy="3842173"/>
          </a:xfrm>
          <a:prstGeom prst="rect">
            <a:avLst/>
          </a:prstGeom>
        </p:spPr>
      </p:pic>
    </p:spTree>
    <p:extLst>
      <p:ext uri="{BB962C8B-B14F-4D97-AF65-F5344CB8AC3E}">
        <p14:creationId xmlns:p14="http://schemas.microsoft.com/office/powerpoint/2010/main" val="888088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052DE2A-B523-E4E9-39A9-9FCB917BAA45}"/>
              </a:ext>
            </a:extLst>
          </p:cNvPr>
          <p:cNvSpPr txBox="1"/>
          <p:nvPr/>
        </p:nvSpPr>
        <p:spPr>
          <a:xfrm>
            <a:off x="-76200" y="132141"/>
            <a:ext cx="6229350" cy="553659"/>
          </a:xfrm>
          <a:prstGeom prst="rect">
            <a:avLst/>
          </a:prstGeom>
        </p:spPr>
        <p:txBody>
          <a:bodyPr vert="horz" lIns="91440" tIns="45720" rIns="91440" bIns="45720" rtlCol="0" anchor="ctr">
            <a:normAutofit fontScale="92500" lnSpcReduction="10000"/>
          </a:bodyPr>
          <a:lstStyle/>
          <a:p>
            <a:pPr algn="ctr">
              <a:lnSpc>
                <a:spcPct val="90000"/>
              </a:lnSpc>
              <a:spcBef>
                <a:spcPct val="0"/>
              </a:spcBef>
              <a:spcAft>
                <a:spcPts val="600"/>
              </a:spcAft>
            </a:pPr>
            <a:r>
              <a:rPr lang="en-US" sz="3900" b="1" kern="1200" dirty="0">
                <a:solidFill>
                  <a:schemeClr val="tx1"/>
                </a:solidFill>
                <a:latin typeface="+mj-lt"/>
                <a:ea typeface="+mj-ea"/>
                <a:cs typeface="+mj-cs"/>
              </a:rPr>
              <a:t>Linear Regression Code </a:t>
            </a:r>
          </a:p>
        </p:txBody>
      </p:sp>
      <p:graphicFrame>
        <p:nvGraphicFramePr>
          <p:cNvPr id="5" name="TextBox 2">
            <a:extLst>
              <a:ext uri="{FF2B5EF4-FFF2-40B4-BE49-F238E27FC236}">
                <a16:creationId xmlns:a16="http://schemas.microsoft.com/office/drawing/2014/main" id="{833E028D-7830-66FF-D8A6-14675562F630}"/>
              </a:ext>
            </a:extLst>
          </p:cNvPr>
          <p:cNvGraphicFramePr/>
          <p:nvPr>
            <p:extLst>
              <p:ext uri="{D42A27DB-BD31-4B8C-83A1-F6EECF244321}">
                <p14:modId xmlns:p14="http://schemas.microsoft.com/office/powerpoint/2010/main" val="2941527469"/>
              </p:ext>
            </p:extLst>
          </p:nvPr>
        </p:nvGraphicFramePr>
        <p:xfrm>
          <a:off x="533400" y="817941"/>
          <a:ext cx="8382000" cy="39636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6771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700B5E-B825-5F6B-3BB0-FBA24E18BBB0}"/>
              </a:ext>
            </a:extLst>
          </p:cNvPr>
          <p:cNvSpPr txBox="1"/>
          <p:nvPr/>
        </p:nvSpPr>
        <p:spPr>
          <a:xfrm>
            <a:off x="628650" y="417746"/>
            <a:ext cx="7886700" cy="8502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900" b="1" kern="1200" dirty="0">
                <a:solidFill>
                  <a:schemeClr val="tx1"/>
                </a:solidFill>
                <a:latin typeface="+mj-lt"/>
                <a:ea typeface="+mj-ea"/>
                <a:cs typeface="+mj-cs"/>
              </a:rPr>
              <a:t>Linear Regression Code </a:t>
            </a:r>
          </a:p>
          <a:p>
            <a:pPr>
              <a:lnSpc>
                <a:spcPct val="90000"/>
              </a:lnSpc>
              <a:spcBef>
                <a:spcPct val="0"/>
              </a:spcBef>
              <a:spcAft>
                <a:spcPts val="600"/>
              </a:spcAft>
            </a:pPr>
            <a:endParaRPr lang="en-US" sz="3900" b="1" kern="1200" dirty="0">
              <a:solidFill>
                <a:schemeClr val="tx1"/>
              </a:solidFill>
              <a:latin typeface="+mj-lt"/>
              <a:ea typeface="+mj-ea"/>
              <a:cs typeface="+mj-cs"/>
            </a:endParaRPr>
          </a:p>
        </p:txBody>
      </p:sp>
      <p:graphicFrame>
        <p:nvGraphicFramePr>
          <p:cNvPr id="6" name="TextBox 2">
            <a:extLst>
              <a:ext uri="{FF2B5EF4-FFF2-40B4-BE49-F238E27FC236}">
                <a16:creationId xmlns:a16="http://schemas.microsoft.com/office/drawing/2014/main" id="{965909E3-12FF-76CE-C38F-8BE165BDB5D7}"/>
              </a:ext>
            </a:extLst>
          </p:cNvPr>
          <p:cNvGraphicFramePr/>
          <p:nvPr>
            <p:extLst>
              <p:ext uri="{D42A27DB-BD31-4B8C-83A1-F6EECF244321}">
                <p14:modId xmlns:p14="http://schemas.microsoft.com/office/powerpoint/2010/main" val="2976925858"/>
              </p:ext>
            </p:extLst>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7453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5BDA3-C8D6-8814-0CD3-D227568758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CABD431-9961-C546-262B-74374B910906}"/>
              </a:ext>
            </a:extLst>
          </p:cNvPr>
          <p:cNvSpPr txBox="1"/>
          <p:nvPr/>
        </p:nvSpPr>
        <p:spPr>
          <a:xfrm>
            <a:off x="628650" y="417746"/>
            <a:ext cx="7886700" cy="8502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900" b="1" kern="1200" dirty="0">
                <a:solidFill>
                  <a:schemeClr val="tx1"/>
                </a:solidFill>
                <a:latin typeface="+mj-lt"/>
                <a:ea typeface="+mj-ea"/>
                <a:cs typeface="+mj-cs"/>
              </a:rPr>
              <a:t>Linear Regression Code </a:t>
            </a:r>
          </a:p>
          <a:p>
            <a:pPr>
              <a:lnSpc>
                <a:spcPct val="90000"/>
              </a:lnSpc>
              <a:spcBef>
                <a:spcPct val="0"/>
              </a:spcBef>
              <a:spcAft>
                <a:spcPts val="600"/>
              </a:spcAft>
            </a:pPr>
            <a:endParaRPr lang="en-US" sz="3900" b="1" kern="1200" dirty="0">
              <a:solidFill>
                <a:schemeClr val="tx1"/>
              </a:solidFill>
              <a:latin typeface="+mj-lt"/>
              <a:ea typeface="+mj-ea"/>
              <a:cs typeface="+mj-cs"/>
            </a:endParaRPr>
          </a:p>
        </p:txBody>
      </p:sp>
      <p:graphicFrame>
        <p:nvGraphicFramePr>
          <p:cNvPr id="6" name="TextBox 2">
            <a:extLst>
              <a:ext uri="{FF2B5EF4-FFF2-40B4-BE49-F238E27FC236}">
                <a16:creationId xmlns:a16="http://schemas.microsoft.com/office/drawing/2014/main" id="{3222054B-6DB7-6BE3-51AD-B213B70AC8F9}"/>
              </a:ext>
            </a:extLst>
          </p:cNvPr>
          <p:cNvGraphicFramePr/>
          <p:nvPr>
            <p:extLst>
              <p:ext uri="{D42A27DB-BD31-4B8C-83A1-F6EECF244321}">
                <p14:modId xmlns:p14="http://schemas.microsoft.com/office/powerpoint/2010/main" val="4061923264"/>
              </p:ext>
            </p:extLst>
          </p:nvPr>
        </p:nvGraphicFramePr>
        <p:xfrm>
          <a:off x="762000" y="1030571"/>
          <a:ext cx="7886700" cy="41183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2967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EBED9-13D3-959C-DD89-4DB00BF3C1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6A29B5-3900-7801-2805-63DA9739AEC2}"/>
              </a:ext>
            </a:extLst>
          </p:cNvPr>
          <p:cNvSpPr txBox="1"/>
          <p:nvPr/>
        </p:nvSpPr>
        <p:spPr>
          <a:xfrm>
            <a:off x="628650" y="417746"/>
            <a:ext cx="7886700" cy="8502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900" b="1" kern="1200" dirty="0">
                <a:solidFill>
                  <a:schemeClr val="tx1"/>
                </a:solidFill>
                <a:latin typeface="+mj-lt"/>
                <a:ea typeface="+mj-ea"/>
                <a:cs typeface="+mj-cs"/>
              </a:rPr>
              <a:t>Linear Regression Code </a:t>
            </a:r>
          </a:p>
          <a:p>
            <a:pPr>
              <a:lnSpc>
                <a:spcPct val="90000"/>
              </a:lnSpc>
              <a:spcBef>
                <a:spcPct val="0"/>
              </a:spcBef>
              <a:spcAft>
                <a:spcPts val="600"/>
              </a:spcAft>
            </a:pPr>
            <a:endParaRPr lang="en-US" sz="3900" b="1" kern="1200" dirty="0">
              <a:solidFill>
                <a:schemeClr val="tx1"/>
              </a:solidFill>
              <a:latin typeface="+mj-lt"/>
              <a:ea typeface="+mj-ea"/>
              <a:cs typeface="+mj-cs"/>
            </a:endParaRPr>
          </a:p>
        </p:txBody>
      </p:sp>
      <p:graphicFrame>
        <p:nvGraphicFramePr>
          <p:cNvPr id="6" name="TextBox 2">
            <a:extLst>
              <a:ext uri="{FF2B5EF4-FFF2-40B4-BE49-F238E27FC236}">
                <a16:creationId xmlns:a16="http://schemas.microsoft.com/office/drawing/2014/main" id="{3277B443-0A1F-99DE-0569-354AD290A7A9}"/>
              </a:ext>
            </a:extLst>
          </p:cNvPr>
          <p:cNvGraphicFramePr/>
          <p:nvPr>
            <p:extLst>
              <p:ext uri="{D42A27DB-BD31-4B8C-83A1-F6EECF244321}">
                <p14:modId xmlns:p14="http://schemas.microsoft.com/office/powerpoint/2010/main" val="871422096"/>
              </p:ext>
            </p:extLst>
          </p:nvPr>
        </p:nvGraphicFramePr>
        <p:xfrm>
          <a:off x="1066800" y="1268016"/>
          <a:ext cx="6896100" cy="2819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6029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6463B79-C382-BE0B-DBB3-F4A6F223E24B}"/>
              </a:ext>
            </a:extLst>
          </p:cNvPr>
          <p:cNvSpPr txBox="1"/>
          <p:nvPr/>
        </p:nvSpPr>
        <p:spPr>
          <a:xfrm>
            <a:off x="1028699" y="1738647"/>
            <a:ext cx="7293023" cy="2762519"/>
          </a:xfrm>
          <a:prstGeom prst="rect">
            <a:avLst/>
          </a:prstGeom>
        </p:spPr>
        <p:txBody>
          <a:bodyPr vert="horz" lIns="91440" tIns="45720" rIns="91440" bIns="45720" rtlCol="0" anchor="ctr">
            <a:normAutofit/>
          </a:bodyPr>
          <a:lstStyle/>
          <a:p>
            <a:pPr>
              <a:lnSpc>
                <a:spcPct val="90000"/>
              </a:lnSpc>
              <a:spcAft>
                <a:spcPts val="600"/>
              </a:spcAft>
            </a:pPr>
            <a:r>
              <a:rPr lang="en-US" sz="1500" dirty="0"/>
              <a:t>The process begins by importing essential libraries that support data handling, numerical computation, and visualization. These tools allow us to load and explore the dataset efficiently. Once the dataset is loaded, we examine its structure and contents to understand the types of variables involved, check for missing values, and observe basic statistical properties such as mean, standard deviation, and range. This initial exploration helps us decide how to prepare the data for modeling.</a:t>
            </a:r>
          </a:p>
          <a:p>
            <a:pPr>
              <a:lnSpc>
                <a:spcPct val="90000"/>
              </a:lnSpc>
              <a:spcAft>
                <a:spcPts val="600"/>
              </a:spcAft>
            </a:pPr>
            <a:r>
              <a:rPr lang="en-US" sz="1500" dirty="0"/>
              <a:t>Next, we separate the dataset into two parts: the independent variable (also called the feature or input) and the dependent variable (the target or output we want to predict). This distinction is crucial because the model learns patterns from the input to predict the output. To evaluate the model's performance fairly, we split the data into training and testing sets. The training set is used to teach the model, while the testing set helps us assess how well the model generalizes to unseen data.</a:t>
            </a:r>
          </a:p>
        </p:txBody>
      </p:sp>
      <p:sp>
        <p:nvSpPr>
          <p:cNvPr id="6" name="TextBox 5">
            <a:extLst>
              <a:ext uri="{FF2B5EF4-FFF2-40B4-BE49-F238E27FC236}">
                <a16:creationId xmlns:a16="http://schemas.microsoft.com/office/drawing/2014/main" id="{12F2AC64-6B78-F5C0-D379-E1EED800685B}"/>
              </a:ext>
            </a:extLst>
          </p:cNvPr>
          <p:cNvSpPr txBox="1"/>
          <p:nvPr/>
        </p:nvSpPr>
        <p:spPr>
          <a:xfrm>
            <a:off x="609600" y="209550"/>
            <a:ext cx="7391400" cy="400110"/>
          </a:xfrm>
          <a:prstGeom prst="rect">
            <a:avLst/>
          </a:prstGeom>
          <a:noFill/>
        </p:spPr>
        <p:txBody>
          <a:bodyPr wrap="square" rtlCol="0">
            <a:spAutoFit/>
          </a:bodyPr>
          <a:lstStyle/>
          <a:p>
            <a:pPr>
              <a:spcAft>
                <a:spcPts val="600"/>
              </a:spcAft>
            </a:pPr>
            <a:r>
              <a:rPr lang="en-US" sz="2000" dirty="0">
                <a:solidFill>
                  <a:schemeClr val="bg1"/>
                </a:solidFill>
              </a:rPr>
              <a:t>Simple Linear Regression </a:t>
            </a:r>
            <a:endParaRPr lang="en-IN" sz="2000" dirty="0">
              <a:solidFill>
                <a:schemeClr val="bg1"/>
              </a:solidFill>
            </a:endParaRPr>
          </a:p>
        </p:txBody>
      </p:sp>
    </p:spTree>
    <p:extLst>
      <p:ext uri="{BB962C8B-B14F-4D97-AF65-F5344CB8AC3E}">
        <p14:creationId xmlns:p14="http://schemas.microsoft.com/office/powerpoint/2010/main" val="3267554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CD9510A-2F04-0F78-FAB4-45927E5F5434}"/>
              </a:ext>
            </a:extLst>
          </p:cNvPr>
          <p:cNvSpPr txBox="1"/>
          <p:nvPr/>
        </p:nvSpPr>
        <p:spPr>
          <a:xfrm>
            <a:off x="1028699" y="1738647"/>
            <a:ext cx="7293023" cy="2762519"/>
          </a:xfrm>
          <a:prstGeom prst="rect">
            <a:avLst/>
          </a:prstGeom>
        </p:spPr>
        <p:txBody>
          <a:bodyPr vert="horz" lIns="91440" tIns="45720" rIns="91440" bIns="45720" rtlCol="0" anchor="ctr">
            <a:noAutofit/>
          </a:bodyPr>
          <a:lstStyle/>
          <a:p>
            <a:pPr>
              <a:lnSpc>
                <a:spcPct val="90000"/>
              </a:lnSpc>
              <a:spcAft>
                <a:spcPts val="600"/>
              </a:spcAft>
            </a:pPr>
            <a:r>
              <a:rPr lang="en-US" sz="1400" dirty="0"/>
              <a:t>Before training, we reshape the input data to ensure it fits the expected format of the machine learning algorithm. Then, we apply feature scaling — a technique that standardizes the input values so they have a consistent range and distribution. This step is especially important when the input values vary widely, as it helps the model converge faster and perform better.</a:t>
            </a:r>
          </a:p>
          <a:p>
            <a:pPr>
              <a:lnSpc>
                <a:spcPct val="90000"/>
              </a:lnSpc>
              <a:spcAft>
                <a:spcPts val="600"/>
              </a:spcAft>
            </a:pPr>
            <a:r>
              <a:rPr lang="en-US" sz="1400" dirty="0"/>
              <a:t>With the data prepared, we create a linear regression model and train it using the scaled training data. The model learns the relationship between the input and output by fitting a straight line that minimizes prediction errors. Once trained, we use the model to make predictions on the test data and compare these predictions with the actual values. This comparison helps us understand how accurate the model is.</a:t>
            </a:r>
          </a:p>
          <a:p>
            <a:pPr>
              <a:lnSpc>
                <a:spcPct val="90000"/>
              </a:lnSpc>
              <a:spcAft>
                <a:spcPts val="600"/>
              </a:spcAft>
            </a:pPr>
            <a:r>
              <a:rPr lang="en-US" sz="1400" dirty="0"/>
              <a:t>To visualize the results, we plot the actual test values alongside the predicted values. This graphical representation makes it easy to see how closely the model's predictions match reality. Finally, we demonstrate how to use the trained model to predict the output for a new input value. This involves applying the same scaling transformation to the new data and then using the model to generate a prediction. This last step shows how the model can be used in real-world scenarios to make informed decisions based on new inputs.</a:t>
            </a:r>
          </a:p>
        </p:txBody>
      </p:sp>
      <p:sp>
        <p:nvSpPr>
          <p:cNvPr id="4" name="TextBox 3">
            <a:extLst>
              <a:ext uri="{FF2B5EF4-FFF2-40B4-BE49-F238E27FC236}">
                <a16:creationId xmlns:a16="http://schemas.microsoft.com/office/drawing/2014/main" id="{EE74BA3A-CABB-E2EC-93CE-E052D869CD0E}"/>
              </a:ext>
            </a:extLst>
          </p:cNvPr>
          <p:cNvSpPr txBox="1"/>
          <p:nvPr/>
        </p:nvSpPr>
        <p:spPr>
          <a:xfrm>
            <a:off x="914400" y="223559"/>
            <a:ext cx="2736711" cy="646331"/>
          </a:xfrm>
          <a:prstGeom prst="rect">
            <a:avLst/>
          </a:prstGeom>
          <a:noFill/>
        </p:spPr>
        <p:txBody>
          <a:bodyPr wrap="none" rtlCol="0">
            <a:spAutoFit/>
          </a:bodyPr>
          <a:lstStyle/>
          <a:p>
            <a:r>
              <a:rPr lang="en-US" dirty="0">
                <a:solidFill>
                  <a:schemeClr val="bg1"/>
                </a:solidFill>
              </a:rPr>
              <a:t>Simple Linear Regression </a:t>
            </a:r>
            <a:endParaRPr lang="en-IN" dirty="0">
              <a:solidFill>
                <a:schemeClr val="bg1"/>
              </a:solidFill>
            </a:endParaRPr>
          </a:p>
          <a:p>
            <a:endParaRPr lang="en-IN" dirty="0"/>
          </a:p>
        </p:txBody>
      </p:sp>
    </p:spTree>
    <p:extLst>
      <p:ext uri="{BB962C8B-B14F-4D97-AF65-F5344CB8AC3E}">
        <p14:creationId xmlns:p14="http://schemas.microsoft.com/office/powerpoint/2010/main" val="1689699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88179" y="2370458"/>
            <a:ext cx="41148" cy="228600"/>
          </a:xfrm>
          <a:custGeom>
            <a:avLst/>
            <a:gdLst/>
            <a:ahLst/>
            <a:cxnLst/>
            <a:rect l="l" t="t" r="r" b="b"/>
            <a:pathLst>
              <a:path w="41148" h="228600">
                <a:moveTo>
                  <a:pt x="0" y="0"/>
                </a:moveTo>
                <a:lnTo>
                  <a:pt x="41148" y="0"/>
                </a:lnTo>
                <a:lnTo>
                  <a:pt x="41148" y="228600"/>
                </a:lnTo>
                <a:lnTo>
                  <a:pt x="0" y="2286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Freeform 8"/>
          <p:cNvSpPr/>
          <p:nvPr/>
        </p:nvSpPr>
        <p:spPr>
          <a:xfrm>
            <a:off x="1271016" y="2400300"/>
            <a:ext cx="5257800" cy="2383536"/>
          </a:xfrm>
          <a:custGeom>
            <a:avLst/>
            <a:gdLst/>
            <a:ahLst/>
            <a:cxnLst/>
            <a:rect l="l" t="t" r="r" b="b"/>
            <a:pathLst>
              <a:path w="5257800" h="2383536">
                <a:moveTo>
                  <a:pt x="0" y="0"/>
                </a:moveTo>
                <a:lnTo>
                  <a:pt x="5257800" y="0"/>
                </a:lnTo>
                <a:lnTo>
                  <a:pt x="5257800" y="2383536"/>
                </a:lnTo>
                <a:lnTo>
                  <a:pt x="0" y="2383536"/>
                </a:lnTo>
                <a:lnTo>
                  <a:pt x="0" y="0"/>
                </a:lnTo>
                <a:close/>
              </a:path>
            </a:pathLst>
          </a:custGeom>
          <a:blipFill>
            <a:blip r:embed="rId11"/>
            <a:stretch>
              <a:fillRect/>
            </a:stretch>
          </a:blipFill>
        </p:spPr>
        <p:txBody>
          <a:bodyPr/>
          <a:lstStyle/>
          <a:p>
            <a:endParaRPr lang="en-IN"/>
          </a:p>
        </p:txBody>
      </p:sp>
      <p:sp>
        <p:nvSpPr>
          <p:cNvPr id="9" name="TextBox 9"/>
          <p:cNvSpPr txBox="1"/>
          <p:nvPr/>
        </p:nvSpPr>
        <p:spPr>
          <a:xfrm>
            <a:off x="293827" y="4645304"/>
            <a:ext cx="107918"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25</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3760051"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Multiple Linear Regression</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288341" y="901951"/>
            <a:ext cx="4149842" cy="860107"/>
          </a:xfrm>
          <a:prstGeom prst="rect">
            <a:avLst/>
          </a:prstGeom>
        </p:spPr>
        <p:txBody>
          <a:bodyPr lIns="0" tIns="0" rIns="0" bIns="0" rtlCol="0" anchor="t">
            <a:spAutoFit/>
          </a:bodyPr>
          <a:lstStyle/>
          <a:p>
            <a:pPr algn="l">
              <a:lnSpc>
                <a:spcPts val="1698"/>
              </a:lnSpc>
            </a:pPr>
            <a:r>
              <a:rPr lang="en-US" sz="1200" dirty="0">
                <a:solidFill>
                  <a:srgbClr val="000000"/>
                </a:solidFill>
                <a:latin typeface="Aptos" panose="020B0004020202020204" pitchFamily="34" charset="0"/>
                <a:ea typeface="Heading Now 11-18"/>
                <a:cs typeface="Heading Now 11-18"/>
                <a:sym typeface="Heading Now 11-18"/>
              </a:rPr>
              <a:t>The difference between simple linear regression and multiple linear regression, multiple linear regression has (&gt;1) independent variables, whereas simple linear regression has only 1 independent variable. </a:t>
            </a:r>
          </a:p>
        </p:txBody>
      </p:sp>
      <p:sp>
        <p:nvSpPr>
          <p:cNvPr id="14" name="TextBox 14"/>
          <p:cNvSpPr txBox="1"/>
          <p:nvPr/>
        </p:nvSpPr>
        <p:spPr>
          <a:xfrm>
            <a:off x="4803010" y="742064"/>
            <a:ext cx="3954199" cy="1252266"/>
          </a:xfrm>
          <a:prstGeom prst="rect">
            <a:avLst/>
          </a:prstGeom>
        </p:spPr>
        <p:txBody>
          <a:bodyPr lIns="0" tIns="0" rIns="0" bIns="0" rtlCol="0" anchor="t">
            <a:spAutoFit/>
          </a:bodyPr>
          <a:lstStyle/>
          <a:p>
            <a:pPr algn="l">
              <a:lnSpc>
                <a:spcPts val="2342"/>
              </a:lnSpc>
            </a:pPr>
            <a:r>
              <a:rPr lang="en-US" sz="1200" dirty="0">
                <a:solidFill>
                  <a:srgbClr val="000000"/>
                </a:solidFill>
                <a:latin typeface="Aptos" panose="020B0004020202020204" pitchFamily="34" charset="0"/>
                <a:ea typeface="Heading Now 11-18"/>
                <a:cs typeface="Heading Now 11-18"/>
                <a:sym typeface="Heading Now 11-18"/>
              </a:rPr>
              <a:t>Simple Linear Regression →y = </a:t>
            </a:r>
            <a:r>
              <a:rPr lang="en-US" sz="1200" dirty="0" err="1">
                <a:solidFill>
                  <a:srgbClr val="000000"/>
                </a:solidFill>
                <a:latin typeface="Aptos" panose="020B0004020202020204" pitchFamily="34" charset="0"/>
                <a:ea typeface="Heading Now 11-18"/>
                <a:cs typeface="Heading Now 11-18"/>
                <a:sym typeface="Heading Now 11-18"/>
              </a:rPr>
              <a:t>bo</a:t>
            </a:r>
            <a:r>
              <a:rPr lang="en-US" sz="1200" dirty="0">
                <a:solidFill>
                  <a:srgbClr val="000000"/>
                </a:solidFill>
                <a:latin typeface="Aptos" panose="020B0004020202020204" pitchFamily="34" charset="0"/>
                <a:ea typeface="Heading Now 11-18"/>
                <a:cs typeface="Heading Now 11-18"/>
                <a:sym typeface="Heading Now 11-18"/>
              </a:rPr>
              <a:t> + b1*x1 Multiple Linear Regression →y = </a:t>
            </a:r>
            <a:r>
              <a:rPr lang="en-US" sz="1200" dirty="0" err="1">
                <a:solidFill>
                  <a:srgbClr val="000000"/>
                </a:solidFill>
                <a:latin typeface="Aptos" panose="020B0004020202020204" pitchFamily="34" charset="0"/>
                <a:ea typeface="Heading Now 11-18"/>
                <a:cs typeface="Heading Now 11-18"/>
                <a:sym typeface="Heading Now 11-18"/>
              </a:rPr>
              <a:t>bo</a:t>
            </a:r>
            <a:r>
              <a:rPr lang="en-US" sz="1200" dirty="0">
                <a:solidFill>
                  <a:srgbClr val="000000"/>
                </a:solidFill>
                <a:latin typeface="Aptos" panose="020B0004020202020204" pitchFamily="34" charset="0"/>
                <a:ea typeface="Heading Now 11-18"/>
                <a:cs typeface="Heading Now 11-18"/>
                <a:sym typeface="Heading Now 11-18"/>
              </a:rPr>
              <a:t> + b1*x1</a:t>
            </a:r>
          </a:p>
          <a:p>
            <a:pPr algn="l">
              <a:lnSpc>
                <a:spcPts val="600"/>
              </a:lnSpc>
            </a:pPr>
            <a:r>
              <a:rPr lang="en-US" sz="1200" dirty="0">
                <a:solidFill>
                  <a:srgbClr val="000000"/>
                </a:solidFill>
                <a:latin typeface="Aptos" panose="020B0004020202020204" pitchFamily="34" charset="0"/>
                <a:ea typeface="Heading Now 11-18"/>
                <a:cs typeface="Heading Now 11-18"/>
                <a:sym typeface="Heading Now 11-18"/>
              </a:rPr>
              <a:t>b2*x2 + …. + bn*</a:t>
            </a:r>
            <a:r>
              <a:rPr lang="en-US" sz="1200" dirty="0" err="1">
                <a:solidFill>
                  <a:srgbClr val="000000"/>
                </a:solidFill>
                <a:latin typeface="Aptos" panose="020B0004020202020204" pitchFamily="34" charset="0"/>
                <a:ea typeface="Heading Now 11-18"/>
                <a:cs typeface="Heading Now 11-18"/>
                <a:sym typeface="Heading Now 11-18"/>
              </a:rPr>
              <a:t>xn</a:t>
            </a:r>
            <a:r>
              <a:rPr lang="en-US" sz="1200" dirty="0">
                <a:solidFill>
                  <a:srgbClr val="000000"/>
                </a:solidFill>
                <a:latin typeface="Aptos" panose="020B0004020202020204" pitchFamily="34" charset="0"/>
                <a:ea typeface="Heading Now 11-18"/>
                <a:cs typeface="Heading Now 11-18"/>
                <a:sym typeface="Heading Now 11-18"/>
              </a:rPr>
              <a:t> </a:t>
            </a:r>
          </a:p>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Where, y →Dependent variable </a:t>
            </a:r>
          </a:p>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x1, x2, ….</a:t>
            </a:r>
            <a:r>
              <a:rPr lang="en-US" sz="1200" dirty="0" err="1">
                <a:solidFill>
                  <a:srgbClr val="000000"/>
                </a:solidFill>
                <a:latin typeface="Aptos" panose="020B0004020202020204" pitchFamily="34" charset="0"/>
                <a:ea typeface="Heading Now 11-18"/>
                <a:cs typeface="Heading Now 11-18"/>
                <a:sym typeface="Heading Now 11-18"/>
              </a:rPr>
              <a:t>xn</a:t>
            </a:r>
            <a:r>
              <a:rPr lang="en-US" sz="1200" dirty="0">
                <a:solidFill>
                  <a:srgbClr val="000000"/>
                </a:solidFill>
                <a:latin typeface="Aptos" panose="020B0004020202020204" pitchFamily="34" charset="0"/>
                <a:ea typeface="Heading Now 11-18"/>
                <a:cs typeface="Heading Now 11-18"/>
                <a:sym typeface="Heading Now 11-18"/>
              </a:rPr>
              <a:t> →Independent variables</a:t>
            </a:r>
          </a:p>
        </p:txBody>
      </p:sp>
      <p:sp>
        <p:nvSpPr>
          <p:cNvPr id="15" name="TextBox 15"/>
          <p:cNvSpPr txBox="1"/>
          <p:nvPr/>
        </p:nvSpPr>
        <p:spPr>
          <a:xfrm>
            <a:off x="8802824" y="1106167"/>
            <a:ext cx="106175"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8D73E4-B7D6-40E2-E091-4C3CFA6C47E9}"/>
              </a:ext>
            </a:extLst>
          </p:cNvPr>
          <p:cNvPicPr>
            <a:picLocks noChangeAspect="1"/>
          </p:cNvPicPr>
          <p:nvPr/>
        </p:nvPicPr>
        <p:blipFill>
          <a:blip r:embed="rId2"/>
          <a:stretch>
            <a:fillRect/>
          </a:stretch>
        </p:blipFill>
        <p:spPr>
          <a:xfrm>
            <a:off x="0" y="99554"/>
            <a:ext cx="9144000" cy="4944391"/>
          </a:xfrm>
          <a:prstGeom prst="rect">
            <a:avLst/>
          </a:prstGeom>
        </p:spPr>
      </p:pic>
    </p:spTree>
    <p:extLst>
      <p:ext uri="{BB962C8B-B14F-4D97-AF65-F5344CB8AC3E}">
        <p14:creationId xmlns:p14="http://schemas.microsoft.com/office/powerpoint/2010/main" val="1242845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68A67E-8CC2-86AA-D88A-9F7207F5523F}"/>
              </a:ext>
            </a:extLst>
          </p:cNvPr>
          <p:cNvPicPr>
            <a:picLocks noChangeAspect="1"/>
          </p:cNvPicPr>
          <p:nvPr/>
        </p:nvPicPr>
        <p:blipFill>
          <a:blip r:embed="rId2"/>
          <a:stretch>
            <a:fillRect/>
          </a:stretch>
        </p:blipFill>
        <p:spPr>
          <a:xfrm>
            <a:off x="0" y="82047"/>
            <a:ext cx="9144000" cy="4979406"/>
          </a:xfrm>
          <a:prstGeom prst="rect">
            <a:avLst/>
          </a:prstGeom>
        </p:spPr>
      </p:pic>
    </p:spTree>
    <p:extLst>
      <p:ext uri="{BB962C8B-B14F-4D97-AF65-F5344CB8AC3E}">
        <p14:creationId xmlns:p14="http://schemas.microsoft.com/office/powerpoint/2010/main" val="27242958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B8DAD5-90F9-82CF-8FCE-2D6055AEB6C7}"/>
              </a:ext>
            </a:extLst>
          </p:cNvPr>
          <p:cNvPicPr>
            <a:picLocks noChangeAspect="1"/>
          </p:cNvPicPr>
          <p:nvPr/>
        </p:nvPicPr>
        <p:blipFill>
          <a:blip r:embed="rId2"/>
          <a:stretch>
            <a:fillRect/>
          </a:stretch>
        </p:blipFill>
        <p:spPr>
          <a:xfrm>
            <a:off x="0" y="79684"/>
            <a:ext cx="9144000" cy="4984131"/>
          </a:xfrm>
          <a:prstGeom prst="rect">
            <a:avLst/>
          </a:prstGeom>
        </p:spPr>
      </p:pic>
    </p:spTree>
    <p:extLst>
      <p:ext uri="{BB962C8B-B14F-4D97-AF65-F5344CB8AC3E}">
        <p14:creationId xmlns:p14="http://schemas.microsoft.com/office/powerpoint/2010/main" val="40365863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3D8155-E9D9-4EF6-DB7E-AD4B92F4E63B}"/>
              </a:ext>
            </a:extLst>
          </p:cNvPr>
          <p:cNvPicPr>
            <a:picLocks noChangeAspect="1"/>
          </p:cNvPicPr>
          <p:nvPr/>
        </p:nvPicPr>
        <p:blipFill>
          <a:blip r:embed="rId2"/>
          <a:stretch>
            <a:fillRect/>
          </a:stretch>
        </p:blipFill>
        <p:spPr>
          <a:xfrm>
            <a:off x="0" y="122985"/>
            <a:ext cx="9144000" cy="4897530"/>
          </a:xfrm>
          <a:prstGeom prst="rect">
            <a:avLst/>
          </a:prstGeom>
        </p:spPr>
      </p:pic>
    </p:spTree>
    <p:extLst>
      <p:ext uri="{BB962C8B-B14F-4D97-AF65-F5344CB8AC3E}">
        <p14:creationId xmlns:p14="http://schemas.microsoft.com/office/powerpoint/2010/main" val="260396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0B6CA25-A4BF-5A84-526B-CD5732FB958F}"/>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kern="1200" dirty="0">
                <a:solidFill>
                  <a:srgbClr val="FFFFFF"/>
                </a:solidFill>
                <a:latin typeface="+mj-lt"/>
                <a:ea typeface="+mj-ea"/>
                <a:cs typeface="+mj-cs"/>
              </a:rPr>
              <a:t>What Is Multiple Linear Regression?</a:t>
            </a:r>
          </a:p>
          <a:p>
            <a:pPr>
              <a:lnSpc>
                <a:spcPct val="90000"/>
              </a:lnSpc>
              <a:spcBef>
                <a:spcPct val="0"/>
              </a:spcBef>
              <a:spcAft>
                <a:spcPts val="600"/>
              </a:spcAft>
            </a:pPr>
            <a:endParaRPr lang="en-US" sz="3000" kern="1200" dirty="0">
              <a:solidFill>
                <a:srgbClr val="FFFFFF"/>
              </a:solidFill>
              <a:latin typeface="+mj-lt"/>
              <a:ea typeface="+mj-ea"/>
              <a:cs typeface="+mj-cs"/>
            </a:endParaRPr>
          </a:p>
        </p:txBody>
      </p:sp>
      <p:sp>
        <p:nvSpPr>
          <p:cNvPr id="3" name="TextBox 2">
            <a:extLst>
              <a:ext uri="{FF2B5EF4-FFF2-40B4-BE49-F238E27FC236}">
                <a16:creationId xmlns:a16="http://schemas.microsoft.com/office/drawing/2014/main" id="{9E3F3FBE-B3AB-70A0-BCED-250ADFAD2D6B}"/>
              </a:ext>
            </a:extLst>
          </p:cNvPr>
          <p:cNvSpPr txBox="1"/>
          <p:nvPr/>
        </p:nvSpPr>
        <p:spPr>
          <a:xfrm>
            <a:off x="609600" y="2266950"/>
            <a:ext cx="7841062" cy="2762519"/>
          </a:xfrm>
          <a:prstGeom prst="rect">
            <a:avLst/>
          </a:prstGeom>
        </p:spPr>
        <p:txBody>
          <a:bodyPr vert="horz" lIns="91440" tIns="45720" rIns="91440" bIns="45720" rtlCol="0" anchor="ctr">
            <a:noAutofit/>
          </a:bodyPr>
          <a:lstStyle/>
          <a:p>
            <a:pPr>
              <a:lnSpc>
                <a:spcPct val="90000"/>
              </a:lnSpc>
              <a:spcAft>
                <a:spcPts val="600"/>
              </a:spcAft>
            </a:pPr>
            <a:r>
              <a:rPr lang="en-US" sz="1400" dirty="0"/>
              <a:t>Multiple Linear Regression predicts the value of a dependent variable (Y) based on several independent variables (X₁, X₂, X₃, …).</a:t>
            </a:r>
          </a:p>
          <a:p>
            <a:pPr>
              <a:lnSpc>
                <a:spcPct val="90000"/>
              </a:lnSpc>
              <a:spcAft>
                <a:spcPts val="600"/>
              </a:spcAft>
            </a:pPr>
            <a:r>
              <a:rPr lang="en-US" sz="1400" b="1" dirty="0"/>
              <a:t>Equation:</a:t>
            </a:r>
            <a:endParaRPr lang="en-US" sz="1400" dirty="0"/>
          </a:p>
          <a:p>
            <a:pPr>
              <a:lnSpc>
                <a:spcPct val="90000"/>
              </a:lnSpc>
              <a:spcAft>
                <a:spcPts val="600"/>
              </a:spcAft>
            </a:pPr>
            <a:r>
              <a:rPr lang="en-US" sz="1400" dirty="0"/>
              <a:t>Y=a+b1X1+b2X2+b3X3+⋯+</a:t>
            </a:r>
            <a:r>
              <a:rPr lang="en-US" sz="1400" dirty="0" err="1"/>
              <a:t>bnXn</a:t>
            </a:r>
            <a:endParaRPr lang="en-US" sz="1400" b="1" dirty="0"/>
          </a:p>
          <a:p>
            <a:pPr>
              <a:lnSpc>
                <a:spcPct val="90000"/>
              </a:lnSpc>
              <a:spcAft>
                <a:spcPts val="600"/>
              </a:spcAft>
            </a:pPr>
            <a:r>
              <a:rPr lang="en-US" sz="1400" b="1" dirty="0"/>
              <a:t>Y</a:t>
            </a:r>
            <a:r>
              <a:rPr lang="en-US" sz="1400" dirty="0"/>
              <a:t> = dependent variable</a:t>
            </a:r>
          </a:p>
          <a:p>
            <a:pPr>
              <a:lnSpc>
                <a:spcPct val="90000"/>
              </a:lnSpc>
              <a:spcAft>
                <a:spcPts val="600"/>
              </a:spcAft>
            </a:pPr>
            <a:r>
              <a:rPr lang="en-US" sz="1400" b="1" dirty="0"/>
              <a:t>X₁, X₂, … Xₙ</a:t>
            </a:r>
            <a:r>
              <a:rPr lang="en-US" sz="1400" dirty="0"/>
              <a:t> = independent variables</a:t>
            </a:r>
          </a:p>
          <a:p>
            <a:pPr>
              <a:lnSpc>
                <a:spcPct val="90000"/>
              </a:lnSpc>
              <a:spcAft>
                <a:spcPts val="600"/>
              </a:spcAft>
            </a:pPr>
            <a:r>
              <a:rPr lang="en-US" sz="1400" b="1" dirty="0"/>
              <a:t>a</a:t>
            </a:r>
            <a:r>
              <a:rPr lang="en-US" sz="1400" dirty="0"/>
              <a:t> = intercept</a:t>
            </a:r>
          </a:p>
          <a:p>
            <a:pPr>
              <a:lnSpc>
                <a:spcPct val="90000"/>
              </a:lnSpc>
              <a:spcAft>
                <a:spcPts val="600"/>
              </a:spcAft>
            </a:pPr>
            <a:r>
              <a:rPr lang="en-US" sz="1400" b="1" dirty="0"/>
              <a:t>b₁, b₂, … bₙ</a:t>
            </a:r>
            <a:r>
              <a:rPr lang="en-US" sz="1400" dirty="0"/>
              <a:t> = coefficients (effect of each X on Y)</a:t>
            </a:r>
          </a:p>
          <a:p>
            <a:pPr>
              <a:lnSpc>
                <a:spcPct val="90000"/>
              </a:lnSpc>
              <a:spcAft>
                <a:spcPts val="600"/>
              </a:spcAft>
            </a:pPr>
            <a:r>
              <a:rPr lang="en-US" sz="1400" b="1" dirty="0"/>
              <a:t>Why It’s Useful:-</a:t>
            </a:r>
          </a:p>
          <a:p>
            <a:pPr marL="114300">
              <a:lnSpc>
                <a:spcPct val="90000"/>
              </a:lnSpc>
              <a:spcAft>
                <a:spcPts val="600"/>
              </a:spcAft>
            </a:pPr>
            <a:r>
              <a:rPr lang="en-US" sz="1400" dirty="0"/>
              <a:t>Captures </a:t>
            </a:r>
            <a:r>
              <a:rPr lang="en-US" sz="1400" b="1" dirty="0"/>
              <a:t>complex relationships</a:t>
            </a:r>
            <a:r>
              <a:rPr lang="en-US" sz="1400" dirty="0"/>
              <a:t> between variables.</a:t>
            </a:r>
          </a:p>
          <a:p>
            <a:pPr marL="114300">
              <a:lnSpc>
                <a:spcPct val="90000"/>
              </a:lnSpc>
              <a:spcAft>
                <a:spcPts val="600"/>
              </a:spcAft>
            </a:pPr>
            <a:r>
              <a:rPr lang="en-US" sz="1400" dirty="0"/>
              <a:t>Controls for </a:t>
            </a:r>
            <a:r>
              <a:rPr lang="en-US" sz="1400" b="1" dirty="0"/>
              <a:t>confounding factors</a:t>
            </a:r>
            <a:r>
              <a:rPr lang="en-US" sz="1400" dirty="0"/>
              <a:t>.</a:t>
            </a:r>
          </a:p>
          <a:p>
            <a:pPr marL="114300">
              <a:lnSpc>
                <a:spcPct val="90000"/>
              </a:lnSpc>
              <a:spcAft>
                <a:spcPts val="600"/>
              </a:spcAft>
            </a:pPr>
            <a:r>
              <a:rPr lang="en-US" sz="1400" dirty="0"/>
              <a:t>Improves </a:t>
            </a:r>
            <a:r>
              <a:rPr lang="en-US" sz="1400" b="1" dirty="0"/>
              <a:t>prediction accuracy</a:t>
            </a:r>
            <a:r>
              <a:rPr lang="en-US" sz="1400" dirty="0"/>
              <a:t>.</a:t>
            </a:r>
          </a:p>
          <a:p>
            <a:pPr marL="114300">
              <a:lnSpc>
                <a:spcPct val="90000"/>
              </a:lnSpc>
              <a:spcAft>
                <a:spcPts val="600"/>
              </a:spcAft>
            </a:pPr>
            <a:r>
              <a:rPr lang="en-US" sz="1400" dirty="0"/>
              <a:t>Essential for </a:t>
            </a:r>
            <a:r>
              <a:rPr lang="en-US" sz="1400" b="1" dirty="0"/>
              <a:t>real-world modeling</a:t>
            </a:r>
            <a:r>
              <a:rPr lang="en-US" sz="1400" dirty="0"/>
              <a:t> (e.g., predicting house prices using size, location, number of rooms, etc.).</a:t>
            </a:r>
          </a:p>
          <a:p>
            <a:pPr>
              <a:lnSpc>
                <a:spcPct val="90000"/>
              </a:lnSpc>
              <a:spcAft>
                <a:spcPts val="600"/>
              </a:spcAft>
            </a:pPr>
            <a:endParaRPr lang="en-US" sz="1400" dirty="0"/>
          </a:p>
          <a:p>
            <a:pPr>
              <a:lnSpc>
                <a:spcPct val="90000"/>
              </a:lnSpc>
              <a:spcAft>
                <a:spcPts val="600"/>
              </a:spcAft>
            </a:pPr>
            <a:endParaRPr lang="en-US" sz="1400" dirty="0"/>
          </a:p>
          <a:p>
            <a:pPr>
              <a:lnSpc>
                <a:spcPct val="90000"/>
              </a:lnSpc>
              <a:spcAft>
                <a:spcPts val="600"/>
              </a:spcAft>
            </a:pPr>
            <a:endParaRPr lang="en-US" sz="1400" dirty="0"/>
          </a:p>
          <a:p>
            <a:pPr>
              <a:lnSpc>
                <a:spcPct val="90000"/>
              </a:lnSpc>
              <a:spcAft>
                <a:spcPts val="600"/>
              </a:spcAft>
            </a:pPr>
            <a:endParaRPr lang="en-US" sz="1400" dirty="0"/>
          </a:p>
        </p:txBody>
      </p:sp>
    </p:spTree>
    <p:extLst>
      <p:ext uri="{BB962C8B-B14F-4D97-AF65-F5344CB8AC3E}">
        <p14:creationId xmlns:p14="http://schemas.microsoft.com/office/powerpoint/2010/main" val="2401810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57A3105-C264-8817-5C98-F1A8A88294A6}"/>
              </a:ext>
            </a:extLst>
          </p:cNvPr>
          <p:cNvSpPr txBox="1"/>
          <p:nvPr/>
        </p:nvSpPr>
        <p:spPr>
          <a:xfrm>
            <a:off x="840803" y="376515"/>
            <a:ext cx="4004282" cy="74743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kern="1200" dirty="0">
                <a:solidFill>
                  <a:schemeClr val="tx1"/>
                </a:solidFill>
                <a:latin typeface="+mj-lt"/>
                <a:ea typeface="+mj-ea"/>
                <a:cs typeface="+mj-cs"/>
              </a:rPr>
              <a:t>Key Concepts</a:t>
            </a:r>
          </a:p>
          <a:p>
            <a:pPr>
              <a:lnSpc>
                <a:spcPct val="90000"/>
              </a:lnSpc>
              <a:spcBef>
                <a:spcPct val="0"/>
              </a:spcBef>
              <a:spcAft>
                <a:spcPts val="600"/>
              </a:spcAft>
            </a:pPr>
            <a:endParaRPr lang="en-US" sz="30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B3E2D850-BD21-3DB7-652E-88562B389FB7}"/>
              </a:ext>
            </a:extLst>
          </p:cNvPr>
          <p:cNvSpPr txBox="1"/>
          <p:nvPr/>
        </p:nvSpPr>
        <p:spPr>
          <a:xfrm>
            <a:off x="333955" y="666741"/>
            <a:ext cx="5740654" cy="3810000"/>
          </a:xfrm>
          <a:prstGeom prst="rect">
            <a:avLst/>
          </a:prstGeom>
        </p:spPr>
        <p:txBody>
          <a:bodyPr vert="horz" lIns="91440" tIns="45720" rIns="91440" bIns="45720" rtlCol="0" anchor="t">
            <a:noAutofit/>
          </a:bodyPr>
          <a:lstStyle/>
          <a:p>
            <a:pPr>
              <a:lnSpc>
                <a:spcPct val="90000"/>
              </a:lnSpc>
              <a:spcAft>
                <a:spcPts val="600"/>
              </a:spcAft>
            </a:pPr>
            <a:r>
              <a:rPr lang="en-US" sz="1400" b="1" dirty="0"/>
              <a:t>Multicollinearity</a:t>
            </a:r>
            <a:r>
              <a:rPr lang="en-US" sz="1400" dirty="0"/>
              <a:t>: When predictors are highly correlated, it can distort the model.</a:t>
            </a:r>
          </a:p>
          <a:p>
            <a:pPr>
              <a:lnSpc>
                <a:spcPct val="90000"/>
              </a:lnSpc>
              <a:spcAft>
                <a:spcPts val="600"/>
              </a:spcAft>
            </a:pPr>
            <a:r>
              <a:rPr lang="en-US" sz="1400" b="1" dirty="0"/>
              <a:t>Adjusted R²</a:t>
            </a:r>
            <a:r>
              <a:rPr lang="en-US" sz="1400" dirty="0"/>
              <a:t>: Better than R² for evaluating models with multiple predictors.</a:t>
            </a:r>
          </a:p>
          <a:p>
            <a:pPr>
              <a:lnSpc>
                <a:spcPct val="90000"/>
              </a:lnSpc>
              <a:spcAft>
                <a:spcPts val="600"/>
              </a:spcAft>
            </a:pPr>
            <a:r>
              <a:rPr lang="en-US" sz="1400" b="1" dirty="0"/>
              <a:t>Feature selection</a:t>
            </a:r>
            <a:r>
              <a:rPr lang="en-US" sz="1400" dirty="0"/>
              <a:t>: Choosing the most relevant variables improves performance.</a:t>
            </a:r>
          </a:p>
          <a:p>
            <a:pPr>
              <a:lnSpc>
                <a:spcPct val="90000"/>
              </a:lnSpc>
              <a:spcAft>
                <a:spcPts val="600"/>
              </a:spcAft>
            </a:pPr>
            <a:r>
              <a:rPr lang="en-US" sz="1400" b="1" dirty="0"/>
              <a:t>Assumptions</a:t>
            </a:r>
            <a:r>
              <a:rPr lang="en-US" sz="1400" dirty="0"/>
              <a:t>:</a:t>
            </a:r>
          </a:p>
          <a:p>
            <a:pPr marL="57150" lvl="1">
              <a:lnSpc>
                <a:spcPct val="90000"/>
              </a:lnSpc>
              <a:spcAft>
                <a:spcPts val="600"/>
              </a:spcAft>
            </a:pPr>
            <a:r>
              <a:rPr lang="en-US" sz="1400" dirty="0"/>
              <a:t>1. Linearity , 2. Independence of errors,3. Homoscedasticity (constant variance),4. Normality of residuals  5. No multicollinearity</a:t>
            </a:r>
          </a:p>
          <a:p>
            <a:pPr>
              <a:lnSpc>
                <a:spcPct val="90000"/>
              </a:lnSpc>
              <a:spcAft>
                <a:spcPts val="600"/>
              </a:spcAft>
            </a:pPr>
            <a:r>
              <a:rPr lang="en-US" sz="1400" dirty="0"/>
              <a:t>Here’s your 3D visualization of </a:t>
            </a:r>
            <a:r>
              <a:rPr lang="en-US" sz="1400" b="1" dirty="0"/>
              <a:t>Multiple Linear Regression</a:t>
            </a:r>
            <a:r>
              <a:rPr lang="en-US" sz="1400" dirty="0"/>
              <a:t> using two predictors:</a:t>
            </a:r>
          </a:p>
          <a:p>
            <a:pPr marL="228600">
              <a:lnSpc>
                <a:spcPct val="90000"/>
              </a:lnSpc>
              <a:spcAft>
                <a:spcPts val="600"/>
              </a:spcAft>
            </a:pPr>
            <a:r>
              <a:rPr lang="en-US" sz="1400" b="1" dirty="0"/>
              <a:t>Blue dots</a:t>
            </a:r>
            <a:r>
              <a:rPr lang="en-US" sz="1400" dirty="0"/>
              <a:t> represent actual data points: combinations of </a:t>
            </a:r>
            <a:r>
              <a:rPr lang="en-US" sz="1400" b="1" dirty="0"/>
              <a:t>study hours</a:t>
            </a:r>
            <a:r>
              <a:rPr lang="en-US" sz="1400" dirty="0"/>
              <a:t>, </a:t>
            </a:r>
            <a:r>
              <a:rPr lang="en-US" sz="1400" b="1" dirty="0"/>
              <a:t>sleep hours</a:t>
            </a:r>
            <a:r>
              <a:rPr lang="en-US" sz="1400" dirty="0"/>
              <a:t>, and </a:t>
            </a:r>
            <a:r>
              <a:rPr lang="en-US" sz="1400" b="1" dirty="0"/>
              <a:t>test scores</a:t>
            </a:r>
            <a:r>
              <a:rPr lang="en-US" sz="1400" dirty="0"/>
              <a:t>.</a:t>
            </a:r>
          </a:p>
          <a:p>
            <a:pPr marL="228600">
              <a:lnSpc>
                <a:spcPct val="90000"/>
              </a:lnSpc>
              <a:spcAft>
                <a:spcPts val="600"/>
              </a:spcAft>
            </a:pPr>
            <a:r>
              <a:rPr lang="en-US" sz="1400" b="1" dirty="0"/>
              <a:t>Red surface</a:t>
            </a:r>
            <a:r>
              <a:rPr lang="en-US" sz="1400" dirty="0"/>
              <a:t> is the </a:t>
            </a:r>
            <a:r>
              <a:rPr lang="en-US" sz="1400" b="1" dirty="0"/>
              <a:t>regression plane</a:t>
            </a:r>
            <a:r>
              <a:rPr lang="en-US" sz="1400" dirty="0"/>
              <a:t> — the best fit surface that models how both study and sleep hours influence test scores.</a:t>
            </a:r>
          </a:p>
          <a:p>
            <a:pPr>
              <a:lnSpc>
                <a:spcPct val="90000"/>
              </a:lnSpc>
              <a:spcAft>
                <a:spcPts val="600"/>
              </a:spcAft>
            </a:pPr>
            <a:r>
              <a:rPr lang="en-US" sz="1400" dirty="0"/>
              <a:t>This plot shows how the test score increases with more study hours and decreases with less sleep, capturing the combined effect of both variables.</a:t>
            </a:r>
          </a:p>
          <a:p>
            <a:pPr marL="0" lvl="1">
              <a:lnSpc>
                <a:spcPct val="90000"/>
              </a:lnSpc>
              <a:spcAft>
                <a:spcPts val="600"/>
              </a:spcAft>
            </a:pPr>
            <a:endParaRPr lang="en-US" sz="1400" dirty="0"/>
          </a:p>
        </p:txBody>
      </p:sp>
      <p:sp>
        <p:nvSpPr>
          <p:cNvPr id="7177" name="Rectangle 717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3"/>
            <a:ext cx="3069391" cy="51434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9" name="Rectangle 717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4800276"/>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1" name="Rectangle 718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6"/>
            <a:ext cx="3051501" cy="4800291"/>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3" name="Rectangle 718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7"/>
            <a:ext cx="2708601" cy="51434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0" name="Picture 2" descr="Generated Image">
            <a:extLst>
              <a:ext uri="{FF2B5EF4-FFF2-40B4-BE49-F238E27FC236}">
                <a16:creationId xmlns:a16="http://schemas.microsoft.com/office/drawing/2014/main" id="{C67A16CD-CF28-2BDC-70B5-EBAD726B42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101444" y="1326846"/>
            <a:ext cx="2708601" cy="2146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836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AC15EA-C2A2-D038-579C-B1C619005EA7}"/>
              </a:ext>
            </a:extLst>
          </p:cNvPr>
          <p:cNvSpPr txBox="1"/>
          <p:nvPr/>
        </p:nvSpPr>
        <p:spPr>
          <a:xfrm>
            <a:off x="3352800" y="1504950"/>
            <a:ext cx="3429000" cy="646331"/>
          </a:xfrm>
          <a:prstGeom prst="rect">
            <a:avLst/>
          </a:prstGeom>
          <a:noFill/>
        </p:spPr>
        <p:txBody>
          <a:bodyPr wrap="square" rtlCol="0">
            <a:spAutoFit/>
          </a:bodyPr>
          <a:lstStyle/>
          <a:p>
            <a:r>
              <a:rPr lang="en-US" sz="3600" b="1" dirty="0"/>
              <a:t>Code</a:t>
            </a:r>
            <a:endParaRPr lang="en-IN" sz="3600" b="1" dirty="0"/>
          </a:p>
        </p:txBody>
      </p:sp>
    </p:spTree>
    <p:extLst>
      <p:ext uri="{BB962C8B-B14F-4D97-AF65-F5344CB8AC3E}">
        <p14:creationId xmlns:p14="http://schemas.microsoft.com/office/powerpoint/2010/main" val="1595233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B92458-744C-D229-A8D4-45EE5755B9BF}"/>
              </a:ext>
            </a:extLst>
          </p:cNvPr>
          <p:cNvSpPr txBox="1"/>
          <p:nvPr/>
        </p:nvSpPr>
        <p:spPr>
          <a:xfrm>
            <a:off x="2286000" y="2385279"/>
            <a:ext cx="4572000" cy="646331"/>
          </a:xfrm>
          <a:prstGeom prst="rect">
            <a:avLst/>
          </a:prstGeom>
          <a:noFill/>
        </p:spPr>
        <p:txBody>
          <a:bodyPr wrap="square">
            <a:spAutoFit/>
          </a:bodyPr>
          <a:lstStyle/>
          <a:p>
            <a:r>
              <a:rPr lang="en-US" sz="3600" b="1" dirty="0"/>
              <a:t>Code</a:t>
            </a:r>
            <a:endParaRPr lang="en-IN" sz="3600" b="1" dirty="0"/>
          </a:p>
        </p:txBody>
      </p:sp>
    </p:spTree>
    <p:extLst>
      <p:ext uri="{BB962C8B-B14F-4D97-AF65-F5344CB8AC3E}">
        <p14:creationId xmlns:p14="http://schemas.microsoft.com/office/powerpoint/2010/main" val="36652535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E9E595-EBCF-9992-2511-49920D87AC8D}"/>
              </a:ext>
            </a:extLst>
          </p:cNvPr>
          <p:cNvSpPr txBox="1"/>
          <p:nvPr/>
        </p:nvSpPr>
        <p:spPr>
          <a:xfrm>
            <a:off x="2286000" y="2385279"/>
            <a:ext cx="4572000" cy="646331"/>
          </a:xfrm>
          <a:prstGeom prst="rect">
            <a:avLst/>
          </a:prstGeom>
          <a:noFill/>
        </p:spPr>
        <p:txBody>
          <a:bodyPr wrap="square">
            <a:spAutoFit/>
          </a:bodyPr>
          <a:lstStyle/>
          <a:p>
            <a:r>
              <a:rPr lang="en-US" sz="3600" b="1" dirty="0"/>
              <a:t>Code</a:t>
            </a:r>
            <a:endParaRPr lang="en-IN" sz="3600" b="1" dirty="0"/>
          </a:p>
        </p:txBody>
      </p:sp>
    </p:spTree>
    <p:extLst>
      <p:ext uri="{BB962C8B-B14F-4D97-AF65-F5344CB8AC3E}">
        <p14:creationId xmlns:p14="http://schemas.microsoft.com/office/powerpoint/2010/main" val="900717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430524" y="1790700"/>
            <a:ext cx="5699760" cy="3043428"/>
          </a:xfrm>
          <a:custGeom>
            <a:avLst/>
            <a:gdLst/>
            <a:ahLst/>
            <a:cxnLst/>
            <a:rect l="l" t="t" r="r" b="b"/>
            <a:pathLst>
              <a:path w="5699760" h="3043428">
                <a:moveTo>
                  <a:pt x="0" y="0"/>
                </a:moveTo>
                <a:lnTo>
                  <a:pt x="5699760" y="0"/>
                </a:lnTo>
                <a:lnTo>
                  <a:pt x="5699760" y="3043428"/>
                </a:lnTo>
                <a:lnTo>
                  <a:pt x="0" y="304342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45304"/>
            <a:ext cx="108547"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760051"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Multiple Linear Regression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25222" y="1144781"/>
            <a:ext cx="3217907" cy="1588897"/>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5 methods of building models: </a:t>
            </a:r>
          </a:p>
          <a:p>
            <a:pPr algn="l">
              <a:lnSpc>
                <a:spcPts val="3000"/>
              </a:lnSpc>
            </a:pPr>
            <a:r>
              <a:rPr lang="en-US" sz="1200" spc="1" dirty="0">
                <a:solidFill>
                  <a:srgbClr val="000000"/>
                </a:solidFill>
                <a:latin typeface="Aptos" panose="020B0004020202020204" pitchFamily="34" charset="0"/>
                <a:ea typeface="Heading Now 11-18"/>
                <a:cs typeface="Heading Now 11-18"/>
                <a:sym typeface="Heading Now 11-18"/>
              </a:rPr>
              <a:t>1. All-in </a:t>
            </a:r>
          </a:p>
          <a:p>
            <a:pPr algn="l">
              <a:lnSpc>
                <a:spcPts val="600"/>
              </a:lnSpc>
            </a:pPr>
            <a:r>
              <a:rPr lang="en-US" sz="1200" dirty="0">
                <a:solidFill>
                  <a:srgbClr val="000000"/>
                </a:solidFill>
                <a:latin typeface="Aptos" panose="020B0004020202020204" pitchFamily="34" charset="0"/>
                <a:ea typeface="Heading Now 11-18"/>
                <a:cs typeface="Heading Now 11-18"/>
                <a:sym typeface="Heading Now 11-18"/>
              </a:rPr>
              <a:t>2. Backward Elimination →Stepwise </a:t>
            </a:r>
          </a:p>
          <a:p>
            <a:pPr algn="l">
              <a:lnSpc>
                <a:spcPts val="2808"/>
              </a:lnSpc>
            </a:pPr>
            <a:r>
              <a:rPr lang="en-US" sz="1200" dirty="0">
                <a:solidFill>
                  <a:srgbClr val="000000"/>
                </a:solidFill>
                <a:latin typeface="Aptos" panose="020B0004020202020204" pitchFamily="34" charset="0"/>
                <a:ea typeface="Heading Now 11-18"/>
                <a:cs typeface="Heading Now 11-18"/>
                <a:sym typeface="Heading Now 11-18"/>
              </a:rPr>
              <a:t>3. Forward Selection →Stepwise </a:t>
            </a:r>
          </a:p>
          <a:p>
            <a:pPr algn="l">
              <a:lnSpc>
                <a:spcPts val="600"/>
              </a:lnSpc>
            </a:pPr>
            <a:r>
              <a:rPr lang="en-US" sz="1200" dirty="0">
                <a:solidFill>
                  <a:srgbClr val="000000"/>
                </a:solidFill>
                <a:latin typeface="Aptos" panose="020B0004020202020204" pitchFamily="34" charset="0"/>
                <a:ea typeface="Heading Now 11-18"/>
                <a:cs typeface="Heading Now 11-18"/>
                <a:sym typeface="Heading Now 11-18"/>
              </a:rPr>
              <a:t>4. Bidirectional Elimination →Stepwise</a:t>
            </a:r>
          </a:p>
          <a:p>
            <a:pPr algn="l">
              <a:lnSpc>
                <a:spcPts val="2808"/>
              </a:lnSpc>
            </a:pPr>
            <a:r>
              <a:rPr lang="en-US" sz="1200" dirty="0">
                <a:solidFill>
                  <a:srgbClr val="000000"/>
                </a:solidFill>
                <a:latin typeface="Aptos" panose="020B0004020202020204" pitchFamily="34" charset="0"/>
                <a:ea typeface="Heading Now 11-18"/>
                <a:cs typeface="Heading Now 11-18"/>
                <a:sym typeface="Heading Now 11-18"/>
              </a:rPr>
              <a:t>5. Score Comparison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296875" y="4645304"/>
            <a:ext cx="100527"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27</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3760051"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Multiple Linear Regression</a:t>
            </a:r>
          </a:p>
        </p:txBody>
      </p:sp>
      <p:sp>
        <p:nvSpPr>
          <p:cNvPr id="10" name="TextBox 10"/>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1" name="TextBox 11"/>
          <p:cNvSpPr txBox="1"/>
          <p:nvPr/>
        </p:nvSpPr>
        <p:spPr>
          <a:xfrm>
            <a:off x="352349" y="1246756"/>
            <a:ext cx="1791853" cy="206082"/>
          </a:xfrm>
          <a:prstGeom prst="rect">
            <a:avLst/>
          </a:prstGeom>
        </p:spPr>
        <p:txBody>
          <a:bodyPr lIns="0" tIns="0" rIns="0" bIns="0" rtlCol="0" anchor="t">
            <a:spAutoFit/>
          </a:bodyPr>
          <a:lstStyle/>
          <a:p>
            <a:pPr algn="l">
              <a:lnSpc>
                <a:spcPts val="1679"/>
              </a:lnSpc>
            </a:pPr>
            <a:r>
              <a:rPr lang="en-US" sz="1200" spc="1" dirty="0">
                <a:solidFill>
                  <a:srgbClr val="000000"/>
                </a:solidFill>
                <a:latin typeface="Aptos" panose="020B0004020202020204" pitchFamily="34" charset="0"/>
                <a:ea typeface="Heading Now 11-18"/>
                <a:cs typeface="Heading Now 11-18"/>
                <a:sym typeface="Heading Now 11-18"/>
              </a:rPr>
              <a:t>Backward Elimination </a:t>
            </a:r>
          </a:p>
        </p:txBody>
      </p:sp>
      <p:sp>
        <p:nvSpPr>
          <p:cNvPr id="12" name="TextBox 12"/>
          <p:cNvSpPr txBox="1"/>
          <p:nvPr/>
        </p:nvSpPr>
        <p:spPr>
          <a:xfrm>
            <a:off x="2469518" y="1246756"/>
            <a:ext cx="734644"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Stepwise </a:t>
            </a:r>
          </a:p>
        </p:txBody>
      </p:sp>
      <p:sp>
        <p:nvSpPr>
          <p:cNvPr id="13" name="TextBox 13"/>
          <p:cNvSpPr txBox="1"/>
          <p:nvPr/>
        </p:nvSpPr>
        <p:spPr>
          <a:xfrm>
            <a:off x="4897879" y="1230249"/>
            <a:ext cx="1030776"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Forward Pass</a:t>
            </a:r>
          </a:p>
        </p:txBody>
      </p:sp>
      <p:sp>
        <p:nvSpPr>
          <p:cNvPr id="14" name="TextBox 14"/>
          <p:cNvSpPr txBox="1"/>
          <p:nvPr/>
        </p:nvSpPr>
        <p:spPr>
          <a:xfrm>
            <a:off x="6309360" y="1230249"/>
            <a:ext cx="693144" cy="206082"/>
          </a:xfrm>
          <a:prstGeom prst="rect">
            <a:avLst/>
          </a:prstGeom>
        </p:spPr>
        <p:txBody>
          <a:bodyPr lIns="0" tIns="0" rIns="0" bIns="0" rtlCol="0" anchor="t">
            <a:spAutoFit/>
          </a:bodyPr>
          <a:lstStyle/>
          <a:p>
            <a:pPr algn="l">
              <a:lnSpc>
                <a:spcPts val="1679"/>
              </a:lnSpc>
            </a:pPr>
            <a:r>
              <a:rPr lang="en-US" sz="1200" spc="1" dirty="0">
                <a:solidFill>
                  <a:srgbClr val="000000"/>
                </a:solidFill>
                <a:latin typeface="Aptos" panose="020B0004020202020204" pitchFamily="34" charset="0"/>
                <a:ea typeface="Heading Now 11-18"/>
                <a:cs typeface="Heading Now 11-18"/>
                <a:sym typeface="Heading Now 11-18"/>
              </a:rPr>
              <a:t>Stepwise</a:t>
            </a:r>
          </a:p>
        </p:txBody>
      </p:sp>
      <p:sp>
        <p:nvSpPr>
          <p:cNvPr id="15" name="TextBox 15"/>
          <p:cNvSpPr txBox="1"/>
          <p:nvPr/>
        </p:nvSpPr>
        <p:spPr>
          <a:xfrm>
            <a:off x="2191769" y="1282779"/>
            <a:ext cx="155448" cy="198406"/>
          </a:xfrm>
          <a:prstGeom prst="rect">
            <a:avLst/>
          </a:prstGeom>
        </p:spPr>
        <p:txBody>
          <a:bodyPr lIns="0" tIns="0" rIns="0" bIns="0" rtlCol="0" anchor="t">
            <a:spAutoFit/>
          </a:bodyPr>
          <a:lstStyle/>
          <a:p>
            <a:pPr algn="l">
              <a:lnSpc>
                <a:spcPts val="1679"/>
              </a:lnSpc>
            </a:pPr>
            <a:r>
              <a:rPr lang="en-US" sz="1200" spc="216">
                <a:solidFill>
                  <a:srgbClr val="000000"/>
                </a:solidFill>
                <a:latin typeface="IBM Plex Sans"/>
                <a:ea typeface="IBM Plex Sans"/>
                <a:cs typeface="IBM Plex Sans"/>
                <a:sym typeface="IBM Plex Sans"/>
              </a:rPr>
              <a:t>→</a:t>
            </a:r>
          </a:p>
        </p:txBody>
      </p:sp>
      <p:sp>
        <p:nvSpPr>
          <p:cNvPr id="16" name="TextBox 16"/>
          <p:cNvSpPr txBox="1"/>
          <p:nvPr/>
        </p:nvSpPr>
        <p:spPr>
          <a:xfrm>
            <a:off x="6033516" y="1266273"/>
            <a:ext cx="155448" cy="198406"/>
          </a:xfrm>
          <a:prstGeom prst="rect">
            <a:avLst/>
          </a:prstGeom>
        </p:spPr>
        <p:txBody>
          <a:bodyPr lIns="0" tIns="0" rIns="0" bIns="0" rtlCol="0" anchor="t">
            <a:spAutoFit/>
          </a:bodyPr>
          <a:lstStyle/>
          <a:p>
            <a:pPr algn="l">
              <a:lnSpc>
                <a:spcPts val="1679"/>
              </a:lnSpc>
            </a:pPr>
            <a:r>
              <a:rPr lang="en-US" sz="1200" spc="216">
                <a:solidFill>
                  <a:srgbClr val="000000"/>
                </a:solidFill>
                <a:latin typeface="IBM Plex Sans"/>
                <a:ea typeface="IBM Plex Sans"/>
                <a:cs typeface="IBM Plex Sans"/>
                <a:sym typeface="IBM Plex Sans"/>
              </a:rPr>
              <a:t>→</a:t>
            </a:r>
          </a:p>
        </p:txBody>
      </p:sp>
      <p:sp>
        <p:nvSpPr>
          <p:cNvPr id="17" name="TextBox 17"/>
          <p:cNvSpPr txBox="1"/>
          <p:nvPr/>
        </p:nvSpPr>
        <p:spPr>
          <a:xfrm>
            <a:off x="504749" y="1687830"/>
            <a:ext cx="124673" cy="1676657"/>
          </a:xfrm>
          <a:prstGeom prst="rect">
            <a:avLst/>
          </a:prstGeom>
        </p:spPr>
        <p:txBody>
          <a:bodyPr lIns="0" tIns="0" rIns="0" bIns="0" rtlCol="0" anchor="t">
            <a:spAutoFit/>
          </a:bodyPr>
          <a:lstStyle/>
          <a:p>
            <a:pPr algn="just">
              <a:lnSpc>
                <a:spcPts val="3000"/>
              </a:lnSpc>
            </a:pPr>
            <a:r>
              <a:rPr lang="en-US" sz="1200" b="1">
                <a:solidFill>
                  <a:srgbClr val="000000"/>
                </a:solidFill>
                <a:latin typeface="29LT Bukra Medium"/>
                <a:ea typeface="29LT Bukra Medium"/>
                <a:cs typeface="29LT Bukra Medium"/>
                <a:sym typeface="29LT Bukra Medium"/>
              </a:rPr>
              <a:t>1.</a:t>
            </a:r>
          </a:p>
          <a:p>
            <a:pPr algn="just">
              <a:lnSpc>
                <a:spcPts val="3000"/>
              </a:lnSpc>
            </a:pPr>
            <a:r>
              <a:rPr lang="en-US" sz="1200" b="1">
                <a:solidFill>
                  <a:srgbClr val="000000"/>
                </a:solidFill>
                <a:latin typeface="29LT Bukra Medium"/>
                <a:ea typeface="29LT Bukra Medium"/>
                <a:cs typeface="29LT Bukra Medium"/>
                <a:sym typeface="29LT Bukra Medium"/>
              </a:rPr>
              <a:t>2.</a:t>
            </a:r>
          </a:p>
          <a:p>
            <a:pPr algn="just">
              <a:lnSpc>
                <a:spcPts val="601"/>
              </a:lnSpc>
            </a:pPr>
            <a:r>
              <a:rPr lang="en-US" sz="1202" b="1" spc="4">
                <a:solidFill>
                  <a:srgbClr val="000000"/>
                </a:solidFill>
                <a:latin typeface="29LT Bukra Medium"/>
                <a:ea typeface="29LT Bukra Medium"/>
                <a:cs typeface="29LT Bukra Medium"/>
                <a:sym typeface="29LT Bukra Medium"/>
              </a:rPr>
              <a:t>3.</a:t>
            </a:r>
          </a:p>
          <a:p>
            <a:pPr algn="just">
              <a:lnSpc>
                <a:spcPts val="3000"/>
              </a:lnSpc>
            </a:pPr>
            <a:r>
              <a:rPr lang="en-US" sz="1200" b="1">
                <a:solidFill>
                  <a:srgbClr val="000000"/>
                </a:solidFill>
                <a:latin typeface="29LT Bukra Medium"/>
                <a:ea typeface="29LT Bukra Medium"/>
                <a:cs typeface="29LT Bukra Medium"/>
                <a:sym typeface="29LT Bukra Medium"/>
              </a:rPr>
              <a:t>4.</a:t>
            </a:r>
          </a:p>
          <a:p>
            <a:pPr algn="just">
              <a:lnSpc>
                <a:spcPts val="600"/>
              </a:lnSpc>
            </a:pPr>
            <a:r>
              <a:rPr lang="en-US" sz="1200" b="1" spc="3">
                <a:solidFill>
                  <a:srgbClr val="000000"/>
                </a:solidFill>
                <a:latin typeface="29LT Bukra Medium"/>
                <a:ea typeface="29LT Bukra Medium"/>
                <a:cs typeface="29LT Bukra Medium"/>
                <a:sym typeface="29LT Bukra Medium"/>
              </a:rPr>
              <a:t>5.</a:t>
            </a:r>
          </a:p>
        </p:txBody>
      </p:sp>
      <p:sp>
        <p:nvSpPr>
          <p:cNvPr id="18" name="TextBox 18"/>
          <p:cNvSpPr txBox="1"/>
          <p:nvPr/>
        </p:nvSpPr>
        <p:spPr>
          <a:xfrm>
            <a:off x="809549" y="1811655"/>
            <a:ext cx="3399044" cy="1552832"/>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Select a significance level to stay in the model (Let say 0.05) Fit the full model with all possible predictors Consider the predictor with highest p-value and if p-value &gt; SL, go to step 4, else FIN Remove that predictor Fit the model without this variable</a:t>
            </a:r>
          </a:p>
        </p:txBody>
      </p:sp>
      <p:sp>
        <p:nvSpPr>
          <p:cNvPr id="19" name="TextBox 19"/>
          <p:cNvSpPr txBox="1"/>
          <p:nvPr/>
        </p:nvSpPr>
        <p:spPr>
          <a:xfrm>
            <a:off x="5050279" y="1671323"/>
            <a:ext cx="120063" cy="1245213"/>
          </a:xfrm>
          <a:prstGeom prst="rect">
            <a:avLst/>
          </a:prstGeom>
        </p:spPr>
        <p:txBody>
          <a:bodyPr lIns="0" tIns="0" rIns="0" bIns="0" rtlCol="0" anchor="t">
            <a:spAutoFit/>
          </a:bodyPr>
          <a:lstStyle/>
          <a:p>
            <a:pPr algn="just">
              <a:lnSpc>
                <a:spcPts val="3000"/>
              </a:lnSpc>
            </a:pPr>
            <a:r>
              <a:rPr lang="en-US" sz="1200" b="1">
                <a:solidFill>
                  <a:srgbClr val="000000"/>
                </a:solidFill>
                <a:latin typeface="29LT Bukra Medium"/>
                <a:ea typeface="29LT Bukra Medium"/>
                <a:cs typeface="29LT Bukra Medium"/>
                <a:sym typeface="29LT Bukra Medium"/>
              </a:rPr>
              <a:t>1.</a:t>
            </a:r>
          </a:p>
          <a:p>
            <a:pPr algn="just">
              <a:lnSpc>
                <a:spcPts val="3000"/>
              </a:lnSpc>
            </a:pPr>
            <a:r>
              <a:rPr lang="en-US" sz="1200" b="1">
                <a:solidFill>
                  <a:srgbClr val="000000"/>
                </a:solidFill>
                <a:latin typeface="29LT Bukra Medium"/>
                <a:ea typeface="29LT Bukra Medium"/>
                <a:cs typeface="29LT Bukra Medium"/>
                <a:sym typeface="29LT Bukra Medium"/>
              </a:rPr>
              <a:t>2.</a:t>
            </a:r>
          </a:p>
          <a:p>
            <a:pPr algn="just">
              <a:lnSpc>
                <a:spcPts val="1683"/>
              </a:lnSpc>
            </a:pPr>
            <a:r>
              <a:rPr lang="en-US" sz="1202" b="1" spc="4">
                <a:solidFill>
                  <a:srgbClr val="000000"/>
                </a:solidFill>
                <a:latin typeface="29LT Bukra Medium"/>
                <a:ea typeface="29LT Bukra Medium"/>
                <a:cs typeface="29LT Bukra Medium"/>
                <a:sym typeface="29LT Bukra Medium"/>
              </a:rPr>
              <a:t>3.</a:t>
            </a:r>
          </a:p>
        </p:txBody>
      </p:sp>
      <p:sp>
        <p:nvSpPr>
          <p:cNvPr id="20" name="TextBox 20"/>
          <p:cNvSpPr txBox="1"/>
          <p:nvPr/>
        </p:nvSpPr>
        <p:spPr>
          <a:xfrm>
            <a:off x="5050279" y="3316862"/>
            <a:ext cx="123111"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4.</a:t>
            </a:r>
          </a:p>
        </p:txBody>
      </p:sp>
      <p:sp>
        <p:nvSpPr>
          <p:cNvPr id="21" name="TextBox 21"/>
          <p:cNvSpPr txBox="1"/>
          <p:nvPr/>
        </p:nvSpPr>
        <p:spPr>
          <a:xfrm>
            <a:off x="5355079" y="1795148"/>
            <a:ext cx="3351047" cy="1984248"/>
          </a:xfrm>
          <a:prstGeom prst="rect">
            <a:avLst/>
          </a:prstGeom>
        </p:spPr>
        <p:txBody>
          <a:bodyPr lIns="0" tIns="0" rIns="0" bIns="0" rtlCol="0" anchor="t">
            <a:spAutoFit/>
          </a:bodyPr>
          <a:lstStyle/>
          <a:p>
            <a:pPr algn="l">
              <a:lnSpc>
                <a:spcPts val="1700"/>
              </a:lnSpc>
            </a:pPr>
            <a:r>
              <a:rPr lang="en-US" sz="1200" b="1">
                <a:solidFill>
                  <a:srgbClr val="000000"/>
                </a:solidFill>
                <a:latin typeface="29LT Bukra Medium"/>
                <a:ea typeface="29LT Bukra Medium"/>
                <a:cs typeface="29LT Bukra Medium"/>
                <a:sym typeface="29LT Bukra Medium"/>
              </a:rPr>
              <a:t>Select a significance level to stay in the model (Let say 0.05) Fit all simple regression models. Select one with lowest p-value Keep the variable &amp; fit all the possible models with one extra predictor added to one you already have. Consider the predictor with lowest p-value. If p&gt;SL, go to Step 3 else go to FIN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45948" y="1219200"/>
            <a:ext cx="3860292" cy="2072640"/>
          </a:xfrm>
          <a:custGeom>
            <a:avLst/>
            <a:gdLst/>
            <a:ahLst/>
            <a:cxnLst/>
            <a:rect l="l" t="t" r="r" b="b"/>
            <a:pathLst>
              <a:path w="3860292" h="2072640">
                <a:moveTo>
                  <a:pt x="0" y="0"/>
                </a:moveTo>
                <a:lnTo>
                  <a:pt x="3860292" y="0"/>
                </a:lnTo>
                <a:lnTo>
                  <a:pt x="3860292" y="2072640"/>
                </a:lnTo>
                <a:lnTo>
                  <a:pt x="0" y="2072640"/>
                </a:lnTo>
                <a:lnTo>
                  <a:pt x="0" y="0"/>
                </a:lnTo>
                <a:close/>
              </a:path>
            </a:pathLst>
          </a:custGeom>
          <a:blipFill>
            <a:blip r:embed="rId9"/>
            <a:stretch>
              <a:fillRect/>
            </a:stretch>
          </a:blipFill>
        </p:spPr>
        <p:txBody>
          <a:bodyPr/>
          <a:lstStyle/>
          <a:p>
            <a:endParaRPr lang="en-IN"/>
          </a:p>
        </p:txBody>
      </p:sp>
      <p:sp>
        <p:nvSpPr>
          <p:cNvPr id="8" name="Freeform 8"/>
          <p:cNvSpPr/>
          <p:nvPr/>
        </p:nvSpPr>
        <p:spPr>
          <a:xfrm>
            <a:off x="182880" y="3704844"/>
            <a:ext cx="4489704" cy="833628"/>
          </a:xfrm>
          <a:custGeom>
            <a:avLst/>
            <a:gdLst/>
            <a:ahLst/>
            <a:cxnLst/>
            <a:rect l="l" t="t" r="r" b="b"/>
            <a:pathLst>
              <a:path w="4489704" h="833628">
                <a:moveTo>
                  <a:pt x="0" y="0"/>
                </a:moveTo>
                <a:lnTo>
                  <a:pt x="4489704" y="0"/>
                </a:lnTo>
                <a:lnTo>
                  <a:pt x="4489704" y="833628"/>
                </a:lnTo>
                <a:lnTo>
                  <a:pt x="0" y="833628"/>
                </a:lnTo>
                <a:lnTo>
                  <a:pt x="0" y="0"/>
                </a:lnTo>
                <a:close/>
              </a:path>
            </a:pathLst>
          </a:custGeom>
          <a:blipFill>
            <a:blip r:embed="rId10"/>
            <a:stretch>
              <a:fillRect/>
            </a:stretch>
          </a:blipFill>
        </p:spPr>
        <p:txBody>
          <a:bodyPr/>
          <a:lstStyle/>
          <a:p>
            <a:endParaRPr lang="en-IN"/>
          </a:p>
        </p:txBody>
      </p:sp>
      <p:sp>
        <p:nvSpPr>
          <p:cNvPr id="9" name="Freeform 9"/>
          <p:cNvSpPr/>
          <p:nvPr/>
        </p:nvSpPr>
        <p:spPr>
          <a:xfrm>
            <a:off x="4907280" y="2176272"/>
            <a:ext cx="3860292" cy="2074164"/>
          </a:xfrm>
          <a:custGeom>
            <a:avLst/>
            <a:gdLst/>
            <a:ahLst/>
            <a:cxnLst/>
            <a:rect l="l" t="t" r="r" b="b"/>
            <a:pathLst>
              <a:path w="3860292" h="2074164">
                <a:moveTo>
                  <a:pt x="0" y="0"/>
                </a:moveTo>
                <a:lnTo>
                  <a:pt x="3860292" y="0"/>
                </a:lnTo>
                <a:lnTo>
                  <a:pt x="3860292" y="2074164"/>
                </a:lnTo>
                <a:lnTo>
                  <a:pt x="0" y="2074164"/>
                </a:lnTo>
                <a:lnTo>
                  <a:pt x="0" y="0"/>
                </a:lnTo>
                <a:close/>
              </a:path>
            </a:pathLst>
          </a:custGeom>
          <a:blipFill>
            <a:blip r:embed="rId11"/>
            <a:stretch>
              <a:fillRect/>
            </a:stretch>
          </a:blipFill>
        </p:spPr>
        <p:txBody>
          <a:bodyPr/>
          <a:lstStyle/>
          <a:p>
            <a:endParaRPr lang="en-IN"/>
          </a:p>
        </p:txBody>
      </p:sp>
      <p:sp>
        <p:nvSpPr>
          <p:cNvPr id="10" name="TextBox 10"/>
          <p:cNvSpPr txBox="1"/>
          <p:nvPr/>
        </p:nvSpPr>
        <p:spPr>
          <a:xfrm>
            <a:off x="293827" y="4645304"/>
            <a:ext cx="108185"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28</a:t>
            </a:r>
          </a:p>
        </p:txBody>
      </p:sp>
      <p:sp>
        <p:nvSpPr>
          <p:cNvPr id="11" name="TextBox 11"/>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2" name="TextBox 12"/>
          <p:cNvSpPr txBox="1"/>
          <p:nvPr/>
        </p:nvSpPr>
        <p:spPr>
          <a:xfrm>
            <a:off x="259385" y="145094"/>
            <a:ext cx="3277191"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Polynomial Regression</a:t>
            </a:r>
          </a:p>
        </p:txBody>
      </p:sp>
      <p:sp>
        <p:nvSpPr>
          <p:cNvPr id="13" name="TextBox 13"/>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4" name="TextBox 14"/>
          <p:cNvSpPr txBox="1"/>
          <p:nvPr/>
        </p:nvSpPr>
        <p:spPr>
          <a:xfrm>
            <a:off x="4897879" y="1492634"/>
            <a:ext cx="1375867"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The equation of</a:t>
            </a:r>
          </a:p>
        </p:txBody>
      </p:sp>
      <p:sp>
        <p:nvSpPr>
          <p:cNvPr id="15" name="TextBox 15"/>
          <p:cNvSpPr txBox="1"/>
          <p:nvPr/>
        </p:nvSpPr>
        <p:spPr>
          <a:xfrm>
            <a:off x="6370368" y="1492634"/>
            <a:ext cx="840505"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Polynomial</a:t>
            </a:r>
          </a:p>
        </p:txBody>
      </p:sp>
      <p:sp>
        <p:nvSpPr>
          <p:cNvPr id="16" name="TextBox 16"/>
          <p:cNvSpPr txBox="1"/>
          <p:nvPr/>
        </p:nvSpPr>
        <p:spPr>
          <a:xfrm>
            <a:off x="7319362" y="1492634"/>
            <a:ext cx="838171"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Regression</a:t>
            </a:r>
          </a:p>
        </p:txBody>
      </p:sp>
      <p:sp>
        <p:nvSpPr>
          <p:cNvPr id="17" name="TextBox 17"/>
          <p:cNvSpPr txBox="1"/>
          <p:nvPr/>
        </p:nvSpPr>
        <p:spPr>
          <a:xfrm>
            <a:off x="8265309" y="1492634"/>
            <a:ext cx="187004" cy="247650"/>
          </a:xfrm>
          <a:prstGeom prst="rect">
            <a:avLst/>
          </a:prstGeom>
        </p:spPr>
        <p:txBody>
          <a:bodyPr lIns="0" tIns="0" rIns="0" bIns="0" rtlCol="0" anchor="t">
            <a:spAutoFit/>
          </a:bodyPr>
          <a:lstStyle/>
          <a:p>
            <a:pPr algn="l">
              <a:lnSpc>
                <a:spcPts val="1679"/>
              </a:lnSpc>
            </a:pPr>
            <a:r>
              <a:rPr lang="en-US" sz="1200" b="1" spc="2">
                <a:solidFill>
                  <a:srgbClr val="000000"/>
                </a:solidFill>
                <a:latin typeface="29LT Bukra Medium"/>
                <a:ea typeface="29LT Bukra Medium"/>
                <a:cs typeface="29LT Bukra Medium"/>
                <a:sym typeface="29LT Bukra Medium"/>
              </a:rPr>
              <a:t>is: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FB4FDE-B6B0-7A91-4E89-513F1DB5C652}"/>
              </a:ext>
            </a:extLst>
          </p:cNvPr>
          <p:cNvPicPr>
            <a:picLocks noChangeAspect="1"/>
          </p:cNvPicPr>
          <p:nvPr/>
        </p:nvPicPr>
        <p:blipFill>
          <a:blip r:embed="rId2"/>
          <a:stretch>
            <a:fillRect/>
          </a:stretch>
        </p:blipFill>
        <p:spPr>
          <a:xfrm>
            <a:off x="0" y="105872"/>
            <a:ext cx="9144000" cy="4931756"/>
          </a:xfrm>
          <a:prstGeom prst="rect">
            <a:avLst/>
          </a:prstGeom>
        </p:spPr>
      </p:pic>
    </p:spTree>
    <p:extLst>
      <p:ext uri="{BB962C8B-B14F-4D97-AF65-F5344CB8AC3E}">
        <p14:creationId xmlns:p14="http://schemas.microsoft.com/office/powerpoint/2010/main" val="555122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4F495F-2754-9DA0-0A60-20567087D989}"/>
              </a:ext>
            </a:extLst>
          </p:cNvPr>
          <p:cNvPicPr>
            <a:picLocks noChangeAspect="1"/>
          </p:cNvPicPr>
          <p:nvPr/>
        </p:nvPicPr>
        <p:blipFill>
          <a:blip r:embed="rId2"/>
          <a:stretch>
            <a:fillRect/>
          </a:stretch>
        </p:blipFill>
        <p:spPr>
          <a:xfrm>
            <a:off x="0" y="189057"/>
            <a:ext cx="9144000" cy="4765385"/>
          </a:xfrm>
          <a:prstGeom prst="rect">
            <a:avLst/>
          </a:prstGeom>
        </p:spPr>
      </p:pic>
    </p:spTree>
    <p:extLst>
      <p:ext uri="{BB962C8B-B14F-4D97-AF65-F5344CB8AC3E}">
        <p14:creationId xmlns:p14="http://schemas.microsoft.com/office/powerpoint/2010/main" val="1962699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93130D-0D1C-0797-5B9B-F1A552784F6C}"/>
              </a:ext>
            </a:extLst>
          </p:cNvPr>
          <p:cNvPicPr>
            <a:picLocks noChangeAspect="1"/>
          </p:cNvPicPr>
          <p:nvPr/>
        </p:nvPicPr>
        <p:blipFill>
          <a:blip r:embed="rId2"/>
          <a:stretch>
            <a:fillRect/>
          </a:stretch>
        </p:blipFill>
        <p:spPr>
          <a:xfrm>
            <a:off x="0" y="161235"/>
            <a:ext cx="9144000" cy="4821030"/>
          </a:xfrm>
          <a:prstGeom prst="rect">
            <a:avLst/>
          </a:prstGeom>
        </p:spPr>
      </p:pic>
    </p:spTree>
    <p:extLst>
      <p:ext uri="{BB962C8B-B14F-4D97-AF65-F5344CB8AC3E}">
        <p14:creationId xmlns:p14="http://schemas.microsoft.com/office/powerpoint/2010/main" val="31187189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BF6061-A471-AE6E-0607-61954CC3EFB0}"/>
              </a:ext>
            </a:extLst>
          </p:cNvPr>
          <p:cNvPicPr>
            <a:picLocks noChangeAspect="1"/>
          </p:cNvPicPr>
          <p:nvPr/>
        </p:nvPicPr>
        <p:blipFill>
          <a:blip r:embed="rId2"/>
          <a:stretch>
            <a:fillRect/>
          </a:stretch>
        </p:blipFill>
        <p:spPr>
          <a:xfrm>
            <a:off x="0" y="161759"/>
            <a:ext cx="9144000" cy="4819981"/>
          </a:xfrm>
          <a:prstGeom prst="rect">
            <a:avLst/>
          </a:prstGeom>
        </p:spPr>
      </p:pic>
    </p:spTree>
    <p:extLst>
      <p:ext uri="{BB962C8B-B14F-4D97-AF65-F5344CB8AC3E}">
        <p14:creationId xmlns:p14="http://schemas.microsoft.com/office/powerpoint/2010/main" val="25340505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6E15EB-22CE-6D69-F714-DFCA666BBF6E}"/>
              </a:ext>
            </a:extLst>
          </p:cNvPr>
          <p:cNvSpPr txBox="1"/>
          <p:nvPr/>
        </p:nvSpPr>
        <p:spPr>
          <a:xfrm>
            <a:off x="3352800" y="1123950"/>
            <a:ext cx="1301959" cy="646331"/>
          </a:xfrm>
          <a:prstGeom prst="rect">
            <a:avLst/>
          </a:prstGeom>
          <a:noFill/>
        </p:spPr>
        <p:txBody>
          <a:bodyPr wrap="none" rtlCol="0">
            <a:spAutoFit/>
          </a:bodyPr>
          <a:lstStyle/>
          <a:p>
            <a:r>
              <a:rPr lang="en-US" sz="3600" b="1" dirty="0"/>
              <a:t>Code</a:t>
            </a:r>
            <a:endParaRPr lang="en-IN" sz="3600" b="1" dirty="0"/>
          </a:p>
        </p:txBody>
      </p:sp>
    </p:spTree>
    <p:extLst>
      <p:ext uri="{BB962C8B-B14F-4D97-AF65-F5344CB8AC3E}">
        <p14:creationId xmlns:p14="http://schemas.microsoft.com/office/powerpoint/2010/main" val="3214384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552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7654960-F053-59AB-EB3D-3BFFF774B67D}"/>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kern="1200" dirty="0">
                <a:solidFill>
                  <a:srgbClr val="FFFFFF"/>
                </a:solidFill>
                <a:latin typeface="+mj-lt"/>
                <a:ea typeface="+mj-ea"/>
                <a:cs typeface="+mj-cs"/>
              </a:rPr>
              <a:t>What Is the Bias-Variance Tradeoff?</a:t>
            </a:r>
          </a:p>
        </p:txBody>
      </p:sp>
      <p:sp>
        <p:nvSpPr>
          <p:cNvPr id="6" name="TextBox 5">
            <a:extLst>
              <a:ext uri="{FF2B5EF4-FFF2-40B4-BE49-F238E27FC236}">
                <a16:creationId xmlns:a16="http://schemas.microsoft.com/office/drawing/2014/main" id="{6ED36F63-18CF-3E8B-A7AF-08072FA424CD}"/>
              </a:ext>
            </a:extLst>
          </p:cNvPr>
          <p:cNvSpPr txBox="1"/>
          <p:nvPr/>
        </p:nvSpPr>
        <p:spPr>
          <a:xfrm>
            <a:off x="609601" y="1738647"/>
            <a:ext cx="8305800" cy="3271503"/>
          </a:xfrm>
          <a:prstGeom prst="rect">
            <a:avLst/>
          </a:prstGeom>
        </p:spPr>
        <p:txBody>
          <a:bodyPr vert="horz" lIns="91440" tIns="45720" rIns="91440" bIns="45720" rtlCol="0" anchor="ctr">
            <a:noAutofit/>
          </a:bodyPr>
          <a:lstStyle/>
          <a:p>
            <a:pPr>
              <a:lnSpc>
                <a:spcPct val="90000"/>
              </a:lnSpc>
              <a:spcAft>
                <a:spcPts val="600"/>
              </a:spcAft>
            </a:pPr>
            <a:r>
              <a:rPr lang="en-US" dirty="0"/>
              <a:t>The </a:t>
            </a:r>
            <a:r>
              <a:rPr lang="en-US" b="1" dirty="0"/>
              <a:t>bias-variance tradeoff</a:t>
            </a:r>
            <a:r>
              <a:rPr lang="en-US" dirty="0"/>
              <a:t> is a fundamental concept in machine learning that helps explain why models perform well—or poorly—on unseen data. Here's a breakdown of what it means and why it matters:</a:t>
            </a:r>
          </a:p>
          <a:p>
            <a:pPr>
              <a:lnSpc>
                <a:spcPct val="90000"/>
              </a:lnSpc>
              <a:spcAft>
                <a:spcPts val="600"/>
              </a:spcAft>
            </a:pPr>
            <a:endParaRPr lang="en-US" dirty="0"/>
          </a:p>
          <a:p>
            <a:pPr>
              <a:lnSpc>
                <a:spcPct val="90000"/>
              </a:lnSpc>
              <a:spcAft>
                <a:spcPts val="600"/>
              </a:spcAft>
            </a:pPr>
            <a:r>
              <a:rPr lang="en-US" dirty="0"/>
              <a:t>In supervised learning, prediction error can be decomposed into three parts:</a:t>
            </a:r>
          </a:p>
          <a:p>
            <a:pPr>
              <a:lnSpc>
                <a:spcPct val="90000"/>
              </a:lnSpc>
              <a:spcAft>
                <a:spcPts val="600"/>
              </a:spcAft>
            </a:pPr>
            <a:endParaRPr lang="en-US" dirty="0"/>
          </a:p>
          <a:p>
            <a:pPr marL="342900" indent="-342900">
              <a:lnSpc>
                <a:spcPct val="90000"/>
              </a:lnSpc>
              <a:spcAft>
                <a:spcPts val="600"/>
              </a:spcAft>
              <a:buFont typeface="+mj-lt"/>
              <a:buAutoNum type="arabicPeriod"/>
            </a:pPr>
            <a:r>
              <a:rPr lang="en-US" b="1" dirty="0"/>
              <a:t>Bias</a:t>
            </a:r>
            <a:r>
              <a:rPr lang="en-US" dirty="0"/>
              <a:t>: Error due to overly simplistic assumptions in the model.</a:t>
            </a:r>
          </a:p>
          <a:p>
            <a:pPr marL="342900" indent="-342900">
              <a:lnSpc>
                <a:spcPct val="90000"/>
              </a:lnSpc>
              <a:spcAft>
                <a:spcPts val="600"/>
              </a:spcAft>
              <a:buFont typeface="+mj-lt"/>
              <a:buAutoNum type="arabicPeriod"/>
            </a:pPr>
            <a:r>
              <a:rPr lang="en-US" b="1" dirty="0"/>
              <a:t>Variance</a:t>
            </a:r>
            <a:r>
              <a:rPr lang="en-US" dirty="0"/>
              <a:t>: Error due to sensitivity to small fluctuations in the training data.</a:t>
            </a:r>
          </a:p>
          <a:p>
            <a:pPr marL="342900" indent="-342900">
              <a:lnSpc>
                <a:spcPct val="90000"/>
              </a:lnSpc>
              <a:spcAft>
                <a:spcPts val="600"/>
              </a:spcAft>
              <a:buFont typeface="+mj-lt"/>
              <a:buAutoNum type="arabicPeriod"/>
            </a:pPr>
            <a:r>
              <a:rPr lang="en-US" b="1" dirty="0"/>
              <a:t>Irreducible Error</a:t>
            </a:r>
            <a:r>
              <a:rPr lang="en-US" dirty="0"/>
              <a:t>: Noise inherent in the data that no model can eliminate. The tradeoff is about balancing </a:t>
            </a:r>
            <a:r>
              <a:rPr lang="en-US" b="1" dirty="0"/>
              <a:t>bias</a:t>
            </a:r>
            <a:r>
              <a:rPr lang="en-US" dirty="0"/>
              <a:t> and </a:t>
            </a:r>
            <a:r>
              <a:rPr lang="en-US" b="1" dirty="0"/>
              <a:t>variance</a:t>
            </a:r>
            <a:r>
              <a:rPr lang="en-US" dirty="0"/>
              <a:t> to minimize total error.</a:t>
            </a:r>
          </a:p>
          <a:p>
            <a:pPr>
              <a:lnSpc>
                <a:spcPct val="90000"/>
              </a:lnSpc>
              <a:spcAft>
                <a:spcPts val="600"/>
              </a:spcAft>
            </a:pPr>
            <a:endParaRPr lang="en-US" dirty="0"/>
          </a:p>
          <a:p>
            <a:pPr>
              <a:lnSpc>
                <a:spcPct val="90000"/>
              </a:lnSpc>
              <a:spcAft>
                <a:spcPts val="600"/>
              </a:spcAft>
            </a:pPr>
            <a:endParaRPr lang="en-US" dirty="0"/>
          </a:p>
        </p:txBody>
      </p:sp>
    </p:spTree>
    <p:extLst>
      <p:ext uri="{BB962C8B-B14F-4D97-AF65-F5344CB8AC3E}">
        <p14:creationId xmlns:p14="http://schemas.microsoft.com/office/powerpoint/2010/main" val="24969789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5CED2C2-3160-232F-C92D-8FB8B1CE7755}"/>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kern="1200" dirty="0">
                <a:solidFill>
                  <a:srgbClr val="FFFFFF"/>
                </a:solidFill>
                <a:latin typeface="+mj-lt"/>
                <a:ea typeface="+mj-ea"/>
                <a:cs typeface="+mj-cs"/>
              </a:rPr>
              <a:t>What Is the Bias-Variance Tradeoff?</a:t>
            </a:r>
          </a:p>
        </p:txBody>
      </p:sp>
      <p:sp>
        <p:nvSpPr>
          <p:cNvPr id="3" name="TextBox 2">
            <a:extLst>
              <a:ext uri="{FF2B5EF4-FFF2-40B4-BE49-F238E27FC236}">
                <a16:creationId xmlns:a16="http://schemas.microsoft.com/office/drawing/2014/main" id="{48CC3700-2144-8FDF-F84D-458F843D41B0}"/>
              </a:ext>
            </a:extLst>
          </p:cNvPr>
          <p:cNvSpPr txBox="1"/>
          <p:nvPr/>
        </p:nvSpPr>
        <p:spPr>
          <a:xfrm>
            <a:off x="533401" y="1329529"/>
            <a:ext cx="8458200" cy="3756821"/>
          </a:xfrm>
          <a:prstGeom prst="rect">
            <a:avLst/>
          </a:prstGeom>
        </p:spPr>
        <p:txBody>
          <a:bodyPr vert="horz" lIns="91440" tIns="45720" rIns="91440" bIns="45720" rtlCol="0" anchor="ctr">
            <a:noAutofit/>
          </a:bodyPr>
          <a:lstStyle/>
          <a:p>
            <a:pPr>
              <a:lnSpc>
                <a:spcPct val="90000"/>
              </a:lnSpc>
              <a:spcAft>
                <a:spcPts val="600"/>
              </a:spcAft>
            </a:pPr>
            <a:r>
              <a:rPr lang="en-US" sz="1600" b="1" dirty="0"/>
              <a:t>Bias: Underfitting</a:t>
            </a:r>
          </a:p>
          <a:p>
            <a:pPr>
              <a:lnSpc>
                <a:spcPct val="90000"/>
              </a:lnSpc>
              <a:spcAft>
                <a:spcPts val="600"/>
              </a:spcAft>
            </a:pPr>
            <a:r>
              <a:rPr lang="en-US" sz="1600" b="1" dirty="0"/>
              <a:t>High bias</a:t>
            </a:r>
            <a:r>
              <a:rPr lang="en-US" sz="1600" dirty="0"/>
              <a:t> means the model is too simple (e.g., linear regression on nonlinear data).</a:t>
            </a:r>
          </a:p>
          <a:p>
            <a:pPr>
              <a:lnSpc>
                <a:spcPct val="90000"/>
              </a:lnSpc>
              <a:spcAft>
                <a:spcPts val="600"/>
              </a:spcAft>
            </a:pPr>
            <a:r>
              <a:rPr lang="en-US" sz="1600" dirty="0"/>
              <a:t>It fails to capture the underlying patterns.</a:t>
            </a:r>
          </a:p>
          <a:p>
            <a:pPr>
              <a:lnSpc>
                <a:spcPct val="90000"/>
              </a:lnSpc>
              <a:spcAft>
                <a:spcPts val="600"/>
              </a:spcAft>
            </a:pPr>
            <a:r>
              <a:rPr lang="en-US" sz="1600" dirty="0"/>
              <a:t>Leads to </a:t>
            </a:r>
            <a:r>
              <a:rPr lang="en-US" sz="1600" b="1" dirty="0"/>
              <a:t>underfitting</a:t>
            </a:r>
            <a:r>
              <a:rPr lang="en-US" sz="1600" dirty="0"/>
              <a:t>: poor performance on both training and test data.</a:t>
            </a:r>
          </a:p>
          <a:p>
            <a:pPr>
              <a:lnSpc>
                <a:spcPct val="90000"/>
              </a:lnSpc>
              <a:spcAft>
                <a:spcPts val="600"/>
              </a:spcAft>
            </a:pPr>
            <a:r>
              <a:rPr lang="en-US" sz="1600" b="1" dirty="0"/>
              <a:t>Example</a:t>
            </a:r>
            <a:r>
              <a:rPr lang="en-US" sz="1600" dirty="0"/>
              <a:t>: Predicting housing prices using only square footage, ignoring location, number of rooms, etc.</a:t>
            </a:r>
          </a:p>
          <a:p>
            <a:pPr>
              <a:lnSpc>
                <a:spcPct val="90000"/>
              </a:lnSpc>
              <a:spcAft>
                <a:spcPts val="600"/>
              </a:spcAft>
            </a:pPr>
            <a:r>
              <a:rPr lang="en-US" sz="1600" b="1" dirty="0"/>
              <a:t>Variance: Overfitting</a:t>
            </a:r>
          </a:p>
          <a:p>
            <a:pPr>
              <a:lnSpc>
                <a:spcPct val="90000"/>
              </a:lnSpc>
              <a:spcAft>
                <a:spcPts val="600"/>
              </a:spcAft>
            </a:pPr>
            <a:r>
              <a:rPr lang="en-US" sz="1600" b="1" dirty="0"/>
              <a:t>High variance</a:t>
            </a:r>
            <a:r>
              <a:rPr lang="en-US" sz="1600" dirty="0"/>
              <a:t> means the model is too complex (e.g., high-degree polynomial).</a:t>
            </a:r>
          </a:p>
          <a:p>
            <a:pPr>
              <a:lnSpc>
                <a:spcPct val="90000"/>
              </a:lnSpc>
              <a:spcAft>
                <a:spcPts val="600"/>
              </a:spcAft>
            </a:pPr>
            <a:r>
              <a:rPr lang="en-US" sz="1600" dirty="0"/>
              <a:t>It captures noise in the training data as if it were signal.</a:t>
            </a:r>
          </a:p>
          <a:p>
            <a:pPr>
              <a:lnSpc>
                <a:spcPct val="90000"/>
              </a:lnSpc>
              <a:spcAft>
                <a:spcPts val="600"/>
              </a:spcAft>
            </a:pPr>
            <a:r>
              <a:rPr lang="en-US" sz="1600" dirty="0"/>
              <a:t>Leads to </a:t>
            </a:r>
            <a:r>
              <a:rPr lang="en-US" sz="1600" b="1" dirty="0"/>
              <a:t>overfitting</a:t>
            </a:r>
            <a:r>
              <a:rPr lang="en-US" sz="1600" dirty="0"/>
              <a:t>: excellent performance on training data but poor generalization to new data.</a:t>
            </a:r>
          </a:p>
          <a:p>
            <a:pPr>
              <a:lnSpc>
                <a:spcPct val="90000"/>
              </a:lnSpc>
              <a:spcAft>
                <a:spcPts val="600"/>
              </a:spcAft>
            </a:pPr>
            <a:r>
              <a:rPr lang="en-US" sz="1600" b="1" dirty="0"/>
              <a:t>Example</a:t>
            </a:r>
            <a:r>
              <a:rPr lang="en-US" sz="1600" dirty="0"/>
              <a:t>: A decision tree that perfectly classifies training data but fails on test data.</a:t>
            </a:r>
          </a:p>
          <a:p>
            <a:pPr>
              <a:lnSpc>
                <a:spcPct val="90000"/>
              </a:lnSpc>
              <a:spcAft>
                <a:spcPts val="600"/>
              </a:spcAft>
            </a:pPr>
            <a:endParaRPr lang="en-US" sz="1600" dirty="0"/>
          </a:p>
        </p:txBody>
      </p:sp>
    </p:spTree>
    <p:extLst>
      <p:ext uri="{BB962C8B-B14F-4D97-AF65-F5344CB8AC3E}">
        <p14:creationId xmlns:p14="http://schemas.microsoft.com/office/powerpoint/2010/main" val="38343868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6A853C-F916-B68C-3A62-0C56B7A0DF48}"/>
              </a:ext>
            </a:extLst>
          </p:cNvPr>
          <p:cNvSpPr txBox="1"/>
          <p:nvPr/>
        </p:nvSpPr>
        <p:spPr>
          <a:xfrm>
            <a:off x="457200" y="1352550"/>
            <a:ext cx="8610601" cy="3657600"/>
          </a:xfrm>
          <a:prstGeom prst="rect">
            <a:avLst/>
          </a:prstGeom>
        </p:spPr>
        <p:txBody>
          <a:bodyPr vert="horz" lIns="91440" tIns="45720" rIns="91440" bIns="45720" rtlCol="0" anchor="ctr">
            <a:noAutofit/>
          </a:bodyPr>
          <a:lstStyle/>
          <a:p>
            <a:pPr>
              <a:lnSpc>
                <a:spcPct val="90000"/>
              </a:lnSpc>
              <a:spcAft>
                <a:spcPts val="600"/>
              </a:spcAft>
            </a:pPr>
            <a:r>
              <a:rPr lang="en-US" b="1" dirty="0"/>
              <a:t>The Tradeoff</a:t>
            </a:r>
          </a:p>
          <a:p>
            <a:pPr>
              <a:lnSpc>
                <a:spcPct val="90000"/>
              </a:lnSpc>
              <a:spcAft>
                <a:spcPts val="600"/>
              </a:spcAft>
            </a:pPr>
            <a:r>
              <a:rPr lang="en-US" b="1" dirty="0"/>
              <a:t>Low bias + high variance</a:t>
            </a:r>
            <a:r>
              <a:rPr lang="en-US" dirty="0"/>
              <a:t>: Overfitting</a:t>
            </a:r>
          </a:p>
          <a:p>
            <a:pPr>
              <a:lnSpc>
                <a:spcPct val="90000"/>
              </a:lnSpc>
              <a:spcAft>
                <a:spcPts val="600"/>
              </a:spcAft>
            </a:pPr>
            <a:r>
              <a:rPr lang="en-US" b="1" dirty="0"/>
              <a:t>High bias + low variance</a:t>
            </a:r>
            <a:r>
              <a:rPr lang="en-US" dirty="0"/>
              <a:t>: Underfitting</a:t>
            </a:r>
          </a:p>
          <a:p>
            <a:pPr>
              <a:lnSpc>
                <a:spcPct val="90000"/>
              </a:lnSpc>
              <a:spcAft>
                <a:spcPts val="600"/>
              </a:spcAft>
            </a:pPr>
            <a:r>
              <a:rPr lang="en-US" b="1" dirty="0"/>
              <a:t>Optimal model</a:t>
            </a:r>
            <a:r>
              <a:rPr lang="en-US" dirty="0"/>
              <a:t>: Balances bias and variance to generalize well</a:t>
            </a:r>
          </a:p>
          <a:p>
            <a:pPr>
              <a:lnSpc>
                <a:spcPct val="90000"/>
              </a:lnSpc>
              <a:spcAft>
                <a:spcPts val="600"/>
              </a:spcAft>
            </a:pPr>
            <a:r>
              <a:rPr lang="en-US" dirty="0"/>
              <a:t>This balance is often visualized using </a:t>
            </a:r>
            <a:r>
              <a:rPr lang="en-US" b="1" dirty="0"/>
              <a:t>Mean Squared Error (MSE)</a:t>
            </a:r>
            <a:r>
              <a:rPr lang="en-US" dirty="0"/>
              <a:t>:</a:t>
            </a:r>
            <a:endParaRPr lang="en-US" b="1" dirty="0"/>
          </a:p>
          <a:p>
            <a:pPr>
              <a:lnSpc>
                <a:spcPct val="90000"/>
              </a:lnSpc>
              <a:spcAft>
                <a:spcPts val="600"/>
              </a:spcAft>
            </a:pPr>
            <a:endParaRPr lang="en-US" b="1" dirty="0"/>
          </a:p>
          <a:p>
            <a:pPr>
              <a:lnSpc>
                <a:spcPct val="90000"/>
              </a:lnSpc>
              <a:spcAft>
                <a:spcPts val="600"/>
              </a:spcAft>
            </a:pPr>
            <a:r>
              <a:rPr lang="en-US" b="1" dirty="0"/>
              <a:t>How to Manage the Tradeoff:</a:t>
            </a:r>
          </a:p>
          <a:p>
            <a:pPr>
              <a:lnSpc>
                <a:spcPct val="90000"/>
              </a:lnSpc>
              <a:spcAft>
                <a:spcPts val="600"/>
              </a:spcAft>
            </a:pPr>
            <a:endParaRPr lang="en-US" b="1" dirty="0"/>
          </a:p>
          <a:p>
            <a:pPr marL="342900" indent="-342900">
              <a:lnSpc>
                <a:spcPct val="90000"/>
              </a:lnSpc>
              <a:spcAft>
                <a:spcPts val="600"/>
              </a:spcAft>
              <a:buFont typeface="+mj-lt"/>
              <a:buAutoNum type="arabicPeriod"/>
            </a:pPr>
            <a:r>
              <a:rPr lang="en-US" b="1" dirty="0"/>
              <a:t>Model selection</a:t>
            </a:r>
            <a:r>
              <a:rPr lang="en-US" dirty="0"/>
              <a:t>: Choose algorithms appropriate for the complexity of your data.</a:t>
            </a:r>
          </a:p>
          <a:p>
            <a:pPr marL="342900" indent="-342900">
              <a:lnSpc>
                <a:spcPct val="90000"/>
              </a:lnSpc>
              <a:spcAft>
                <a:spcPts val="600"/>
              </a:spcAft>
              <a:buFont typeface="+mj-lt"/>
              <a:buAutoNum type="arabicPeriod"/>
            </a:pPr>
            <a:r>
              <a:rPr lang="en-US" b="1" dirty="0"/>
              <a:t>Regularization</a:t>
            </a:r>
            <a:r>
              <a:rPr lang="en-US" dirty="0"/>
              <a:t>: Techniques like L1/L2 penalties reduce variance.</a:t>
            </a:r>
          </a:p>
          <a:p>
            <a:pPr marL="342900" indent="-342900">
              <a:lnSpc>
                <a:spcPct val="90000"/>
              </a:lnSpc>
              <a:spcAft>
                <a:spcPts val="600"/>
              </a:spcAft>
              <a:buFont typeface="+mj-lt"/>
              <a:buAutoNum type="arabicPeriod"/>
            </a:pPr>
            <a:r>
              <a:rPr lang="en-US" b="1" dirty="0"/>
              <a:t>Cross-validation</a:t>
            </a:r>
            <a:r>
              <a:rPr lang="en-US" dirty="0"/>
              <a:t>: Helps estimate generalization error.</a:t>
            </a:r>
          </a:p>
          <a:p>
            <a:pPr marL="342900" indent="-342900">
              <a:lnSpc>
                <a:spcPct val="90000"/>
              </a:lnSpc>
              <a:spcAft>
                <a:spcPts val="600"/>
              </a:spcAft>
              <a:buFont typeface="+mj-lt"/>
              <a:buAutoNum type="arabicPeriod"/>
            </a:pPr>
            <a:r>
              <a:rPr lang="en-US" b="1" dirty="0"/>
              <a:t>Ensemble methods</a:t>
            </a:r>
            <a:r>
              <a:rPr lang="en-US" dirty="0"/>
              <a:t>: Combine models to reduce variance (e.g., Random Forests).</a:t>
            </a:r>
          </a:p>
        </p:txBody>
      </p:sp>
      <p:sp>
        <p:nvSpPr>
          <p:cNvPr id="4" name="TextBox 3">
            <a:extLst>
              <a:ext uri="{FF2B5EF4-FFF2-40B4-BE49-F238E27FC236}">
                <a16:creationId xmlns:a16="http://schemas.microsoft.com/office/drawing/2014/main" id="{70D418A8-28F0-FC9C-BE22-754D1D087A7F}"/>
              </a:ext>
            </a:extLst>
          </p:cNvPr>
          <p:cNvSpPr txBox="1"/>
          <p:nvPr/>
        </p:nvSpPr>
        <p:spPr>
          <a:xfrm>
            <a:off x="1295400" y="177686"/>
            <a:ext cx="6028638" cy="1092607"/>
          </a:xfrm>
          <a:prstGeom prst="rect">
            <a:avLst/>
          </a:prstGeom>
          <a:noFill/>
        </p:spPr>
        <p:txBody>
          <a:bodyPr wrap="none" rtlCol="0">
            <a:spAutoFit/>
          </a:bodyPr>
          <a:lstStyle/>
          <a:p>
            <a:pPr>
              <a:spcAft>
                <a:spcPts val="600"/>
              </a:spcAft>
            </a:pPr>
            <a:r>
              <a:rPr lang="en-US" sz="3000" dirty="0">
                <a:solidFill>
                  <a:srgbClr val="FFFFFF"/>
                </a:solidFill>
              </a:rPr>
              <a:t>What Is the Bias-Variance Tradeoff?</a:t>
            </a:r>
          </a:p>
          <a:p>
            <a:pPr>
              <a:spcAft>
                <a:spcPts val="600"/>
              </a:spcAft>
            </a:pPr>
            <a:endParaRPr lang="en-IN" sz="3000" dirty="0"/>
          </a:p>
        </p:txBody>
      </p:sp>
    </p:spTree>
    <p:extLst>
      <p:ext uri="{BB962C8B-B14F-4D97-AF65-F5344CB8AC3E}">
        <p14:creationId xmlns:p14="http://schemas.microsoft.com/office/powerpoint/2010/main" val="21568424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0894F2-1420-0C66-EDFF-CE9DC86FCFA8}"/>
              </a:ext>
            </a:extLst>
          </p:cNvPr>
          <p:cNvPicPr>
            <a:picLocks noChangeAspect="1"/>
          </p:cNvPicPr>
          <p:nvPr/>
        </p:nvPicPr>
        <p:blipFill>
          <a:blip r:embed="rId2"/>
          <a:stretch>
            <a:fillRect/>
          </a:stretch>
        </p:blipFill>
        <p:spPr>
          <a:xfrm>
            <a:off x="0" y="91610"/>
            <a:ext cx="9144000" cy="4960280"/>
          </a:xfrm>
          <a:prstGeom prst="rect">
            <a:avLst/>
          </a:prstGeom>
        </p:spPr>
      </p:pic>
    </p:spTree>
    <p:extLst>
      <p:ext uri="{BB962C8B-B14F-4D97-AF65-F5344CB8AC3E}">
        <p14:creationId xmlns:p14="http://schemas.microsoft.com/office/powerpoint/2010/main" val="32051490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76554F-CBD7-AF13-64E3-2EA3F2A1325D}"/>
              </a:ext>
            </a:extLst>
          </p:cNvPr>
          <p:cNvPicPr>
            <a:picLocks noChangeAspect="1"/>
          </p:cNvPicPr>
          <p:nvPr/>
        </p:nvPicPr>
        <p:blipFill>
          <a:blip r:embed="rId2"/>
          <a:stretch>
            <a:fillRect/>
          </a:stretch>
        </p:blipFill>
        <p:spPr>
          <a:xfrm>
            <a:off x="0" y="16107"/>
            <a:ext cx="9144000" cy="5111286"/>
          </a:xfrm>
          <a:prstGeom prst="rect">
            <a:avLst/>
          </a:prstGeom>
        </p:spPr>
      </p:pic>
    </p:spTree>
    <p:extLst>
      <p:ext uri="{BB962C8B-B14F-4D97-AF65-F5344CB8AC3E}">
        <p14:creationId xmlns:p14="http://schemas.microsoft.com/office/powerpoint/2010/main" val="614296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2C7A53-DE34-32F3-5807-EC6A3A86C27D}"/>
              </a:ext>
            </a:extLst>
          </p:cNvPr>
          <p:cNvPicPr>
            <a:picLocks noChangeAspect="1"/>
          </p:cNvPicPr>
          <p:nvPr/>
        </p:nvPicPr>
        <p:blipFill>
          <a:blip r:embed="rId2"/>
          <a:stretch>
            <a:fillRect/>
          </a:stretch>
        </p:blipFill>
        <p:spPr>
          <a:xfrm>
            <a:off x="0" y="165434"/>
            <a:ext cx="9144000" cy="4812632"/>
          </a:xfrm>
          <a:prstGeom prst="rect">
            <a:avLst/>
          </a:prstGeom>
        </p:spPr>
      </p:pic>
    </p:spTree>
    <p:extLst>
      <p:ext uri="{BB962C8B-B14F-4D97-AF65-F5344CB8AC3E}">
        <p14:creationId xmlns:p14="http://schemas.microsoft.com/office/powerpoint/2010/main" val="29548724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980688" y="1475232"/>
            <a:ext cx="5021580" cy="1613916"/>
          </a:xfrm>
          <a:custGeom>
            <a:avLst/>
            <a:gdLst/>
            <a:ahLst/>
            <a:cxnLst/>
            <a:rect l="l" t="t" r="r" b="b"/>
            <a:pathLst>
              <a:path w="5021580" h="1613916">
                <a:moveTo>
                  <a:pt x="0" y="0"/>
                </a:moveTo>
                <a:lnTo>
                  <a:pt x="5021580" y="0"/>
                </a:lnTo>
                <a:lnTo>
                  <a:pt x="5021580" y="1613916"/>
                </a:lnTo>
                <a:lnTo>
                  <a:pt x="0" y="1613916"/>
                </a:lnTo>
                <a:lnTo>
                  <a:pt x="0" y="0"/>
                </a:lnTo>
                <a:close/>
              </a:path>
            </a:pathLst>
          </a:custGeom>
          <a:blipFill>
            <a:blip r:embed="rId9"/>
            <a:stretch>
              <a:fillRect/>
            </a:stretch>
          </a:blipFill>
        </p:spPr>
        <p:txBody>
          <a:bodyPr/>
          <a:lstStyle/>
          <a:p>
            <a:endParaRPr lang="en-IN"/>
          </a:p>
        </p:txBody>
      </p:sp>
      <p:sp>
        <p:nvSpPr>
          <p:cNvPr id="8" name="Freeform 8"/>
          <p:cNvSpPr/>
          <p:nvPr/>
        </p:nvSpPr>
        <p:spPr>
          <a:xfrm>
            <a:off x="3960876" y="1455420"/>
            <a:ext cx="5061204" cy="1653540"/>
          </a:xfrm>
          <a:custGeom>
            <a:avLst/>
            <a:gdLst/>
            <a:ahLst/>
            <a:cxnLst/>
            <a:rect l="l" t="t" r="r" b="b"/>
            <a:pathLst>
              <a:path w="5061204" h="1653540">
                <a:moveTo>
                  <a:pt x="0" y="0"/>
                </a:moveTo>
                <a:lnTo>
                  <a:pt x="5061204" y="0"/>
                </a:lnTo>
                <a:lnTo>
                  <a:pt x="5061204" y="1653540"/>
                </a:lnTo>
                <a:lnTo>
                  <a:pt x="0" y="165354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Freeform 9"/>
          <p:cNvSpPr/>
          <p:nvPr/>
        </p:nvSpPr>
        <p:spPr>
          <a:xfrm>
            <a:off x="4030980" y="3317748"/>
            <a:ext cx="2054352" cy="900684"/>
          </a:xfrm>
          <a:custGeom>
            <a:avLst/>
            <a:gdLst/>
            <a:ahLst/>
            <a:cxnLst/>
            <a:rect l="l" t="t" r="r" b="b"/>
            <a:pathLst>
              <a:path w="2054352" h="900684">
                <a:moveTo>
                  <a:pt x="0" y="0"/>
                </a:moveTo>
                <a:lnTo>
                  <a:pt x="2054352" y="0"/>
                </a:lnTo>
                <a:lnTo>
                  <a:pt x="2054352" y="900684"/>
                </a:lnTo>
                <a:lnTo>
                  <a:pt x="0" y="900684"/>
                </a:lnTo>
                <a:lnTo>
                  <a:pt x="0" y="0"/>
                </a:lnTo>
                <a:close/>
              </a:path>
            </a:pathLst>
          </a:custGeom>
          <a:blipFill>
            <a:blip r:embed="rId12"/>
            <a:stretch>
              <a:fillRect/>
            </a:stretch>
          </a:blipFill>
        </p:spPr>
        <p:txBody>
          <a:bodyPr/>
          <a:lstStyle/>
          <a:p>
            <a:endParaRPr lang="en-IN"/>
          </a:p>
        </p:txBody>
      </p:sp>
      <p:sp>
        <p:nvSpPr>
          <p:cNvPr id="10" name="Freeform 10"/>
          <p:cNvSpPr/>
          <p:nvPr/>
        </p:nvSpPr>
        <p:spPr>
          <a:xfrm>
            <a:off x="4011168" y="3297936"/>
            <a:ext cx="2093976" cy="940308"/>
          </a:xfrm>
          <a:custGeom>
            <a:avLst/>
            <a:gdLst/>
            <a:ahLst/>
            <a:cxnLst/>
            <a:rect l="l" t="t" r="r" b="b"/>
            <a:pathLst>
              <a:path w="2093976" h="940308">
                <a:moveTo>
                  <a:pt x="0" y="0"/>
                </a:moveTo>
                <a:lnTo>
                  <a:pt x="2093976" y="0"/>
                </a:lnTo>
                <a:lnTo>
                  <a:pt x="2093976" y="940308"/>
                </a:lnTo>
                <a:lnTo>
                  <a:pt x="0" y="94030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N"/>
          </a:p>
        </p:txBody>
      </p:sp>
      <p:sp>
        <p:nvSpPr>
          <p:cNvPr id="11" name="TextBox 11"/>
          <p:cNvSpPr txBox="1"/>
          <p:nvPr/>
        </p:nvSpPr>
        <p:spPr>
          <a:xfrm>
            <a:off x="293827" y="4645304"/>
            <a:ext cx="108099"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29</a:t>
            </a:r>
          </a:p>
        </p:txBody>
      </p:sp>
      <p:sp>
        <p:nvSpPr>
          <p:cNvPr id="12" name="TextBox 12"/>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3" name="TextBox 13"/>
          <p:cNvSpPr txBox="1"/>
          <p:nvPr/>
        </p:nvSpPr>
        <p:spPr>
          <a:xfrm>
            <a:off x="259385" y="145094"/>
            <a:ext cx="4023379"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LASSO and RIDGE Regression</a:t>
            </a:r>
          </a:p>
        </p:txBody>
      </p:sp>
      <p:sp>
        <p:nvSpPr>
          <p:cNvPr id="14" name="TextBox 14"/>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5" name="TextBox 15"/>
          <p:cNvSpPr txBox="1"/>
          <p:nvPr/>
        </p:nvSpPr>
        <p:spPr>
          <a:xfrm>
            <a:off x="498348" y="1254747"/>
            <a:ext cx="53159" cy="275845"/>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a:t>
            </a:r>
          </a:p>
        </p:txBody>
      </p:sp>
      <p:sp>
        <p:nvSpPr>
          <p:cNvPr id="16" name="TextBox 16"/>
          <p:cNvSpPr txBox="1"/>
          <p:nvPr/>
        </p:nvSpPr>
        <p:spPr>
          <a:xfrm>
            <a:off x="498348" y="1740903"/>
            <a:ext cx="53159" cy="275845"/>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a:t>
            </a:r>
          </a:p>
        </p:txBody>
      </p:sp>
      <p:sp>
        <p:nvSpPr>
          <p:cNvPr id="17" name="TextBox 17"/>
          <p:cNvSpPr txBox="1"/>
          <p:nvPr/>
        </p:nvSpPr>
        <p:spPr>
          <a:xfrm>
            <a:off x="498348" y="2934071"/>
            <a:ext cx="53159" cy="170047"/>
          </a:xfrm>
          <a:prstGeom prst="rect">
            <a:avLst/>
          </a:prstGeom>
        </p:spPr>
        <p:txBody>
          <a:bodyPr lIns="0" tIns="0" rIns="0" bIns="0" rtlCol="0" anchor="t">
            <a:spAutoFit/>
          </a:bodyPr>
          <a:lstStyle/>
          <a:p>
            <a:pPr algn="l">
              <a:lnSpc>
                <a:spcPts val="1394"/>
              </a:lnSpc>
            </a:pPr>
            <a:r>
              <a:rPr lang="en-US" sz="996" dirty="0">
                <a:solidFill>
                  <a:srgbClr val="000000"/>
                </a:solidFill>
                <a:latin typeface="Aptos" panose="020B0004020202020204" pitchFamily="34" charset="0"/>
                <a:ea typeface="Heading Now 11-18"/>
                <a:cs typeface="Heading Now 11-18"/>
                <a:sym typeface="Heading Now 11-18"/>
              </a:rPr>
              <a:t>•</a:t>
            </a:r>
          </a:p>
        </p:txBody>
      </p:sp>
      <p:sp>
        <p:nvSpPr>
          <p:cNvPr id="18" name="TextBox 18"/>
          <p:cNvSpPr txBox="1"/>
          <p:nvPr/>
        </p:nvSpPr>
        <p:spPr>
          <a:xfrm>
            <a:off x="791261" y="1340472"/>
            <a:ext cx="2949569" cy="1241174"/>
          </a:xfrm>
          <a:prstGeom prst="rect">
            <a:avLst/>
          </a:prstGeom>
        </p:spPr>
        <p:txBody>
          <a:bodyPr lIns="0" tIns="0" rIns="0" bIns="0" rtlCol="0" anchor="t">
            <a:spAutoFit/>
          </a:bodyPr>
          <a:lstStyle/>
          <a:p>
            <a:pPr algn="l">
              <a:lnSpc>
                <a:spcPts val="1416"/>
              </a:lnSpc>
            </a:pPr>
            <a:r>
              <a:rPr lang="en-US" sz="996" b="1" spc="0" dirty="0" err="1">
                <a:solidFill>
                  <a:srgbClr val="000000"/>
                </a:solidFill>
                <a:latin typeface="29LT Bukra Medium"/>
                <a:ea typeface="29LT Bukra Medium"/>
                <a:cs typeface="29LT Bukra Medium"/>
                <a:sym typeface="29LT Bukra Medium"/>
              </a:rPr>
              <a:t>Regularisation</a:t>
            </a:r>
            <a:r>
              <a:rPr lang="en-US" sz="996" b="1" spc="0" dirty="0">
                <a:solidFill>
                  <a:srgbClr val="000000"/>
                </a:solidFill>
                <a:latin typeface="29LT Bukra Medium"/>
                <a:ea typeface="29LT Bukra Medium"/>
                <a:cs typeface="29LT Bukra Medium"/>
                <a:sym typeface="29LT Bukra Medium"/>
              </a:rPr>
              <a:t> helps avoid overfitting data at the cost of some added error.</a:t>
            </a:r>
          </a:p>
          <a:p>
            <a:pPr algn="l">
              <a:lnSpc>
                <a:spcPts val="2490"/>
              </a:lnSpc>
            </a:pPr>
            <a:r>
              <a:rPr lang="en-US" sz="996" b="1" spc="1" dirty="0">
                <a:solidFill>
                  <a:srgbClr val="000000"/>
                </a:solidFill>
                <a:latin typeface="29LT Bukra Medium"/>
                <a:ea typeface="29LT Bukra Medium"/>
                <a:cs typeface="29LT Bukra Medium"/>
                <a:sym typeface="29LT Bukra Medium"/>
              </a:rPr>
              <a:t>LASSO (Least Absolute Shrinkage Selector </a:t>
            </a:r>
          </a:p>
          <a:p>
            <a:pPr algn="l">
              <a:lnSpc>
                <a:spcPts val="498"/>
              </a:lnSpc>
            </a:pPr>
            <a:r>
              <a:rPr lang="en-US" sz="996" b="1" spc="0" dirty="0">
                <a:solidFill>
                  <a:srgbClr val="000000"/>
                </a:solidFill>
                <a:latin typeface="29LT Bukra Medium"/>
                <a:ea typeface="29LT Bukra Medium"/>
                <a:cs typeface="29LT Bukra Medium"/>
                <a:sym typeface="29LT Bukra Medium"/>
              </a:rPr>
              <a:t>Operator) and Ridge regression are </a:t>
            </a:r>
          </a:p>
          <a:p>
            <a:pPr algn="l">
              <a:lnSpc>
                <a:spcPts val="2333"/>
              </a:lnSpc>
            </a:pPr>
            <a:r>
              <a:rPr lang="en-US" sz="996" b="1" spc="0" dirty="0" err="1">
                <a:solidFill>
                  <a:srgbClr val="000000"/>
                </a:solidFill>
                <a:latin typeface="29LT Bukra Medium"/>
                <a:ea typeface="29LT Bukra Medium"/>
                <a:cs typeface="29LT Bukra Medium"/>
                <a:sym typeface="29LT Bukra Medium"/>
              </a:rPr>
              <a:t>regularisation</a:t>
            </a:r>
            <a:r>
              <a:rPr lang="en-US" sz="996" b="1" spc="0" dirty="0">
                <a:solidFill>
                  <a:srgbClr val="000000"/>
                </a:solidFill>
                <a:latin typeface="29LT Bukra Medium"/>
                <a:ea typeface="29LT Bukra Medium"/>
                <a:cs typeface="29LT Bukra Medium"/>
                <a:sym typeface="29LT Bukra Medium"/>
              </a:rPr>
              <a:t> techniques used for improving </a:t>
            </a:r>
          </a:p>
          <a:p>
            <a:pPr algn="l">
              <a:lnSpc>
                <a:spcPts val="498"/>
              </a:lnSpc>
            </a:pPr>
            <a:r>
              <a:rPr lang="en-US" sz="996" b="1" spc="1" dirty="0">
                <a:solidFill>
                  <a:srgbClr val="000000"/>
                </a:solidFill>
                <a:latin typeface="29LT Bukra Medium"/>
                <a:ea typeface="29LT Bukra Medium"/>
                <a:cs typeface="29LT Bukra Medium"/>
                <a:sym typeface="29LT Bukra Medium"/>
              </a:rPr>
              <a:t>the robustness of the model.</a:t>
            </a:r>
          </a:p>
        </p:txBody>
      </p:sp>
      <p:sp>
        <p:nvSpPr>
          <p:cNvPr id="19" name="TextBox 19"/>
          <p:cNvSpPr txBox="1"/>
          <p:nvPr/>
        </p:nvSpPr>
        <p:spPr>
          <a:xfrm>
            <a:off x="791261" y="2819771"/>
            <a:ext cx="2286267" cy="490728"/>
          </a:xfrm>
          <a:prstGeom prst="rect">
            <a:avLst/>
          </a:prstGeom>
        </p:spPr>
        <p:txBody>
          <a:bodyPr lIns="0" tIns="0" rIns="0" bIns="0" rtlCol="0" anchor="t">
            <a:spAutoFit/>
          </a:bodyPr>
          <a:lstStyle/>
          <a:p>
            <a:pPr algn="l">
              <a:lnSpc>
                <a:spcPts val="2490"/>
              </a:lnSpc>
            </a:pPr>
            <a:r>
              <a:rPr lang="en-US" sz="996" b="1" spc="1">
                <a:solidFill>
                  <a:srgbClr val="000000"/>
                </a:solidFill>
                <a:latin typeface="29LT Bukra Medium"/>
                <a:ea typeface="29LT Bukra Medium"/>
                <a:cs typeface="29LT Bukra Medium"/>
                <a:sym typeface="29LT Bukra Medium"/>
              </a:rPr>
              <a:t>LASSO or L1 penalty can be used for </a:t>
            </a:r>
          </a:p>
          <a:p>
            <a:pPr algn="l">
              <a:lnSpc>
                <a:spcPts val="498"/>
              </a:lnSpc>
            </a:pPr>
            <a:r>
              <a:rPr lang="en-US" sz="996" b="1" spc="0">
                <a:solidFill>
                  <a:srgbClr val="000000"/>
                </a:solidFill>
                <a:latin typeface="29LT Bukra Medium"/>
                <a:ea typeface="29LT Bukra Medium"/>
                <a:cs typeface="29LT Bukra Medium"/>
                <a:sym typeface="29LT Bukra Medium"/>
              </a:rPr>
              <a:t>dimensionality reduction also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895593" y="808225"/>
            <a:ext cx="3555997" cy="3930901"/>
          </a:xfrm>
          <a:custGeom>
            <a:avLst/>
            <a:gdLst/>
            <a:ahLst/>
            <a:cxnLst/>
            <a:rect l="l" t="t" r="r" b="b"/>
            <a:pathLst>
              <a:path w="3555997" h="3930901">
                <a:moveTo>
                  <a:pt x="0" y="0"/>
                </a:moveTo>
                <a:lnTo>
                  <a:pt x="3555997" y="0"/>
                </a:lnTo>
                <a:lnTo>
                  <a:pt x="3555997" y="3930901"/>
                </a:lnTo>
                <a:lnTo>
                  <a:pt x="0" y="393090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3827" y="4645304"/>
            <a:ext cx="109471"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30</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023379"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LASSO and RIDGE Regression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86156" y="1217295"/>
            <a:ext cx="64046"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3" name="TextBox 13"/>
          <p:cNvSpPr txBox="1"/>
          <p:nvPr/>
        </p:nvSpPr>
        <p:spPr>
          <a:xfrm>
            <a:off x="486156" y="1776860"/>
            <a:ext cx="64046"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4" name="TextBox 14"/>
          <p:cNvSpPr txBox="1"/>
          <p:nvPr/>
        </p:nvSpPr>
        <p:spPr>
          <a:xfrm>
            <a:off x="486156" y="3356867"/>
            <a:ext cx="64046"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5" name="TextBox 15"/>
          <p:cNvSpPr txBox="1"/>
          <p:nvPr/>
        </p:nvSpPr>
        <p:spPr>
          <a:xfrm>
            <a:off x="791261" y="1331595"/>
            <a:ext cx="2944025" cy="1679324"/>
          </a:xfrm>
          <a:prstGeom prst="rect">
            <a:avLst/>
          </a:prstGeom>
        </p:spPr>
        <p:txBody>
          <a:bodyPr lIns="0" tIns="0" rIns="0" bIns="0" rtlCol="0" anchor="t">
            <a:spAutoFit/>
          </a:bodyPr>
          <a:lstStyle/>
          <a:p>
            <a:pPr algn="l">
              <a:lnSpc>
                <a:spcPts val="1704"/>
              </a:lnSpc>
            </a:pPr>
            <a:r>
              <a:rPr lang="en-US" sz="1200" b="1" spc="1">
                <a:solidFill>
                  <a:srgbClr val="000000"/>
                </a:solidFill>
                <a:latin typeface="29LT Bukra Medium"/>
                <a:ea typeface="29LT Bukra Medium"/>
                <a:cs typeface="29LT Bukra Medium"/>
                <a:sym typeface="29LT Bukra Medium"/>
              </a:rPr>
              <a:t>Regularisation helps avoid overfitting data at the cost of some added error.</a:t>
            </a:r>
          </a:p>
          <a:p>
            <a:pPr algn="l">
              <a:lnSpc>
                <a:spcPts val="3000"/>
              </a:lnSpc>
            </a:pPr>
            <a:r>
              <a:rPr lang="en-US" sz="1200" b="1">
                <a:solidFill>
                  <a:srgbClr val="000000"/>
                </a:solidFill>
                <a:latin typeface="29LT Bukra Medium"/>
                <a:ea typeface="29LT Bukra Medium"/>
                <a:cs typeface="29LT Bukra Medium"/>
                <a:sym typeface="29LT Bukra Medium"/>
              </a:rPr>
              <a:t>LASSO (Least Absolute Shrinkage </a:t>
            </a:r>
          </a:p>
          <a:p>
            <a:pPr algn="l">
              <a:lnSpc>
                <a:spcPts val="600"/>
              </a:lnSpc>
            </a:pPr>
            <a:r>
              <a:rPr lang="en-US" sz="1200" b="1" spc="1">
                <a:solidFill>
                  <a:srgbClr val="000000"/>
                </a:solidFill>
                <a:latin typeface="29LT Bukra Medium"/>
                <a:ea typeface="29LT Bukra Medium"/>
                <a:cs typeface="29LT Bukra Medium"/>
                <a:sym typeface="29LT Bukra Medium"/>
              </a:rPr>
              <a:t>Selector Operator) and Ridge </a:t>
            </a:r>
          </a:p>
          <a:p>
            <a:pPr algn="l">
              <a:lnSpc>
                <a:spcPts val="2808"/>
              </a:lnSpc>
            </a:pPr>
            <a:r>
              <a:rPr lang="en-US" sz="1200" b="1" spc="1">
                <a:solidFill>
                  <a:srgbClr val="000000"/>
                </a:solidFill>
                <a:latin typeface="29LT Bukra Medium"/>
                <a:ea typeface="29LT Bukra Medium"/>
                <a:cs typeface="29LT Bukra Medium"/>
                <a:sym typeface="29LT Bukra Medium"/>
              </a:rPr>
              <a:t>regression are regularisation </a:t>
            </a:r>
          </a:p>
          <a:p>
            <a:pPr algn="l">
              <a:lnSpc>
                <a:spcPts val="600"/>
              </a:lnSpc>
            </a:pPr>
            <a:r>
              <a:rPr lang="en-US" sz="1200" b="1" spc="1">
                <a:solidFill>
                  <a:srgbClr val="000000"/>
                </a:solidFill>
                <a:latin typeface="29LT Bukra Medium"/>
                <a:ea typeface="29LT Bukra Medium"/>
                <a:cs typeface="29LT Bukra Medium"/>
                <a:sym typeface="29LT Bukra Medium"/>
              </a:rPr>
              <a:t>techniques used for improving the </a:t>
            </a:r>
          </a:p>
          <a:p>
            <a:pPr algn="l">
              <a:lnSpc>
                <a:spcPts val="2904"/>
              </a:lnSpc>
            </a:pPr>
            <a:r>
              <a:rPr lang="en-US" sz="1200" b="1">
                <a:solidFill>
                  <a:srgbClr val="000000"/>
                </a:solidFill>
                <a:latin typeface="29LT Bukra Medium"/>
                <a:ea typeface="29LT Bukra Medium"/>
                <a:cs typeface="29LT Bukra Medium"/>
                <a:sym typeface="29LT Bukra Medium"/>
              </a:rPr>
              <a:t>robustness of the model.</a:t>
            </a:r>
          </a:p>
        </p:txBody>
      </p:sp>
      <p:sp>
        <p:nvSpPr>
          <p:cNvPr id="16" name="TextBox 16"/>
          <p:cNvSpPr txBox="1"/>
          <p:nvPr/>
        </p:nvSpPr>
        <p:spPr>
          <a:xfrm>
            <a:off x="791261" y="3223517"/>
            <a:ext cx="2741019" cy="587883"/>
          </a:xfrm>
          <a:prstGeom prst="rect">
            <a:avLst/>
          </a:prstGeom>
        </p:spPr>
        <p:txBody>
          <a:bodyPr lIns="0" tIns="0" rIns="0" bIns="0" rtlCol="0" anchor="t">
            <a:spAutoFit/>
          </a:bodyPr>
          <a:lstStyle/>
          <a:p>
            <a:pPr algn="l">
              <a:lnSpc>
                <a:spcPts val="2904"/>
              </a:lnSpc>
            </a:pPr>
            <a:r>
              <a:rPr lang="en-US" sz="1200" b="1">
                <a:solidFill>
                  <a:srgbClr val="000000"/>
                </a:solidFill>
                <a:latin typeface="29LT Bukra Medium"/>
                <a:ea typeface="29LT Bukra Medium"/>
                <a:cs typeface="29LT Bukra Medium"/>
                <a:sym typeface="29LT Bukra Medium"/>
              </a:rPr>
              <a:t>LASSO or L1 penalty can be used for </a:t>
            </a:r>
          </a:p>
          <a:p>
            <a:pPr algn="l">
              <a:lnSpc>
                <a:spcPts val="600"/>
              </a:lnSpc>
            </a:pPr>
            <a:r>
              <a:rPr lang="en-US" sz="1200" b="1" spc="1">
                <a:solidFill>
                  <a:srgbClr val="000000"/>
                </a:solidFill>
                <a:latin typeface="29LT Bukra Medium"/>
                <a:ea typeface="29LT Bukra Medium"/>
                <a:cs typeface="29LT Bukra Medium"/>
                <a:sym typeface="29LT Bukra Medium"/>
              </a:rPr>
              <a:t>dimensionality reduction also</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406133" y="1387354"/>
            <a:ext cx="3039361" cy="3110998"/>
          </a:xfrm>
          <a:custGeom>
            <a:avLst/>
            <a:gdLst/>
            <a:ahLst/>
            <a:cxnLst/>
            <a:rect l="l" t="t" r="r" b="b"/>
            <a:pathLst>
              <a:path w="3039361" h="3110998">
                <a:moveTo>
                  <a:pt x="0" y="0"/>
                </a:moveTo>
                <a:lnTo>
                  <a:pt x="3039361" y="0"/>
                </a:lnTo>
                <a:lnTo>
                  <a:pt x="3039361" y="3110999"/>
                </a:lnTo>
                <a:lnTo>
                  <a:pt x="0" y="31109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306019" y="4645304"/>
            <a:ext cx="81705" cy="24910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31</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469519"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Regression Error Metrics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33756" y="1207770"/>
            <a:ext cx="1921031"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MAE, MSE, RMSE, MAPE etc.</a:t>
            </a:r>
          </a:p>
        </p:txBody>
      </p:sp>
      <p:sp>
        <p:nvSpPr>
          <p:cNvPr id="13" name="TextBox 13"/>
          <p:cNvSpPr txBox="1"/>
          <p:nvPr/>
        </p:nvSpPr>
        <p:spPr>
          <a:xfrm>
            <a:off x="486156" y="1801244"/>
            <a:ext cx="64046" cy="915635"/>
          </a:xfrm>
          <a:prstGeom prst="rect">
            <a:avLst/>
          </a:prstGeom>
        </p:spPr>
        <p:txBody>
          <a:bodyPr lIns="0" tIns="0" rIns="0" bIns="0" rtlCol="0" anchor="t">
            <a:spAutoFit/>
          </a:bodyPr>
          <a:lstStyle/>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a:t>
            </a:r>
          </a:p>
          <a:p>
            <a:pPr algn="just">
              <a:lnSpc>
                <a:spcPts val="600"/>
              </a:lnSpc>
            </a:pPr>
            <a:r>
              <a:rPr lang="en-US" sz="1200" dirty="0">
                <a:solidFill>
                  <a:srgbClr val="000000"/>
                </a:solidFill>
                <a:latin typeface="Aptos" panose="020B0004020202020204" pitchFamily="34" charset="0"/>
                <a:ea typeface="Heading Now 11-18"/>
                <a:cs typeface="Heading Now 11-18"/>
                <a:sym typeface="Heading Now 11-18"/>
              </a:rPr>
              <a:t>•</a:t>
            </a:r>
          </a:p>
          <a:p>
            <a:pPr algn="just">
              <a:lnSpc>
                <a:spcPts val="2808"/>
              </a:lnSpc>
            </a:pPr>
            <a:r>
              <a:rPr lang="en-US" sz="1200" dirty="0">
                <a:solidFill>
                  <a:srgbClr val="000000"/>
                </a:solidFill>
                <a:latin typeface="Aptos" panose="020B0004020202020204" pitchFamily="34" charset="0"/>
                <a:ea typeface="Heading Now 11-18"/>
                <a:cs typeface="Heading Now 11-18"/>
                <a:sym typeface="Heading Now 11-18"/>
              </a:rPr>
              <a:t>•</a:t>
            </a:r>
          </a:p>
          <a:p>
            <a:pPr algn="just">
              <a:lnSpc>
                <a:spcPts val="600"/>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4" name="TextBox 14"/>
          <p:cNvSpPr txBox="1"/>
          <p:nvPr/>
        </p:nvSpPr>
        <p:spPr>
          <a:xfrm>
            <a:off x="791261" y="1791719"/>
            <a:ext cx="3042114" cy="10287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MSE (Mean Squared Error)</a:t>
            </a:r>
          </a:p>
          <a:p>
            <a:pPr algn="l">
              <a:lnSpc>
                <a:spcPts val="600"/>
              </a:lnSpc>
            </a:pPr>
            <a:r>
              <a:rPr lang="en-US" sz="1200" b="1">
                <a:solidFill>
                  <a:srgbClr val="000000"/>
                </a:solidFill>
                <a:latin typeface="29LT Bukra Medium"/>
                <a:ea typeface="29LT Bukra Medium"/>
                <a:cs typeface="29LT Bukra Medium"/>
                <a:sym typeface="29LT Bukra Medium"/>
              </a:rPr>
              <a:t>RMSE (Root Mean Squared Error)</a:t>
            </a:r>
          </a:p>
          <a:p>
            <a:pPr algn="l">
              <a:lnSpc>
                <a:spcPts val="2808"/>
              </a:lnSpc>
            </a:pPr>
            <a:r>
              <a:rPr lang="en-US" sz="1200" b="1">
                <a:solidFill>
                  <a:srgbClr val="000000"/>
                </a:solidFill>
                <a:latin typeface="29LT Bukra Medium"/>
                <a:ea typeface="29LT Bukra Medium"/>
                <a:cs typeface="29LT Bukra Medium"/>
                <a:sym typeface="29LT Bukra Medium"/>
              </a:rPr>
              <a:t>MAE (Mean Absolute Error)</a:t>
            </a:r>
          </a:p>
          <a:p>
            <a:pPr algn="l">
              <a:lnSpc>
                <a:spcPts val="600"/>
              </a:lnSpc>
            </a:pPr>
            <a:r>
              <a:rPr lang="en-US" sz="1200" b="1">
                <a:solidFill>
                  <a:srgbClr val="000000"/>
                </a:solidFill>
                <a:latin typeface="29LT Bukra Medium"/>
                <a:ea typeface="29LT Bukra Medium"/>
                <a:cs typeface="29LT Bukra Medium"/>
                <a:sym typeface="29LT Bukra Medium"/>
              </a:rPr>
              <a:t>MAPE (Mean Absolute Percentage Error)</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2445A922-554F-0950-457D-62DB5C946A19}"/>
              </a:ext>
            </a:extLst>
          </p:cNvPr>
          <p:cNvSpPr txBox="1"/>
          <p:nvPr/>
        </p:nvSpPr>
        <p:spPr>
          <a:xfrm>
            <a:off x="866661" y="1663007"/>
            <a:ext cx="7410669" cy="2969714"/>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1200" b="1" dirty="0"/>
              <a:t>Regression</a:t>
            </a:r>
            <a:r>
              <a:rPr lang="en-US" sz="1200" dirty="0"/>
              <a:t> </a:t>
            </a:r>
            <a:r>
              <a:rPr lang="en-US" sz="1200" b="1" dirty="0"/>
              <a:t>Metrics</a:t>
            </a:r>
          </a:p>
          <a:p>
            <a:pPr indent="-228600">
              <a:lnSpc>
                <a:spcPct val="90000"/>
              </a:lnSpc>
              <a:spcAft>
                <a:spcPts val="600"/>
              </a:spcAft>
              <a:buFont typeface="Arial" panose="020B0604020202020204" pitchFamily="34" charset="0"/>
              <a:buChar char="•"/>
            </a:pPr>
            <a:r>
              <a:rPr lang="en-US" sz="1200" b="1" dirty="0"/>
              <a:t>Regression</a:t>
            </a:r>
            <a:r>
              <a:rPr lang="en-US" sz="1200" dirty="0"/>
              <a:t> is a type of statistical and machine learning technique used to model the relationship between a dependent variable (target) and one or more independent variables (features). It helps </a:t>
            </a:r>
            <a:r>
              <a:rPr lang="en-US" sz="1200" b="1" dirty="0"/>
              <a:t>predict continuous outcomes</a:t>
            </a:r>
            <a:r>
              <a:rPr lang="en-US" sz="1200" dirty="0"/>
              <a:t>, like prices, temperatures, or scores</a:t>
            </a:r>
          </a:p>
          <a:p>
            <a:pPr indent="-228600">
              <a:lnSpc>
                <a:spcPct val="90000"/>
              </a:lnSpc>
              <a:spcAft>
                <a:spcPts val="600"/>
              </a:spcAft>
              <a:buFont typeface="Arial" panose="020B0604020202020204" pitchFamily="34" charset="0"/>
              <a:buChar char="•"/>
            </a:pPr>
            <a:r>
              <a:rPr lang="en-US" sz="1200" dirty="0"/>
              <a:t>For example: Predicting house prices based on size, location, and number of rooms.</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 Common Regression Metrics</a:t>
            </a:r>
          </a:p>
          <a:p>
            <a:pPr indent="-228600">
              <a:lnSpc>
                <a:spcPct val="90000"/>
              </a:lnSpc>
              <a:spcAft>
                <a:spcPts val="600"/>
              </a:spcAft>
              <a:buFont typeface="Arial" panose="020B0604020202020204" pitchFamily="34" charset="0"/>
              <a:buChar char="•"/>
            </a:pPr>
            <a:r>
              <a:rPr lang="en-US" sz="1200" b="1" dirty="0"/>
              <a:t>MAE (Mean Absolute Error): </a:t>
            </a:r>
            <a:r>
              <a:rPr lang="en-US" sz="1200" dirty="0"/>
              <a:t>Average of absolute differences between predicted and actual values. Shows typical prediction error size.</a:t>
            </a:r>
          </a:p>
          <a:p>
            <a:pPr indent="-228600">
              <a:lnSpc>
                <a:spcPct val="90000"/>
              </a:lnSpc>
              <a:spcAft>
                <a:spcPts val="600"/>
              </a:spcAft>
              <a:buFont typeface="Arial" panose="020B0604020202020204" pitchFamily="34" charset="0"/>
              <a:buChar char="•"/>
            </a:pPr>
            <a:endParaRPr lang="en-US" sz="1200" b="1" dirty="0"/>
          </a:p>
          <a:p>
            <a:pPr indent="-228600">
              <a:lnSpc>
                <a:spcPct val="90000"/>
              </a:lnSpc>
              <a:spcAft>
                <a:spcPts val="600"/>
              </a:spcAft>
              <a:buFont typeface="Arial" panose="020B0604020202020204" pitchFamily="34" charset="0"/>
              <a:buChar char="•"/>
            </a:pPr>
            <a:r>
              <a:rPr lang="en-US" sz="1200" b="1" dirty="0"/>
              <a:t>MSE (Mean Squared Error):</a:t>
            </a:r>
            <a:r>
              <a:rPr lang="en-US" sz="1200" dirty="0"/>
              <a:t> Average of squared differences; penalizes larger errors more than MAE.</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b="1" dirty="0"/>
              <a:t>RMSE (Root Mean Squared Error): </a:t>
            </a:r>
            <a:r>
              <a:rPr lang="en-US" sz="1200" dirty="0"/>
              <a:t>Square root of MSE; gives error in the same units as the target variable.</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b="1" dirty="0"/>
              <a:t>R² (R-squared): </a:t>
            </a:r>
            <a:r>
              <a:rPr lang="en-US" sz="1200" dirty="0"/>
              <a:t>Measures how well the model explains the variance in the data. Closer to 1 means better fit.</a:t>
            </a:r>
          </a:p>
        </p:txBody>
      </p:sp>
    </p:spTree>
    <p:extLst>
      <p:ext uri="{BB962C8B-B14F-4D97-AF65-F5344CB8AC3E}">
        <p14:creationId xmlns:p14="http://schemas.microsoft.com/office/powerpoint/2010/main" val="30480903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AA5121-BF0A-A052-D200-A06E86694DCF}"/>
              </a:ext>
            </a:extLst>
          </p:cNvPr>
          <p:cNvPicPr>
            <a:picLocks noChangeAspect="1"/>
          </p:cNvPicPr>
          <p:nvPr/>
        </p:nvPicPr>
        <p:blipFill>
          <a:blip r:embed="rId2"/>
          <a:stretch>
            <a:fillRect/>
          </a:stretch>
        </p:blipFill>
        <p:spPr>
          <a:xfrm>
            <a:off x="0" y="29353"/>
            <a:ext cx="9144000" cy="5084793"/>
          </a:xfrm>
          <a:prstGeom prst="rect">
            <a:avLst/>
          </a:prstGeom>
        </p:spPr>
      </p:pic>
    </p:spTree>
    <p:extLst>
      <p:ext uri="{BB962C8B-B14F-4D97-AF65-F5344CB8AC3E}">
        <p14:creationId xmlns:p14="http://schemas.microsoft.com/office/powerpoint/2010/main" val="16121290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0CBB1B-99C9-836B-B1F6-DECE3FCE3907}"/>
              </a:ext>
            </a:extLst>
          </p:cNvPr>
          <p:cNvPicPr>
            <a:picLocks noChangeAspect="1"/>
          </p:cNvPicPr>
          <p:nvPr/>
        </p:nvPicPr>
        <p:blipFill>
          <a:blip r:embed="rId2"/>
          <a:stretch>
            <a:fillRect/>
          </a:stretch>
        </p:blipFill>
        <p:spPr>
          <a:xfrm>
            <a:off x="0" y="85393"/>
            <a:ext cx="9144000" cy="4972714"/>
          </a:xfrm>
          <a:prstGeom prst="rect">
            <a:avLst/>
          </a:prstGeom>
        </p:spPr>
      </p:pic>
    </p:spTree>
    <p:extLst>
      <p:ext uri="{BB962C8B-B14F-4D97-AF65-F5344CB8AC3E}">
        <p14:creationId xmlns:p14="http://schemas.microsoft.com/office/powerpoint/2010/main" val="8381182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extBox 2">
            <a:extLst>
              <a:ext uri="{FF2B5EF4-FFF2-40B4-BE49-F238E27FC236}">
                <a16:creationId xmlns:a16="http://schemas.microsoft.com/office/drawing/2014/main" id="{A6A43D83-6CC1-0726-2D96-BA9AC0D07833}"/>
              </a:ext>
            </a:extLst>
          </p:cNvPr>
          <p:cNvGraphicFramePr/>
          <p:nvPr>
            <p:extLst>
              <p:ext uri="{D42A27DB-BD31-4B8C-83A1-F6EECF244321}">
                <p14:modId xmlns:p14="http://schemas.microsoft.com/office/powerpoint/2010/main" val="2678367071"/>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01127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71106" y="1784480"/>
            <a:ext cx="2140144" cy="355597"/>
          </a:xfrm>
          <a:custGeom>
            <a:avLst/>
            <a:gdLst/>
            <a:ahLst/>
            <a:cxnLst/>
            <a:rect l="l" t="t" r="r" b="b"/>
            <a:pathLst>
              <a:path w="2140144" h="355597">
                <a:moveTo>
                  <a:pt x="0" y="0"/>
                </a:moveTo>
                <a:lnTo>
                  <a:pt x="2140144" y="0"/>
                </a:lnTo>
                <a:lnTo>
                  <a:pt x="2140144" y="355597"/>
                </a:lnTo>
                <a:lnTo>
                  <a:pt x="0" y="35559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Freeform 8"/>
          <p:cNvSpPr/>
          <p:nvPr/>
        </p:nvSpPr>
        <p:spPr>
          <a:xfrm>
            <a:off x="740664" y="2772156"/>
            <a:ext cx="4032504" cy="2011680"/>
          </a:xfrm>
          <a:custGeom>
            <a:avLst/>
            <a:gdLst/>
            <a:ahLst/>
            <a:cxnLst/>
            <a:rect l="l" t="t" r="r" b="b"/>
            <a:pathLst>
              <a:path w="4032504" h="2011680">
                <a:moveTo>
                  <a:pt x="0" y="0"/>
                </a:moveTo>
                <a:lnTo>
                  <a:pt x="4032504" y="0"/>
                </a:lnTo>
                <a:lnTo>
                  <a:pt x="4032504" y="2011680"/>
                </a:lnTo>
                <a:lnTo>
                  <a:pt x="0" y="2011680"/>
                </a:lnTo>
                <a:lnTo>
                  <a:pt x="0" y="0"/>
                </a:lnTo>
                <a:close/>
              </a:path>
            </a:pathLst>
          </a:custGeom>
          <a:blipFill>
            <a:blip r:embed="rId11"/>
            <a:stretch>
              <a:fillRect/>
            </a:stretch>
          </a:blipFill>
        </p:spPr>
        <p:txBody>
          <a:bodyPr/>
          <a:lstStyle/>
          <a:p>
            <a:endParaRPr lang="en-IN"/>
          </a:p>
        </p:txBody>
      </p:sp>
      <p:sp>
        <p:nvSpPr>
          <p:cNvPr id="9" name="Freeform 9"/>
          <p:cNvSpPr/>
          <p:nvPr/>
        </p:nvSpPr>
        <p:spPr>
          <a:xfrm>
            <a:off x="5237988" y="1516380"/>
            <a:ext cx="3462528" cy="2482596"/>
          </a:xfrm>
          <a:custGeom>
            <a:avLst/>
            <a:gdLst/>
            <a:ahLst/>
            <a:cxnLst/>
            <a:rect l="l" t="t" r="r" b="b"/>
            <a:pathLst>
              <a:path w="3462528" h="2482596">
                <a:moveTo>
                  <a:pt x="0" y="0"/>
                </a:moveTo>
                <a:lnTo>
                  <a:pt x="3462528" y="0"/>
                </a:lnTo>
                <a:lnTo>
                  <a:pt x="3462528" y="2482596"/>
                </a:lnTo>
                <a:lnTo>
                  <a:pt x="0" y="2482596"/>
                </a:lnTo>
                <a:lnTo>
                  <a:pt x="0" y="0"/>
                </a:lnTo>
                <a:close/>
              </a:path>
            </a:pathLst>
          </a:custGeom>
          <a:blipFill>
            <a:blip r:embed="rId12"/>
            <a:stretch>
              <a:fillRect/>
            </a:stretch>
          </a:blipFill>
        </p:spPr>
        <p:txBody>
          <a:bodyPr/>
          <a:lstStyle/>
          <a:p>
            <a:endParaRPr lang="en-IN"/>
          </a:p>
        </p:txBody>
      </p:sp>
      <p:sp>
        <p:nvSpPr>
          <p:cNvPr id="10" name="TextBox 10"/>
          <p:cNvSpPr txBox="1"/>
          <p:nvPr/>
        </p:nvSpPr>
        <p:spPr>
          <a:xfrm>
            <a:off x="295351" y="4645304"/>
            <a:ext cx="104699"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32</a:t>
            </a:r>
          </a:p>
        </p:txBody>
      </p:sp>
      <p:sp>
        <p:nvSpPr>
          <p:cNvPr id="11" name="TextBox 11"/>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2" name="TextBox 12"/>
          <p:cNvSpPr txBox="1"/>
          <p:nvPr/>
        </p:nvSpPr>
        <p:spPr>
          <a:xfrm>
            <a:off x="259385" y="145094"/>
            <a:ext cx="380113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Mean Absolute Error (MAE)</a:t>
            </a:r>
          </a:p>
        </p:txBody>
      </p:sp>
      <p:sp>
        <p:nvSpPr>
          <p:cNvPr id="13" name="TextBox 13"/>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4" name="TextBox 14"/>
          <p:cNvSpPr txBox="1"/>
          <p:nvPr/>
        </p:nvSpPr>
        <p:spPr>
          <a:xfrm>
            <a:off x="534619" y="1017775"/>
            <a:ext cx="3409283" cy="424090"/>
          </a:xfrm>
          <a:prstGeom prst="rect">
            <a:avLst/>
          </a:prstGeom>
        </p:spPr>
        <p:txBody>
          <a:bodyPr lIns="0" tIns="0" rIns="0" bIns="0" rtlCol="0" anchor="t">
            <a:spAutoFit/>
          </a:bodyPr>
          <a:lstStyle/>
          <a:p>
            <a:pPr algn="l">
              <a:lnSpc>
                <a:spcPts val="1704"/>
              </a:lnSpc>
            </a:pPr>
            <a:r>
              <a:rPr lang="en-US" sz="1200" dirty="0">
                <a:solidFill>
                  <a:srgbClr val="000000"/>
                </a:solidFill>
                <a:latin typeface="Aptos" panose="020B0004020202020204" pitchFamily="34" charset="0"/>
                <a:ea typeface="Heading Now 11-18"/>
                <a:cs typeface="Heading Now 11-18"/>
                <a:sym typeface="Heading Now 11-18"/>
              </a:rPr>
              <a:t>MAE: We just look at the absolute difference between data and model’s predictions</a:t>
            </a:r>
          </a:p>
        </p:txBody>
      </p:sp>
      <p:sp>
        <p:nvSpPr>
          <p:cNvPr id="15" name="TextBox 15"/>
          <p:cNvSpPr txBox="1"/>
          <p:nvPr/>
        </p:nvSpPr>
        <p:spPr>
          <a:xfrm>
            <a:off x="534619" y="1694307"/>
            <a:ext cx="2052847" cy="331116"/>
          </a:xfrm>
          <a:prstGeom prst="rect">
            <a:avLst/>
          </a:prstGeom>
        </p:spPr>
        <p:txBody>
          <a:bodyPr lIns="0" tIns="0" rIns="0" bIns="0" rtlCol="0" anchor="t">
            <a:spAutoFit/>
          </a:bodyPr>
          <a:lstStyle/>
          <a:p>
            <a:pPr algn="l">
              <a:lnSpc>
                <a:spcPts val="3000"/>
              </a:lnSpc>
            </a:pPr>
            <a:r>
              <a:rPr lang="en-US" sz="1200" spc="1" dirty="0">
                <a:solidFill>
                  <a:srgbClr val="000000"/>
                </a:solidFill>
                <a:latin typeface="Aptos" panose="020B0004020202020204" pitchFamily="34" charset="0"/>
                <a:ea typeface="Heading Now 11-18"/>
                <a:cs typeface="Heading Now 11-18"/>
                <a:sym typeface="Heading Now 11-18"/>
              </a:rPr>
              <a:t>Lower MAE →Better model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600"/>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1600"/>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sz="1600"/>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sz="1600"/>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sz="1600"/>
          </a:p>
        </p:txBody>
      </p:sp>
      <p:sp>
        <p:nvSpPr>
          <p:cNvPr id="7" name="Freeform 7"/>
          <p:cNvSpPr/>
          <p:nvPr/>
        </p:nvSpPr>
        <p:spPr>
          <a:xfrm>
            <a:off x="4867656" y="847344"/>
            <a:ext cx="4034028" cy="1577340"/>
          </a:xfrm>
          <a:custGeom>
            <a:avLst/>
            <a:gdLst/>
            <a:ahLst/>
            <a:cxnLst/>
            <a:rect l="l" t="t" r="r" b="b"/>
            <a:pathLst>
              <a:path w="4034028" h="1577340">
                <a:moveTo>
                  <a:pt x="0" y="0"/>
                </a:moveTo>
                <a:lnTo>
                  <a:pt x="4034028" y="0"/>
                </a:lnTo>
                <a:lnTo>
                  <a:pt x="4034028" y="1577340"/>
                </a:lnTo>
                <a:lnTo>
                  <a:pt x="0" y="1577340"/>
                </a:lnTo>
                <a:lnTo>
                  <a:pt x="0" y="0"/>
                </a:lnTo>
                <a:close/>
              </a:path>
            </a:pathLst>
          </a:custGeom>
          <a:blipFill>
            <a:blip r:embed="rId9"/>
            <a:stretch>
              <a:fillRect/>
            </a:stretch>
          </a:blipFill>
        </p:spPr>
        <p:txBody>
          <a:bodyPr/>
          <a:lstStyle/>
          <a:p>
            <a:endParaRPr lang="en-IN" sz="1600"/>
          </a:p>
        </p:txBody>
      </p:sp>
      <p:sp>
        <p:nvSpPr>
          <p:cNvPr id="8" name="Freeform 8"/>
          <p:cNvSpPr/>
          <p:nvPr/>
        </p:nvSpPr>
        <p:spPr>
          <a:xfrm>
            <a:off x="4867656" y="2188464"/>
            <a:ext cx="3884676" cy="2645664"/>
          </a:xfrm>
          <a:custGeom>
            <a:avLst/>
            <a:gdLst/>
            <a:ahLst/>
            <a:cxnLst/>
            <a:rect l="l" t="t" r="r" b="b"/>
            <a:pathLst>
              <a:path w="3884676" h="2645664">
                <a:moveTo>
                  <a:pt x="0" y="0"/>
                </a:moveTo>
                <a:lnTo>
                  <a:pt x="3884676" y="0"/>
                </a:lnTo>
                <a:lnTo>
                  <a:pt x="3884676" y="2645664"/>
                </a:lnTo>
                <a:lnTo>
                  <a:pt x="0" y="2645664"/>
                </a:lnTo>
                <a:lnTo>
                  <a:pt x="0" y="0"/>
                </a:lnTo>
                <a:close/>
              </a:path>
            </a:pathLst>
          </a:custGeom>
          <a:blipFill>
            <a:blip r:embed="rId10"/>
            <a:stretch>
              <a:fillRect/>
            </a:stretch>
          </a:blipFill>
        </p:spPr>
        <p:txBody>
          <a:bodyPr/>
          <a:lstStyle/>
          <a:p>
            <a:endParaRPr lang="en-IN" sz="1600"/>
          </a:p>
        </p:txBody>
      </p:sp>
      <p:sp>
        <p:nvSpPr>
          <p:cNvPr id="9" name="TextBox 9"/>
          <p:cNvSpPr txBox="1"/>
          <p:nvPr/>
        </p:nvSpPr>
        <p:spPr>
          <a:xfrm>
            <a:off x="295351" y="4645304"/>
            <a:ext cx="105956" cy="281295"/>
          </a:xfrm>
          <a:prstGeom prst="rect">
            <a:avLst/>
          </a:prstGeom>
        </p:spPr>
        <p:txBody>
          <a:bodyPr lIns="0" tIns="0" rIns="0" bIns="0" rtlCol="0" anchor="t">
            <a:spAutoFit/>
          </a:bodyPr>
          <a:lstStyle/>
          <a:p>
            <a:pPr algn="l">
              <a:lnSpc>
                <a:spcPts val="974"/>
              </a:lnSpc>
            </a:pPr>
            <a:r>
              <a:rPr lang="en-US" sz="1600" dirty="0">
                <a:solidFill>
                  <a:srgbClr val="FFFFFF"/>
                </a:solidFill>
                <a:latin typeface="Aptos" panose="020B0004020202020204" pitchFamily="34" charset="0"/>
                <a:ea typeface="Heading Now 11-18"/>
                <a:cs typeface="Heading Now 11-18"/>
                <a:sym typeface="Heading Now 11-18"/>
              </a:rPr>
              <a:t>33</a:t>
            </a:r>
          </a:p>
        </p:txBody>
      </p:sp>
      <p:sp>
        <p:nvSpPr>
          <p:cNvPr id="10" name="TextBox 10"/>
          <p:cNvSpPr txBox="1"/>
          <p:nvPr/>
        </p:nvSpPr>
        <p:spPr>
          <a:xfrm>
            <a:off x="3831593" y="4698644"/>
            <a:ext cx="1643977" cy="409536"/>
          </a:xfrm>
          <a:prstGeom prst="rect">
            <a:avLst/>
          </a:prstGeom>
        </p:spPr>
        <p:txBody>
          <a:bodyPr lIns="0" tIns="0" rIns="0" bIns="0" rtlCol="0" anchor="t">
            <a:spAutoFit/>
          </a:bodyPr>
          <a:lstStyle/>
          <a:p>
            <a:pPr algn="l">
              <a:lnSpc>
                <a:spcPts val="974"/>
              </a:lnSpc>
            </a:pPr>
            <a:r>
              <a:rPr lang="en-US" sz="1600" spc="1" dirty="0">
                <a:solidFill>
                  <a:srgbClr val="7F7F7F"/>
                </a:solidFill>
                <a:latin typeface="Aptos" panose="020B0004020202020204" pitchFamily="34" charset="0"/>
                <a:ea typeface="Heading Now 11-18"/>
                <a:cs typeface="Heading Now 11-18"/>
                <a:sym typeface="Heading Now 11-18"/>
              </a:rPr>
              <a:t>Copyright © 2022 </a:t>
            </a:r>
            <a:r>
              <a:rPr lang="en-US" sz="1600" spc="1" dirty="0" err="1">
                <a:solidFill>
                  <a:srgbClr val="7F7F7F"/>
                </a:solidFill>
                <a:latin typeface="Aptos" panose="020B0004020202020204" pitchFamily="34" charset="0"/>
                <a:ea typeface="Heading Now 11-18"/>
                <a:cs typeface="Heading Now 11-18"/>
                <a:sym typeface="Heading Now 11-18"/>
              </a:rPr>
              <a:t>TalentLabs</a:t>
            </a:r>
            <a:r>
              <a:rPr lang="en-US" sz="1600"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3679803" cy="325602"/>
          </a:xfrm>
          <a:prstGeom prst="rect">
            <a:avLst/>
          </a:prstGeom>
        </p:spPr>
        <p:txBody>
          <a:bodyPr lIns="0" tIns="0" rIns="0" bIns="0" rtlCol="0" anchor="t">
            <a:spAutoFit/>
          </a:bodyPr>
          <a:lstStyle/>
          <a:p>
            <a:pPr algn="l">
              <a:lnSpc>
                <a:spcPts val="2940"/>
              </a:lnSpc>
            </a:pPr>
            <a:r>
              <a:rPr lang="en-US" sz="1600" b="1" dirty="0">
                <a:solidFill>
                  <a:srgbClr val="000000"/>
                </a:solidFill>
                <a:latin typeface="Arial" panose="020B0604020202020204" pitchFamily="34" charset="0"/>
                <a:ea typeface="29LT Bukra Bold"/>
                <a:cs typeface="Arial" panose="020B0604020202020204" pitchFamily="34" charset="0"/>
                <a:sym typeface="29LT Bukra Bold"/>
              </a:rPr>
              <a:t>Mean Squared Error (MSE)</a:t>
            </a:r>
          </a:p>
        </p:txBody>
      </p:sp>
      <p:sp>
        <p:nvSpPr>
          <p:cNvPr id="12" name="TextBox 12"/>
          <p:cNvSpPr txBox="1"/>
          <p:nvPr/>
        </p:nvSpPr>
        <p:spPr>
          <a:xfrm>
            <a:off x="7499347" y="4793875"/>
            <a:ext cx="1578264" cy="495520"/>
          </a:xfrm>
          <a:prstGeom prst="rect">
            <a:avLst/>
          </a:prstGeom>
        </p:spPr>
        <p:txBody>
          <a:bodyPr lIns="0" tIns="0" rIns="0" bIns="0" rtlCol="0" anchor="t">
            <a:spAutoFit/>
          </a:bodyPr>
          <a:lstStyle/>
          <a:p>
            <a:pPr algn="l">
              <a:lnSpc>
                <a:spcPts val="1968"/>
              </a:lnSpc>
            </a:pPr>
            <a:r>
              <a:rPr lang="en-US" sz="1600">
                <a:solidFill>
                  <a:srgbClr val="000000"/>
                </a:solidFill>
                <a:latin typeface="Arial"/>
                <a:ea typeface="Arial"/>
                <a:cs typeface="Arial"/>
                <a:sym typeface="Arial"/>
              </a:rPr>
              <a:t>© zepanalytics.com</a:t>
            </a:r>
          </a:p>
        </p:txBody>
      </p:sp>
      <p:sp>
        <p:nvSpPr>
          <p:cNvPr id="13" name="TextBox 13"/>
          <p:cNvSpPr txBox="1"/>
          <p:nvPr/>
        </p:nvSpPr>
        <p:spPr>
          <a:xfrm>
            <a:off x="333756" y="1341120"/>
            <a:ext cx="4498667" cy="2182457"/>
          </a:xfrm>
          <a:prstGeom prst="rect">
            <a:avLst/>
          </a:prstGeom>
        </p:spPr>
        <p:txBody>
          <a:bodyPr lIns="0" tIns="0" rIns="0" bIns="0" rtlCol="0" anchor="t">
            <a:spAutoFit/>
          </a:bodyPr>
          <a:lstStyle/>
          <a:p>
            <a:pPr algn="l">
              <a:lnSpc>
                <a:spcPts val="1701"/>
              </a:lnSpc>
            </a:pPr>
            <a:r>
              <a:rPr lang="en-US" sz="1600" spc="1" dirty="0">
                <a:solidFill>
                  <a:srgbClr val="000000"/>
                </a:solidFill>
                <a:latin typeface="Aptos" panose="020B0004020202020204" pitchFamily="34" charset="0"/>
                <a:ea typeface="Heading Now 11-18"/>
                <a:cs typeface="Heading Now 11-18"/>
                <a:sym typeface="Heading Now 11-18"/>
              </a:rPr>
              <a:t>MSE is going to be a huge number because of squaring, hence, we can’t compare it with MAE. This ultimately means that outliers in our data will contribute to much higher total error in the MSE than they would the MAE. Similarly, our model will be penalized more for making predictions that differ greatly from the corresponding actual value. This is to say that large differences between actual and predicted are punished more in MSE than in MAE.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026657" y="916429"/>
            <a:ext cx="3555997" cy="3930901"/>
          </a:xfrm>
          <a:custGeom>
            <a:avLst/>
            <a:gdLst/>
            <a:ahLst/>
            <a:cxnLst/>
            <a:rect l="l" t="t" r="r" b="b"/>
            <a:pathLst>
              <a:path w="3555997" h="3930901">
                <a:moveTo>
                  <a:pt x="0" y="0"/>
                </a:moveTo>
                <a:lnTo>
                  <a:pt x="3555997" y="0"/>
                </a:lnTo>
                <a:lnTo>
                  <a:pt x="3555997" y="3930901"/>
                </a:lnTo>
                <a:lnTo>
                  <a:pt x="0" y="393090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3827" y="4645304"/>
            <a:ext cx="10956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34</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556027"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Root Mean Squared Error (RMSE)</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548640" y="1255014"/>
            <a:ext cx="1909677"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RMSE = Square root(MSE)</a:t>
            </a:r>
          </a:p>
        </p:txBody>
      </p:sp>
      <p:sp>
        <p:nvSpPr>
          <p:cNvPr id="13" name="TextBox 13"/>
          <p:cNvSpPr txBox="1"/>
          <p:nvPr/>
        </p:nvSpPr>
        <p:spPr>
          <a:xfrm>
            <a:off x="548640" y="1838706"/>
            <a:ext cx="4241082" cy="1677038"/>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As the name suggests, it is the square root of the MSE. </a:t>
            </a:r>
          </a:p>
          <a:p>
            <a:pPr algn="l">
              <a:lnSpc>
                <a:spcPts val="600"/>
              </a:lnSpc>
            </a:pPr>
            <a:r>
              <a:rPr lang="en-US" sz="1200" b="1">
                <a:solidFill>
                  <a:srgbClr val="000000"/>
                </a:solidFill>
                <a:latin typeface="29LT Bukra Medium"/>
                <a:ea typeface="29LT Bukra Medium"/>
                <a:cs typeface="29LT Bukra Medium"/>
                <a:sym typeface="29LT Bukra Medium"/>
              </a:rPr>
              <a:t>Because the MSE is squared, its units do not match </a:t>
            </a:r>
          </a:p>
          <a:p>
            <a:pPr algn="l">
              <a:lnSpc>
                <a:spcPts val="2808"/>
              </a:lnSpc>
            </a:pPr>
            <a:r>
              <a:rPr lang="en-US" sz="1200" b="1">
                <a:solidFill>
                  <a:srgbClr val="000000"/>
                </a:solidFill>
                <a:latin typeface="29LT Bukra Medium"/>
                <a:ea typeface="29LT Bukra Medium"/>
                <a:cs typeface="29LT Bukra Medium"/>
                <a:sym typeface="29LT Bukra Medium"/>
              </a:rPr>
              <a:t>that of the original output. Researchers will often use </a:t>
            </a:r>
          </a:p>
          <a:p>
            <a:pPr algn="l">
              <a:lnSpc>
                <a:spcPts val="600"/>
              </a:lnSpc>
            </a:pPr>
            <a:r>
              <a:rPr lang="en-US" sz="1200" b="1">
                <a:solidFill>
                  <a:srgbClr val="000000"/>
                </a:solidFill>
                <a:latin typeface="29LT Bukra Medium"/>
                <a:ea typeface="29LT Bukra Medium"/>
                <a:cs typeface="29LT Bukra Medium"/>
                <a:sym typeface="29LT Bukra Medium"/>
              </a:rPr>
              <a:t>RMSE to convert the error metric back into similar units, </a:t>
            </a:r>
          </a:p>
          <a:p>
            <a:pPr algn="l">
              <a:lnSpc>
                <a:spcPts val="2808"/>
              </a:lnSpc>
            </a:pPr>
            <a:r>
              <a:rPr lang="en-US" sz="1200" b="1">
                <a:solidFill>
                  <a:srgbClr val="000000"/>
                </a:solidFill>
                <a:latin typeface="29LT Bukra Medium"/>
                <a:ea typeface="29LT Bukra Medium"/>
                <a:cs typeface="29LT Bukra Medium"/>
                <a:sym typeface="29LT Bukra Medium"/>
              </a:rPr>
              <a:t>making interpretation easier. Since the MSE and RMSE </a:t>
            </a:r>
          </a:p>
          <a:p>
            <a:pPr algn="l">
              <a:lnSpc>
                <a:spcPts val="600"/>
              </a:lnSpc>
            </a:pPr>
            <a:r>
              <a:rPr lang="en-US" sz="1200" b="1">
                <a:solidFill>
                  <a:srgbClr val="000000"/>
                </a:solidFill>
                <a:latin typeface="29LT Bukra Medium"/>
                <a:ea typeface="29LT Bukra Medium"/>
                <a:cs typeface="29LT Bukra Medium"/>
                <a:sym typeface="29LT Bukra Medium"/>
              </a:rPr>
              <a:t>both square the residual, they are similarly affected by </a:t>
            </a:r>
          </a:p>
          <a:p>
            <a:pPr algn="l">
              <a:lnSpc>
                <a:spcPts val="2814"/>
              </a:lnSpc>
            </a:pPr>
            <a:r>
              <a:rPr lang="en-US" sz="1200" b="1">
                <a:solidFill>
                  <a:srgbClr val="000000"/>
                </a:solidFill>
                <a:latin typeface="29LT Bukra Medium"/>
                <a:ea typeface="29LT Bukra Medium"/>
                <a:cs typeface="29LT Bukra Medium"/>
                <a:sym typeface="29LT Bukra Medium"/>
              </a:rPr>
              <a:t>outliers.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821006-54F3-5207-A9FB-3C3A601781CF}"/>
              </a:ext>
            </a:extLst>
          </p:cNvPr>
          <p:cNvPicPr>
            <a:picLocks noChangeAspect="1"/>
          </p:cNvPicPr>
          <p:nvPr/>
        </p:nvPicPr>
        <p:blipFill>
          <a:blip r:embed="rId2"/>
          <a:stretch>
            <a:fillRect/>
          </a:stretch>
        </p:blipFill>
        <p:spPr>
          <a:xfrm>
            <a:off x="0" y="130461"/>
            <a:ext cx="9144000" cy="4882578"/>
          </a:xfrm>
          <a:prstGeom prst="rect">
            <a:avLst/>
          </a:prstGeom>
        </p:spPr>
      </p:pic>
    </p:spTree>
    <p:extLst>
      <p:ext uri="{BB962C8B-B14F-4D97-AF65-F5344CB8AC3E}">
        <p14:creationId xmlns:p14="http://schemas.microsoft.com/office/powerpoint/2010/main" val="17385724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5FA649-1207-E47E-EC5F-9A4590A51A15}"/>
              </a:ext>
            </a:extLst>
          </p:cNvPr>
          <p:cNvSpPr txBox="1"/>
          <p:nvPr/>
        </p:nvSpPr>
        <p:spPr>
          <a:xfrm>
            <a:off x="524784" y="186028"/>
            <a:ext cx="5297791" cy="8694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kern="1200">
                <a:solidFill>
                  <a:srgbClr val="FFFFFF"/>
                </a:solidFill>
                <a:latin typeface="+mj-lt"/>
                <a:ea typeface="+mj-ea"/>
                <a:cs typeface="+mj-cs"/>
              </a:rPr>
              <a:t>Advantage and Disadvantage of Regression Metrics</a:t>
            </a:r>
          </a:p>
        </p:txBody>
      </p:sp>
      <p:graphicFrame>
        <p:nvGraphicFramePr>
          <p:cNvPr id="2" name="Table 1">
            <a:extLst>
              <a:ext uri="{FF2B5EF4-FFF2-40B4-BE49-F238E27FC236}">
                <a16:creationId xmlns:a16="http://schemas.microsoft.com/office/drawing/2014/main" id="{ABD2803C-CB70-CC53-B2D9-F73FC33D921B}"/>
              </a:ext>
            </a:extLst>
          </p:cNvPr>
          <p:cNvGraphicFramePr>
            <a:graphicFrameLocks noGrp="1"/>
          </p:cNvGraphicFramePr>
          <p:nvPr>
            <p:extLst>
              <p:ext uri="{D42A27DB-BD31-4B8C-83A1-F6EECF244321}">
                <p14:modId xmlns:p14="http://schemas.microsoft.com/office/powerpoint/2010/main" val="2014543707"/>
              </p:ext>
            </p:extLst>
          </p:nvPr>
        </p:nvGraphicFramePr>
        <p:xfrm>
          <a:off x="1063847" y="1474719"/>
          <a:ext cx="7016305" cy="3537331"/>
        </p:xfrm>
        <a:graphic>
          <a:graphicData uri="http://schemas.openxmlformats.org/drawingml/2006/table">
            <a:tbl>
              <a:tblPr firstRow="1" bandRow="1">
                <a:noFill/>
              </a:tblPr>
              <a:tblGrid>
                <a:gridCol w="2200390">
                  <a:extLst>
                    <a:ext uri="{9D8B030D-6E8A-4147-A177-3AD203B41FA5}">
                      <a16:colId xmlns:a16="http://schemas.microsoft.com/office/drawing/2014/main" val="3469322753"/>
                    </a:ext>
                  </a:extLst>
                </a:gridCol>
                <a:gridCol w="2396311">
                  <a:extLst>
                    <a:ext uri="{9D8B030D-6E8A-4147-A177-3AD203B41FA5}">
                      <a16:colId xmlns:a16="http://schemas.microsoft.com/office/drawing/2014/main" val="112939544"/>
                    </a:ext>
                  </a:extLst>
                </a:gridCol>
                <a:gridCol w="2419604">
                  <a:extLst>
                    <a:ext uri="{9D8B030D-6E8A-4147-A177-3AD203B41FA5}">
                      <a16:colId xmlns:a16="http://schemas.microsoft.com/office/drawing/2014/main" val="1415271718"/>
                    </a:ext>
                  </a:extLst>
                </a:gridCol>
              </a:tblGrid>
              <a:tr h="470763">
                <a:tc>
                  <a:txBody>
                    <a:bodyPr/>
                    <a:lstStyle/>
                    <a:p>
                      <a:pPr>
                        <a:buNone/>
                      </a:pPr>
                      <a:r>
                        <a:rPr lang="en-IN" sz="1400" b="1" cap="none" spc="0">
                          <a:solidFill>
                            <a:srgbClr val="FFFFFF"/>
                          </a:solidFill>
                        </a:rPr>
                        <a:t>Metric</a:t>
                      </a:r>
                    </a:p>
                  </a:txBody>
                  <a:tcPr marL="192959" marR="115776" marT="115776" marB="115776"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IN" sz="1400" b="1" cap="none" spc="0">
                          <a:solidFill>
                            <a:srgbClr val="FFFFFF"/>
                          </a:solidFill>
                        </a:rPr>
                        <a:t>Advantages</a:t>
                      </a:r>
                    </a:p>
                  </a:txBody>
                  <a:tcPr marL="192959" marR="115776" marT="115776" marB="115776"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IN" sz="1400" b="1" cap="none" spc="0">
                          <a:solidFill>
                            <a:srgbClr val="FFFFFF"/>
                          </a:solidFill>
                        </a:rPr>
                        <a:t>Disadvantages</a:t>
                      </a:r>
                    </a:p>
                  </a:txBody>
                  <a:tcPr marL="192959" marR="115776" marT="115776" marB="115776"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2804669705"/>
                  </a:ext>
                </a:extLst>
              </a:tr>
              <a:tr h="1094793">
                <a:tc>
                  <a:txBody>
                    <a:bodyPr/>
                    <a:lstStyle/>
                    <a:p>
                      <a:pPr>
                        <a:buNone/>
                      </a:pPr>
                      <a:r>
                        <a:rPr lang="en-IN" sz="1400" b="1" cap="none" spc="0" dirty="0">
                          <a:solidFill>
                            <a:schemeClr val="tx1">
                              <a:lumMod val="85000"/>
                              <a:lumOff val="15000"/>
                            </a:schemeClr>
                          </a:solidFill>
                        </a:rPr>
                        <a:t>MAE (Mean Absolute Error)</a:t>
                      </a:r>
                      <a:endParaRPr lang="en-IN" sz="1400" cap="none" spc="0" dirty="0">
                        <a:solidFill>
                          <a:schemeClr val="tx1">
                            <a:lumMod val="85000"/>
                            <a:lumOff val="15000"/>
                          </a:schemeClr>
                        </a:solidFill>
                      </a:endParaRPr>
                    </a:p>
                  </a:txBody>
                  <a:tcPr marL="192959" marR="115776" marT="115776" marB="11577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285750" indent="-285750">
                        <a:buFontTx/>
                        <a:buChar char="-"/>
                      </a:pPr>
                      <a:r>
                        <a:rPr lang="en-US" sz="1400" cap="none" spc="0">
                          <a:solidFill>
                            <a:schemeClr val="tx1">
                              <a:lumMod val="85000"/>
                              <a:lumOff val="15000"/>
                            </a:schemeClr>
                          </a:solidFill>
                        </a:rPr>
                        <a:t>Easy to interpret</a:t>
                      </a:r>
                    </a:p>
                    <a:p>
                      <a:pPr marL="285750" indent="-285750">
                        <a:buFontTx/>
                        <a:buChar char="-"/>
                      </a:pPr>
                      <a:r>
                        <a:rPr lang="en-US" sz="1400" cap="none" spc="0">
                          <a:solidFill>
                            <a:schemeClr val="tx1">
                              <a:lumMod val="85000"/>
                              <a:lumOff val="15000"/>
                            </a:schemeClr>
                          </a:solidFill>
                        </a:rPr>
                        <a:t> Less sensitive to outliers</a:t>
                      </a:r>
                    </a:p>
                  </a:txBody>
                  <a:tcPr marL="192959" marR="115776" marT="115776" marB="11577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285750" indent="-285750">
                        <a:buFontTx/>
                        <a:buChar char="-"/>
                      </a:pPr>
                      <a:r>
                        <a:rPr lang="en-US" sz="1400" cap="none" spc="0">
                          <a:solidFill>
                            <a:schemeClr val="tx1">
                              <a:lumMod val="85000"/>
                              <a:lumOff val="15000"/>
                            </a:schemeClr>
                          </a:solidFill>
                        </a:rPr>
                        <a:t>Treats all errors equally</a:t>
                      </a:r>
                    </a:p>
                    <a:p>
                      <a:pPr marL="285750" indent="-285750">
                        <a:buFontTx/>
                        <a:buChar char="-"/>
                      </a:pPr>
                      <a:endParaRPr lang="en-US" sz="1400" cap="none" spc="0">
                        <a:solidFill>
                          <a:schemeClr val="tx1">
                            <a:lumMod val="85000"/>
                            <a:lumOff val="15000"/>
                          </a:schemeClr>
                        </a:solidFill>
                      </a:endParaRPr>
                    </a:p>
                    <a:p>
                      <a:pPr marL="285750" indent="-285750">
                        <a:buFontTx/>
                        <a:buChar char="-"/>
                      </a:pPr>
                      <a:r>
                        <a:rPr lang="en-US" sz="1400" cap="none" spc="0">
                          <a:solidFill>
                            <a:schemeClr val="tx1">
                              <a:lumMod val="85000"/>
                              <a:lumOff val="15000"/>
                            </a:schemeClr>
                          </a:solidFill>
                        </a:rPr>
                        <a:t>Not differentiable at zero</a:t>
                      </a:r>
                    </a:p>
                  </a:txBody>
                  <a:tcPr marL="192959" marR="115776" marT="115776" marB="11577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523315356"/>
                  </a:ext>
                </a:extLst>
              </a:tr>
              <a:tr h="886783">
                <a:tc>
                  <a:txBody>
                    <a:bodyPr/>
                    <a:lstStyle/>
                    <a:p>
                      <a:pPr>
                        <a:buNone/>
                      </a:pPr>
                      <a:r>
                        <a:rPr lang="en-IN" sz="1400" b="1" cap="none" spc="0">
                          <a:solidFill>
                            <a:schemeClr val="tx1">
                              <a:lumMod val="85000"/>
                              <a:lumOff val="15000"/>
                            </a:schemeClr>
                          </a:solidFill>
                        </a:rPr>
                        <a:t>MSE (Mean Squared Error)</a:t>
                      </a:r>
                      <a:endParaRPr lang="en-IN" sz="1400" cap="none" spc="0">
                        <a:solidFill>
                          <a:schemeClr val="tx1">
                            <a:lumMod val="85000"/>
                            <a:lumOff val="15000"/>
                          </a:schemeClr>
                        </a:solidFill>
                      </a:endParaRPr>
                    </a:p>
                  </a:txBody>
                  <a:tcPr marL="192959" marR="115776" marT="115776" marB="11577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285750" indent="-285750">
                        <a:buFontTx/>
                        <a:buChar char="-"/>
                      </a:pPr>
                      <a:r>
                        <a:rPr lang="en-US" sz="1400" cap="none" spc="0">
                          <a:solidFill>
                            <a:schemeClr val="tx1">
                              <a:lumMod val="85000"/>
                              <a:lumOff val="15000"/>
                            </a:schemeClr>
                          </a:solidFill>
                        </a:rPr>
                        <a:t>Penalizes large errors more</a:t>
                      </a:r>
                    </a:p>
                    <a:p>
                      <a:pPr marL="285750" indent="-285750">
                        <a:buFontTx/>
                        <a:buChar char="-"/>
                      </a:pPr>
                      <a:r>
                        <a:rPr lang="en-US" sz="1400" cap="none" spc="0">
                          <a:solidFill>
                            <a:schemeClr val="tx1">
                              <a:lumMod val="85000"/>
                              <a:lumOff val="15000"/>
                            </a:schemeClr>
                          </a:solidFill>
                        </a:rPr>
                        <a:t>Smooth for optimization</a:t>
                      </a:r>
                    </a:p>
                  </a:txBody>
                  <a:tcPr marL="192959" marR="115776" marT="115776" marB="11577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285750" indent="-285750">
                        <a:buFontTx/>
                        <a:buChar char="-"/>
                      </a:pPr>
                      <a:r>
                        <a:rPr lang="en-US" sz="1400" cap="none" spc="0">
                          <a:solidFill>
                            <a:schemeClr val="tx1">
                              <a:lumMod val="85000"/>
                              <a:lumOff val="15000"/>
                            </a:schemeClr>
                          </a:solidFill>
                        </a:rPr>
                        <a:t>Sensitive to outliers</a:t>
                      </a:r>
                    </a:p>
                    <a:p>
                      <a:pPr marL="285750" indent="-285750">
                        <a:buFontTx/>
                        <a:buChar char="-"/>
                      </a:pPr>
                      <a:r>
                        <a:rPr lang="en-US" sz="1400" cap="none" spc="0">
                          <a:solidFill>
                            <a:schemeClr val="tx1">
                              <a:lumMod val="85000"/>
                              <a:lumOff val="15000"/>
                            </a:schemeClr>
                          </a:solidFill>
                        </a:rPr>
                        <a:t>Harder to interpret (squared units)</a:t>
                      </a:r>
                    </a:p>
                  </a:txBody>
                  <a:tcPr marL="192959" marR="115776" marT="115776" marB="11577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279729793"/>
                  </a:ext>
                </a:extLst>
              </a:tr>
              <a:tr h="886783">
                <a:tc>
                  <a:txBody>
                    <a:bodyPr/>
                    <a:lstStyle/>
                    <a:p>
                      <a:pPr>
                        <a:buNone/>
                      </a:pPr>
                      <a:r>
                        <a:rPr lang="en-US" sz="1400" b="1" cap="none" spc="0">
                          <a:solidFill>
                            <a:schemeClr val="tx1">
                              <a:lumMod val="85000"/>
                              <a:lumOff val="15000"/>
                            </a:schemeClr>
                          </a:solidFill>
                        </a:rPr>
                        <a:t>RMSE (Root Mean Squared Error)</a:t>
                      </a:r>
                      <a:endParaRPr lang="en-US" sz="1400" cap="none" spc="0">
                        <a:solidFill>
                          <a:schemeClr val="tx1">
                            <a:lumMod val="85000"/>
                            <a:lumOff val="15000"/>
                          </a:schemeClr>
                        </a:solidFill>
                      </a:endParaRPr>
                    </a:p>
                  </a:txBody>
                  <a:tcPr marL="192959" marR="115776" marT="115776" marB="11577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marL="285750" indent="-285750">
                        <a:buFontTx/>
                        <a:buChar char="-"/>
                      </a:pPr>
                      <a:r>
                        <a:rPr lang="en-US" sz="1400" cap="none" spc="0">
                          <a:solidFill>
                            <a:schemeClr val="tx1">
                              <a:lumMod val="85000"/>
                              <a:lumOff val="15000"/>
                            </a:schemeClr>
                          </a:solidFill>
                        </a:rPr>
                        <a:t>Same units as target</a:t>
                      </a:r>
                    </a:p>
                    <a:p>
                      <a:pPr marL="285750" indent="-285750">
                        <a:buFontTx/>
                        <a:buChar char="-"/>
                      </a:pPr>
                      <a:r>
                        <a:rPr lang="en-US" sz="1400" cap="none" spc="0">
                          <a:solidFill>
                            <a:schemeClr val="tx1">
                              <a:lumMod val="85000"/>
                              <a:lumOff val="15000"/>
                            </a:schemeClr>
                          </a:solidFill>
                        </a:rPr>
                        <a:t>Highlights large errors</a:t>
                      </a:r>
                    </a:p>
                  </a:txBody>
                  <a:tcPr marL="192959" marR="115776" marT="115776" marB="11577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marL="285750" indent="-285750">
                        <a:buFontTx/>
                        <a:buChar char="-"/>
                      </a:pPr>
                      <a:r>
                        <a:rPr lang="en-US" sz="1400" cap="none" spc="0" dirty="0">
                          <a:solidFill>
                            <a:schemeClr val="tx1">
                              <a:lumMod val="85000"/>
                              <a:lumOff val="15000"/>
                            </a:schemeClr>
                          </a:solidFill>
                        </a:rPr>
                        <a:t>Still sensitive to outliers</a:t>
                      </a:r>
                    </a:p>
                    <a:p>
                      <a:pPr marL="285750" indent="-285750">
                        <a:buFontTx/>
                        <a:buChar char="-"/>
                      </a:pPr>
                      <a:r>
                        <a:rPr lang="en-US" sz="1400" cap="none" spc="0" dirty="0">
                          <a:solidFill>
                            <a:schemeClr val="tx1">
                              <a:lumMod val="85000"/>
                              <a:lumOff val="15000"/>
                            </a:schemeClr>
                          </a:solidFill>
                        </a:rPr>
                        <a:t>Can be misleading with mixed error sizes</a:t>
                      </a:r>
                    </a:p>
                  </a:txBody>
                  <a:tcPr marL="192959" marR="115776" marT="115776" marB="11577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3271040381"/>
                  </a:ext>
                </a:extLst>
              </a:tr>
            </a:tbl>
          </a:graphicData>
        </a:graphic>
      </p:graphicFrame>
    </p:spTree>
    <p:extLst>
      <p:ext uri="{BB962C8B-B14F-4D97-AF65-F5344CB8AC3E}">
        <p14:creationId xmlns:p14="http://schemas.microsoft.com/office/powerpoint/2010/main" val="23828444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96D61D-D900-E490-9E67-801883F34D69}"/>
              </a:ext>
            </a:extLst>
          </p:cNvPr>
          <p:cNvSpPr txBox="1"/>
          <p:nvPr/>
        </p:nvSpPr>
        <p:spPr>
          <a:xfrm>
            <a:off x="867638" y="478321"/>
            <a:ext cx="7416372" cy="675098"/>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000" b="1" kern="1200" dirty="0">
                <a:solidFill>
                  <a:schemeClr val="bg1"/>
                </a:solidFill>
                <a:latin typeface="+mj-lt"/>
                <a:ea typeface="+mj-ea"/>
                <a:cs typeface="+mj-cs"/>
              </a:rPr>
              <a:t> 			R-squared (R²)</a:t>
            </a:r>
          </a:p>
          <a:p>
            <a:pPr>
              <a:lnSpc>
                <a:spcPct val="90000"/>
              </a:lnSpc>
              <a:spcBef>
                <a:spcPct val="0"/>
              </a:spcBef>
              <a:spcAft>
                <a:spcPts val="600"/>
              </a:spcAft>
            </a:pPr>
            <a:endParaRPr lang="en-US" sz="3000" kern="1200" dirty="0">
              <a:solidFill>
                <a:schemeClr val="bg1"/>
              </a:solidFill>
              <a:latin typeface="+mj-lt"/>
              <a:ea typeface="+mj-ea"/>
              <a:cs typeface="+mj-cs"/>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6D7BC08-8345-4C24-B7A7-89DE48A5D2BB}"/>
                  </a:ext>
                </a:extLst>
              </p:cNvPr>
              <p:cNvSpPr txBox="1"/>
              <p:nvPr/>
            </p:nvSpPr>
            <p:spPr>
              <a:xfrm>
                <a:off x="866661" y="1663006"/>
                <a:ext cx="7410669" cy="3446203"/>
              </a:xfrm>
              <a:prstGeom prst="rect">
                <a:avLst/>
              </a:prstGeom>
            </p:spPr>
            <p:txBody>
              <a:bodyPr vert="horz" lIns="91440" tIns="45720" rIns="91440" bIns="45720" rtlCol="0">
                <a:noAutofit/>
              </a:bodyPr>
              <a:lstStyle/>
              <a:p>
                <a:pPr>
                  <a:lnSpc>
                    <a:spcPct val="90000"/>
                  </a:lnSpc>
                  <a:spcAft>
                    <a:spcPts val="600"/>
                  </a:spcAft>
                </a:pPr>
                <a:r>
                  <a:rPr lang="en-US" sz="1200" b="1" dirty="0"/>
                  <a:t>R-squared (R²), </a:t>
                </a:r>
                <a:r>
                  <a:rPr lang="en-US" sz="1200" dirty="0"/>
                  <a:t>also known as the  </a:t>
                </a:r>
                <a:r>
                  <a:rPr lang="en-US" sz="1200" b="1" dirty="0"/>
                  <a:t>coefficient of determination</a:t>
                </a:r>
                <a:r>
                  <a:rPr lang="en-US" sz="1200" dirty="0"/>
                  <a:t>, is a key statistical measure used in regression analysis to evaluate how well a model explains the variability of the dependent variable. Here's a breakdown of what it means and how it's used:</a:t>
                </a:r>
              </a:p>
              <a:p>
                <a:pPr>
                  <a:lnSpc>
                    <a:spcPct val="90000"/>
                  </a:lnSpc>
                  <a:spcAft>
                    <a:spcPts val="600"/>
                  </a:spcAft>
                </a:pPr>
                <a:r>
                  <a:rPr lang="en-US" sz="1200" b="1" dirty="0"/>
                  <a:t>What R² Represents</a:t>
                </a:r>
              </a:p>
              <a:p>
                <a:pPr>
                  <a:lnSpc>
                    <a:spcPct val="90000"/>
                  </a:lnSpc>
                  <a:spcAft>
                    <a:spcPts val="600"/>
                  </a:spcAft>
                </a:pPr>
                <a:r>
                  <a:rPr lang="en-US" sz="1200" dirty="0"/>
                  <a:t>Proportion of explained variance: R² indicates the percentage of the variance in the dependent variable that is predictable from the independent variable(s).</a:t>
                </a:r>
              </a:p>
              <a:p>
                <a:pPr>
                  <a:lnSpc>
                    <a:spcPct val="90000"/>
                  </a:lnSpc>
                  <a:spcAft>
                    <a:spcPts val="600"/>
                  </a:spcAft>
                </a:pPr>
                <a:r>
                  <a:rPr lang="en-US" sz="1200" dirty="0"/>
                  <a:t>Scale  It ranges from 0 to 1:</a:t>
                </a:r>
              </a:p>
              <a:p>
                <a:pPr>
                  <a:lnSpc>
                    <a:spcPct val="90000"/>
                  </a:lnSpc>
                  <a:spcAft>
                    <a:spcPts val="600"/>
                  </a:spcAft>
                </a:pPr>
                <a:r>
                  <a:rPr lang="en-US" sz="1200" dirty="0"/>
                  <a:t>  - 0  means the model explains none of the variability.</a:t>
                </a:r>
              </a:p>
              <a:p>
                <a:pPr>
                  <a:lnSpc>
                    <a:spcPct val="90000"/>
                  </a:lnSpc>
                  <a:spcAft>
                    <a:spcPts val="600"/>
                  </a:spcAft>
                </a:pPr>
                <a:r>
                  <a:rPr lang="en-US" sz="1200" dirty="0"/>
                  <a:t>  - 1  means the model explains all the variability perfectly.</a:t>
                </a:r>
              </a:p>
              <a:p>
                <a:pPr>
                  <a:lnSpc>
                    <a:spcPct val="90000"/>
                  </a:lnSpc>
                  <a:spcAft>
                    <a:spcPts val="600"/>
                  </a:spcAft>
                </a:pPr>
                <a:r>
                  <a:rPr lang="en-US" sz="1200" b="1" dirty="0"/>
                  <a:t>Formula</a:t>
                </a:r>
              </a:p>
              <a:p>
                <a:pPr>
                  <a:lnSpc>
                    <a:spcPct val="90000"/>
                  </a:lnSpc>
                  <a:spcAft>
                    <a:spcPts val="600"/>
                  </a:spcAft>
                </a:pPr>
                <a:r>
                  <a:rPr lang="en-US" sz="1200" dirty="0"/>
                  <a:t>The most common formula is:</a:t>
                </a:r>
              </a:p>
              <a:p>
                <a:pPr>
                  <a:lnSpc>
                    <a:spcPct val="90000"/>
                  </a:lnSpc>
                  <a:spcAft>
                    <a:spcPts val="600"/>
                  </a:spcAft>
                </a:pPr>
                <a:r>
                  <a:rPr lang="en-US" sz="1200" b="1" dirty="0"/>
                  <a:t> </a:t>
                </a:r>
                <a14:m>
                  <m:oMath xmlns:m="http://schemas.openxmlformats.org/officeDocument/2006/math">
                    <m:sSup>
                      <m:sSupPr>
                        <m:ctrlPr>
                          <a:rPr lang="en-US" sz="1200" b="1" i="1">
                            <a:latin typeface="Cambria Math" panose="02040503050406030204" pitchFamily="18" charset="0"/>
                          </a:rPr>
                        </m:ctrlPr>
                      </m:sSupPr>
                      <m:e>
                        <m:r>
                          <a:rPr lang="en-US" sz="1200" b="1" i="1">
                            <a:latin typeface="Cambria Math" panose="02040503050406030204" pitchFamily="18" charset="0"/>
                          </a:rPr>
                          <m:t>𝑹</m:t>
                        </m:r>
                      </m:e>
                      <m:sup>
                        <m:r>
                          <a:rPr lang="en-US" sz="1200" b="1" i="1">
                            <a:latin typeface="Cambria Math" panose="02040503050406030204" pitchFamily="18" charset="0"/>
                          </a:rPr>
                          <m:t>𝟐</m:t>
                        </m:r>
                      </m:sup>
                    </m:sSup>
                    <m:r>
                      <a:rPr lang="en-US" sz="1200" b="1" i="1">
                        <a:latin typeface="Cambria Math" panose="02040503050406030204" pitchFamily="18" charset="0"/>
                      </a:rPr>
                      <m:t>=</m:t>
                    </m:r>
                    <m:r>
                      <a:rPr lang="en-US" sz="1200" b="1" i="1">
                        <a:latin typeface="Cambria Math" panose="02040503050406030204" pitchFamily="18" charset="0"/>
                      </a:rPr>
                      <m:t>𝟏</m:t>
                    </m:r>
                    <m:r>
                      <a:rPr lang="en-US" sz="1200" b="1" i="1">
                        <a:latin typeface="Cambria Math" panose="02040503050406030204" pitchFamily="18" charset="0"/>
                      </a:rPr>
                      <m:t>−</m:t>
                    </m:r>
                    <m:f>
                      <m:fPr>
                        <m:ctrlPr>
                          <a:rPr lang="en-US" sz="1200" b="1" i="1">
                            <a:latin typeface="Cambria Math" panose="02040503050406030204" pitchFamily="18" charset="0"/>
                          </a:rPr>
                        </m:ctrlPr>
                      </m:fPr>
                      <m:num>
                        <m:r>
                          <a:rPr lang="en-US" sz="1200" b="1" i="1">
                            <a:latin typeface="Cambria Math" panose="02040503050406030204" pitchFamily="18" charset="0"/>
                          </a:rPr>
                          <m:t>𝑹𝑺𝑺</m:t>
                        </m:r>
                      </m:num>
                      <m:den>
                        <m:r>
                          <a:rPr lang="en-US" sz="1200" b="1" i="1">
                            <a:latin typeface="Cambria Math" panose="02040503050406030204" pitchFamily="18" charset="0"/>
                          </a:rPr>
                          <m:t>𝑻𝑺𝑺</m:t>
                        </m:r>
                      </m:den>
                    </m:f>
                  </m:oMath>
                </a14:m>
                <a:endParaRPr lang="en-US" sz="1200" b="1" dirty="0"/>
              </a:p>
              <a:p>
                <a:pPr>
                  <a:lnSpc>
                    <a:spcPct val="90000"/>
                  </a:lnSpc>
                  <a:spcAft>
                    <a:spcPts val="600"/>
                  </a:spcAft>
                </a:pPr>
                <a:r>
                  <a:rPr lang="en-US" sz="1200" dirty="0"/>
                  <a:t>Where:</a:t>
                </a:r>
              </a:p>
              <a:p>
                <a:pPr>
                  <a:lnSpc>
                    <a:spcPct val="90000"/>
                  </a:lnSpc>
                  <a:spcAft>
                    <a:spcPts val="600"/>
                  </a:spcAft>
                </a:pPr>
                <a:r>
                  <a:rPr lang="en-US" sz="1200" dirty="0"/>
                  <a:t>-</a:t>
                </a:r>
                <a:r>
                  <a:rPr lang="en-US" sz="1200" b="1" dirty="0"/>
                  <a:t> RSS </a:t>
                </a:r>
                <a:r>
                  <a:rPr lang="en-US" sz="1200" dirty="0"/>
                  <a:t>= Residual Sum of Squares (unexplained variation)</a:t>
                </a:r>
              </a:p>
              <a:p>
                <a:pPr>
                  <a:lnSpc>
                    <a:spcPct val="90000"/>
                  </a:lnSpc>
                  <a:spcAft>
                    <a:spcPts val="600"/>
                  </a:spcAft>
                </a:pPr>
                <a:r>
                  <a:rPr lang="en-US" sz="1200" b="1" dirty="0"/>
                  <a:t>- TSS </a:t>
                </a:r>
                <a:r>
                  <a:rPr lang="en-US" sz="1200" dirty="0"/>
                  <a:t>= Total Sum of Squares (total variation)</a:t>
                </a:r>
              </a:p>
              <a:p>
                <a:pPr>
                  <a:lnSpc>
                    <a:spcPct val="90000"/>
                  </a:lnSpc>
                  <a:spcAft>
                    <a:spcPts val="600"/>
                  </a:spcAft>
                </a:pPr>
                <a:endParaRPr lang="en-US" sz="1200" dirty="0"/>
              </a:p>
            </p:txBody>
          </p:sp>
        </mc:Choice>
        <mc:Fallback>
          <p:sp>
            <p:nvSpPr>
              <p:cNvPr id="3" name="TextBox 2">
                <a:extLst>
                  <a:ext uri="{FF2B5EF4-FFF2-40B4-BE49-F238E27FC236}">
                    <a16:creationId xmlns:a16="http://schemas.microsoft.com/office/drawing/2014/main" id="{E6D7BC08-8345-4C24-B7A7-89DE48A5D2BB}"/>
                  </a:ext>
                </a:extLst>
              </p:cNvPr>
              <p:cNvSpPr txBox="1">
                <a:spLocks noRot="1" noChangeAspect="1" noMove="1" noResize="1" noEditPoints="1" noAdjustHandles="1" noChangeArrowheads="1" noChangeShapeType="1" noTextEdit="1"/>
              </p:cNvSpPr>
              <p:nvPr/>
            </p:nvSpPr>
            <p:spPr>
              <a:xfrm>
                <a:off x="866661" y="1663006"/>
                <a:ext cx="7410669" cy="3446203"/>
              </a:xfrm>
              <a:prstGeom prst="rect">
                <a:avLst/>
              </a:prstGeom>
              <a:blipFill>
                <a:blip r:embed="rId2"/>
                <a:stretch>
                  <a:fillRect t="-708" b="-2301"/>
                </a:stretch>
              </a:blipFill>
            </p:spPr>
            <p:txBody>
              <a:bodyPr/>
              <a:lstStyle/>
              <a:p>
                <a:r>
                  <a:rPr lang="en-IN">
                    <a:noFill/>
                  </a:rPr>
                  <a:t> </a:t>
                </a:r>
              </a:p>
            </p:txBody>
          </p:sp>
        </mc:Fallback>
      </mc:AlternateContent>
    </p:spTree>
    <p:extLst>
      <p:ext uri="{BB962C8B-B14F-4D97-AF65-F5344CB8AC3E}">
        <p14:creationId xmlns:p14="http://schemas.microsoft.com/office/powerpoint/2010/main" val="22080492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7D3E11-56A4-37DB-4465-26814226F776}"/>
              </a:ext>
            </a:extLst>
          </p:cNvPr>
          <p:cNvPicPr>
            <a:picLocks noChangeAspect="1"/>
          </p:cNvPicPr>
          <p:nvPr/>
        </p:nvPicPr>
        <p:blipFill>
          <a:blip r:embed="rId2"/>
          <a:stretch>
            <a:fillRect/>
          </a:stretch>
        </p:blipFill>
        <p:spPr>
          <a:xfrm>
            <a:off x="0" y="157619"/>
            <a:ext cx="9144000" cy="4828262"/>
          </a:xfrm>
          <a:prstGeom prst="rect">
            <a:avLst/>
          </a:prstGeom>
        </p:spPr>
      </p:pic>
    </p:spTree>
    <p:extLst>
      <p:ext uri="{BB962C8B-B14F-4D97-AF65-F5344CB8AC3E}">
        <p14:creationId xmlns:p14="http://schemas.microsoft.com/office/powerpoint/2010/main" val="17486237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6DBB495-BF6D-B726-0F31-497851C6C35A}"/>
                  </a:ext>
                </a:extLst>
              </p:cNvPr>
              <p:cNvSpPr txBox="1"/>
              <p:nvPr/>
            </p:nvSpPr>
            <p:spPr>
              <a:xfrm>
                <a:off x="866661" y="1663006"/>
                <a:ext cx="7410669" cy="3480493"/>
              </a:xfrm>
              <a:prstGeom prst="rect">
                <a:avLst/>
              </a:prstGeom>
            </p:spPr>
            <p:txBody>
              <a:bodyPr vert="horz" lIns="91440" tIns="45720" rIns="91440" bIns="45720" rtlCol="0">
                <a:noAutofit/>
              </a:bodyPr>
              <a:lstStyle/>
              <a:p>
                <a:pPr>
                  <a:lnSpc>
                    <a:spcPct val="90000"/>
                  </a:lnSpc>
                  <a:spcAft>
                    <a:spcPts val="600"/>
                  </a:spcAft>
                </a:pPr>
                <a:r>
                  <a:rPr lang="en-US" sz="1400" dirty="0"/>
                  <a:t>Alternatively, </a:t>
                </a:r>
                <a:r>
                  <a:rPr lang="en-US" sz="1400" b="1" dirty="0"/>
                  <a:t>for simple linear regression</a:t>
                </a:r>
                <a:r>
                  <a:rPr lang="en-US" sz="1400" dirty="0"/>
                  <a:t>:</a:t>
                </a:r>
              </a:p>
              <a:p>
                <a:pPr>
                  <a:lnSpc>
                    <a:spcPct val="90000"/>
                  </a:lnSpc>
                  <a:spcAft>
                    <a:spcPts val="600"/>
                  </a:spcAft>
                </a:pPr>
                <a14:m>
                  <m:oMathPara xmlns:m="http://schemas.openxmlformats.org/officeDocument/2006/math">
                    <m:oMathParaPr>
                      <m:jc m:val="centerGroup"/>
                    </m:oMathParaPr>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𝑅</m:t>
                          </m:r>
                        </m:e>
                        <m:sup>
                          <m:r>
                            <a:rPr lang="en-US" sz="1400" i="1">
                              <a:latin typeface="Cambria Math" panose="02040503050406030204" pitchFamily="18" charset="0"/>
                            </a:rPr>
                            <m:t>2</m:t>
                          </m:r>
                        </m:sup>
                      </m:sSup>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𝑟</m:t>
                          </m:r>
                        </m:e>
                        <m:sup>
                          <m:r>
                            <a:rPr lang="en-US" sz="1400" i="1">
                              <a:latin typeface="Cambria Math" panose="02040503050406030204" pitchFamily="18" charset="0"/>
                            </a:rPr>
                            <m:t>2</m:t>
                          </m:r>
                        </m:sup>
                      </m:sSup>
                    </m:oMath>
                  </m:oMathPara>
                </a14:m>
                <a:endParaRPr lang="en-US" sz="1400" dirty="0"/>
              </a:p>
              <a:p>
                <a:pPr>
                  <a:lnSpc>
                    <a:spcPct val="90000"/>
                  </a:lnSpc>
                  <a:spcAft>
                    <a:spcPts val="600"/>
                  </a:spcAft>
                </a:pPr>
                <a:r>
                  <a:rPr lang="en-US" sz="1400" dirty="0"/>
                  <a:t>Where </a:t>
                </a:r>
                <a:r>
                  <a:rPr lang="en-US" sz="1400" b="1" dirty="0"/>
                  <a:t>r</a:t>
                </a:r>
                <a:r>
                  <a:rPr lang="en-US" sz="1400" dirty="0"/>
                  <a:t> is the correlation coefficient between the observed and predicted values.</a:t>
                </a:r>
              </a:p>
              <a:p>
                <a:pPr>
                  <a:lnSpc>
                    <a:spcPct val="90000"/>
                  </a:lnSpc>
                  <a:spcAft>
                    <a:spcPts val="600"/>
                  </a:spcAft>
                </a:pPr>
                <a:endParaRPr lang="en-US" sz="1400" dirty="0"/>
              </a:p>
              <a:p>
                <a:pPr>
                  <a:lnSpc>
                    <a:spcPct val="90000"/>
                  </a:lnSpc>
                  <a:spcAft>
                    <a:spcPts val="600"/>
                  </a:spcAft>
                </a:pPr>
                <a:r>
                  <a:rPr lang="en-US" sz="1400" b="1" dirty="0"/>
                  <a:t>Interpretation</a:t>
                </a:r>
              </a:p>
              <a:p>
                <a:pPr>
                  <a:lnSpc>
                    <a:spcPct val="90000"/>
                  </a:lnSpc>
                  <a:spcAft>
                    <a:spcPts val="600"/>
                  </a:spcAft>
                </a:pPr>
                <a:r>
                  <a:rPr lang="en-US" sz="1400" dirty="0"/>
                  <a:t>- High R²: Indicates a good fit—your model explains a large portion of the variance.</a:t>
                </a:r>
              </a:p>
              <a:p>
                <a:pPr>
                  <a:lnSpc>
                    <a:spcPct val="90000"/>
                  </a:lnSpc>
                  <a:spcAft>
                    <a:spcPts val="600"/>
                  </a:spcAft>
                </a:pPr>
                <a:r>
                  <a:rPr lang="en-US" sz="1400" dirty="0"/>
                  <a:t>- Low R²: Suggests a poor fit—your model doesn't explain much of the variance.</a:t>
                </a:r>
              </a:p>
              <a:p>
                <a:pPr marL="57150">
                  <a:lnSpc>
                    <a:spcPct val="90000"/>
                  </a:lnSpc>
                  <a:spcAft>
                    <a:spcPts val="600"/>
                  </a:spcAft>
                </a:pPr>
                <a:r>
                  <a:rPr lang="en-US" sz="1400" dirty="0"/>
                  <a:t>Adjusted R²: A modified version that accounts for the number of predictors in the model, useful in multiple regression.</a:t>
                </a:r>
              </a:p>
              <a:p>
                <a:pPr>
                  <a:lnSpc>
                    <a:spcPct val="90000"/>
                  </a:lnSpc>
                  <a:spcAft>
                    <a:spcPts val="600"/>
                  </a:spcAft>
                </a:pPr>
                <a:r>
                  <a:rPr lang="en-US" sz="1400" dirty="0"/>
                  <a:t>  </a:t>
                </a:r>
                <a:r>
                  <a:rPr lang="en-US" sz="1400" b="1" dirty="0"/>
                  <a:t>Caveats</a:t>
                </a:r>
              </a:p>
              <a:p>
                <a:pPr>
                  <a:lnSpc>
                    <a:spcPct val="90000"/>
                  </a:lnSpc>
                  <a:spcAft>
                    <a:spcPts val="600"/>
                  </a:spcAft>
                </a:pPr>
                <a:r>
                  <a:rPr lang="en-US" sz="1400" dirty="0"/>
                  <a:t>- A high R² doesn’t always mean the model is good—it could be overfitting.</a:t>
                </a:r>
              </a:p>
              <a:p>
                <a:pPr>
                  <a:lnSpc>
                    <a:spcPct val="90000"/>
                  </a:lnSpc>
                  <a:spcAft>
                    <a:spcPts val="600"/>
                  </a:spcAft>
                </a:pPr>
                <a:r>
                  <a:rPr lang="en-US" sz="1400" dirty="0"/>
                  <a:t>- R² can be misleading for non-linear models or when the model lacks an intercept.</a:t>
                </a:r>
              </a:p>
            </p:txBody>
          </p:sp>
        </mc:Choice>
        <mc:Fallback>
          <p:sp>
            <p:nvSpPr>
              <p:cNvPr id="3" name="TextBox 2">
                <a:extLst>
                  <a:ext uri="{FF2B5EF4-FFF2-40B4-BE49-F238E27FC236}">
                    <a16:creationId xmlns:a16="http://schemas.microsoft.com/office/drawing/2014/main" id="{26DBB495-BF6D-B726-0F31-497851C6C35A}"/>
                  </a:ext>
                </a:extLst>
              </p:cNvPr>
              <p:cNvSpPr txBox="1">
                <a:spLocks noRot="1" noChangeAspect="1" noMove="1" noResize="1" noEditPoints="1" noAdjustHandles="1" noChangeArrowheads="1" noChangeShapeType="1" noTextEdit="1"/>
              </p:cNvSpPr>
              <p:nvPr/>
            </p:nvSpPr>
            <p:spPr>
              <a:xfrm>
                <a:off x="866661" y="1663006"/>
                <a:ext cx="7410669" cy="3480493"/>
              </a:xfrm>
              <a:prstGeom prst="rect">
                <a:avLst/>
              </a:prstGeom>
              <a:blipFill>
                <a:blip r:embed="rId2"/>
                <a:stretch>
                  <a:fillRect l="-247" t="-876"/>
                </a:stretch>
              </a:blipFill>
            </p:spPr>
            <p:txBody>
              <a:bodyPr/>
              <a:lstStyle/>
              <a:p>
                <a:r>
                  <a:rPr lang="en-IN">
                    <a:noFill/>
                  </a:rPr>
                  <a:t> </a:t>
                </a:r>
              </a:p>
            </p:txBody>
          </p:sp>
        </mc:Fallback>
      </mc:AlternateContent>
    </p:spTree>
    <p:extLst>
      <p:ext uri="{BB962C8B-B14F-4D97-AF65-F5344CB8AC3E}">
        <p14:creationId xmlns:p14="http://schemas.microsoft.com/office/powerpoint/2010/main" val="30572080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C9328FE-C2D8-B0BE-0362-6178FD253248}"/>
              </a:ext>
            </a:extLst>
          </p:cNvPr>
          <p:cNvSpPr txBox="1"/>
          <p:nvPr/>
        </p:nvSpPr>
        <p:spPr>
          <a:xfrm>
            <a:off x="524784" y="186028"/>
            <a:ext cx="5297791" cy="8694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kern="1200" dirty="0">
                <a:solidFill>
                  <a:srgbClr val="FFFFFF"/>
                </a:solidFill>
                <a:latin typeface="+mj-lt"/>
                <a:ea typeface="+mj-ea"/>
                <a:cs typeface="+mj-cs"/>
              </a:rPr>
              <a:t>Conditions for a Good Regression Line (in terms of R²)</a:t>
            </a:r>
          </a:p>
        </p:txBody>
      </p:sp>
      <p:graphicFrame>
        <p:nvGraphicFramePr>
          <p:cNvPr id="5" name="Table 4">
            <a:extLst>
              <a:ext uri="{FF2B5EF4-FFF2-40B4-BE49-F238E27FC236}">
                <a16:creationId xmlns:a16="http://schemas.microsoft.com/office/drawing/2014/main" id="{4DB80D9A-E118-395D-438A-1D4DF371CC43}"/>
              </a:ext>
            </a:extLst>
          </p:cNvPr>
          <p:cNvGraphicFramePr>
            <a:graphicFrameLocks noGrp="1"/>
          </p:cNvGraphicFramePr>
          <p:nvPr>
            <p:extLst>
              <p:ext uri="{D42A27DB-BD31-4B8C-83A1-F6EECF244321}">
                <p14:modId xmlns:p14="http://schemas.microsoft.com/office/powerpoint/2010/main" val="819354509"/>
              </p:ext>
            </p:extLst>
          </p:nvPr>
        </p:nvGraphicFramePr>
        <p:xfrm>
          <a:off x="324166" y="2114550"/>
          <a:ext cx="8495667" cy="2842920"/>
        </p:xfrm>
        <a:graphic>
          <a:graphicData uri="http://schemas.openxmlformats.org/drawingml/2006/table">
            <a:tbl>
              <a:tblPr>
                <a:noFill/>
              </a:tblPr>
              <a:tblGrid>
                <a:gridCol w="2778250">
                  <a:extLst>
                    <a:ext uri="{9D8B030D-6E8A-4147-A177-3AD203B41FA5}">
                      <a16:colId xmlns:a16="http://schemas.microsoft.com/office/drawing/2014/main" val="2774590197"/>
                    </a:ext>
                  </a:extLst>
                </a:gridCol>
                <a:gridCol w="2939167">
                  <a:extLst>
                    <a:ext uri="{9D8B030D-6E8A-4147-A177-3AD203B41FA5}">
                      <a16:colId xmlns:a16="http://schemas.microsoft.com/office/drawing/2014/main" val="569234660"/>
                    </a:ext>
                  </a:extLst>
                </a:gridCol>
                <a:gridCol w="2778250">
                  <a:extLst>
                    <a:ext uri="{9D8B030D-6E8A-4147-A177-3AD203B41FA5}">
                      <a16:colId xmlns:a16="http://schemas.microsoft.com/office/drawing/2014/main" val="3913589405"/>
                    </a:ext>
                  </a:extLst>
                </a:gridCol>
              </a:tblGrid>
              <a:tr h="414278">
                <a:tc>
                  <a:txBody>
                    <a:bodyPr/>
                    <a:lstStyle/>
                    <a:p>
                      <a:pPr>
                        <a:buNone/>
                      </a:pPr>
                      <a:r>
                        <a:rPr lang="en-IN" sz="1100" b="1">
                          <a:solidFill>
                            <a:schemeClr val="tx1">
                              <a:lumMod val="85000"/>
                              <a:lumOff val="15000"/>
                            </a:schemeClr>
                          </a:solidFill>
                        </a:rPr>
                        <a:t>R² Value</a:t>
                      </a:r>
                      <a:endParaRPr lang="en-IN" sz="1100">
                        <a:solidFill>
                          <a:schemeClr val="tx1">
                            <a:lumMod val="85000"/>
                            <a:lumOff val="15000"/>
                          </a:schemeClr>
                        </a:solidFill>
                      </a:endParaRPr>
                    </a:p>
                  </a:txBody>
                  <a:tcPr marL="162927" marR="97756" marT="97756" marB="97756" anchor="ctr">
                    <a:lnL w="12700" cmpd="sng">
                      <a:no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buNone/>
                      </a:pPr>
                      <a:r>
                        <a:rPr lang="en-IN" sz="1100" b="1" dirty="0">
                          <a:solidFill>
                            <a:schemeClr val="tx1">
                              <a:lumMod val="85000"/>
                              <a:lumOff val="15000"/>
                            </a:schemeClr>
                          </a:solidFill>
                        </a:rPr>
                        <a:t>Interpretation</a:t>
                      </a:r>
                      <a:endParaRPr lang="en-IN" sz="1100" dirty="0">
                        <a:solidFill>
                          <a:schemeClr val="tx1">
                            <a:lumMod val="85000"/>
                            <a:lumOff val="15000"/>
                          </a:schemeClr>
                        </a:solidFill>
                      </a:endParaRPr>
                    </a:p>
                  </a:txBody>
                  <a:tcPr marL="162927" marR="97756" marT="97756" marB="97756" anchor="ctr">
                    <a:lnL w="38100" cap="flat" cmpd="sng" algn="ctr">
                      <a:solidFill>
                        <a:srgbClr val="FFFFFF"/>
                      </a:solidFill>
                      <a:prstDash val="solid"/>
                    </a:lnL>
                    <a:lnR w="38100" cap="flat" cmpd="sng" algn="ctr">
                      <a:solidFill>
                        <a:srgbClr val="FFFFFF"/>
                      </a:solidFill>
                      <a:prstDash val="solid"/>
                    </a:lnR>
                    <a:lnT w="12700" cmpd="sng">
                      <a:noFill/>
                      <a:prstDash val="solid"/>
                    </a:lnT>
                    <a:lnB w="38100" cap="flat" cmpd="sng" algn="ctr">
                      <a:solidFill>
                        <a:srgbClr val="FFFFFF"/>
                      </a:solidFill>
                      <a:prstDash val="solid"/>
                    </a:lnB>
                    <a:solidFill>
                      <a:srgbClr val="878E8B">
                        <a:alpha val="30196"/>
                      </a:srgbClr>
                    </a:solidFill>
                  </a:tcPr>
                </a:tc>
                <a:tc>
                  <a:txBody>
                    <a:bodyPr/>
                    <a:lstStyle/>
                    <a:p>
                      <a:pPr>
                        <a:buNone/>
                      </a:pPr>
                      <a:r>
                        <a:rPr lang="en-IN" sz="1100" b="1">
                          <a:solidFill>
                            <a:schemeClr val="tx1">
                              <a:lumMod val="85000"/>
                              <a:lumOff val="15000"/>
                            </a:schemeClr>
                          </a:solidFill>
                        </a:rPr>
                        <a:t>Condition Met?</a:t>
                      </a:r>
                      <a:endParaRPr lang="en-IN" sz="1100">
                        <a:solidFill>
                          <a:schemeClr val="tx1">
                            <a:lumMod val="85000"/>
                            <a:lumOff val="15000"/>
                          </a:schemeClr>
                        </a:solidFill>
                      </a:endParaRPr>
                    </a:p>
                  </a:txBody>
                  <a:tcPr marL="162927" marR="97756" marT="97756" marB="97756" anchor="ctr">
                    <a:lnL w="38100" cap="flat" cmpd="sng" algn="ctr">
                      <a:solidFill>
                        <a:srgbClr val="FFFFFF"/>
                      </a:solidFill>
                      <a:prstDash val="solid"/>
                    </a:lnL>
                    <a:lnR w="12700" cmpd="sng">
                      <a:noFill/>
                      <a:prstDash val="solid"/>
                    </a:lnR>
                    <a:lnT w="12700" cmpd="sng">
                      <a:no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165972220"/>
                  </a:ext>
                </a:extLst>
              </a:tr>
              <a:tr h="592904">
                <a:tc>
                  <a:txBody>
                    <a:bodyPr/>
                    <a:lstStyle/>
                    <a:p>
                      <a:pPr>
                        <a:buNone/>
                      </a:pPr>
                      <a:r>
                        <a:rPr lang="en-IN" sz="1100" b="1">
                          <a:solidFill>
                            <a:schemeClr val="tx1">
                              <a:lumMod val="85000"/>
                              <a:lumOff val="15000"/>
                            </a:schemeClr>
                          </a:solidFill>
                        </a:rPr>
                        <a:t>R² ≈ 1</a:t>
                      </a:r>
                      <a:endParaRPr lang="en-IN" sz="1100">
                        <a:solidFill>
                          <a:schemeClr val="tx1">
                            <a:lumMod val="85000"/>
                            <a:lumOff val="15000"/>
                          </a:schemeClr>
                        </a:solidFill>
                      </a:endParaRPr>
                    </a:p>
                  </a:txBody>
                  <a:tcPr marL="162927" marR="97756" marT="97756" marB="9775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100" dirty="0">
                          <a:solidFill>
                            <a:schemeClr val="tx1">
                              <a:lumMod val="85000"/>
                              <a:lumOff val="15000"/>
                            </a:schemeClr>
                          </a:solidFill>
                        </a:rPr>
                        <a:t>Excellent fit: model explains nearly all variance</a:t>
                      </a:r>
                    </a:p>
                  </a:txBody>
                  <a:tcPr marL="162927" marR="97756" marT="97756" marB="9775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100">
                          <a:solidFill>
                            <a:schemeClr val="tx1">
                              <a:lumMod val="85000"/>
                              <a:lumOff val="15000"/>
                            </a:schemeClr>
                          </a:solidFill>
                        </a:rPr>
                        <a:t> Ideal condition</a:t>
                      </a:r>
                    </a:p>
                  </a:txBody>
                  <a:tcPr marL="162927" marR="97756" marT="97756" marB="9775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740751478"/>
                  </a:ext>
                </a:extLst>
              </a:tr>
              <a:tr h="414278">
                <a:tc>
                  <a:txBody>
                    <a:bodyPr/>
                    <a:lstStyle/>
                    <a:p>
                      <a:pPr>
                        <a:buNone/>
                      </a:pPr>
                      <a:r>
                        <a:rPr lang="en-IN" sz="1100" b="1">
                          <a:solidFill>
                            <a:schemeClr val="tx1">
                              <a:lumMod val="85000"/>
                              <a:lumOff val="15000"/>
                            </a:schemeClr>
                          </a:solidFill>
                        </a:rPr>
                        <a:t>R² ≥ 0.8</a:t>
                      </a:r>
                      <a:endParaRPr lang="en-IN" sz="1100">
                        <a:solidFill>
                          <a:schemeClr val="tx1">
                            <a:lumMod val="85000"/>
                            <a:lumOff val="15000"/>
                          </a:schemeClr>
                        </a:solidFill>
                      </a:endParaRPr>
                    </a:p>
                  </a:txBody>
                  <a:tcPr marL="162927" marR="97756" marT="97756" marB="9775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100">
                          <a:solidFill>
                            <a:schemeClr val="tx1">
                              <a:lumMod val="85000"/>
                              <a:lumOff val="15000"/>
                            </a:schemeClr>
                          </a:solidFill>
                        </a:rPr>
                        <a:t>Strong fit: model explains most variance</a:t>
                      </a:r>
                    </a:p>
                  </a:txBody>
                  <a:tcPr marL="162927" marR="97756" marT="97756" marB="9775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100" dirty="0">
                          <a:solidFill>
                            <a:schemeClr val="tx1">
                              <a:lumMod val="85000"/>
                              <a:lumOff val="15000"/>
                            </a:schemeClr>
                          </a:solidFill>
                        </a:rPr>
                        <a:t> Generally acceptable</a:t>
                      </a:r>
                    </a:p>
                  </a:txBody>
                  <a:tcPr marL="162927" marR="97756" marT="97756" marB="9775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950074882"/>
                  </a:ext>
                </a:extLst>
              </a:tr>
              <a:tr h="592904">
                <a:tc>
                  <a:txBody>
                    <a:bodyPr/>
                    <a:lstStyle/>
                    <a:p>
                      <a:pPr>
                        <a:buNone/>
                      </a:pPr>
                      <a:r>
                        <a:rPr lang="en-IN" sz="1100" b="1">
                          <a:solidFill>
                            <a:schemeClr val="tx1">
                              <a:lumMod val="85000"/>
                              <a:lumOff val="15000"/>
                            </a:schemeClr>
                          </a:solidFill>
                        </a:rPr>
                        <a:t>R² between 0.5–0.8</a:t>
                      </a:r>
                      <a:endParaRPr lang="en-IN" sz="1100">
                        <a:solidFill>
                          <a:schemeClr val="tx1">
                            <a:lumMod val="85000"/>
                            <a:lumOff val="15000"/>
                          </a:schemeClr>
                        </a:solidFill>
                      </a:endParaRPr>
                    </a:p>
                  </a:txBody>
                  <a:tcPr marL="162927" marR="97756" marT="97756" marB="9775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100">
                          <a:solidFill>
                            <a:schemeClr val="tx1">
                              <a:lumMod val="85000"/>
                              <a:lumOff val="15000"/>
                            </a:schemeClr>
                          </a:solidFill>
                        </a:rPr>
                        <a:t>Moderate fit: model explains some variance</a:t>
                      </a:r>
                    </a:p>
                  </a:txBody>
                  <a:tcPr marL="162927" marR="97756" marT="97756" marB="9775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100">
                          <a:solidFill>
                            <a:schemeClr val="tx1">
                              <a:lumMod val="85000"/>
                              <a:lumOff val="15000"/>
                            </a:schemeClr>
                          </a:solidFill>
                        </a:rPr>
                        <a:t> May be acceptable depending on context</a:t>
                      </a:r>
                    </a:p>
                  </a:txBody>
                  <a:tcPr marL="162927" marR="97756" marT="97756" marB="9775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400579144"/>
                  </a:ext>
                </a:extLst>
              </a:tr>
              <a:tr h="414278">
                <a:tc>
                  <a:txBody>
                    <a:bodyPr/>
                    <a:lstStyle/>
                    <a:p>
                      <a:pPr>
                        <a:buNone/>
                      </a:pPr>
                      <a:r>
                        <a:rPr lang="en-IN" sz="1100" b="1">
                          <a:solidFill>
                            <a:schemeClr val="tx1">
                              <a:lumMod val="85000"/>
                              <a:lumOff val="15000"/>
                            </a:schemeClr>
                          </a:solidFill>
                        </a:rPr>
                        <a:t>R² &lt; 0.5</a:t>
                      </a:r>
                      <a:endParaRPr lang="en-IN" sz="1100">
                        <a:solidFill>
                          <a:schemeClr val="tx1">
                            <a:lumMod val="85000"/>
                            <a:lumOff val="15000"/>
                          </a:schemeClr>
                        </a:solidFill>
                      </a:endParaRPr>
                    </a:p>
                  </a:txBody>
                  <a:tcPr marL="162927" marR="97756" marT="97756" marB="9775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100">
                          <a:solidFill>
                            <a:schemeClr val="tx1">
                              <a:lumMod val="85000"/>
                              <a:lumOff val="15000"/>
                            </a:schemeClr>
                          </a:solidFill>
                        </a:rPr>
                        <a:t>Weak fit: model explains little variance</a:t>
                      </a:r>
                    </a:p>
                  </a:txBody>
                  <a:tcPr marL="162927" marR="97756" marT="97756" marB="9775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100">
                          <a:solidFill>
                            <a:schemeClr val="tx1">
                              <a:lumMod val="85000"/>
                              <a:lumOff val="15000"/>
                            </a:schemeClr>
                          </a:solidFill>
                        </a:rPr>
                        <a:t> Poor condition</a:t>
                      </a:r>
                    </a:p>
                  </a:txBody>
                  <a:tcPr marL="162927" marR="97756" marT="97756" marB="9775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954342816"/>
                  </a:ext>
                </a:extLst>
              </a:tr>
              <a:tr h="414278">
                <a:tc>
                  <a:txBody>
                    <a:bodyPr/>
                    <a:lstStyle/>
                    <a:p>
                      <a:pPr>
                        <a:buNone/>
                      </a:pPr>
                      <a:r>
                        <a:rPr lang="en-IN" sz="1100" b="1" dirty="0">
                          <a:solidFill>
                            <a:schemeClr val="tx1">
                              <a:lumMod val="85000"/>
                              <a:lumOff val="15000"/>
                            </a:schemeClr>
                          </a:solidFill>
                        </a:rPr>
                        <a:t>R² = 0</a:t>
                      </a:r>
                      <a:endParaRPr lang="en-IN" sz="1100" dirty="0">
                        <a:solidFill>
                          <a:schemeClr val="tx1">
                            <a:lumMod val="85000"/>
                            <a:lumOff val="15000"/>
                          </a:schemeClr>
                        </a:solidFill>
                      </a:endParaRPr>
                    </a:p>
                  </a:txBody>
                  <a:tcPr marL="162927" marR="97756" marT="97756" marB="97756" anchor="ctr">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US" sz="1100" dirty="0">
                          <a:solidFill>
                            <a:schemeClr val="tx1">
                              <a:lumMod val="85000"/>
                              <a:lumOff val="15000"/>
                            </a:schemeClr>
                          </a:solidFill>
                        </a:rPr>
                        <a:t>No fit or bad : model explains nothing</a:t>
                      </a:r>
                    </a:p>
                  </a:txBody>
                  <a:tcPr marL="162927" marR="97756" marT="97756" marB="97756"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pPr>
                        <a:buNone/>
                      </a:pPr>
                      <a:r>
                        <a:rPr lang="en-IN" sz="1100" dirty="0">
                          <a:solidFill>
                            <a:schemeClr val="tx1">
                              <a:lumMod val="85000"/>
                              <a:lumOff val="15000"/>
                            </a:schemeClr>
                          </a:solidFill>
                        </a:rPr>
                        <a:t>Regression line is meaningless</a:t>
                      </a:r>
                    </a:p>
                  </a:txBody>
                  <a:tcPr marL="162927" marR="97756" marT="97756" marB="97756" anchor="ctr">
                    <a:lnL w="38100" cap="flat" cmpd="sng" algn="ctr">
                      <a:solidFill>
                        <a:srgbClr val="FFFFFF"/>
                      </a:solidFill>
                      <a:prstDash val="solid"/>
                    </a:lnL>
                    <a:lnR w="12700" cmpd="sng">
                      <a:noFill/>
                      <a:prstDash val="solid"/>
                    </a:lnR>
                    <a:lnT w="38100" cap="flat" cmpd="sng" algn="ctr">
                      <a:solidFill>
                        <a:srgbClr val="FFFFFF"/>
                      </a:solidFill>
                      <a:prstDash val="solid"/>
                    </a:lnT>
                    <a:lnB w="12700" cmpd="sng">
                      <a:noFill/>
                      <a:prstDash val="solid"/>
                    </a:lnB>
                    <a:solidFill>
                      <a:srgbClr val="878E8B">
                        <a:alpha val="30196"/>
                      </a:srgbClr>
                    </a:solidFill>
                  </a:tcPr>
                </a:tc>
                <a:extLst>
                  <a:ext uri="{0D108BD9-81ED-4DB2-BD59-A6C34878D82A}">
                    <a16:rowId xmlns:a16="http://schemas.microsoft.com/office/drawing/2014/main" val="1738495711"/>
                  </a:ext>
                </a:extLst>
              </a:tr>
            </a:tbl>
          </a:graphicData>
        </a:graphic>
      </p:graphicFrame>
      <p:sp>
        <p:nvSpPr>
          <p:cNvPr id="7" name="TextBox 6">
            <a:extLst>
              <a:ext uri="{FF2B5EF4-FFF2-40B4-BE49-F238E27FC236}">
                <a16:creationId xmlns:a16="http://schemas.microsoft.com/office/drawing/2014/main" id="{445A83DB-1C30-9888-1C28-AB3088DB79C2}"/>
              </a:ext>
            </a:extLst>
          </p:cNvPr>
          <p:cNvSpPr txBox="1"/>
          <p:nvPr/>
        </p:nvSpPr>
        <p:spPr>
          <a:xfrm>
            <a:off x="324166" y="1325093"/>
            <a:ext cx="8495665" cy="646331"/>
          </a:xfrm>
          <a:prstGeom prst="rect">
            <a:avLst/>
          </a:prstGeom>
          <a:noFill/>
        </p:spPr>
        <p:txBody>
          <a:bodyPr wrap="square" rtlCol="0">
            <a:spAutoFit/>
          </a:bodyPr>
          <a:lstStyle/>
          <a:p>
            <a:r>
              <a:rPr lang="en-US" dirty="0"/>
              <a:t>To determine whether a regression line is a </a:t>
            </a:r>
            <a:r>
              <a:rPr lang="en-US" b="1" dirty="0"/>
              <a:t>good fit</a:t>
            </a:r>
            <a:r>
              <a:rPr lang="en-US" dirty="0"/>
              <a:t> for the data using the </a:t>
            </a:r>
            <a:r>
              <a:rPr lang="en-US" b="1" dirty="0"/>
              <a:t>R² score</a:t>
            </a:r>
            <a:r>
              <a:rPr lang="en-US" dirty="0"/>
              <a:t>,</a:t>
            </a:r>
          </a:p>
          <a:p>
            <a:r>
              <a:rPr lang="en-US" dirty="0"/>
              <a:t> here are the key conditions and interpretations:    [ 0&lt;=R^2&lt;=1 (R^2 lies btw 0 to 1)]</a:t>
            </a:r>
            <a:endParaRPr lang="en-IN" dirty="0"/>
          </a:p>
        </p:txBody>
      </p:sp>
    </p:spTree>
    <p:extLst>
      <p:ext uri="{BB962C8B-B14F-4D97-AF65-F5344CB8AC3E}">
        <p14:creationId xmlns:p14="http://schemas.microsoft.com/office/powerpoint/2010/main" val="42642493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4420C5-EE82-DD35-5C12-9E42F22BB8EA}"/>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kern="1200" dirty="0">
                <a:solidFill>
                  <a:srgbClr val="FFFFFF"/>
                </a:solidFill>
                <a:latin typeface="+mj-lt"/>
                <a:ea typeface="+mj-ea"/>
                <a:cs typeface="+mj-cs"/>
              </a:rPr>
              <a:t>		Additional Considerations</a:t>
            </a:r>
          </a:p>
        </p:txBody>
      </p:sp>
      <p:sp>
        <p:nvSpPr>
          <p:cNvPr id="3" name="TextBox 2">
            <a:extLst>
              <a:ext uri="{FF2B5EF4-FFF2-40B4-BE49-F238E27FC236}">
                <a16:creationId xmlns:a16="http://schemas.microsoft.com/office/drawing/2014/main" id="{6F7F3D10-EBE0-D5ED-D7BA-83D22CFC7CBE}"/>
              </a:ext>
            </a:extLst>
          </p:cNvPr>
          <p:cNvSpPr txBox="1"/>
          <p:nvPr/>
        </p:nvSpPr>
        <p:spPr>
          <a:xfrm>
            <a:off x="914401" y="1217058"/>
            <a:ext cx="7391400" cy="3793092"/>
          </a:xfrm>
          <a:prstGeom prst="rect">
            <a:avLst/>
          </a:prstGeom>
        </p:spPr>
        <p:txBody>
          <a:bodyPr vert="horz" lIns="91440" tIns="45720" rIns="91440" bIns="45720" rtlCol="0" anchor="ctr">
            <a:noAutofit/>
          </a:bodyPr>
          <a:lstStyle/>
          <a:p>
            <a:pPr marL="285750" indent="-285750">
              <a:lnSpc>
                <a:spcPct val="90000"/>
              </a:lnSpc>
              <a:spcAft>
                <a:spcPts val="600"/>
              </a:spcAft>
              <a:buFont typeface="Arial" panose="020B0604020202020204" pitchFamily="34" charset="0"/>
              <a:buChar char="•"/>
            </a:pPr>
            <a:r>
              <a:rPr lang="en-US" sz="1600" b="1" dirty="0"/>
              <a:t>Adjusted R²</a:t>
            </a:r>
            <a:r>
              <a:rPr lang="en-US" sz="1600" dirty="0"/>
              <a:t>: Use this when dealing with multiple predictors to penalize unnecessary variables.</a:t>
            </a:r>
          </a:p>
          <a:p>
            <a:pPr marL="285750" indent="-285750">
              <a:lnSpc>
                <a:spcPct val="90000"/>
              </a:lnSpc>
              <a:spcAft>
                <a:spcPts val="600"/>
              </a:spcAft>
              <a:buFont typeface="Arial" panose="020B0604020202020204" pitchFamily="34" charset="0"/>
              <a:buChar char="•"/>
            </a:pPr>
            <a:r>
              <a:rPr lang="en-US" sz="1600" b="1" dirty="0"/>
              <a:t>Context matters</a:t>
            </a:r>
            <a:r>
              <a:rPr lang="en-US" sz="1600" dirty="0"/>
              <a:t>: In fields like economics or social sciences, even R² ≈ 0.3 might be acceptable due to high variability.</a:t>
            </a:r>
          </a:p>
          <a:p>
            <a:pPr marL="285750" indent="-285750">
              <a:lnSpc>
                <a:spcPct val="90000"/>
              </a:lnSpc>
              <a:spcAft>
                <a:spcPts val="600"/>
              </a:spcAft>
              <a:buFont typeface="Arial" panose="020B0604020202020204" pitchFamily="34" charset="0"/>
              <a:buChar char="•"/>
            </a:pPr>
            <a:r>
              <a:rPr lang="en-US" sz="1600" b="1" dirty="0"/>
              <a:t>Visual inspection</a:t>
            </a:r>
            <a:r>
              <a:rPr lang="en-US" sz="1600" dirty="0"/>
              <a:t>: Always complement R² with a residual plot or scatter plot to check for patterns or outliers.</a:t>
            </a:r>
          </a:p>
          <a:p>
            <a:pPr marL="285750" indent="-285750">
              <a:lnSpc>
                <a:spcPct val="90000"/>
              </a:lnSpc>
              <a:spcAft>
                <a:spcPts val="600"/>
              </a:spcAft>
              <a:buFont typeface="Arial" panose="020B0604020202020204" pitchFamily="34" charset="0"/>
              <a:buChar char="•"/>
            </a:pPr>
            <a:endParaRPr lang="en-US" b="1" dirty="0"/>
          </a:p>
          <a:p>
            <a:pPr>
              <a:lnSpc>
                <a:spcPct val="90000"/>
              </a:lnSpc>
            </a:pPr>
            <a:r>
              <a:rPr lang="en-US" b="1" dirty="0"/>
              <a:t>---------------------------R² can be negative -----------------------</a:t>
            </a:r>
          </a:p>
          <a:p>
            <a:pPr>
              <a:lnSpc>
                <a:spcPct val="90000"/>
              </a:lnSpc>
            </a:pPr>
            <a:r>
              <a:rPr lang="en-US" sz="1600" dirty="0"/>
              <a:t>if your model performs worse than simply predicting the mean of the target variable. This usually happens when:</a:t>
            </a:r>
          </a:p>
          <a:p>
            <a:pPr marL="342900" indent="-342900">
              <a:lnSpc>
                <a:spcPct val="90000"/>
              </a:lnSpc>
              <a:buFont typeface="+mj-lt"/>
              <a:buAutoNum type="arabicPeriod"/>
            </a:pPr>
            <a:r>
              <a:rPr lang="en-US" sz="1600" dirty="0"/>
              <a:t>The model </a:t>
            </a:r>
            <a:r>
              <a:rPr lang="en-US" sz="1600" b="1" dirty="0"/>
              <a:t>lacks an intercept</a:t>
            </a:r>
            <a:endParaRPr lang="en-US" sz="1600" dirty="0"/>
          </a:p>
          <a:p>
            <a:pPr marL="342900" indent="-342900">
              <a:lnSpc>
                <a:spcPct val="90000"/>
              </a:lnSpc>
              <a:buFont typeface="+mj-lt"/>
              <a:buAutoNum type="arabicPeriod"/>
            </a:pPr>
            <a:r>
              <a:rPr lang="en-US" sz="1600" dirty="0"/>
              <a:t>It's a </a:t>
            </a:r>
            <a:r>
              <a:rPr lang="en-US" sz="1600" b="1" dirty="0"/>
              <a:t>poor fit</a:t>
            </a:r>
            <a:r>
              <a:rPr lang="en-US" sz="1600" dirty="0"/>
              <a:t> for the data</a:t>
            </a:r>
          </a:p>
          <a:p>
            <a:pPr marL="342900" indent="-342900">
              <a:lnSpc>
                <a:spcPct val="90000"/>
              </a:lnSpc>
              <a:buFont typeface="+mj-lt"/>
              <a:buAutoNum type="arabicPeriod"/>
            </a:pPr>
            <a:r>
              <a:rPr lang="en-US" sz="1600" dirty="0"/>
              <a:t>You're evaluating on </a:t>
            </a:r>
            <a:r>
              <a:rPr lang="en-US" sz="1600" b="1" dirty="0"/>
              <a:t>test data</a:t>
            </a:r>
            <a:r>
              <a:rPr lang="en-US" sz="1600" dirty="0"/>
              <a:t> and it generalizes badly</a:t>
            </a:r>
          </a:p>
          <a:p>
            <a:pPr marL="342900" indent="-342900">
              <a:lnSpc>
                <a:spcPct val="90000"/>
              </a:lnSpc>
              <a:buFont typeface="+mj-lt"/>
              <a:buAutoNum type="arabicPeriod"/>
            </a:pPr>
            <a:r>
              <a:rPr lang="en-US" sz="1600" dirty="0"/>
              <a:t>A negative R² means your model is not just bad—it’s worse than doing nothing.</a:t>
            </a:r>
          </a:p>
          <a:p>
            <a:pPr marL="285750" indent="-285750">
              <a:lnSpc>
                <a:spcPct val="90000"/>
              </a:lnSpc>
              <a:spcAft>
                <a:spcPts val="60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21890759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B93479D-5565-C55D-33F9-3E346E42E33B}"/>
              </a:ext>
            </a:extLst>
          </p:cNvPr>
          <p:cNvSpPr txBox="1"/>
          <p:nvPr/>
        </p:nvSpPr>
        <p:spPr>
          <a:xfrm>
            <a:off x="1028699" y="220903"/>
            <a:ext cx="7421963" cy="7752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altLang="en-US" sz="2400" b="1" kern="1200" dirty="0">
                <a:solidFill>
                  <a:srgbClr val="FFFFFF"/>
                </a:solidFill>
                <a:ea typeface="+mj-ea"/>
                <a:cs typeface="+mj-cs"/>
              </a:rPr>
              <a:t>		Adjusted R²</a:t>
            </a:r>
            <a:endParaRPr lang="en-US" sz="2400" kern="1200" dirty="0">
              <a:solidFill>
                <a:srgbClr val="FFFFFF"/>
              </a:solidFill>
              <a:ea typeface="+mj-ea"/>
              <a:cs typeface="+mj-cs"/>
            </a:endParaRPr>
          </a:p>
        </p:txBody>
      </p:sp>
      <p:sp>
        <p:nvSpPr>
          <p:cNvPr id="2" name="Rectangle 1">
            <a:extLst>
              <a:ext uri="{FF2B5EF4-FFF2-40B4-BE49-F238E27FC236}">
                <a16:creationId xmlns:a16="http://schemas.microsoft.com/office/drawing/2014/main" id="{E8F5DD39-6177-D851-9CE1-7452D92B869E}"/>
              </a:ext>
            </a:extLst>
          </p:cNvPr>
          <p:cNvSpPr>
            <a:spLocks noChangeArrowheads="1"/>
          </p:cNvSpPr>
          <p:nvPr/>
        </p:nvSpPr>
        <p:spPr bwMode="auto">
          <a:xfrm>
            <a:off x="256480" y="1217058"/>
            <a:ext cx="8799485" cy="11849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fontAlgn="base">
              <a:lnSpc>
                <a:spcPct val="90000"/>
              </a:lnSpc>
              <a:spcBef>
                <a:spcPct val="0"/>
              </a:spcBef>
              <a:spcAft>
                <a:spcPts val="600"/>
              </a:spcAft>
              <a:buClrTx/>
              <a:buSzTx/>
              <a:tabLst/>
            </a:pPr>
            <a:r>
              <a:rPr kumimoji="0" lang="en-US" altLang="en-US" sz="1600" b="1" i="0" u="none" strike="noStrike" cap="none" normalizeH="0" baseline="0" dirty="0">
                <a:ln>
                  <a:noFill/>
                </a:ln>
                <a:effectLst/>
              </a:rPr>
              <a:t>Adjusted R²</a:t>
            </a:r>
            <a:r>
              <a:rPr kumimoji="0" lang="en-US" altLang="en-US" sz="1600" b="0" i="0" u="none" strike="noStrike" cap="none" normalizeH="0" baseline="0" dirty="0">
                <a:ln>
                  <a:noFill/>
                </a:ln>
                <a:effectLst/>
              </a:rPr>
              <a:t> (Adjusted R-squared) is a modified version of the regular R² that accounts for the number of predictors in your regression model.</a:t>
            </a:r>
          </a:p>
        </p:txBody>
      </p:sp>
      <p:sp>
        <p:nvSpPr>
          <p:cNvPr id="4" name="Rectangle 3">
            <a:extLst>
              <a:ext uri="{FF2B5EF4-FFF2-40B4-BE49-F238E27FC236}">
                <a16:creationId xmlns:a16="http://schemas.microsoft.com/office/drawing/2014/main" id="{ABA15852-903B-395D-6586-BE4BDFD55FE2}"/>
              </a:ext>
            </a:extLst>
          </p:cNvPr>
          <p:cNvSpPr>
            <a:spLocks noChangeArrowheads="1"/>
          </p:cNvSpPr>
          <p:nvPr/>
        </p:nvSpPr>
        <p:spPr bwMode="auto">
          <a:xfrm>
            <a:off x="297460" y="2205395"/>
            <a:ext cx="8549075"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600" b="1" i="0" u="none" strike="noStrike" cap="none" normalizeH="0" baseline="0" dirty="0">
                <a:ln>
                  <a:noFill/>
                </a:ln>
                <a:solidFill>
                  <a:schemeClr val="tx1"/>
                </a:solidFill>
                <a:effectLst/>
              </a:rPr>
              <a:t>In Short:</a:t>
            </a:r>
          </a:p>
          <a:p>
            <a:pPr marL="0" marR="0" lvl="0" indent="0" algn="l" defTabSz="914400" rtl="0" eaLnBrk="0" fontAlgn="base" latinLnBrk="0" hangingPunct="0">
              <a:spcBef>
                <a:spcPct val="0"/>
              </a:spcBef>
              <a:spcAft>
                <a:spcPts val="600"/>
              </a:spcAft>
              <a:buClrTx/>
              <a:buSzTx/>
              <a:tabLst/>
            </a:pPr>
            <a:r>
              <a:rPr kumimoji="0" lang="en-US" altLang="en-US" sz="1600" b="0" i="0" u="none" strike="noStrike" cap="none" normalizeH="0" baseline="0" dirty="0">
                <a:ln>
                  <a:noFill/>
                </a:ln>
                <a:solidFill>
                  <a:schemeClr val="tx1"/>
                </a:solidFill>
                <a:effectLst/>
              </a:rPr>
              <a:t>tells you how well your model fits the data. </a:t>
            </a:r>
          </a:p>
          <a:p>
            <a:pPr marL="0" marR="0" lvl="0" indent="0" algn="l" defTabSz="914400" rtl="0" eaLnBrk="0" fontAlgn="base" latinLnBrk="0" hangingPunct="0">
              <a:spcBef>
                <a:spcPct val="0"/>
              </a:spcBef>
              <a:spcAft>
                <a:spcPts val="600"/>
              </a:spcAft>
              <a:buClrTx/>
              <a:buSzTx/>
              <a:tabLst/>
            </a:pPr>
            <a:r>
              <a:rPr kumimoji="0" lang="en-US" altLang="en-US" sz="1600" b="1" i="0" u="none" strike="noStrike" cap="none" normalizeH="0" baseline="0" dirty="0">
                <a:ln>
                  <a:noFill/>
                </a:ln>
                <a:solidFill>
                  <a:schemeClr val="tx1"/>
                </a:solidFill>
                <a:effectLst/>
              </a:rPr>
              <a:t>Adjusted R²</a:t>
            </a:r>
            <a:r>
              <a:rPr kumimoji="0" lang="en-US" altLang="en-US" sz="1600" b="0" i="0" u="none" strike="noStrike" cap="none" normalizeH="0" baseline="0" dirty="0">
                <a:ln>
                  <a:noFill/>
                </a:ln>
                <a:solidFill>
                  <a:schemeClr val="tx1"/>
                </a:solidFill>
                <a:effectLst/>
              </a:rPr>
              <a:t> tells you how well your model fits </a:t>
            </a:r>
            <a:r>
              <a:rPr kumimoji="0" lang="en-US" altLang="en-US" sz="1600" b="1" i="0" u="none" strike="noStrike" cap="none" normalizeH="0" baseline="0" dirty="0">
                <a:ln>
                  <a:noFill/>
                </a:ln>
                <a:solidFill>
                  <a:schemeClr val="tx1"/>
                </a:solidFill>
                <a:effectLst/>
              </a:rPr>
              <a:t>after penalizing for extra predictors</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dirty="0">
              <a:ln>
                <a:noFill/>
              </a:ln>
              <a:solidFill>
                <a:schemeClr val="tx1"/>
              </a:solidFill>
              <a:effectLst/>
            </a:endParaRPr>
          </a:p>
        </p:txBody>
      </p:sp>
      <p:sp>
        <p:nvSpPr>
          <p:cNvPr id="6" name="Rectangle 5">
            <a:extLst>
              <a:ext uri="{FF2B5EF4-FFF2-40B4-BE49-F238E27FC236}">
                <a16:creationId xmlns:a16="http://schemas.microsoft.com/office/drawing/2014/main" id="{60B52AE3-1638-5F19-34BE-CC8536CBAEC5}"/>
              </a:ext>
            </a:extLst>
          </p:cNvPr>
          <p:cNvSpPr>
            <a:spLocks noChangeArrowheads="1"/>
          </p:cNvSpPr>
          <p:nvPr/>
        </p:nvSpPr>
        <p:spPr bwMode="auto">
          <a:xfrm rot="10800000" flipV="1">
            <a:off x="280973" y="3915365"/>
            <a:ext cx="8917413"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sz="1600" b="1" i="0" u="none" strike="noStrike" cap="none" normalizeH="0" baseline="0" dirty="0">
                <a:ln>
                  <a:noFill/>
                </a:ln>
                <a:solidFill>
                  <a:schemeClr val="tx1"/>
                </a:solidFill>
                <a:effectLst/>
              </a:rPr>
              <a:t>Why It Matters:</a:t>
            </a:r>
          </a:p>
          <a:p>
            <a:pPr marL="0" marR="0" lvl="0" indent="0" algn="l" defTabSz="914400" rtl="0" eaLnBrk="0" fontAlgn="base" latinLnBrk="0" hangingPunct="0">
              <a:spcBef>
                <a:spcPct val="0"/>
              </a:spcBef>
              <a:spcAft>
                <a:spcPts val="600"/>
              </a:spcAft>
              <a:buClrTx/>
              <a:buSzTx/>
              <a:buFontTx/>
              <a:buNone/>
              <a:tabLst/>
            </a:pPr>
            <a:r>
              <a:rPr kumimoji="0" lang="en-US" altLang="en-US" sz="1600" b="0" i="0" u="none" strike="noStrike" cap="none" normalizeH="0" baseline="0" dirty="0">
                <a:ln>
                  <a:noFill/>
                </a:ln>
                <a:solidFill>
                  <a:schemeClr val="tx1"/>
                </a:solidFill>
                <a:effectLst/>
              </a:rPr>
              <a:t>Adding more variables to a model </a:t>
            </a:r>
            <a:r>
              <a:rPr kumimoji="0" lang="en-US" altLang="en-US" sz="1600" b="1" i="0" u="none" strike="noStrike" cap="none" normalizeH="0" baseline="0" dirty="0">
                <a:ln>
                  <a:noFill/>
                </a:ln>
                <a:solidFill>
                  <a:schemeClr val="tx1"/>
                </a:solidFill>
                <a:effectLst/>
              </a:rPr>
              <a:t>always increases R²</a:t>
            </a:r>
            <a:r>
              <a:rPr kumimoji="0" lang="en-US" altLang="en-US" sz="1600" b="0" i="0" u="none" strike="noStrike" cap="none" normalizeH="0" baseline="0" dirty="0">
                <a:ln>
                  <a:noFill/>
                </a:ln>
                <a:solidFill>
                  <a:schemeClr val="tx1"/>
                </a:solidFill>
                <a:effectLst/>
              </a:rPr>
              <a:t>, even if those variables are useless. Adjusted R² corrects for this by </a:t>
            </a:r>
            <a:r>
              <a:rPr kumimoji="0" lang="en-US" altLang="en-US" sz="1600" b="1" i="0" u="none" strike="noStrike" cap="none" normalizeH="0" baseline="0" dirty="0">
                <a:ln>
                  <a:noFill/>
                </a:ln>
                <a:solidFill>
                  <a:schemeClr val="tx1"/>
                </a:solidFill>
                <a:effectLst/>
              </a:rPr>
              <a:t>decreasing</a:t>
            </a:r>
            <a:r>
              <a:rPr kumimoji="0" lang="en-US" altLang="en-US" sz="1600" b="0" i="0" u="none" strike="noStrike" cap="none" normalizeH="0" baseline="0" dirty="0">
                <a:ln>
                  <a:noFill/>
                </a:ln>
                <a:solidFill>
                  <a:schemeClr val="tx1"/>
                </a:solidFill>
                <a:effectLst/>
              </a:rPr>
              <a:t> if the new predictors don’t improve the model meaningfully.</a:t>
            </a:r>
          </a:p>
        </p:txBody>
      </p:sp>
    </p:spTree>
    <p:extLst>
      <p:ext uri="{BB962C8B-B14F-4D97-AF65-F5344CB8AC3E}">
        <p14:creationId xmlns:p14="http://schemas.microsoft.com/office/powerpoint/2010/main" val="26596577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44BEE2-4920-3477-2CA7-534A03928DE2}"/>
              </a:ext>
            </a:extLst>
          </p:cNvPr>
          <p:cNvSpPr txBox="1"/>
          <p:nvPr/>
        </p:nvSpPr>
        <p:spPr>
          <a:xfrm>
            <a:off x="533401" y="3790950"/>
            <a:ext cx="7924800" cy="1198074"/>
          </a:xfrm>
          <a:prstGeom prst="rect">
            <a:avLst/>
          </a:prstGeom>
        </p:spPr>
        <p:txBody>
          <a:bodyPr vert="horz" lIns="91440" tIns="45720" rIns="91440" bIns="45720" rtlCol="0" anchor="ctr">
            <a:normAutofit/>
          </a:bodyPr>
          <a:lstStyle/>
          <a:p>
            <a:pPr marR="0" lvl="0" fontAlgn="base">
              <a:lnSpc>
                <a:spcPct val="90000"/>
              </a:lnSpc>
              <a:spcBef>
                <a:spcPct val="0"/>
              </a:spcBef>
              <a:spcAft>
                <a:spcPts val="600"/>
              </a:spcAft>
              <a:buClrTx/>
              <a:buSzTx/>
              <a:tabLst/>
            </a:pPr>
            <a:r>
              <a:rPr kumimoji="0" lang="en-US" altLang="en-US" sz="1500" b="1" i="0" u="none" strike="noStrike" cap="none" normalizeH="0" baseline="0" dirty="0">
                <a:ln>
                  <a:noFill/>
                </a:ln>
                <a:effectLst/>
              </a:rPr>
              <a:t>Use Adjusted R² When:</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effectLst/>
              </a:rPr>
              <a:t>You want to avoid </a:t>
            </a:r>
            <a:r>
              <a:rPr kumimoji="0" lang="en-US" altLang="en-US" sz="1500" b="1" i="0" u="none" strike="noStrike" cap="none" normalizeH="0" baseline="0" dirty="0">
                <a:ln>
                  <a:noFill/>
                </a:ln>
                <a:effectLst/>
              </a:rPr>
              <a:t>overfitting</a:t>
            </a:r>
            <a:r>
              <a:rPr kumimoji="0" lang="en-US" altLang="en-US" sz="1500" b="0" i="0" u="none" strike="noStrike" cap="none" normalizeH="0" baseline="0" dirty="0">
                <a:ln>
                  <a:noFill/>
                </a:ln>
                <a:effectLst/>
              </a:rPr>
              <a:t>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effectLst/>
              </a:rPr>
              <a:t>You’re comparing models with </a:t>
            </a:r>
            <a:r>
              <a:rPr kumimoji="0" lang="en-US" altLang="en-US" sz="1500" b="1" i="0" u="none" strike="noStrike" cap="none" normalizeH="0" baseline="0" dirty="0">
                <a:ln>
                  <a:noFill/>
                </a:ln>
                <a:effectLst/>
              </a:rPr>
              <a:t>different numbers of predictors</a:t>
            </a:r>
            <a:r>
              <a:rPr kumimoji="0" lang="en-US" altLang="en-US" sz="1500" b="0" i="0" u="none" strike="noStrike" cap="none" normalizeH="0" baseline="0" dirty="0">
                <a:ln>
                  <a:noFill/>
                </a:ln>
                <a:effectLst/>
              </a:rPr>
              <a:t> </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2F2C5A9-B083-F171-DCCA-50C9C7365C66}"/>
                  </a:ext>
                </a:extLst>
              </p:cNvPr>
              <p:cNvSpPr>
                <a:spLocks noChangeArrowheads="1"/>
              </p:cNvSpPr>
              <p:nvPr/>
            </p:nvSpPr>
            <p:spPr bwMode="auto">
              <a:xfrm>
                <a:off x="609600" y="1439640"/>
                <a:ext cx="8001000" cy="25090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ClrTx/>
                  <a:buSzTx/>
                  <a:buFontTx/>
                  <a:buNone/>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Formula:</a:t>
                </a:r>
                <a:endParaRPr lang="en-US" altLang="en-US" dirty="0">
                  <a:latin typeface="Arial" panose="020B0604020202020204" pitchFamily="34" charset="0"/>
                </a:endParaRPr>
              </a:p>
              <a:p>
                <a:pPr lvl="0" eaLnBrk="0" fontAlgn="base" hangingPunct="0">
                  <a:spcBef>
                    <a:spcPct val="0"/>
                  </a:spcBef>
                  <a:spcAft>
                    <a:spcPts val="600"/>
                  </a:spcAft>
                </a:pPr>
                <a:r>
                  <a:rPr kumimoji="0" lang="en-US" altLang="en-US" sz="1800" b="0" u="none" strike="noStrike" cap="none" normalizeH="0" baseline="0" dirty="0">
                    <a:ln>
                      <a:noFill/>
                    </a:ln>
                    <a:solidFill>
                      <a:schemeClr val="tx1"/>
                    </a:solidFill>
                    <a:effectLst/>
                  </a:rPr>
                  <a:t>Adjusted </a:t>
                </a:r>
                <a14:m>
                  <m:oMath xmlns:m="http://schemas.openxmlformats.org/officeDocument/2006/math">
                    <m:sSup>
                      <m:sSupPr>
                        <m:ctrlPr>
                          <a:rPr kumimoji="0" lang="en-US" altLang="en-US" sz="1800" b="0" i="1" u="none" strike="noStrike" cap="none" normalizeH="0" baseline="0" dirty="0" smtClean="0">
                            <a:ln>
                              <a:noFill/>
                            </a:ln>
                            <a:solidFill>
                              <a:schemeClr val="tx1"/>
                            </a:solidFill>
                            <a:effectLst/>
                            <a:latin typeface="Cambria Math" panose="02040503050406030204" pitchFamily="18" charset="0"/>
                          </a:rPr>
                        </m:ctrlPr>
                      </m:sSupPr>
                      <m:e>
                        <m:r>
                          <a:rPr kumimoji="0" lang="en-US" altLang="en-US" sz="1800" b="0" i="0" u="none" strike="noStrike" cap="none" normalizeH="0" baseline="0" dirty="0" smtClean="0">
                            <a:ln>
                              <a:noFill/>
                            </a:ln>
                            <a:solidFill>
                              <a:schemeClr val="tx1"/>
                            </a:solidFill>
                            <a:effectLst/>
                            <a:latin typeface="Cambria Math" panose="02040503050406030204" pitchFamily="18" charset="0"/>
                          </a:rPr>
                          <m:t>𝑅</m:t>
                        </m:r>
                      </m:e>
                      <m:sup>
                        <m:r>
                          <a:rPr kumimoji="0" lang="en-US" altLang="en-US" sz="1800" b="0" i="0" u="none" strike="noStrike" cap="none" normalizeH="0" baseline="0" dirty="0" smtClean="0">
                            <a:ln>
                              <a:noFill/>
                            </a:ln>
                            <a:solidFill>
                              <a:schemeClr val="tx1"/>
                            </a:solidFill>
                            <a:effectLst/>
                            <a:latin typeface="Cambria Math" panose="02040503050406030204" pitchFamily="18" charset="0"/>
                          </a:rPr>
                          <m:t>2</m:t>
                        </m:r>
                      </m:sup>
                    </m:sSup>
                    <m:r>
                      <a:rPr kumimoji="0" lang="en-US" altLang="en-US" sz="1800" b="0" i="0" u="none" strike="noStrike" cap="none" normalizeH="0" baseline="0" dirty="0" smtClean="0">
                        <a:ln>
                          <a:noFill/>
                        </a:ln>
                        <a:solidFill>
                          <a:schemeClr val="tx1"/>
                        </a:solidFill>
                        <a:effectLst/>
                        <a:latin typeface="Cambria Math" panose="02040503050406030204" pitchFamily="18" charset="0"/>
                      </a:rPr>
                      <m:t>=</m:t>
                    </m:r>
                    <m:r>
                      <a:rPr lang="en-US" altLang="en-US" dirty="0">
                        <a:latin typeface="Cambria Math" panose="02040503050406030204" pitchFamily="18" charset="0"/>
                      </a:rPr>
                      <m:t>1−</m:t>
                    </m:r>
                    <m:r>
                      <a:rPr lang="en-US" altLang="en-US" b="0" i="0" dirty="0" smtClean="0">
                        <a:latin typeface="Cambria Math" panose="02040503050406030204" pitchFamily="18" charset="0"/>
                      </a:rPr>
                      <m:t>(</m:t>
                    </m:r>
                    <m:f>
                      <m:fPr>
                        <m:ctrlPr>
                          <a:rPr lang="en-US" altLang="en-US" i="1" dirty="0">
                            <a:latin typeface="Cambria Math" panose="02040503050406030204" pitchFamily="18" charset="0"/>
                          </a:rPr>
                        </m:ctrlPr>
                      </m:fPr>
                      <m:num>
                        <m:r>
                          <a:rPr lang="en-US" altLang="en-US" b="0" i="1" dirty="0" smtClean="0">
                            <a:latin typeface="Cambria Math" panose="02040503050406030204" pitchFamily="18" charset="0"/>
                          </a:rPr>
                          <m:t>(1−</m:t>
                        </m:r>
                        <m:sSup>
                          <m:sSupPr>
                            <m:ctrlPr>
                              <a:rPr lang="en-US" altLang="en-US" i="1" dirty="0">
                                <a:latin typeface="Cambria Math" panose="02040503050406030204" pitchFamily="18" charset="0"/>
                              </a:rPr>
                            </m:ctrlPr>
                          </m:sSupPr>
                          <m:e>
                            <m:r>
                              <a:rPr lang="en-US" altLang="en-US" dirty="0">
                                <a:latin typeface="Cambria Math" panose="02040503050406030204" pitchFamily="18" charset="0"/>
                              </a:rPr>
                              <m:t>𝑅</m:t>
                            </m:r>
                          </m:e>
                          <m:sup>
                            <m:r>
                              <a:rPr lang="en-US" altLang="en-US" dirty="0">
                                <a:latin typeface="Cambria Math" panose="02040503050406030204" pitchFamily="18" charset="0"/>
                              </a:rPr>
                              <m:t>2</m:t>
                            </m:r>
                          </m:sup>
                        </m:sSup>
                        <m:r>
                          <a:rPr lang="en-US" altLang="en-US" b="0" i="1" dirty="0" smtClean="0">
                            <a:latin typeface="Cambria Math" panose="02040503050406030204" pitchFamily="18" charset="0"/>
                          </a:rPr>
                          <m:t>)(</m:t>
                        </m:r>
                        <m:r>
                          <m:rPr>
                            <m:sty m:val="p"/>
                          </m:rPr>
                          <a:rPr lang="en-US" altLang="en-US" b="0" i="0" dirty="0" smtClean="0">
                            <a:latin typeface="Cambria Math" panose="02040503050406030204" pitchFamily="18" charset="0"/>
                          </a:rPr>
                          <m:t>n</m:t>
                        </m:r>
                        <m:r>
                          <a:rPr lang="en-US" altLang="en-US" dirty="0">
                            <a:latin typeface="Cambria Math" panose="02040503050406030204" pitchFamily="18" charset="0"/>
                          </a:rPr>
                          <m:t>−1</m:t>
                        </m:r>
                        <m:r>
                          <a:rPr lang="en-US" altLang="en-US" b="0" i="0" dirty="0" smtClean="0">
                            <a:latin typeface="Cambria Math" panose="02040503050406030204" pitchFamily="18" charset="0"/>
                          </a:rPr>
                          <m:t>)</m:t>
                        </m:r>
                      </m:num>
                      <m:den>
                        <m:r>
                          <a:rPr lang="en-US" altLang="en-US" dirty="0">
                            <a:latin typeface="Cambria Math" panose="02040503050406030204" pitchFamily="18" charset="0"/>
                          </a:rPr>
                          <m:t>𝑛</m:t>
                        </m:r>
                        <m:r>
                          <a:rPr lang="en-US" altLang="en-US" dirty="0">
                            <a:latin typeface="Cambria Math" panose="02040503050406030204" pitchFamily="18" charset="0"/>
                          </a:rPr>
                          <m:t>−</m:t>
                        </m:r>
                        <m:r>
                          <m:rPr>
                            <m:sty m:val="p"/>
                          </m:rPr>
                          <a:rPr lang="en-US" altLang="en-US" b="0" i="0" dirty="0" smtClean="0">
                            <a:latin typeface="Cambria Math" panose="02040503050406030204" pitchFamily="18" charset="0"/>
                          </a:rPr>
                          <m:t>k</m:t>
                        </m:r>
                        <m:r>
                          <a:rPr lang="en-US" altLang="en-US" dirty="0">
                            <a:latin typeface="Cambria Math" panose="02040503050406030204" pitchFamily="18" charset="0"/>
                          </a:rPr>
                          <m:t>−1</m:t>
                        </m:r>
                      </m:den>
                    </m:f>
                  </m:oMath>
                </a14:m>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ts val="6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Where:</a:t>
                </a:r>
              </a:p>
              <a:p>
                <a:pPr lvl="0" eaLnBrk="0" fontAlgn="base" hangingPunct="0">
                  <a:spcBef>
                    <a:spcPct val="0"/>
                  </a:spcBef>
                  <a:spcAft>
                    <a:spcPts val="600"/>
                  </a:spcAft>
                </a:pPr>
                <a:r>
                  <a:rPr lang="en-US" altLang="en-US" dirty="0">
                    <a:latin typeface="Arial" panose="020B0604020202020204" pitchFamily="34" charset="0"/>
                  </a:rPr>
                  <a:t>n = number of observations</a:t>
                </a:r>
              </a:p>
              <a:p>
                <a:pPr lvl="0" eaLnBrk="0" fontAlgn="base" hangingPunct="0">
                  <a:spcBef>
                    <a:spcPct val="0"/>
                  </a:spcBef>
                  <a:spcAft>
                    <a:spcPts val="600"/>
                  </a:spcAft>
                </a:pPr>
                <a:r>
                  <a:rPr lang="en-US" altLang="en-US" dirty="0">
                    <a:latin typeface="Arial" panose="020B0604020202020204" pitchFamily="34" charset="0"/>
                  </a:rPr>
                  <a:t>k = number of predictors</a:t>
                </a:r>
              </a:p>
              <a:p>
                <a:pPr marL="0" marR="0" lvl="0" indent="0" algn="l" defTabSz="914400" rtl="0" eaLnBrk="0" fontAlgn="base" latinLnBrk="0" hangingPunct="0">
                  <a:lnSpc>
                    <a:spcPct val="100000"/>
                  </a:lnSpc>
                  <a:spcBef>
                    <a:spcPct val="0"/>
                  </a:spcBef>
                  <a:spcAft>
                    <a:spcPts val="60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p:sp>
            <p:nvSpPr>
              <p:cNvPr id="4" name="Rectangle 3">
                <a:extLst>
                  <a:ext uri="{FF2B5EF4-FFF2-40B4-BE49-F238E27FC236}">
                    <a16:creationId xmlns:a16="http://schemas.microsoft.com/office/drawing/2014/main" id="{82F2C5A9-B083-F171-DCCA-50C9C7365C66}"/>
                  </a:ext>
                </a:extLst>
              </p:cNvPr>
              <p:cNvSpPr>
                <a:spLocks noRot="1" noChangeAspect="1" noMove="1" noResize="1" noEditPoints="1" noAdjustHandles="1" noChangeArrowheads="1" noChangeShapeType="1" noTextEdit="1"/>
              </p:cNvSpPr>
              <p:nvPr/>
            </p:nvSpPr>
            <p:spPr bwMode="auto">
              <a:xfrm>
                <a:off x="609600" y="1439640"/>
                <a:ext cx="8001000" cy="2509020"/>
              </a:xfrm>
              <a:prstGeom prst="rect">
                <a:avLst/>
              </a:prstGeom>
              <a:blipFill>
                <a:blip r:embed="rId2"/>
                <a:stretch>
                  <a:fillRect l="-6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42295481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6F11E2-5423-421B-2A6D-B798BF829046}"/>
              </a:ext>
            </a:extLst>
          </p:cNvPr>
          <p:cNvPicPr>
            <a:picLocks noChangeAspect="1"/>
          </p:cNvPicPr>
          <p:nvPr/>
        </p:nvPicPr>
        <p:blipFill>
          <a:blip r:embed="rId2"/>
          <a:stretch>
            <a:fillRect/>
          </a:stretch>
        </p:blipFill>
        <p:spPr>
          <a:xfrm>
            <a:off x="43900" y="0"/>
            <a:ext cx="9056200" cy="5143500"/>
          </a:xfrm>
          <a:prstGeom prst="rect">
            <a:avLst/>
          </a:prstGeom>
        </p:spPr>
      </p:pic>
    </p:spTree>
    <p:extLst>
      <p:ext uri="{BB962C8B-B14F-4D97-AF65-F5344CB8AC3E}">
        <p14:creationId xmlns:p14="http://schemas.microsoft.com/office/powerpoint/2010/main" val="26406855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98949"/>
            <a:ext cx="109471"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35</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4191810"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Classification Algorithms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326885" y="1362970"/>
            <a:ext cx="3039361" cy="3110989"/>
          </a:xfrm>
          <a:custGeom>
            <a:avLst/>
            <a:gdLst/>
            <a:ahLst/>
            <a:cxnLst/>
            <a:rect l="l" t="t" r="r" b="b"/>
            <a:pathLst>
              <a:path w="3039361" h="3110989">
                <a:moveTo>
                  <a:pt x="0" y="0"/>
                </a:moveTo>
                <a:lnTo>
                  <a:pt x="3039361" y="0"/>
                </a:lnTo>
                <a:lnTo>
                  <a:pt x="3039361" y="3110989"/>
                </a:lnTo>
                <a:lnTo>
                  <a:pt x="0" y="31109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2303" y="4645304"/>
            <a:ext cx="110109"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1988839"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Classification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33756" y="1207770"/>
            <a:ext cx="3149527"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Predicting category of new observations </a:t>
            </a:r>
          </a:p>
        </p:txBody>
      </p:sp>
      <p:sp>
        <p:nvSpPr>
          <p:cNvPr id="13" name="TextBox 13"/>
          <p:cNvSpPr txBox="1"/>
          <p:nvPr/>
        </p:nvSpPr>
        <p:spPr>
          <a:xfrm>
            <a:off x="333756" y="1791719"/>
            <a:ext cx="3782054"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Let’s go through various classification algorithms:</a:t>
            </a:r>
          </a:p>
        </p:txBody>
      </p:sp>
      <p:sp>
        <p:nvSpPr>
          <p:cNvPr id="14" name="TextBox 14"/>
          <p:cNvSpPr txBox="1"/>
          <p:nvPr/>
        </p:nvSpPr>
        <p:spPr>
          <a:xfrm>
            <a:off x="333756" y="2376935"/>
            <a:ext cx="2441000" cy="1460373"/>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1. k-nn ( K-nearest neighbours) </a:t>
            </a:r>
          </a:p>
          <a:p>
            <a:pPr algn="l">
              <a:lnSpc>
                <a:spcPts val="600"/>
              </a:lnSpc>
            </a:pPr>
            <a:r>
              <a:rPr lang="en-US" sz="1200" b="1">
                <a:solidFill>
                  <a:srgbClr val="000000"/>
                </a:solidFill>
                <a:latin typeface="29LT Bukra Medium"/>
                <a:ea typeface="29LT Bukra Medium"/>
                <a:cs typeface="29LT Bukra Medium"/>
                <a:sym typeface="29LT Bukra Medium"/>
              </a:rPr>
              <a:t>2. Decision Trees </a:t>
            </a:r>
          </a:p>
          <a:p>
            <a:pPr algn="l">
              <a:lnSpc>
                <a:spcPts val="2805"/>
              </a:lnSpc>
            </a:pPr>
            <a:r>
              <a:rPr lang="en-US" sz="1202" b="1">
                <a:solidFill>
                  <a:srgbClr val="000000"/>
                </a:solidFill>
                <a:latin typeface="29LT Bukra Medium"/>
                <a:ea typeface="29LT Bukra Medium"/>
                <a:cs typeface="29LT Bukra Medium"/>
                <a:sym typeface="29LT Bukra Medium"/>
              </a:rPr>
              <a:t>3. Random Forest </a:t>
            </a:r>
          </a:p>
          <a:p>
            <a:pPr algn="l">
              <a:lnSpc>
                <a:spcPts val="600"/>
              </a:lnSpc>
            </a:pPr>
            <a:r>
              <a:rPr lang="en-US" sz="1200" b="1">
                <a:solidFill>
                  <a:srgbClr val="000000"/>
                </a:solidFill>
                <a:latin typeface="29LT Bukra Medium"/>
                <a:ea typeface="29LT Bukra Medium"/>
                <a:cs typeface="29LT Bukra Medium"/>
                <a:sym typeface="29LT Bukra Medium"/>
              </a:rPr>
              <a:t>4. Naive Bayes </a:t>
            </a:r>
          </a:p>
          <a:p>
            <a:pPr algn="l">
              <a:lnSpc>
                <a:spcPts val="2808"/>
              </a:lnSpc>
            </a:pPr>
            <a:r>
              <a:rPr lang="en-US" sz="1200" b="1">
                <a:solidFill>
                  <a:srgbClr val="000000"/>
                </a:solidFill>
                <a:latin typeface="29LT Bukra Medium"/>
                <a:ea typeface="29LT Bukra Medium"/>
                <a:cs typeface="29LT Bukra Medium"/>
                <a:sym typeface="29LT Bukra Medium"/>
              </a:rPr>
              <a:t>5. Support Vector Machines </a:t>
            </a:r>
          </a:p>
          <a:p>
            <a:pPr algn="l">
              <a:lnSpc>
                <a:spcPts val="600"/>
              </a:lnSpc>
            </a:pPr>
            <a:r>
              <a:rPr lang="en-US" sz="1200" b="1">
                <a:solidFill>
                  <a:srgbClr val="000000"/>
                </a:solidFill>
                <a:latin typeface="29LT Bukra Medium"/>
                <a:ea typeface="29LT Bukra Medium"/>
                <a:cs typeface="29LT Bukra Medium"/>
                <a:sym typeface="29LT Bukra Medium"/>
              </a:rPr>
              <a:t>6. Logistic Regression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216908" y="1411224"/>
            <a:ext cx="4582668" cy="2734056"/>
          </a:xfrm>
          <a:custGeom>
            <a:avLst/>
            <a:gdLst/>
            <a:ahLst/>
            <a:cxnLst/>
            <a:rect l="l" t="t" r="r" b="b"/>
            <a:pathLst>
              <a:path w="4582668" h="2734056">
                <a:moveTo>
                  <a:pt x="0" y="0"/>
                </a:moveTo>
                <a:lnTo>
                  <a:pt x="4582668" y="0"/>
                </a:lnTo>
                <a:lnTo>
                  <a:pt x="4582668" y="2734056"/>
                </a:lnTo>
                <a:lnTo>
                  <a:pt x="0" y="273405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6875" y="4645304"/>
            <a:ext cx="102079"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37</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95314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KNN (K-Nearest Neighbors)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533381" y="2882465"/>
            <a:ext cx="35433" cy="215646"/>
          </a:xfrm>
          <a:prstGeom prst="rect">
            <a:avLst/>
          </a:prstGeom>
        </p:spPr>
        <p:txBody>
          <a:bodyPr lIns="0" tIns="0" rIns="0" bIns="0" rtlCol="0" anchor="t">
            <a:spAutoFit/>
          </a:bodyPr>
          <a:lstStyle/>
          <a:p>
            <a:pPr algn="l">
              <a:lnSpc>
                <a:spcPts val="1420"/>
              </a:lnSpc>
            </a:pPr>
            <a:r>
              <a:rPr lang="en-US" sz="998" b="1">
                <a:solidFill>
                  <a:srgbClr val="000000"/>
                </a:solidFill>
                <a:latin typeface="29LT Bukra Medium"/>
                <a:ea typeface="29LT Bukra Medium"/>
                <a:cs typeface="29LT Bukra Medium"/>
                <a:sym typeface="29LT Bukra Medium"/>
              </a:rPr>
              <a:t> </a:t>
            </a:r>
          </a:p>
        </p:txBody>
      </p:sp>
      <p:sp>
        <p:nvSpPr>
          <p:cNvPr id="13" name="TextBox 13"/>
          <p:cNvSpPr txBox="1"/>
          <p:nvPr/>
        </p:nvSpPr>
        <p:spPr>
          <a:xfrm>
            <a:off x="365760" y="3062849"/>
            <a:ext cx="2844289" cy="215265"/>
          </a:xfrm>
          <a:prstGeom prst="rect">
            <a:avLst/>
          </a:prstGeom>
        </p:spPr>
        <p:txBody>
          <a:bodyPr lIns="0" tIns="0" rIns="0" bIns="0" rtlCol="0" anchor="t">
            <a:spAutoFit/>
          </a:bodyPr>
          <a:lstStyle/>
          <a:p>
            <a:pPr algn="l">
              <a:lnSpc>
                <a:spcPts val="1417"/>
              </a:lnSpc>
            </a:pPr>
            <a:r>
              <a:rPr lang="en-US" sz="996" b="1" spc="1">
                <a:solidFill>
                  <a:srgbClr val="000000"/>
                </a:solidFill>
                <a:latin typeface="29LT Bukra Medium"/>
                <a:ea typeface="29LT Bukra Medium"/>
                <a:cs typeface="29LT Bukra Medium"/>
                <a:sym typeface="29LT Bukra Medium"/>
              </a:rPr>
              <a:t>can assume the new datapoint as red class.</a:t>
            </a:r>
          </a:p>
        </p:txBody>
      </p:sp>
      <p:sp>
        <p:nvSpPr>
          <p:cNvPr id="14" name="TextBox 14"/>
          <p:cNvSpPr txBox="1"/>
          <p:nvPr/>
        </p:nvSpPr>
        <p:spPr>
          <a:xfrm>
            <a:off x="365760" y="1511665"/>
            <a:ext cx="2217239" cy="310515"/>
          </a:xfrm>
          <a:prstGeom prst="rect">
            <a:avLst/>
          </a:prstGeom>
        </p:spPr>
        <p:txBody>
          <a:bodyPr lIns="0" tIns="0" rIns="0" bIns="0" rtlCol="0" anchor="t">
            <a:spAutoFit/>
          </a:bodyPr>
          <a:lstStyle/>
          <a:p>
            <a:pPr algn="l">
              <a:lnSpc>
                <a:spcPts val="2490"/>
              </a:lnSpc>
            </a:pPr>
            <a:r>
              <a:rPr lang="en-US" sz="996" b="1" spc="0">
                <a:solidFill>
                  <a:srgbClr val="000000"/>
                </a:solidFill>
                <a:latin typeface="29LT Bukra Medium"/>
                <a:ea typeface="29LT Bukra Medium"/>
                <a:cs typeface="29LT Bukra Medium"/>
                <a:sym typeface="29LT Bukra Medium"/>
              </a:rPr>
              <a:t>Let say, we have a point at (40,60) </a:t>
            </a:r>
          </a:p>
        </p:txBody>
      </p:sp>
      <p:sp>
        <p:nvSpPr>
          <p:cNvPr id="15" name="TextBox 15"/>
          <p:cNvSpPr txBox="1"/>
          <p:nvPr/>
        </p:nvSpPr>
        <p:spPr>
          <a:xfrm>
            <a:off x="365760" y="2059038"/>
            <a:ext cx="3542167" cy="490347"/>
          </a:xfrm>
          <a:prstGeom prst="rect">
            <a:avLst/>
          </a:prstGeom>
        </p:spPr>
        <p:txBody>
          <a:bodyPr lIns="0" tIns="0" rIns="0" bIns="0" rtlCol="0" anchor="t">
            <a:spAutoFit/>
          </a:bodyPr>
          <a:lstStyle/>
          <a:p>
            <a:pPr algn="l">
              <a:lnSpc>
                <a:spcPts val="2490"/>
              </a:lnSpc>
            </a:pPr>
            <a:r>
              <a:rPr lang="en-US" sz="996" b="1" spc="2">
                <a:solidFill>
                  <a:srgbClr val="000000"/>
                </a:solidFill>
                <a:latin typeface="29LT Bukra Medium"/>
                <a:ea typeface="29LT Bukra Medium"/>
                <a:cs typeface="29LT Bukra Medium"/>
                <a:sym typeface="29LT Bukra Medium"/>
              </a:rPr>
              <a:t>As we have 2 classes here, let’s assume k = 3 (k can be </a:t>
            </a:r>
          </a:p>
          <a:p>
            <a:pPr algn="l">
              <a:lnSpc>
                <a:spcPts val="498"/>
              </a:lnSpc>
            </a:pPr>
            <a:r>
              <a:rPr lang="en-US" sz="996" b="1" spc="1">
                <a:solidFill>
                  <a:srgbClr val="000000"/>
                </a:solidFill>
                <a:latin typeface="29LT Bukra Medium"/>
                <a:ea typeface="29LT Bukra Medium"/>
                <a:cs typeface="29LT Bukra Medium"/>
                <a:sym typeface="29LT Bukra Medium"/>
              </a:rPr>
              <a:t>any value as multiple of number of classes + 1)</a:t>
            </a:r>
          </a:p>
        </p:txBody>
      </p:sp>
      <p:sp>
        <p:nvSpPr>
          <p:cNvPr id="16" name="TextBox 16"/>
          <p:cNvSpPr txBox="1"/>
          <p:nvPr/>
        </p:nvSpPr>
        <p:spPr>
          <a:xfrm>
            <a:off x="365760" y="2891990"/>
            <a:ext cx="3634511" cy="206121"/>
          </a:xfrm>
          <a:prstGeom prst="rect">
            <a:avLst/>
          </a:prstGeom>
        </p:spPr>
        <p:txBody>
          <a:bodyPr lIns="0" tIns="0" rIns="0" bIns="0" rtlCol="0" anchor="t">
            <a:spAutoFit/>
          </a:bodyPr>
          <a:lstStyle/>
          <a:p>
            <a:pPr algn="l">
              <a:lnSpc>
                <a:spcPts val="1397"/>
              </a:lnSpc>
            </a:pPr>
            <a:r>
              <a:rPr lang="en-US" sz="998" b="1">
                <a:solidFill>
                  <a:srgbClr val="000000"/>
                </a:solidFill>
                <a:latin typeface="29LT Bukra Medium"/>
                <a:ea typeface="29LT Bukra Medium"/>
                <a:cs typeface="29LT Bukra Medium"/>
                <a:sym typeface="29LT Bukra Medium"/>
              </a:rPr>
              <a:t>As,wesee2redsand 1 bluenearbythe(40,60) mark, we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431792" y="935736"/>
            <a:ext cx="4204716" cy="3104388"/>
          </a:xfrm>
          <a:custGeom>
            <a:avLst/>
            <a:gdLst/>
            <a:ahLst/>
            <a:cxnLst/>
            <a:rect l="l" t="t" r="r" b="b"/>
            <a:pathLst>
              <a:path w="4204716" h="3104388">
                <a:moveTo>
                  <a:pt x="0" y="0"/>
                </a:moveTo>
                <a:lnTo>
                  <a:pt x="4204716" y="0"/>
                </a:lnTo>
                <a:lnTo>
                  <a:pt x="4204716" y="3104388"/>
                </a:lnTo>
                <a:lnTo>
                  <a:pt x="0" y="310438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45304"/>
            <a:ext cx="109747"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38</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1905867"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Decision Tree</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65760" y="1607563"/>
            <a:ext cx="3569579" cy="679199"/>
          </a:xfrm>
          <a:prstGeom prst="rect">
            <a:avLst/>
          </a:prstGeom>
        </p:spPr>
        <p:txBody>
          <a:bodyPr lIns="0" tIns="0" rIns="0" bIns="0" rtlCol="0" anchor="t">
            <a:spAutoFit/>
          </a:bodyPr>
          <a:lstStyle/>
          <a:p>
            <a:pPr algn="l">
              <a:lnSpc>
                <a:spcPts val="1696"/>
              </a:lnSpc>
            </a:pPr>
            <a:r>
              <a:rPr lang="en-US" sz="1200" b="1">
                <a:solidFill>
                  <a:srgbClr val="000000"/>
                </a:solidFill>
                <a:latin typeface="29LT Bukra Medium"/>
                <a:ea typeface="29LT Bukra Medium"/>
                <a:cs typeface="29LT Bukra Medium"/>
                <a:sym typeface="29LT Bukra Medium"/>
              </a:rPr>
              <a:t>It works on the principle of identifying the root node, and creates a tree to traverse from top- bottom approach to identify the right classes.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782755" y="586616"/>
            <a:ext cx="8273872" cy="4440555"/>
          </a:xfrm>
          <a:custGeom>
            <a:avLst/>
            <a:gdLst/>
            <a:ahLst/>
            <a:cxnLst/>
            <a:rect l="l" t="t" r="r" b="b"/>
            <a:pathLst>
              <a:path w="8273872" h="4440555">
                <a:moveTo>
                  <a:pt x="0" y="0"/>
                </a:moveTo>
                <a:lnTo>
                  <a:pt x="8273872" y="0"/>
                </a:lnTo>
                <a:lnTo>
                  <a:pt x="8273872" y="4440555"/>
                </a:lnTo>
                <a:lnTo>
                  <a:pt x="0" y="44405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292303" y="4645304"/>
            <a:ext cx="109652"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39</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1905867"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Decision Tree</a:t>
            </a:r>
          </a:p>
        </p:txBody>
      </p:sp>
      <p:sp>
        <p:nvSpPr>
          <p:cNvPr id="10" name="TextBox 10"/>
          <p:cNvSpPr txBox="1"/>
          <p:nvPr/>
        </p:nvSpPr>
        <p:spPr>
          <a:xfrm>
            <a:off x="942442" y="669303"/>
            <a:ext cx="376295" cy="3611886"/>
          </a:xfrm>
          <a:prstGeom prst="rect">
            <a:avLst/>
          </a:prstGeom>
        </p:spPr>
        <p:txBody>
          <a:bodyPr lIns="0" tIns="0" rIns="0" bIns="0" rtlCol="0" anchor="t">
            <a:spAutoFit/>
          </a:bodyPr>
          <a:lstStyle/>
          <a:p>
            <a:pPr algn="just">
              <a:lnSpc>
                <a:spcPts val="1965"/>
              </a:lnSpc>
            </a:pPr>
            <a:r>
              <a:rPr lang="en-US" sz="1403" b="1" dirty="0">
                <a:solidFill>
                  <a:srgbClr val="000000"/>
                </a:solidFill>
                <a:latin typeface="Arial" panose="020B0604020202020204" pitchFamily="34" charset="0"/>
                <a:ea typeface="29LT Bukra Bold"/>
                <a:cs typeface="Arial" panose="020B0604020202020204" pitchFamily="34" charset="0"/>
                <a:sym typeface="29LT Bukra Bold"/>
              </a:rPr>
              <a:t>Age</a:t>
            </a:r>
          </a:p>
          <a:p>
            <a:pPr algn="just">
              <a:lnSpc>
                <a:spcPts val="2942"/>
              </a:lnSpc>
            </a:pPr>
            <a:r>
              <a:rPr lang="en-US" sz="1200" spc="4" dirty="0">
                <a:solidFill>
                  <a:srgbClr val="000000"/>
                </a:solidFill>
                <a:latin typeface="Aptos" panose="020B0004020202020204" pitchFamily="34" charset="0"/>
                <a:ea typeface="Heading Now 11-18"/>
                <a:cs typeface="Heading Now 11-18"/>
                <a:sym typeface="Heading Now 11-18"/>
              </a:rPr>
              <a:t>Old </a:t>
            </a:r>
            <a:r>
              <a:rPr lang="en-US" sz="1200" spc="4" dirty="0" err="1">
                <a:solidFill>
                  <a:srgbClr val="000000"/>
                </a:solidFill>
                <a:latin typeface="Aptos" panose="020B0004020202020204" pitchFamily="34" charset="0"/>
                <a:ea typeface="Heading Now 11-18"/>
                <a:cs typeface="Heading Now 11-18"/>
                <a:sym typeface="Heading Now 11-18"/>
              </a:rPr>
              <a:t>Old</a:t>
            </a:r>
            <a:endParaRPr lang="en-US" sz="1200" spc="4" dirty="0">
              <a:solidFill>
                <a:srgbClr val="000000"/>
              </a:solidFill>
              <a:latin typeface="Aptos" panose="020B0004020202020204" pitchFamily="34" charset="0"/>
              <a:ea typeface="Heading Now 11-18"/>
              <a:cs typeface="Heading Now 11-18"/>
              <a:sym typeface="Heading Now 11-18"/>
            </a:endParaRPr>
          </a:p>
          <a:p>
            <a:pPr algn="just">
              <a:lnSpc>
                <a:spcPts val="1683"/>
              </a:lnSpc>
            </a:pPr>
            <a:r>
              <a:rPr lang="en-US" sz="1202" spc="2" dirty="0">
                <a:solidFill>
                  <a:srgbClr val="000000"/>
                </a:solidFill>
                <a:latin typeface="Aptos" panose="020B0004020202020204" pitchFamily="34" charset="0"/>
                <a:ea typeface="Heading Now 11-18"/>
                <a:cs typeface="Heading Now 11-18"/>
                <a:sym typeface="Heading Now 11-18"/>
              </a:rPr>
              <a:t>Old</a:t>
            </a:r>
          </a:p>
          <a:p>
            <a:pPr algn="just">
              <a:lnSpc>
                <a:spcPts val="2942"/>
              </a:lnSpc>
            </a:pPr>
            <a:r>
              <a:rPr lang="en-US" sz="1200" spc="2" dirty="0">
                <a:solidFill>
                  <a:srgbClr val="000000"/>
                </a:solidFill>
                <a:latin typeface="Aptos" panose="020B0004020202020204" pitchFamily="34" charset="0"/>
                <a:ea typeface="Heading Now 11-18"/>
                <a:cs typeface="Heading Now 11-18"/>
                <a:sym typeface="Heading Now 11-18"/>
              </a:rPr>
              <a:t>Mid </a:t>
            </a:r>
            <a:r>
              <a:rPr lang="en-US" sz="1200" spc="2" dirty="0" err="1">
                <a:solidFill>
                  <a:srgbClr val="000000"/>
                </a:solidFill>
                <a:latin typeface="Aptos" panose="020B0004020202020204" pitchFamily="34" charset="0"/>
                <a:ea typeface="Heading Now 11-18"/>
                <a:cs typeface="Heading Now 11-18"/>
                <a:sym typeface="Heading Now 11-18"/>
              </a:rPr>
              <a:t>Mid</a:t>
            </a:r>
            <a:endParaRPr lang="en-US" sz="1200" spc="2" dirty="0">
              <a:solidFill>
                <a:srgbClr val="000000"/>
              </a:solidFill>
              <a:latin typeface="Aptos" panose="020B0004020202020204" pitchFamily="34" charset="0"/>
              <a:ea typeface="Heading Now 11-18"/>
              <a:cs typeface="Heading Now 11-18"/>
              <a:sym typeface="Heading Now 11-18"/>
            </a:endParaRP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Mid</a:t>
            </a:r>
          </a:p>
          <a:p>
            <a:pPr algn="just">
              <a:lnSpc>
                <a:spcPts val="2943"/>
              </a:lnSpc>
            </a:pPr>
            <a:r>
              <a:rPr lang="en-US" sz="1200" spc="2" dirty="0">
                <a:solidFill>
                  <a:srgbClr val="000000"/>
                </a:solidFill>
                <a:latin typeface="Aptos" panose="020B0004020202020204" pitchFamily="34" charset="0"/>
                <a:ea typeface="Heading Now 11-18"/>
                <a:cs typeface="Heading Now 11-18"/>
                <a:sym typeface="Heading Now 11-18"/>
              </a:rPr>
              <a:t>Mid New </a:t>
            </a:r>
            <a:r>
              <a:rPr lang="en-US" sz="1200" spc="2" dirty="0" err="1">
                <a:solidFill>
                  <a:srgbClr val="000000"/>
                </a:solidFill>
                <a:latin typeface="Aptos" panose="020B0004020202020204" pitchFamily="34" charset="0"/>
                <a:ea typeface="Heading Now 11-18"/>
                <a:cs typeface="Heading Now 11-18"/>
                <a:sym typeface="Heading Now 11-18"/>
              </a:rPr>
              <a:t>New</a:t>
            </a:r>
            <a:r>
              <a:rPr lang="en-US" sz="1200" spc="2" dirty="0">
                <a:solidFill>
                  <a:srgbClr val="000000"/>
                </a:solidFill>
                <a:latin typeface="Aptos" panose="020B0004020202020204" pitchFamily="34" charset="0"/>
                <a:ea typeface="Heading Now 11-18"/>
                <a:cs typeface="Heading Now 11-18"/>
                <a:sym typeface="Heading Now 11-18"/>
              </a:rPr>
              <a:t> </a:t>
            </a:r>
            <a:r>
              <a:rPr lang="en-US" sz="1200" spc="2" dirty="0" err="1">
                <a:solidFill>
                  <a:srgbClr val="000000"/>
                </a:solidFill>
                <a:latin typeface="Aptos" panose="020B0004020202020204" pitchFamily="34" charset="0"/>
                <a:ea typeface="Heading Now 11-18"/>
                <a:cs typeface="Heading Now 11-18"/>
                <a:sym typeface="Heading Now 11-18"/>
              </a:rPr>
              <a:t>New</a:t>
            </a:r>
            <a:endParaRPr lang="en-US" sz="1200" spc="2" dirty="0">
              <a:solidFill>
                <a:srgbClr val="000000"/>
              </a:solidFill>
              <a:latin typeface="Aptos" panose="020B0004020202020204" pitchFamily="34" charset="0"/>
              <a:ea typeface="Heading Now 11-18"/>
              <a:cs typeface="Heading Now 11-18"/>
              <a:sym typeface="Heading Now 11-18"/>
            </a:endParaRPr>
          </a:p>
        </p:txBody>
      </p:sp>
      <p:sp>
        <p:nvSpPr>
          <p:cNvPr id="11" name="TextBox 11"/>
          <p:cNvSpPr txBox="1"/>
          <p:nvPr/>
        </p:nvSpPr>
        <p:spPr>
          <a:xfrm>
            <a:off x="2750182" y="669303"/>
            <a:ext cx="1202188" cy="1752403"/>
          </a:xfrm>
          <a:prstGeom prst="rect">
            <a:avLst/>
          </a:prstGeom>
        </p:spPr>
        <p:txBody>
          <a:bodyPr lIns="0" tIns="0" rIns="0" bIns="0" rtlCol="0" anchor="t">
            <a:spAutoFit/>
          </a:bodyPr>
          <a:lstStyle/>
          <a:p>
            <a:pPr algn="just">
              <a:lnSpc>
                <a:spcPts val="1965"/>
              </a:lnSpc>
            </a:pPr>
            <a:r>
              <a:rPr lang="en-US" sz="1403" b="1" dirty="0">
                <a:solidFill>
                  <a:srgbClr val="000000"/>
                </a:solidFill>
                <a:latin typeface="Arial" panose="020B0604020202020204" pitchFamily="34" charset="0"/>
                <a:ea typeface="29LT Bukra Bold"/>
                <a:cs typeface="Arial" panose="020B0604020202020204" pitchFamily="34" charset="0"/>
                <a:sym typeface="29LT Bukra Bold"/>
              </a:rPr>
              <a:t>Competition</a:t>
            </a:r>
          </a:p>
          <a:p>
            <a:pPr algn="just">
              <a:lnSpc>
                <a:spcPts val="2942"/>
              </a:lnSpc>
            </a:pPr>
            <a:r>
              <a:rPr lang="en-US" sz="1200" dirty="0">
                <a:solidFill>
                  <a:srgbClr val="000000"/>
                </a:solidFill>
                <a:latin typeface="Aptos" panose="020B0004020202020204" pitchFamily="34" charset="0"/>
                <a:ea typeface="Heading Now 11-18"/>
                <a:cs typeface="Heading Now 11-18"/>
                <a:sym typeface="Heading Now 11-18"/>
              </a:rPr>
              <a:t>Yes No</a:t>
            </a: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No</a:t>
            </a:r>
          </a:p>
          <a:p>
            <a:pPr algn="just">
              <a:lnSpc>
                <a:spcPts val="2942"/>
              </a:lnSpc>
            </a:pPr>
            <a:r>
              <a:rPr lang="en-US" sz="1200" dirty="0">
                <a:solidFill>
                  <a:srgbClr val="000000"/>
                </a:solidFill>
                <a:latin typeface="Aptos" panose="020B0004020202020204" pitchFamily="34" charset="0"/>
                <a:ea typeface="Heading Now 11-18"/>
                <a:cs typeface="Heading Now 11-18"/>
                <a:sym typeface="Heading Now 11-18"/>
              </a:rPr>
              <a:t>Yes </a:t>
            </a:r>
            <a:r>
              <a:rPr lang="en-US" sz="1200" dirty="0" err="1">
                <a:solidFill>
                  <a:srgbClr val="000000"/>
                </a:solidFill>
                <a:latin typeface="Aptos" panose="020B0004020202020204" pitchFamily="34" charset="0"/>
                <a:ea typeface="Heading Now 11-18"/>
                <a:cs typeface="Heading Now 11-18"/>
                <a:sym typeface="Heading Now 11-18"/>
              </a:rPr>
              <a:t>Yes</a:t>
            </a:r>
            <a:endParaRPr lang="en-US" sz="1200" dirty="0">
              <a:solidFill>
                <a:srgbClr val="000000"/>
              </a:solidFill>
              <a:latin typeface="Aptos" panose="020B0004020202020204" pitchFamily="34" charset="0"/>
              <a:ea typeface="Heading Now 11-18"/>
              <a:cs typeface="Heading Now 11-18"/>
              <a:sym typeface="Heading Now 11-18"/>
            </a:endParaRP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No</a:t>
            </a:r>
          </a:p>
          <a:p>
            <a:pPr algn="just">
              <a:lnSpc>
                <a:spcPts val="2943"/>
              </a:lnSpc>
            </a:pPr>
            <a:r>
              <a:rPr lang="en-US" sz="1200" dirty="0">
                <a:solidFill>
                  <a:srgbClr val="000000"/>
                </a:solidFill>
                <a:latin typeface="Aptos" panose="020B0004020202020204" pitchFamily="34" charset="0"/>
                <a:ea typeface="Heading Now 11-18"/>
                <a:cs typeface="Heading Now 11-18"/>
                <a:sym typeface="Heading Now 11-18"/>
              </a:rPr>
              <a:t>No Yes No </a:t>
            </a:r>
            <a:r>
              <a:rPr lang="en-US" sz="1200" dirty="0" err="1">
                <a:solidFill>
                  <a:srgbClr val="000000"/>
                </a:solidFill>
                <a:latin typeface="Aptos" panose="020B0004020202020204" pitchFamily="34" charset="0"/>
                <a:ea typeface="Heading Now 11-18"/>
                <a:cs typeface="Heading Now 11-18"/>
                <a:sym typeface="Heading Now 11-18"/>
              </a:rPr>
              <a:t>No</a:t>
            </a:r>
            <a:endParaRPr lang="en-US" sz="1200" dirty="0">
              <a:solidFill>
                <a:srgbClr val="000000"/>
              </a:solidFill>
              <a:latin typeface="Aptos" panose="020B0004020202020204" pitchFamily="34" charset="0"/>
              <a:ea typeface="Heading Now 11-18"/>
              <a:cs typeface="Heading Now 11-18"/>
              <a:sym typeface="Heading Now 11-18"/>
            </a:endParaRPr>
          </a:p>
        </p:txBody>
      </p:sp>
      <p:sp>
        <p:nvSpPr>
          <p:cNvPr id="12" name="TextBox 12"/>
          <p:cNvSpPr txBox="1"/>
          <p:nvPr/>
        </p:nvSpPr>
        <p:spPr>
          <a:xfrm>
            <a:off x="4558027" y="669303"/>
            <a:ext cx="763686" cy="3617272"/>
          </a:xfrm>
          <a:prstGeom prst="rect">
            <a:avLst/>
          </a:prstGeom>
        </p:spPr>
        <p:txBody>
          <a:bodyPr lIns="0" tIns="0" rIns="0" bIns="0" rtlCol="0" anchor="t">
            <a:spAutoFit/>
          </a:bodyPr>
          <a:lstStyle/>
          <a:p>
            <a:pPr algn="just">
              <a:lnSpc>
                <a:spcPts val="1965"/>
              </a:lnSpc>
            </a:pPr>
            <a:r>
              <a:rPr lang="en-US" sz="1403" b="1" dirty="0">
                <a:solidFill>
                  <a:srgbClr val="000000"/>
                </a:solidFill>
                <a:latin typeface="Arial" panose="020B0604020202020204" pitchFamily="34" charset="0"/>
                <a:ea typeface="29LT Bukra Bold"/>
                <a:cs typeface="Arial" panose="020B0604020202020204" pitchFamily="34" charset="0"/>
                <a:sym typeface="29LT Bukra Bold"/>
              </a:rPr>
              <a:t>Type</a:t>
            </a:r>
          </a:p>
          <a:p>
            <a:pPr algn="just">
              <a:lnSpc>
                <a:spcPts val="2942"/>
              </a:lnSpc>
            </a:pPr>
            <a:r>
              <a:rPr lang="en-US" sz="1200" dirty="0">
                <a:solidFill>
                  <a:srgbClr val="000000"/>
                </a:solidFill>
                <a:latin typeface="Aptos" panose="020B0004020202020204" pitchFamily="34" charset="0"/>
                <a:ea typeface="Heading Now 11-18"/>
                <a:cs typeface="Heading Now 11-18"/>
                <a:sym typeface="Heading Now 11-18"/>
              </a:rPr>
              <a:t>Software </a:t>
            </a:r>
            <a:r>
              <a:rPr lang="en-US" sz="1200" dirty="0" err="1">
                <a:solidFill>
                  <a:srgbClr val="000000"/>
                </a:solidFill>
                <a:latin typeface="Aptos" panose="020B0004020202020204" pitchFamily="34" charset="0"/>
                <a:ea typeface="Heading Now 11-18"/>
                <a:cs typeface="Heading Now 11-18"/>
                <a:sym typeface="Heading Now 11-18"/>
              </a:rPr>
              <a:t>Software</a:t>
            </a:r>
            <a:endParaRPr lang="en-US" sz="1200" dirty="0">
              <a:solidFill>
                <a:srgbClr val="000000"/>
              </a:solidFill>
              <a:latin typeface="Aptos" panose="020B0004020202020204" pitchFamily="34" charset="0"/>
              <a:ea typeface="Heading Now 11-18"/>
              <a:cs typeface="Heading Now 11-18"/>
              <a:sym typeface="Heading Now 11-18"/>
            </a:endParaRP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Hardware</a:t>
            </a:r>
          </a:p>
          <a:p>
            <a:pPr algn="just">
              <a:lnSpc>
                <a:spcPts val="2942"/>
              </a:lnSpc>
            </a:pPr>
            <a:r>
              <a:rPr lang="en-US" sz="1200" dirty="0">
                <a:solidFill>
                  <a:srgbClr val="000000"/>
                </a:solidFill>
                <a:latin typeface="Aptos" panose="020B0004020202020204" pitchFamily="34" charset="0"/>
                <a:ea typeface="Heading Now 11-18"/>
                <a:cs typeface="Heading Now 11-18"/>
                <a:sym typeface="Heading Now 11-18"/>
              </a:rPr>
              <a:t>Software Hardware</a:t>
            </a: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Hardware</a:t>
            </a:r>
          </a:p>
          <a:p>
            <a:pPr algn="just">
              <a:lnSpc>
                <a:spcPts val="2943"/>
              </a:lnSpc>
            </a:pPr>
            <a:r>
              <a:rPr lang="en-US" sz="1200" dirty="0">
                <a:solidFill>
                  <a:srgbClr val="000000"/>
                </a:solidFill>
                <a:latin typeface="Aptos" panose="020B0004020202020204" pitchFamily="34" charset="0"/>
                <a:ea typeface="Heading Now 11-18"/>
                <a:cs typeface="Heading Now 11-18"/>
                <a:sym typeface="Heading Now 11-18"/>
              </a:rPr>
              <a:t>Software </a:t>
            </a:r>
            <a:r>
              <a:rPr lang="en-US" sz="1200" dirty="0" err="1">
                <a:solidFill>
                  <a:srgbClr val="000000"/>
                </a:solidFill>
                <a:latin typeface="Aptos" panose="020B0004020202020204" pitchFamily="34" charset="0"/>
                <a:ea typeface="Heading Now 11-18"/>
                <a:cs typeface="Heading Now 11-18"/>
                <a:sym typeface="Heading Now 11-18"/>
              </a:rPr>
              <a:t>Software</a:t>
            </a:r>
            <a:r>
              <a:rPr lang="en-US" sz="1200" dirty="0">
                <a:solidFill>
                  <a:srgbClr val="000000"/>
                </a:solidFill>
                <a:latin typeface="Aptos" panose="020B0004020202020204" pitchFamily="34" charset="0"/>
                <a:ea typeface="Heading Now 11-18"/>
                <a:cs typeface="Heading Now 11-18"/>
                <a:sym typeface="Heading Now 11-18"/>
              </a:rPr>
              <a:t> Hardware Software</a:t>
            </a:r>
          </a:p>
        </p:txBody>
      </p:sp>
      <p:sp>
        <p:nvSpPr>
          <p:cNvPr id="13" name="TextBox 13"/>
          <p:cNvSpPr txBox="1"/>
          <p:nvPr/>
        </p:nvSpPr>
        <p:spPr>
          <a:xfrm>
            <a:off x="6365748" y="669303"/>
            <a:ext cx="526342" cy="2868093"/>
          </a:xfrm>
          <a:prstGeom prst="rect">
            <a:avLst/>
          </a:prstGeom>
        </p:spPr>
        <p:txBody>
          <a:bodyPr lIns="0" tIns="0" rIns="0" bIns="0" rtlCol="0" anchor="t">
            <a:spAutoFit/>
          </a:bodyPr>
          <a:lstStyle/>
          <a:p>
            <a:pPr algn="just">
              <a:lnSpc>
                <a:spcPts val="1965"/>
              </a:lnSpc>
            </a:pPr>
            <a:r>
              <a:rPr lang="en-US" sz="1403" b="1" dirty="0">
                <a:solidFill>
                  <a:srgbClr val="000000"/>
                </a:solidFill>
                <a:latin typeface="Arial" panose="020B0604020202020204" pitchFamily="34" charset="0"/>
                <a:ea typeface="29LT Bukra Bold"/>
                <a:cs typeface="Arial" panose="020B0604020202020204" pitchFamily="34" charset="0"/>
                <a:sym typeface="29LT Bukra Bold"/>
              </a:rPr>
              <a:t>Profit</a:t>
            </a:r>
          </a:p>
          <a:p>
            <a:pPr algn="just">
              <a:lnSpc>
                <a:spcPts val="2942"/>
              </a:lnSpc>
            </a:pPr>
            <a:r>
              <a:rPr lang="en-US" sz="1200" spc="1" dirty="0">
                <a:solidFill>
                  <a:srgbClr val="000000"/>
                </a:solidFill>
                <a:latin typeface="Aptos" panose="020B0004020202020204" pitchFamily="34" charset="0"/>
                <a:ea typeface="Heading Now 11-18"/>
                <a:cs typeface="Heading Now 11-18"/>
                <a:sym typeface="Heading Now 11-18"/>
              </a:rPr>
              <a:t>Down </a:t>
            </a:r>
            <a:r>
              <a:rPr lang="en-US" sz="1200" spc="1" dirty="0" err="1">
                <a:solidFill>
                  <a:srgbClr val="000000"/>
                </a:solidFill>
                <a:latin typeface="Aptos" panose="020B0004020202020204" pitchFamily="34" charset="0"/>
                <a:ea typeface="Heading Now 11-18"/>
                <a:cs typeface="Heading Now 11-18"/>
                <a:sym typeface="Heading Now 11-18"/>
              </a:rPr>
              <a:t>Down</a:t>
            </a:r>
            <a:endParaRPr lang="en-US" sz="1200" spc="1" dirty="0">
              <a:solidFill>
                <a:srgbClr val="000000"/>
              </a:solidFill>
              <a:latin typeface="Aptos" panose="020B0004020202020204" pitchFamily="34" charset="0"/>
              <a:ea typeface="Heading Now 11-18"/>
              <a:cs typeface="Heading Now 11-18"/>
              <a:sym typeface="Heading Now 11-18"/>
            </a:endParaRP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Down</a:t>
            </a:r>
          </a:p>
          <a:p>
            <a:pPr algn="just">
              <a:lnSpc>
                <a:spcPts val="2942"/>
              </a:lnSpc>
            </a:pPr>
            <a:r>
              <a:rPr lang="en-US" sz="1200" spc="1" dirty="0">
                <a:solidFill>
                  <a:srgbClr val="000000"/>
                </a:solidFill>
                <a:latin typeface="Aptos" panose="020B0004020202020204" pitchFamily="34" charset="0"/>
                <a:ea typeface="Heading Now 11-18"/>
                <a:cs typeface="Heading Now 11-18"/>
                <a:sym typeface="Heading Now 11-18"/>
              </a:rPr>
              <a:t>Down </a:t>
            </a:r>
            <a:r>
              <a:rPr lang="en-US" sz="1200" spc="1" dirty="0" err="1">
                <a:solidFill>
                  <a:srgbClr val="000000"/>
                </a:solidFill>
                <a:latin typeface="Aptos" panose="020B0004020202020204" pitchFamily="34" charset="0"/>
                <a:ea typeface="Heading Now 11-18"/>
                <a:cs typeface="Heading Now 11-18"/>
                <a:sym typeface="Heading Now 11-18"/>
              </a:rPr>
              <a:t>Down</a:t>
            </a:r>
            <a:endParaRPr lang="en-US" sz="1200" spc="1" dirty="0">
              <a:solidFill>
                <a:srgbClr val="000000"/>
              </a:solidFill>
              <a:latin typeface="Aptos" panose="020B0004020202020204" pitchFamily="34" charset="0"/>
              <a:ea typeface="Heading Now 11-18"/>
              <a:cs typeface="Heading Now 11-18"/>
              <a:sym typeface="Heading Now 11-18"/>
            </a:endParaRPr>
          </a:p>
          <a:p>
            <a:pPr algn="just">
              <a:lnSpc>
                <a:spcPts val="1683"/>
              </a:lnSpc>
            </a:pPr>
            <a:r>
              <a:rPr lang="en-US" sz="1202" spc="4" dirty="0">
                <a:solidFill>
                  <a:srgbClr val="000000"/>
                </a:solidFill>
                <a:latin typeface="Aptos" panose="020B0004020202020204" pitchFamily="34" charset="0"/>
                <a:ea typeface="Heading Now 11-18"/>
                <a:cs typeface="Heading Now 11-18"/>
                <a:sym typeface="Heading Now 11-18"/>
              </a:rPr>
              <a:t>Up</a:t>
            </a:r>
          </a:p>
          <a:p>
            <a:pPr algn="just">
              <a:lnSpc>
                <a:spcPts val="2943"/>
              </a:lnSpc>
            </a:pPr>
            <a:r>
              <a:rPr lang="en-US" sz="1200" spc="6" dirty="0">
                <a:solidFill>
                  <a:srgbClr val="000000"/>
                </a:solidFill>
                <a:latin typeface="Aptos" panose="020B0004020202020204" pitchFamily="34" charset="0"/>
                <a:ea typeface="Heading Now 11-18"/>
                <a:cs typeface="Heading Now 11-18"/>
                <a:sym typeface="Heading Now 11-18"/>
              </a:rPr>
              <a:t>Up </a:t>
            </a:r>
            <a:r>
              <a:rPr lang="en-US" sz="1200" spc="6" dirty="0" err="1">
                <a:solidFill>
                  <a:srgbClr val="000000"/>
                </a:solidFill>
                <a:latin typeface="Aptos" panose="020B0004020202020204" pitchFamily="34" charset="0"/>
                <a:ea typeface="Heading Now 11-18"/>
                <a:cs typeface="Heading Now 11-18"/>
                <a:sym typeface="Heading Now 11-18"/>
              </a:rPr>
              <a:t>Up</a:t>
            </a:r>
            <a:r>
              <a:rPr lang="en-US" sz="1200" spc="6" dirty="0">
                <a:solidFill>
                  <a:srgbClr val="000000"/>
                </a:solidFill>
                <a:latin typeface="Aptos" panose="020B0004020202020204" pitchFamily="34" charset="0"/>
                <a:ea typeface="Heading Now 11-18"/>
                <a:cs typeface="Heading Now 11-18"/>
                <a:sym typeface="Heading Now 11-18"/>
              </a:rPr>
              <a:t> </a:t>
            </a:r>
            <a:r>
              <a:rPr lang="en-US" sz="1200" spc="6" dirty="0" err="1">
                <a:solidFill>
                  <a:srgbClr val="000000"/>
                </a:solidFill>
                <a:latin typeface="Aptos" panose="020B0004020202020204" pitchFamily="34" charset="0"/>
                <a:ea typeface="Heading Now 11-18"/>
                <a:cs typeface="Heading Now 11-18"/>
                <a:sym typeface="Heading Now 11-18"/>
              </a:rPr>
              <a:t>Up</a:t>
            </a:r>
            <a:r>
              <a:rPr lang="en-US" sz="1200" spc="6" dirty="0">
                <a:solidFill>
                  <a:srgbClr val="000000"/>
                </a:solidFill>
                <a:latin typeface="Aptos" panose="020B0004020202020204" pitchFamily="34" charset="0"/>
                <a:ea typeface="Heading Now 11-18"/>
                <a:cs typeface="Heading Now 11-18"/>
                <a:sym typeface="Heading Now 11-18"/>
              </a:rPr>
              <a:t> </a:t>
            </a:r>
            <a:r>
              <a:rPr lang="en-US" sz="1200" spc="6" dirty="0" err="1">
                <a:solidFill>
                  <a:srgbClr val="000000"/>
                </a:solidFill>
                <a:latin typeface="Aptos" panose="020B0004020202020204" pitchFamily="34" charset="0"/>
                <a:ea typeface="Heading Now 11-18"/>
                <a:cs typeface="Heading Now 11-18"/>
                <a:sym typeface="Heading Now 11-18"/>
              </a:rPr>
              <a:t>Up</a:t>
            </a:r>
            <a:endParaRPr lang="en-US" sz="1200" spc="6" dirty="0">
              <a:solidFill>
                <a:srgbClr val="000000"/>
              </a:solidFill>
              <a:latin typeface="Aptos" panose="020B0004020202020204" pitchFamily="34" charset="0"/>
              <a:ea typeface="Heading Now 11-18"/>
              <a:cs typeface="Heading Now 11-18"/>
              <a:sym typeface="Heading Now 11-18"/>
            </a:endParaRPr>
          </a:p>
        </p:txBody>
      </p:sp>
      <p:sp>
        <p:nvSpPr>
          <p:cNvPr id="14" name="TextBox 14"/>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901696" y="1392936"/>
            <a:ext cx="5983224" cy="2345436"/>
          </a:xfrm>
          <a:custGeom>
            <a:avLst/>
            <a:gdLst/>
            <a:ahLst/>
            <a:cxnLst/>
            <a:rect l="l" t="t" r="r" b="b"/>
            <a:pathLst>
              <a:path w="5983224" h="2345436">
                <a:moveTo>
                  <a:pt x="0" y="0"/>
                </a:moveTo>
                <a:lnTo>
                  <a:pt x="5983224" y="0"/>
                </a:lnTo>
                <a:lnTo>
                  <a:pt x="5983224" y="2345436"/>
                </a:lnTo>
                <a:lnTo>
                  <a:pt x="0" y="234543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45304"/>
            <a:ext cx="11258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40</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15478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Random Forest</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65760" y="1607563"/>
            <a:ext cx="2308403" cy="1112015"/>
          </a:xfrm>
          <a:prstGeom prst="rect">
            <a:avLst/>
          </a:prstGeom>
        </p:spPr>
        <p:txBody>
          <a:bodyPr lIns="0" tIns="0" rIns="0" bIns="0" rtlCol="0" anchor="t">
            <a:spAutoFit/>
          </a:bodyPr>
          <a:lstStyle/>
          <a:p>
            <a:pPr algn="l">
              <a:lnSpc>
                <a:spcPts val="1699"/>
              </a:lnSpc>
            </a:pPr>
            <a:r>
              <a:rPr lang="en-US" sz="1200" b="1">
                <a:solidFill>
                  <a:srgbClr val="000000"/>
                </a:solidFill>
                <a:latin typeface="29LT Bukra Medium"/>
                <a:ea typeface="29LT Bukra Medium"/>
                <a:cs typeface="29LT Bukra Medium"/>
                <a:sym typeface="29LT Bukra Medium"/>
              </a:rPr>
              <a:t>Random Forest uses multiple learning algorithms to obtain a better predictive performance. It uses decision trees as base learners.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1491996" y="1720596"/>
            <a:ext cx="6371844" cy="2904744"/>
          </a:xfrm>
          <a:custGeom>
            <a:avLst/>
            <a:gdLst/>
            <a:ahLst/>
            <a:cxnLst/>
            <a:rect l="l" t="t" r="r" b="b"/>
            <a:pathLst>
              <a:path w="6371844" h="2904744">
                <a:moveTo>
                  <a:pt x="0" y="0"/>
                </a:moveTo>
                <a:lnTo>
                  <a:pt x="6371844" y="0"/>
                </a:lnTo>
                <a:lnTo>
                  <a:pt x="6371844" y="2904744"/>
                </a:lnTo>
                <a:lnTo>
                  <a:pt x="0" y="2904744"/>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45304"/>
            <a:ext cx="84811" cy="24910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41</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35569"/>
            <a:ext cx="1761420" cy="349839"/>
          </a:xfrm>
          <a:prstGeom prst="rect">
            <a:avLst/>
          </a:prstGeom>
        </p:spPr>
        <p:txBody>
          <a:bodyPr lIns="0" tIns="0" rIns="0" bIns="0" rtlCol="0" anchor="t">
            <a:spAutoFit/>
          </a:bodyPr>
          <a:lstStyle/>
          <a:p>
            <a:pPr algn="l">
              <a:lnSpc>
                <a:spcPts val="3028"/>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Naive Bayes</a:t>
            </a:r>
          </a:p>
        </p:txBody>
      </p:sp>
      <p:sp>
        <p:nvSpPr>
          <p:cNvPr id="11" name="TextBox 11"/>
          <p:cNvSpPr txBox="1"/>
          <p:nvPr/>
        </p:nvSpPr>
        <p:spPr>
          <a:xfrm>
            <a:off x="837743" y="602104"/>
            <a:ext cx="42596"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 </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15747" y="725929"/>
            <a:ext cx="8408489" cy="257175"/>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NaiveBayesclassifiers are a collection of classification algorithms based on Bayes’ Theorem. It is not a single </a:t>
            </a:r>
          </a:p>
        </p:txBody>
      </p:sp>
      <p:sp>
        <p:nvSpPr>
          <p:cNvPr id="14" name="TextBox 14"/>
          <p:cNvSpPr txBox="1"/>
          <p:nvPr/>
        </p:nvSpPr>
        <p:spPr>
          <a:xfrm>
            <a:off x="415747" y="942337"/>
            <a:ext cx="8707726" cy="472164"/>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algorithm but a family of algorithms where all of them share a common principle, i.e. every pair of features being classified</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is</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independent</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of</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each</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other.</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094988" y="1136904"/>
            <a:ext cx="4651248" cy="3413760"/>
          </a:xfrm>
          <a:custGeom>
            <a:avLst/>
            <a:gdLst/>
            <a:ahLst/>
            <a:cxnLst/>
            <a:rect l="l" t="t" r="r" b="b"/>
            <a:pathLst>
              <a:path w="4651248" h="3413760">
                <a:moveTo>
                  <a:pt x="0" y="0"/>
                </a:moveTo>
                <a:lnTo>
                  <a:pt x="4651248" y="0"/>
                </a:lnTo>
                <a:lnTo>
                  <a:pt x="4651248" y="3413760"/>
                </a:lnTo>
                <a:lnTo>
                  <a:pt x="0" y="341376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45304"/>
            <a:ext cx="107804"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42</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59901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Support Vector Machines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528523" y="1138428"/>
            <a:ext cx="3194771" cy="1758572"/>
          </a:xfrm>
          <a:prstGeom prst="rect">
            <a:avLst/>
          </a:prstGeom>
        </p:spPr>
        <p:txBody>
          <a:bodyPr lIns="0" tIns="0" rIns="0" bIns="0" rtlCol="0" anchor="t">
            <a:spAutoFit/>
          </a:bodyPr>
          <a:lstStyle/>
          <a:p>
            <a:pPr algn="l">
              <a:lnSpc>
                <a:spcPts val="1699"/>
              </a:lnSpc>
            </a:pPr>
            <a:r>
              <a:rPr lang="en-US" sz="1200" b="1">
                <a:solidFill>
                  <a:srgbClr val="000000"/>
                </a:solidFill>
                <a:latin typeface="29LT Bukra Medium"/>
                <a:ea typeface="29LT Bukra Medium"/>
                <a:cs typeface="29LT Bukra Medium"/>
                <a:sym typeface="29LT Bukra Medium"/>
              </a:rPr>
              <a:t>An SVM model is basically a representation of different classes in a hyperplane in multidimensional space. The hyperplane will be generated in an iterative manner by SVM so that the error can be minimized. The goal of SVM is to divide the datasets into classes to find a maximum marginal hyperplane (MMH).</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572000" y="1086612"/>
            <a:ext cx="4337304" cy="2970276"/>
          </a:xfrm>
          <a:custGeom>
            <a:avLst/>
            <a:gdLst/>
            <a:ahLst/>
            <a:cxnLst/>
            <a:rect l="l" t="t" r="r" b="b"/>
            <a:pathLst>
              <a:path w="4337304" h="2970276">
                <a:moveTo>
                  <a:pt x="0" y="0"/>
                </a:moveTo>
                <a:lnTo>
                  <a:pt x="4337304" y="0"/>
                </a:lnTo>
                <a:lnTo>
                  <a:pt x="4337304" y="2970276"/>
                </a:lnTo>
                <a:lnTo>
                  <a:pt x="0" y="297027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45304"/>
            <a:ext cx="109061"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43</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75162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Logistic Regression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98958" y="1078354"/>
            <a:ext cx="3267208" cy="1984124"/>
          </a:xfrm>
          <a:prstGeom prst="rect">
            <a:avLst/>
          </a:prstGeom>
        </p:spPr>
        <p:txBody>
          <a:bodyPr lIns="0" tIns="0" rIns="0" bIns="0" rtlCol="0" anchor="t">
            <a:spAutoFit/>
          </a:bodyPr>
          <a:lstStyle/>
          <a:p>
            <a:pPr algn="l">
              <a:lnSpc>
                <a:spcPts val="1700"/>
              </a:lnSpc>
            </a:pPr>
            <a:r>
              <a:rPr lang="en-US" sz="1200" b="1">
                <a:solidFill>
                  <a:srgbClr val="000000"/>
                </a:solidFill>
                <a:latin typeface="29LT Bukra Medium"/>
                <a:ea typeface="29LT Bukra Medium"/>
                <a:cs typeface="29LT Bukra Medium"/>
                <a:sym typeface="29LT Bukra Medium"/>
              </a:rPr>
              <a:t>Logistic Regression is a supervised Machine Learning algorithm and despite the word ‘Regression’, it is used in binary classification. By binary classification, it meant that it can only categorize data as 1 (yes/success) or a 0 (no/failure). In other words, we can say that the Logistic Regression model predicts P(Y=1) as a function of X.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489960" y="2144268"/>
            <a:ext cx="5475732" cy="2371344"/>
          </a:xfrm>
          <a:custGeom>
            <a:avLst/>
            <a:gdLst/>
            <a:ahLst/>
            <a:cxnLst/>
            <a:rect l="l" t="t" r="r" b="b"/>
            <a:pathLst>
              <a:path w="5475732" h="2371344">
                <a:moveTo>
                  <a:pt x="0" y="0"/>
                </a:moveTo>
                <a:lnTo>
                  <a:pt x="5475732" y="0"/>
                </a:lnTo>
                <a:lnTo>
                  <a:pt x="5475732" y="2371344"/>
                </a:lnTo>
                <a:lnTo>
                  <a:pt x="0" y="2371344"/>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45304"/>
            <a:ext cx="112671"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44</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87944"/>
            <a:ext cx="4536462" cy="407547"/>
          </a:xfrm>
          <a:prstGeom prst="rect">
            <a:avLst/>
          </a:prstGeom>
        </p:spPr>
        <p:txBody>
          <a:bodyPr lIns="0" tIns="0" rIns="0" bIns="0" rtlCol="0" anchor="t">
            <a:spAutoFit/>
          </a:bodyPr>
          <a:lstStyle/>
          <a:p>
            <a:pPr algn="l">
              <a:lnSpc>
                <a:spcPts val="3578"/>
              </a:lnSpc>
            </a:pPr>
            <a:r>
              <a:rPr lang="en-US" sz="2100" b="1" spc="10" dirty="0">
                <a:solidFill>
                  <a:srgbClr val="000000"/>
                </a:solidFill>
                <a:latin typeface="Arial" panose="020B0604020202020204" pitchFamily="34" charset="0"/>
                <a:ea typeface="29LT Bukra Bold"/>
                <a:cs typeface="Arial" panose="020B0604020202020204" pitchFamily="34" charset="0"/>
                <a:sym typeface="29LT Bukra Bold"/>
              </a:rPr>
              <a:t>Classification Metrics -Log Loss</a:t>
            </a:r>
          </a:p>
        </p:txBody>
      </p:sp>
      <p:sp>
        <p:nvSpPr>
          <p:cNvPr id="11" name="TextBox 11"/>
          <p:cNvSpPr txBox="1"/>
          <p:nvPr/>
        </p:nvSpPr>
        <p:spPr>
          <a:xfrm>
            <a:off x="1426312" y="761876"/>
            <a:ext cx="42596"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 </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350825" y="761876"/>
            <a:ext cx="3660667"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Cost = -(yact)ln (ypred) -(1-yact)ln(1-ypred)</a:t>
            </a:r>
          </a:p>
        </p:txBody>
      </p:sp>
      <p:sp>
        <p:nvSpPr>
          <p:cNvPr id="14" name="TextBox 14"/>
          <p:cNvSpPr txBox="1"/>
          <p:nvPr/>
        </p:nvSpPr>
        <p:spPr>
          <a:xfrm>
            <a:off x="350825" y="1313564"/>
            <a:ext cx="2453440"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Cost = -ln ypred, where yact = 1</a:t>
            </a:r>
          </a:p>
        </p:txBody>
      </p:sp>
      <p:sp>
        <p:nvSpPr>
          <p:cNvPr id="15" name="TextBox 15"/>
          <p:cNvSpPr txBox="1"/>
          <p:nvPr/>
        </p:nvSpPr>
        <p:spPr>
          <a:xfrm>
            <a:off x="350825" y="1863976"/>
            <a:ext cx="2718425"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Cost = -ln (1-ypred), where yact = 0</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583180" y="2641092"/>
            <a:ext cx="5864352" cy="1543812"/>
          </a:xfrm>
          <a:custGeom>
            <a:avLst/>
            <a:gdLst/>
            <a:ahLst/>
            <a:cxnLst/>
            <a:rect l="l" t="t" r="r" b="b"/>
            <a:pathLst>
              <a:path w="5864352" h="1543812">
                <a:moveTo>
                  <a:pt x="0" y="0"/>
                </a:moveTo>
                <a:lnTo>
                  <a:pt x="5864352" y="0"/>
                </a:lnTo>
                <a:lnTo>
                  <a:pt x="5864352" y="1543812"/>
                </a:lnTo>
                <a:lnTo>
                  <a:pt x="0" y="1543812"/>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45304"/>
            <a:ext cx="11258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45</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87944"/>
            <a:ext cx="2474424" cy="397929"/>
          </a:xfrm>
          <a:prstGeom prst="rect">
            <a:avLst/>
          </a:prstGeom>
        </p:spPr>
        <p:txBody>
          <a:bodyPr lIns="0" tIns="0" rIns="0" bIns="0" rtlCol="0" anchor="t">
            <a:spAutoFit/>
          </a:bodyPr>
          <a:lstStyle/>
          <a:p>
            <a:pPr algn="l">
              <a:lnSpc>
                <a:spcPts val="3546"/>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Confusion Matrix</a:t>
            </a:r>
          </a:p>
        </p:txBody>
      </p:sp>
      <p:sp>
        <p:nvSpPr>
          <p:cNvPr id="11" name="TextBox 11"/>
          <p:cNvSpPr txBox="1"/>
          <p:nvPr/>
        </p:nvSpPr>
        <p:spPr>
          <a:xfrm>
            <a:off x="953110" y="752980"/>
            <a:ext cx="42596"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 </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98958" y="1677286"/>
            <a:ext cx="2062020" cy="473583"/>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False Positive: Type I Error False Negative: Type II Error</a:t>
            </a:r>
          </a:p>
        </p:txBody>
      </p:sp>
      <p:sp>
        <p:nvSpPr>
          <p:cNvPr id="14" name="TextBox 14"/>
          <p:cNvSpPr txBox="1"/>
          <p:nvPr/>
        </p:nvSpPr>
        <p:spPr>
          <a:xfrm>
            <a:off x="498958" y="886330"/>
            <a:ext cx="4670898"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Usefulformeasuringrecall,precision, specificity, accuracy &amp; </a:t>
            </a:r>
          </a:p>
        </p:txBody>
      </p:sp>
      <p:sp>
        <p:nvSpPr>
          <p:cNvPr id="15" name="TextBox 15"/>
          <p:cNvSpPr txBox="1"/>
          <p:nvPr/>
        </p:nvSpPr>
        <p:spPr>
          <a:xfrm>
            <a:off x="498958" y="1102443"/>
            <a:ext cx="1264110"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AUC-ROC</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Curve.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09870" y="945956"/>
            <a:ext cx="8242392" cy="3698738"/>
          </a:xfrm>
          <a:custGeom>
            <a:avLst/>
            <a:gdLst/>
            <a:ahLst/>
            <a:cxnLst/>
            <a:rect l="l" t="t" r="r" b="b"/>
            <a:pathLst>
              <a:path w="8242392" h="3698738">
                <a:moveTo>
                  <a:pt x="0" y="0"/>
                </a:moveTo>
                <a:lnTo>
                  <a:pt x="8242392" y="0"/>
                </a:lnTo>
                <a:lnTo>
                  <a:pt x="8242392" y="3698739"/>
                </a:lnTo>
                <a:lnTo>
                  <a:pt x="0" y="36987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0779" y="4645304"/>
            <a:ext cx="113214"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47442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Confusion Matrix</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569671" y="1040635"/>
            <a:ext cx="105242" cy="198581"/>
          </a:xfrm>
          <a:prstGeom prst="rect">
            <a:avLst/>
          </a:prstGeom>
        </p:spPr>
        <p:txBody>
          <a:bodyPr lIns="0" tIns="0" rIns="0" bIns="0" rtlCol="0" anchor="t">
            <a:spAutoFit/>
          </a:bodyPr>
          <a:lstStyle/>
          <a:p>
            <a:pPr algn="l">
              <a:lnSpc>
                <a:spcPts val="1679"/>
              </a:lnSpc>
            </a:pPr>
            <a:r>
              <a:rPr lang="en-US" sz="1200" b="1" dirty="0">
                <a:solidFill>
                  <a:srgbClr val="000000"/>
                </a:solidFill>
                <a:latin typeface="Arial" panose="020B0604020202020204" pitchFamily="34" charset="0"/>
                <a:ea typeface="29LT Bukra Bold"/>
                <a:cs typeface="Arial" panose="020B0604020202020204" pitchFamily="34" charset="0"/>
                <a:sym typeface="29LT Bukra Bold"/>
              </a:rPr>
              <a:t>y</a:t>
            </a:r>
          </a:p>
        </p:txBody>
      </p:sp>
      <p:sp>
        <p:nvSpPr>
          <p:cNvPr id="13" name="TextBox 13"/>
          <p:cNvSpPr txBox="1"/>
          <p:nvPr/>
        </p:nvSpPr>
        <p:spPr>
          <a:xfrm>
            <a:off x="1128370" y="1040635"/>
            <a:ext cx="486242" cy="198581"/>
          </a:xfrm>
          <a:prstGeom prst="rect">
            <a:avLst/>
          </a:prstGeom>
        </p:spPr>
        <p:txBody>
          <a:bodyPr lIns="0" tIns="0" rIns="0" bIns="0" rtlCol="0" anchor="t">
            <a:spAutoFit/>
          </a:bodyPr>
          <a:lstStyle/>
          <a:p>
            <a:pPr algn="l">
              <a:lnSpc>
                <a:spcPts val="1679"/>
              </a:lnSpc>
            </a:pPr>
            <a:r>
              <a:rPr lang="en-US" sz="1200" b="1" spc="2" dirty="0" err="1">
                <a:solidFill>
                  <a:srgbClr val="000000"/>
                </a:solidFill>
                <a:latin typeface="Arial" panose="020B0604020202020204" pitchFamily="34" charset="0"/>
                <a:ea typeface="29LT Bukra Bold"/>
                <a:cs typeface="Arial" panose="020B0604020202020204" pitchFamily="34" charset="0"/>
                <a:sym typeface="29LT Bukra Bold"/>
              </a:rPr>
              <a:t>ypred</a:t>
            </a:r>
            <a:endParaRPr lang="en-US" sz="1200" b="1" spc="2" dirty="0">
              <a:solidFill>
                <a:srgbClr val="000000"/>
              </a:solidFill>
              <a:latin typeface="Arial" panose="020B0604020202020204" pitchFamily="34" charset="0"/>
              <a:ea typeface="29LT Bukra Bold"/>
              <a:cs typeface="Arial" panose="020B0604020202020204" pitchFamily="34" charset="0"/>
              <a:sym typeface="29LT Bukra Bold"/>
            </a:endParaRPr>
          </a:p>
        </p:txBody>
      </p:sp>
      <p:sp>
        <p:nvSpPr>
          <p:cNvPr id="14" name="TextBox 14"/>
          <p:cNvSpPr txBox="1"/>
          <p:nvPr/>
        </p:nvSpPr>
        <p:spPr>
          <a:xfrm>
            <a:off x="1897380" y="1059685"/>
            <a:ext cx="1666713" cy="2056973"/>
          </a:xfrm>
          <a:prstGeom prst="rect">
            <a:avLst/>
          </a:prstGeom>
        </p:spPr>
        <p:txBody>
          <a:bodyPr lIns="0" tIns="0" rIns="0" bIns="0" rtlCol="0" anchor="t">
            <a:spAutoFit/>
          </a:bodyPr>
          <a:lstStyle/>
          <a:p>
            <a:pPr algn="just">
              <a:lnSpc>
                <a:spcPts val="1439"/>
              </a:lnSpc>
            </a:pPr>
            <a:r>
              <a:rPr lang="en-US" sz="1200" b="1" spc="1" dirty="0">
                <a:solidFill>
                  <a:srgbClr val="000000"/>
                </a:solidFill>
                <a:latin typeface="Arial" panose="020B0604020202020204" pitchFamily="34" charset="0"/>
                <a:ea typeface="29LT Bukra Bold"/>
                <a:cs typeface="Arial" panose="020B0604020202020204" pitchFamily="34" charset="0"/>
                <a:sym typeface="29LT Bukra Bold"/>
              </a:rPr>
              <a:t>output for threshold 0.6</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0</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1</a:t>
            </a: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1</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1</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0 0 0</a:t>
            </a:r>
          </a:p>
        </p:txBody>
      </p:sp>
      <p:sp>
        <p:nvSpPr>
          <p:cNvPr id="15" name="TextBox 15"/>
          <p:cNvSpPr txBox="1"/>
          <p:nvPr/>
        </p:nvSpPr>
        <p:spPr>
          <a:xfrm>
            <a:off x="3800218" y="1040635"/>
            <a:ext cx="197263" cy="198581"/>
          </a:xfrm>
          <a:prstGeom prst="rect">
            <a:avLst/>
          </a:prstGeom>
        </p:spPr>
        <p:txBody>
          <a:bodyPr lIns="0" tIns="0" rIns="0" bIns="0" rtlCol="0" anchor="t">
            <a:spAutoFit/>
          </a:bodyPr>
          <a:lstStyle/>
          <a:p>
            <a:pPr algn="l">
              <a:lnSpc>
                <a:spcPts val="1679"/>
              </a:lnSpc>
            </a:pPr>
            <a:r>
              <a:rPr lang="en-US" sz="1200" b="1" spc="4" dirty="0">
                <a:solidFill>
                  <a:srgbClr val="000000"/>
                </a:solidFill>
                <a:latin typeface="Arial" panose="020B0604020202020204" pitchFamily="34" charset="0"/>
                <a:ea typeface="29LT Bukra Bold"/>
                <a:cs typeface="Arial" panose="020B0604020202020204" pitchFamily="34" charset="0"/>
                <a:sym typeface="29LT Bukra Bold"/>
              </a:rPr>
              <a:t>TP</a:t>
            </a:r>
          </a:p>
        </p:txBody>
      </p:sp>
      <p:sp>
        <p:nvSpPr>
          <p:cNvPr id="16" name="TextBox 16"/>
          <p:cNvSpPr txBox="1"/>
          <p:nvPr/>
        </p:nvSpPr>
        <p:spPr>
          <a:xfrm>
            <a:off x="4407665" y="1040635"/>
            <a:ext cx="217475" cy="198581"/>
          </a:xfrm>
          <a:prstGeom prst="rect">
            <a:avLst/>
          </a:prstGeom>
        </p:spPr>
        <p:txBody>
          <a:bodyPr lIns="0" tIns="0" rIns="0" bIns="0" rtlCol="0" anchor="t">
            <a:spAutoFit/>
          </a:bodyPr>
          <a:lstStyle/>
          <a:p>
            <a:pPr algn="l">
              <a:lnSpc>
                <a:spcPts val="1679"/>
              </a:lnSpc>
            </a:pPr>
            <a:r>
              <a:rPr lang="en-US" sz="1200" b="1" spc="4" dirty="0">
                <a:solidFill>
                  <a:srgbClr val="000000"/>
                </a:solidFill>
                <a:latin typeface="Arial" panose="020B0604020202020204" pitchFamily="34" charset="0"/>
                <a:ea typeface="29LT Bukra Bold"/>
                <a:cs typeface="Arial" panose="020B0604020202020204" pitchFamily="34" charset="0"/>
                <a:sym typeface="29LT Bukra Bold"/>
              </a:rPr>
              <a:t>TN</a:t>
            </a:r>
          </a:p>
        </p:txBody>
      </p:sp>
      <p:sp>
        <p:nvSpPr>
          <p:cNvPr id="17" name="TextBox 17"/>
          <p:cNvSpPr txBox="1"/>
          <p:nvPr/>
        </p:nvSpPr>
        <p:spPr>
          <a:xfrm>
            <a:off x="5045964" y="1040635"/>
            <a:ext cx="191043" cy="416589"/>
          </a:xfrm>
          <a:prstGeom prst="rect">
            <a:avLst/>
          </a:prstGeom>
        </p:spPr>
        <p:txBody>
          <a:bodyPr lIns="0" tIns="0" rIns="0" bIns="0" rtlCol="0" anchor="t">
            <a:spAutoFit/>
          </a:bodyPr>
          <a:lstStyle/>
          <a:p>
            <a:pPr algn="l">
              <a:lnSpc>
                <a:spcPts val="1679"/>
              </a:lnSpc>
            </a:pPr>
            <a:r>
              <a:rPr lang="en-US" sz="1200" b="1" spc="6" dirty="0">
                <a:solidFill>
                  <a:srgbClr val="000000"/>
                </a:solidFill>
                <a:latin typeface="Arial" panose="020B0604020202020204" pitchFamily="34" charset="0"/>
                <a:ea typeface="29LT Bukra Bold"/>
                <a:cs typeface="Arial" panose="020B0604020202020204" pitchFamily="34" charset="0"/>
                <a:sym typeface="29LT Bukra Bold"/>
              </a:rPr>
              <a:t>FP</a:t>
            </a:r>
          </a:p>
        </p:txBody>
      </p:sp>
      <p:sp>
        <p:nvSpPr>
          <p:cNvPr id="18" name="TextBox 18"/>
          <p:cNvSpPr txBox="1"/>
          <p:nvPr/>
        </p:nvSpPr>
        <p:spPr>
          <a:xfrm>
            <a:off x="5666870" y="1040635"/>
            <a:ext cx="211255" cy="198581"/>
          </a:xfrm>
          <a:prstGeom prst="rect">
            <a:avLst/>
          </a:prstGeom>
        </p:spPr>
        <p:txBody>
          <a:bodyPr lIns="0" tIns="0" rIns="0" bIns="0" rtlCol="0" anchor="t">
            <a:spAutoFit/>
          </a:bodyPr>
          <a:lstStyle/>
          <a:p>
            <a:pPr algn="l">
              <a:lnSpc>
                <a:spcPts val="1679"/>
              </a:lnSpc>
            </a:pPr>
            <a:r>
              <a:rPr lang="en-US" sz="1200" b="1" spc="6" dirty="0">
                <a:solidFill>
                  <a:srgbClr val="000000"/>
                </a:solidFill>
                <a:latin typeface="Arial" panose="020B0604020202020204" pitchFamily="34" charset="0"/>
                <a:ea typeface="29LT Bukra Bold"/>
                <a:cs typeface="Arial" panose="020B0604020202020204" pitchFamily="34" charset="0"/>
                <a:sym typeface="29LT Bukra Bold"/>
              </a:rPr>
              <a:t>FN</a:t>
            </a:r>
          </a:p>
        </p:txBody>
      </p:sp>
      <p:sp>
        <p:nvSpPr>
          <p:cNvPr id="19" name="TextBox 19"/>
          <p:cNvSpPr txBox="1"/>
          <p:nvPr/>
        </p:nvSpPr>
        <p:spPr>
          <a:xfrm>
            <a:off x="6244714" y="1040635"/>
            <a:ext cx="500853" cy="198581"/>
          </a:xfrm>
          <a:prstGeom prst="rect">
            <a:avLst/>
          </a:prstGeom>
        </p:spPr>
        <p:txBody>
          <a:bodyPr lIns="0" tIns="0" rIns="0" bIns="0" rtlCol="0" anchor="t">
            <a:spAutoFit/>
          </a:bodyPr>
          <a:lstStyle/>
          <a:p>
            <a:pPr algn="l">
              <a:lnSpc>
                <a:spcPts val="1679"/>
              </a:lnSpc>
            </a:pPr>
            <a:r>
              <a:rPr lang="en-US" sz="1200" b="1" spc="1" dirty="0">
                <a:solidFill>
                  <a:srgbClr val="000000"/>
                </a:solidFill>
                <a:latin typeface="Arial" panose="020B0604020202020204" pitchFamily="34" charset="0"/>
                <a:ea typeface="29LT Bukra Bold"/>
                <a:cs typeface="Arial" panose="020B0604020202020204" pitchFamily="34" charset="0"/>
                <a:sym typeface="29LT Bukra Bold"/>
              </a:rPr>
              <a:t>Recall</a:t>
            </a:r>
          </a:p>
        </p:txBody>
      </p:sp>
      <p:sp>
        <p:nvSpPr>
          <p:cNvPr id="20" name="TextBox 20"/>
          <p:cNvSpPr txBox="1"/>
          <p:nvPr/>
        </p:nvSpPr>
        <p:spPr>
          <a:xfrm>
            <a:off x="6951850" y="1059685"/>
            <a:ext cx="653815" cy="359073"/>
          </a:xfrm>
          <a:prstGeom prst="rect">
            <a:avLst/>
          </a:prstGeom>
        </p:spPr>
        <p:txBody>
          <a:bodyPr lIns="0" tIns="0" rIns="0" bIns="0" rtlCol="0" anchor="t">
            <a:spAutoFit/>
          </a:bodyPr>
          <a:lstStyle/>
          <a:p>
            <a:pPr algn="l">
              <a:lnSpc>
                <a:spcPts val="1439"/>
              </a:lnSpc>
            </a:pPr>
            <a:r>
              <a:rPr lang="en-US" sz="1200" b="1" spc="1" dirty="0" err="1">
                <a:solidFill>
                  <a:srgbClr val="000000"/>
                </a:solidFill>
                <a:latin typeface="Arial" panose="020B0604020202020204" pitchFamily="34" charset="0"/>
                <a:ea typeface="29LT Bukra Bold"/>
                <a:cs typeface="Arial" panose="020B0604020202020204" pitchFamily="34" charset="0"/>
                <a:sym typeface="29LT Bukra Bold"/>
              </a:rPr>
              <a:t>Precisio</a:t>
            </a:r>
            <a:r>
              <a:rPr lang="en-US" sz="1200" b="1" spc="1" dirty="0">
                <a:solidFill>
                  <a:srgbClr val="000000"/>
                </a:solidFill>
                <a:latin typeface="Arial" panose="020B0604020202020204" pitchFamily="34" charset="0"/>
                <a:ea typeface="29LT Bukra Bold"/>
                <a:cs typeface="Arial" panose="020B0604020202020204" pitchFamily="34" charset="0"/>
                <a:sym typeface="29LT Bukra Bold"/>
              </a:rPr>
              <a:t> n</a:t>
            </a:r>
          </a:p>
        </p:txBody>
      </p:sp>
      <p:sp>
        <p:nvSpPr>
          <p:cNvPr id="21" name="TextBox 21"/>
          <p:cNvSpPr txBox="1"/>
          <p:nvPr/>
        </p:nvSpPr>
        <p:spPr>
          <a:xfrm>
            <a:off x="7805042" y="1059685"/>
            <a:ext cx="690963" cy="359073"/>
          </a:xfrm>
          <a:prstGeom prst="rect">
            <a:avLst/>
          </a:prstGeom>
        </p:spPr>
        <p:txBody>
          <a:bodyPr lIns="0" tIns="0" rIns="0" bIns="0" rtlCol="0" anchor="t">
            <a:spAutoFit/>
          </a:bodyPr>
          <a:lstStyle/>
          <a:p>
            <a:pPr algn="l">
              <a:lnSpc>
                <a:spcPts val="1439"/>
              </a:lnSpc>
            </a:pPr>
            <a:r>
              <a:rPr lang="en-US" sz="1200" b="1" dirty="0" err="1">
                <a:solidFill>
                  <a:srgbClr val="000000"/>
                </a:solidFill>
                <a:latin typeface="Arial" panose="020B0604020202020204" pitchFamily="34" charset="0"/>
                <a:ea typeface="29LT Bukra Bold"/>
                <a:cs typeface="Arial" panose="020B0604020202020204" pitchFamily="34" charset="0"/>
                <a:sym typeface="29LT Bukra Bold"/>
              </a:rPr>
              <a:t>Accurac</a:t>
            </a:r>
            <a:r>
              <a:rPr lang="en-US" sz="1200" b="1" dirty="0">
                <a:solidFill>
                  <a:srgbClr val="000000"/>
                </a:solidFill>
                <a:latin typeface="Arial" panose="020B0604020202020204" pitchFamily="34" charset="0"/>
                <a:ea typeface="29LT Bukra Bold"/>
                <a:cs typeface="Arial" panose="020B0604020202020204" pitchFamily="34" charset="0"/>
                <a:sym typeface="29LT Bukra Bold"/>
              </a:rPr>
              <a:t> y</a:t>
            </a:r>
          </a:p>
        </p:txBody>
      </p:sp>
      <p:sp>
        <p:nvSpPr>
          <p:cNvPr id="22" name="TextBox 22"/>
          <p:cNvSpPr txBox="1"/>
          <p:nvPr/>
        </p:nvSpPr>
        <p:spPr>
          <a:xfrm>
            <a:off x="569671" y="1524505"/>
            <a:ext cx="97812" cy="2472728"/>
          </a:xfrm>
          <a:prstGeom prst="rect">
            <a:avLst/>
          </a:prstGeom>
        </p:spPr>
        <p:txBody>
          <a:bodyPr lIns="0" tIns="0" rIns="0" bIns="0" rtlCol="0" anchor="t">
            <a:spAutoFit/>
          </a:bodyPr>
          <a:lstStyle/>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0</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1</a:t>
            </a:r>
          </a:p>
          <a:p>
            <a:pPr algn="just">
              <a:lnSpc>
                <a:spcPts val="1683"/>
              </a:lnSpc>
            </a:pPr>
            <a:r>
              <a:rPr lang="en-US" sz="1202" dirty="0">
                <a:solidFill>
                  <a:srgbClr val="000000"/>
                </a:solidFill>
                <a:latin typeface="Aptos" panose="020B0004020202020204" pitchFamily="34" charset="0"/>
                <a:ea typeface="Heading Now 11-18"/>
                <a:cs typeface="Heading Now 11-18"/>
                <a:sym typeface="Heading Now 11-18"/>
              </a:rPr>
              <a:t>0</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1</a:t>
            </a:r>
          </a:p>
          <a:p>
            <a:pPr algn="just">
              <a:lnSpc>
                <a:spcPts val="3000"/>
              </a:lnSpc>
            </a:pPr>
            <a:r>
              <a:rPr lang="en-US" sz="1200" dirty="0">
                <a:solidFill>
                  <a:srgbClr val="000000"/>
                </a:solidFill>
                <a:latin typeface="Aptos" panose="020B0004020202020204" pitchFamily="34" charset="0"/>
                <a:ea typeface="Heading Now 11-18"/>
                <a:cs typeface="Heading Now 11-18"/>
                <a:sym typeface="Heading Now 11-18"/>
              </a:rPr>
              <a:t>1 0 1</a:t>
            </a:r>
          </a:p>
        </p:txBody>
      </p:sp>
      <p:sp>
        <p:nvSpPr>
          <p:cNvPr id="23" name="TextBox 23"/>
          <p:cNvSpPr txBox="1"/>
          <p:nvPr/>
        </p:nvSpPr>
        <p:spPr>
          <a:xfrm>
            <a:off x="1128370" y="1524505"/>
            <a:ext cx="228200" cy="2472728"/>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0.5</a:t>
            </a:r>
          </a:p>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0.9</a:t>
            </a:r>
          </a:p>
          <a:p>
            <a:pPr algn="l">
              <a:lnSpc>
                <a:spcPts val="1683"/>
              </a:lnSpc>
            </a:pPr>
            <a:r>
              <a:rPr lang="en-US" sz="1202" dirty="0">
                <a:solidFill>
                  <a:srgbClr val="000000"/>
                </a:solidFill>
                <a:latin typeface="Aptos" panose="020B0004020202020204" pitchFamily="34" charset="0"/>
                <a:ea typeface="Heading Now 11-18"/>
                <a:cs typeface="Heading Now 11-18"/>
                <a:sym typeface="Heading Now 11-18"/>
              </a:rPr>
              <a:t>0.7</a:t>
            </a:r>
          </a:p>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0.7</a:t>
            </a:r>
          </a:p>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0.3 0.4 0.5</a:t>
            </a:r>
          </a:p>
        </p:txBody>
      </p:sp>
      <p:sp>
        <p:nvSpPr>
          <p:cNvPr id="24" name="TextBox 24"/>
          <p:cNvSpPr txBox="1"/>
          <p:nvPr/>
        </p:nvSpPr>
        <p:spPr>
          <a:xfrm>
            <a:off x="3800218" y="2924680"/>
            <a:ext cx="89383"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2</a:t>
            </a:r>
          </a:p>
        </p:txBody>
      </p:sp>
      <p:sp>
        <p:nvSpPr>
          <p:cNvPr id="25" name="TextBox 25"/>
          <p:cNvSpPr txBox="1"/>
          <p:nvPr/>
        </p:nvSpPr>
        <p:spPr>
          <a:xfrm>
            <a:off x="4407665" y="2924680"/>
            <a:ext cx="89383"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2</a:t>
            </a:r>
          </a:p>
        </p:txBody>
      </p:sp>
      <p:sp>
        <p:nvSpPr>
          <p:cNvPr id="26" name="TextBox 26"/>
          <p:cNvSpPr txBox="1"/>
          <p:nvPr/>
        </p:nvSpPr>
        <p:spPr>
          <a:xfrm>
            <a:off x="5045964" y="2924680"/>
            <a:ext cx="49740"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1</a:t>
            </a:r>
          </a:p>
        </p:txBody>
      </p:sp>
      <p:sp>
        <p:nvSpPr>
          <p:cNvPr id="27" name="TextBox 27"/>
          <p:cNvSpPr txBox="1"/>
          <p:nvPr/>
        </p:nvSpPr>
        <p:spPr>
          <a:xfrm>
            <a:off x="5666870" y="2924680"/>
            <a:ext cx="89383"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2</a:t>
            </a:r>
          </a:p>
        </p:txBody>
      </p:sp>
      <p:sp>
        <p:nvSpPr>
          <p:cNvPr id="28" name="TextBox 28"/>
          <p:cNvSpPr txBox="1"/>
          <p:nvPr/>
        </p:nvSpPr>
        <p:spPr>
          <a:xfrm>
            <a:off x="6244714" y="2924680"/>
            <a:ext cx="213589" cy="424090"/>
          </a:xfrm>
          <a:prstGeom prst="rect">
            <a:avLst/>
          </a:prstGeom>
        </p:spPr>
        <p:txBody>
          <a:bodyPr lIns="0" tIns="0" rIns="0" bIns="0" rtlCol="0" anchor="t">
            <a:spAutoFit/>
          </a:bodyPr>
          <a:lstStyle/>
          <a:p>
            <a:pPr algn="l">
              <a:lnSpc>
                <a:spcPts val="1679"/>
              </a:lnSpc>
            </a:pPr>
            <a:r>
              <a:rPr lang="en-US" sz="1200" spc="2" dirty="0">
                <a:solidFill>
                  <a:srgbClr val="000000"/>
                </a:solidFill>
                <a:latin typeface="Aptos" panose="020B0004020202020204" pitchFamily="34" charset="0"/>
                <a:ea typeface="Heading Now 11-18"/>
                <a:cs typeface="Heading Now 11-18"/>
                <a:sym typeface="Heading Now 11-18"/>
              </a:rPr>
              <a:t>1/2</a:t>
            </a:r>
          </a:p>
        </p:txBody>
      </p:sp>
      <p:sp>
        <p:nvSpPr>
          <p:cNvPr id="29" name="TextBox 29"/>
          <p:cNvSpPr txBox="1"/>
          <p:nvPr/>
        </p:nvSpPr>
        <p:spPr>
          <a:xfrm>
            <a:off x="6951850" y="2924680"/>
            <a:ext cx="256022" cy="206082"/>
          </a:xfrm>
          <a:prstGeom prst="rect">
            <a:avLst/>
          </a:prstGeom>
        </p:spPr>
        <p:txBody>
          <a:bodyPr lIns="0" tIns="0" rIns="0" bIns="0" rtlCol="0" anchor="t">
            <a:spAutoFit/>
          </a:bodyPr>
          <a:lstStyle/>
          <a:p>
            <a:pPr algn="l">
              <a:lnSpc>
                <a:spcPts val="1679"/>
              </a:lnSpc>
            </a:pPr>
            <a:r>
              <a:rPr lang="en-US" sz="1200" spc="3" dirty="0">
                <a:solidFill>
                  <a:srgbClr val="000000"/>
                </a:solidFill>
                <a:latin typeface="Aptos" panose="020B0004020202020204" pitchFamily="34" charset="0"/>
                <a:ea typeface="Heading Now 11-18"/>
                <a:cs typeface="Heading Now 11-18"/>
                <a:sym typeface="Heading Now 11-18"/>
              </a:rPr>
              <a:t>2/3</a:t>
            </a:r>
          </a:p>
        </p:txBody>
      </p:sp>
      <p:sp>
        <p:nvSpPr>
          <p:cNvPr id="30" name="TextBox 30"/>
          <p:cNvSpPr txBox="1"/>
          <p:nvPr/>
        </p:nvSpPr>
        <p:spPr>
          <a:xfrm>
            <a:off x="7805042" y="2924680"/>
            <a:ext cx="257261" cy="206082"/>
          </a:xfrm>
          <a:prstGeom prst="rect">
            <a:avLst/>
          </a:prstGeom>
        </p:spPr>
        <p:txBody>
          <a:bodyPr lIns="0" tIns="0" rIns="0" bIns="0" rtlCol="0" anchor="t">
            <a:spAutoFit/>
          </a:bodyPr>
          <a:lstStyle/>
          <a:p>
            <a:pPr algn="l">
              <a:lnSpc>
                <a:spcPts val="1679"/>
              </a:lnSpc>
            </a:pPr>
            <a:r>
              <a:rPr lang="en-US" sz="1200" spc="2" dirty="0">
                <a:solidFill>
                  <a:srgbClr val="000000"/>
                </a:solidFill>
                <a:latin typeface="Aptos" panose="020B0004020202020204" pitchFamily="34" charset="0"/>
                <a:ea typeface="Heading Now 11-18"/>
                <a:cs typeface="Heading Now 11-18"/>
                <a:sym typeface="Heading Now 11-18"/>
              </a:rPr>
              <a:t>4/7</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813816" y="986028"/>
            <a:ext cx="4643628" cy="3732276"/>
          </a:xfrm>
          <a:custGeom>
            <a:avLst/>
            <a:gdLst/>
            <a:ahLst/>
            <a:cxnLst/>
            <a:rect l="l" t="t" r="r" b="b"/>
            <a:pathLst>
              <a:path w="4643628" h="3732276">
                <a:moveTo>
                  <a:pt x="0" y="0"/>
                </a:moveTo>
                <a:lnTo>
                  <a:pt x="4643628" y="0"/>
                </a:lnTo>
                <a:lnTo>
                  <a:pt x="4643628" y="3732276"/>
                </a:lnTo>
                <a:lnTo>
                  <a:pt x="0" y="3732276"/>
                </a:lnTo>
                <a:lnTo>
                  <a:pt x="0" y="0"/>
                </a:lnTo>
                <a:close/>
              </a:path>
            </a:pathLst>
          </a:custGeom>
          <a:blipFill>
            <a:blip r:embed="rId9"/>
            <a:stretch>
              <a:fillRect/>
            </a:stretch>
          </a:blipFill>
        </p:spPr>
        <p:txBody>
          <a:bodyPr/>
          <a:lstStyle/>
          <a:p>
            <a:endParaRPr lang="en-IN"/>
          </a:p>
        </p:txBody>
      </p:sp>
      <p:sp>
        <p:nvSpPr>
          <p:cNvPr id="8" name="Freeform 8"/>
          <p:cNvSpPr/>
          <p:nvPr/>
        </p:nvSpPr>
        <p:spPr>
          <a:xfrm>
            <a:off x="804672" y="976884"/>
            <a:ext cx="4661916" cy="3750564"/>
          </a:xfrm>
          <a:custGeom>
            <a:avLst/>
            <a:gdLst/>
            <a:ahLst/>
            <a:cxnLst/>
            <a:rect l="l" t="t" r="r" b="b"/>
            <a:pathLst>
              <a:path w="4661916" h="3750564">
                <a:moveTo>
                  <a:pt x="0" y="0"/>
                </a:moveTo>
                <a:lnTo>
                  <a:pt x="4661916" y="0"/>
                </a:lnTo>
                <a:lnTo>
                  <a:pt x="4661916" y="3750564"/>
                </a:lnTo>
                <a:lnTo>
                  <a:pt x="0" y="375056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Freeform 9"/>
          <p:cNvSpPr/>
          <p:nvPr/>
        </p:nvSpPr>
        <p:spPr>
          <a:xfrm>
            <a:off x="6926580" y="2484120"/>
            <a:ext cx="1505712" cy="352044"/>
          </a:xfrm>
          <a:custGeom>
            <a:avLst/>
            <a:gdLst/>
            <a:ahLst/>
            <a:cxnLst/>
            <a:rect l="l" t="t" r="r" b="b"/>
            <a:pathLst>
              <a:path w="1505712" h="352044">
                <a:moveTo>
                  <a:pt x="0" y="0"/>
                </a:moveTo>
                <a:lnTo>
                  <a:pt x="1505712" y="0"/>
                </a:lnTo>
                <a:lnTo>
                  <a:pt x="1505712" y="352044"/>
                </a:lnTo>
                <a:lnTo>
                  <a:pt x="0" y="352044"/>
                </a:lnTo>
                <a:lnTo>
                  <a:pt x="0" y="0"/>
                </a:lnTo>
                <a:close/>
              </a:path>
            </a:pathLst>
          </a:custGeom>
          <a:blipFill>
            <a:blip r:embed="rId12"/>
            <a:stretch>
              <a:fillRect/>
            </a:stretch>
          </a:blipFill>
        </p:spPr>
        <p:txBody>
          <a:bodyPr/>
          <a:lstStyle/>
          <a:p>
            <a:endParaRPr lang="en-IN"/>
          </a:p>
        </p:txBody>
      </p:sp>
      <p:sp>
        <p:nvSpPr>
          <p:cNvPr id="10" name="Freeform 10"/>
          <p:cNvSpPr/>
          <p:nvPr/>
        </p:nvSpPr>
        <p:spPr>
          <a:xfrm>
            <a:off x="6922008" y="1604772"/>
            <a:ext cx="1514856" cy="342900"/>
          </a:xfrm>
          <a:custGeom>
            <a:avLst/>
            <a:gdLst/>
            <a:ahLst/>
            <a:cxnLst/>
            <a:rect l="l" t="t" r="r" b="b"/>
            <a:pathLst>
              <a:path w="1514856" h="342900">
                <a:moveTo>
                  <a:pt x="0" y="0"/>
                </a:moveTo>
                <a:lnTo>
                  <a:pt x="1514856" y="0"/>
                </a:lnTo>
                <a:lnTo>
                  <a:pt x="1514856" y="342900"/>
                </a:lnTo>
                <a:lnTo>
                  <a:pt x="0" y="342900"/>
                </a:lnTo>
                <a:lnTo>
                  <a:pt x="0" y="0"/>
                </a:lnTo>
                <a:close/>
              </a:path>
            </a:pathLst>
          </a:custGeom>
          <a:blipFill>
            <a:blip r:embed="rId13"/>
            <a:stretch>
              <a:fillRect/>
            </a:stretch>
          </a:blipFill>
        </p:spPr>
        <p:txBody>
          <a:bodyPr/>
          <a:lstStyle/>
          <a:p>
            <a:endParaRPr lang="en-IN"/>
          </a:p>
        </p:txBody>
      </p:sp>
      <p:sp>
        <p:nvSpPr>
          <p:cNvPr id="11" name="TextBox 11"/>
          <p:cNvSpPr txBox="1"/>
          <p:nvPr/>
        </p:nvSpPr>
        <p:spPr>
          <a:xfrm>
            <a:off x="295351" y="4645304"/>
            <a:ext cx="105185"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47</a:t>
            </a:r>
          </a:p>
        </p:txBody>
      </p:sp>
      <p:sp>
        <p:nvSpPr>
          <p:cNvPr id="12" name="TextBox 12"/>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3" name="TextBox 13"/>
          <p:cNvSpPr txBox="1"/>
          <p:nvPr/>
        </p:nvSpPr>
        <p:spPr>
          <a:xfrm>
            <a:off x="259385" y="145094"/>
            <a:ext cx="5608549" cy="340221"/>
          </a:xfrm>
          <a:prstGeom prst="rect">
            <a:avLst/>
          </a:prstGeom>
        </p:spPr>
        <p:txBody>
          <a:bodyPr lIns="0" tIns="0" rIns="0" bIns="0" rtlCol="0" anchor="t">
            <a:spAutoFit/>
          </a:bodyPr>
          <a:lstStyle/>
          <a:p>
            <a:pPr algn="l">
              <a:lnSpc>
                <a:spcPts val="2940"/>
              </a:lnSpc>
            </a:pPr>
            <a:r>
              <a:rPr lang="en-US" sz="2100" b="1" spc="8" dirty="0">
                <a:solidFill>
                  <a:srgbClr val="000000"/>
                </a:solidFill>
                <a:latin typeface="Arial" panose="020B0604020202020204" pitchFamily="34" charset="0"/>
                <a:ea typeface="29LT Bukra Bold"/>
                <a:cs typeface="Arial" panose="020B0604020202020204" pitchFamily="34" charset="0"/>
                <a:sym typeface="29LT Bukra Bold"/>
              </a:rPr>
              <a:t>Classification Metrics -Area under ROC</a:t>
            </a:r>
          </a:p>
        </p:txBody>
      </p:sp>
      <p:sp>
        <p:nvSpPr>
          <p:cNvPr id="14" name="TextBox 14"/>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956553" y="878329"/>
            <a:ext cx="3555997" cy="3929377"/>
          </a:xfrm>
          <a:custGeom>
            <a:avLst/>
            <a:gdLst/>
            <a:ahLst/>
            <a:cxnLst/>
            <a:rect l="l" t="t" r="r" b="b"/>
            <a:pathLst>
              <a:path w="3555997" h="3929377">
                <a:moveTo>
                  <a:pt x="0" y="0"/>
                </a:moveTo>
                <a:lnTo>
                  <a:pt x="3555997" y="0"/>
                </a:lnTo>
                <a:lnTo>
                  <a:pt x="3555997" y="3929377"/>
                </a:lnTo>
                <a:lnTo>
                  <a:pt x="0" y="39293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0779" y="4645304"/>
            <a:ext cx="112852"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48</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273657"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Issues in Classification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98958" y="1214076"/>
            <a:ext cx="3967182" cy="464582"/>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There are many issues that occur while you solve a </a:t>
            </a:r>
          </a:p>
          <a:p>
            <a:pPr algn="l">
              <a:lnSpc>
                <a:spcPts val="3000"/>
              </a:lnSpc>
            </a:pPr>
            <a:r>
              <a:rPr lang="en-US" sz="1200" b="1">
                <a:solidFill>
                  <a:srgbClr val="000000"/>
                </a:solidFill>
                <a:latin typeface="29LT Bukra Medium"/>
                <a:ea typeface="29LT Bukra Medium"/>
                <a:cs typeface="29LT Bukra Medium"/>
                <a:sym typeface="29LT Bukra Medium"/>
              </a:rPr>
              <a:t>Classificationproblem,such</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as</a:t>
            </a:r>
          </a:p>
        </p:txBody>
      </p:sp>
      <p:sp>
        <p:nvSpPr>
          <p:cNvPr id="13" name="TextBox 13"/>
          <p:cNvSpPr txBox="1"/>
          <p:nvPr/>
        </p:nvSpPr>
        <p:spPr>
          <a:xfrm>
            <a:off x="651358" y="1881378"/>
            <a:ext cx="116900" cy="597408"/>
          </a:xfrm>
          <a:prstGeom prst="rect">
            <a:avLst/>
          </a:prstGeom>
        </p:spPr>
        <p:txBody>
          <a:bodyPr lIns="0" tIns="0" rIns="0" bIns="0" rtlCol="0" anchor="t">
            <a:spAutoFit/>
          </a:bodyPr>
          <a:lstStyle/>
          <a:p>
            <a:pPr algn="just">
              <a:lnSpc>
                <a:spcPts val="3000"/>
              </a:lnSpc>
            </a:pPr>
            <a:r>
              <a:rPr lang="en-US" sz="1200" b="1" spc="1">
                <a:solidFill>
                  <a:srgbClr val="000000"/>
                </a:solidFill>
                <a:latin typeface="29LT Bukra Medium"/>
                <a:ea typeface="29LT Bukra Medium"/>
                <a:cs typeface="29LT Bukra Medium"/>
                <a:sym typeface="29LT Bukra Medium"/>
              </a:rPr>
              <a:t>1.</a:t>
            </a:r>
            <a:r>
              <a:rPr lang="en-US" sz="1200" b="1" spc="1">
                <a:solidFill>
                  <a:srgbClr val="FFFFFF"/>
                </a:solidFill>
                <a:latin typeface="29LT Bukra Medium"/>
                <a:ea typeface="29LT Bukra Medium"/>
                <a:cs typeface="29LT Bukra Medium"/>
                <a:sym typeface="29LT Bukra Medium"/>
              </a:rPr>
              <a:t> </a:t>
            </a:r>
          </a:p>
          <a:p>
            <a:pPr algn="just">
              <a:lnSpc>
                <a:spcPts val="600"/>
              </a:lnSpc>
            </a:pPr>
            <a:r>
              <a:rPr lang="en-US" sz="1200" b="1">
                <a:solidFill>
                  <a:srgbClr val="000000"/>
                </a:solidFill>
                <a:latin typeface="29LT Bukra Medium"/>
                <a:ea typeface="29LT Bukra Medium"/>
                <a:cs typeface="29LT Bukra Medium"/>
                <a:sym typeface="29LT Bukra Medium"/>
              </a:rPr>
              <a:t>2.</a:t>
            </a:r>
          </a:p>
        </p:txBody>
      </p:sp>
      <p:sp>
        <p:nvSpPr>
          <p:cNvPr id="14" name="TextBox 14"/>
          <p:cNvSpPr txBox="1"/>
          <p:nvPr/>
        </p:nvSpPr>
        <p:spPr>
          <a:xfrm>
            <a:off x="956158" y="1881378"/>
            <a:ext cx="2057819" cy="597408"/>
          </a:xfrm>
          <a:prstGeom prst="rect">
            <a:avLst/>
          </a:prstGeom>
        </p:spPr>
        <p:txBody>
          <a:bodyPr lIns="0" tIns="0" rIns="0" bIns="0" rtlCol="0" anchor="t">
            <a:spAutoFit/>
          </a:bodyPr>
          <a:lstStyle/>
          <a:p>
            <a:pPr algn="l">
              <a:lnSpc>
                <a:spcPts val="3000"/>
              </a:lnSpc>
            </a:pPr>
            <a:r>
              <a:rPr lang="en-US" sz="1200" b="1" spc="1">
                <a:solidFill>
                  <a:srgbClr val="000000"/>
                </a:solidFill>
                <a:latin typeface="29LT Bukra Medium"/>
                <a:ea typeface="29LT Bukra Medium"/>
                <a:cs typeface="29LT Bukra Medium"/>
                <a:sym typeface="29LT Bukra Medium"/>
              </a:rPr>
              <a:t>Overfitting</a:t>
            </a:r>
          </a:p>
          <a:p>
            <a:pPr algn="l">
              <a:lnSpc>
                <a:spcPts val="600"/>
              </a:lnSpc>
            </a:pPr>
            <a:r>
              <a:rPr lang="en-US" sz="1200" b="1">
                <a:solidFill>
                  <a:srgbClr val="000000"/>
                </a:solidFill>
                <a:latin typeface="29LT Bukra Medium"/>
                <a:ea typeface="29LT Bukra Medium"/>
                <a:cs typeface="29LT Bukra Medium"/>
                <a:sym typeface="29LT Bukra Medium"/>
              </a:rPr>
              <a:t>Class Imbalance Problems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98949"/>
            <a:ext cx="11276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49</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3646189"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Clustering Algorithms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814565" y="1187710"/>
            <a:ext cx="3039361" cy="3110989"/>
          </a:xfrm>
          <a:custGeom>
            <a:avLst/>
            <a:gdLst/>
            <a:ahLst/>
            <a:cxnLst/>
            <a:rect l="l" t="t" r="r" b="b"/>
            <a:pathLst>
              <a:path w="3039361" h="3110989">
                <a:moveTo>
                  <a:pt x="0" y="0"/>
                </a:moveTo>
                <a:lnTo>
                  <a:pt x="3039361" y="0"/>
                </a:lnTo>
                <a:lnTo>
                  <a:pt x="3039361" y="3110989"/>
                </a:lnTo>
                <a:lnTo>
                  <a:pt x="0" y="31109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2303" y="4645304"/>
            <a:ext cx="11258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50</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1513865"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Clustering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98958" y="915914"/>
            <a:ext cx="4952248" cy="1834010"/>
          </a:xfrm>
          <a:prstGeom prst="rect">
            <a:avLst/>
          </a:prstGeom>
        </p:spPr>
        <p:txBody>
          <a:bodyPr lIns="0" tIns="0" rIns="0" bIns="0" rtlCol="0" anchor="t">
            <a:spAutoFit/>
          </a:bodyPr>
          <a:lstStyle/>
          <a:p>
            <a:pPr algn="l">
              <a:lnSpc>
                <a:spcPts val="1416"/>
              </a:lnSpc>
            </a:pPr>
            <a:r>
              <a:rPr lang="en-US" sz="996" b="1">
                <a:solidFill>
                  <a:srgbClr val="000000"/>
                </a:solidFill>
                <a:latin typeface="29LT Bukra Medium"/>
                <a:ea typeface="29LT Bukra Medium"/>
                <a:cs typeface="29LT Bukra Medium"/>
                <a:sym typeface="29LT Bukra Medium"/>
              </a:rPr>
              <a:t>Clustering methods are a Machine Learning technique that involves the grouping of data points. These methods are used to ﬁnd similarity as well as the relationship patterns among data samples and then cluster those samples into groups having similarity based on features. Types of Clustering Algorithms: 1. K-Means Clustering 2. Hierarchical Clustering 3. Mean-Shift Algorithm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361432" y="1473708"/>
            <a:ext cx="3782568" cy="2810256"/>
          </a:xfrm>
          <a:custGeom>
            <a:avLst/>
            <a:gdLst/>
            <a:ahLst/>
            <a:cxnLst/>
            <a:rect l="l" t="t" r="r" b="b"/>
            <a:pathLst>
              <a:path w="3782568" h="2810256">
                <a:moveTo>
                  <a:pt x="0" y="0"/>
                </a:moveTo>
                <a:lnTo>
                  <a:pt x="3782568" y="0"/>
                </a:lnTo>
                <a:lnTo>
                  <a:pt x="3782568" y="2810256"/>
                </a:lnTo>
                <a:lnTo>
                  <a:pt x="0" y="281025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45304"/>
            <a:ext cx="84811" cy="24910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51</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91496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K-means Clustering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250850" y="1099823"/>
            <a:ext cx="1060780" cy="381000"/>
          </a:xfrm>
          <a:prstGeom prst="rect">
            <a:avLst/>
          </a:prstGeom>
        </p:spPr>
        <p:txBody>
          <a:bodyPr lIns="0" tIns="0" rIns="0" bIns="0" rtlCol="0" anchor="t">
            <a:spAutoFit/>
          </a:bodyPr>
          <a:lstStyle/>
          <a:p>
            <a:pPr algn="l">
              <a:lnSpc>
                <a:spcPts val="3000"/>
              </a:lnSpc>
            </a:pPr>
            <a:r>
              <a:rPr lang="en-US" sz="1200" b="1" spc="1">
                <a:solidFill>
                  <a:srgbClr val="000000"/>
                </a:solidFill>
                <a:latin typeface="29LT Bukra Medium"/>
                <a:ea typeface="29LT Bukra Medium"/>
                <a:cs typeface="29LT Bukra Medium"/>
                <a:sym typeface="29LT Bukra Medium"/>
              </a:rPr>
              <a:t>Pseudo Code:</a:t>
            </a:r>
          </a:p>
        </p:txBody>
      </p:sp>
      <p:sp>
        <p:nvSpPr>
          <p:cNvPr id="13" name="TextBox 13"/>
          <p:cNvSpPr txBox="1"/>
          <p:nvPr/>
        </p:nvSpPr>
        <p:spPr>
          <a:xfrm>
            <a:off x="403250" y="1683515"/>
            <a:ext cx="126225" cy="1893446"/>
          </a:xfrm>
          <a:prstGeom prst="rect">
            <a:avLst/>
          </a:prstGeom>
        </p:spPr>
        <p:txBody>
          <a:bodyPr lIns="0" tIns="0" rIns="0" bIns="0" rtlCol="0" anchor="t">
            <a:spAutoFit/>
          </a:bodyPr>
          <a:lstStyle/>
          <a:p>
            <a:pPr algn="just">
              <a:lnSpc>
                <a:spcPts val="3000"/>
              </a:lnSpc>
            </a:pPr>
            <a:r>
              <a:rPr lang="en-US" sz="1200" b="1">
                <a:solidFill>
                  <a:srgbClr val="000000"/>
                </a:solidFill>
                <a:latin typeface="29LT Bukra Medium"/>
                <a:ea typeface="29LT Bukra Medium"/>
                <a:cs typeface="29LT Bukra Medium"/>
                <a:sym typeface="29LT Bukra Medium"/>
              </a:rPr>
              <a:t>1.</a:t>
            </a:r>
          </a:p>
          <a:p>
            <a:pPr algn="just">
              <a:lnSpc>
                <a:spcPts val="600"/>
              </a:lnSpc>
            </a:pPr>
            <a:r>
              <a:rPr lang="en-US" sz="1200" b="1">
                <a:solidFill>
                  <a:srgbClr val="000000"/>
                </a:solidFill>
                <a:latin typeface="29LT Bukra Medium"/>
                <a:ea typeface="29LT Bukra Medium"/>
                <a:cs typeface="29LT Bukra Medium"/>
                <a:sym typeface="29LT Bukra Medium"/>
              </a:rPr>
              <a:t>2. 3. 4.</a:t>
            </a:r>
          </a:p>
          <a:p>
            <a:pPr algn="just">
              <a:lnSpc>
                <a:spcPts val="2808"/>
              </a:lnSpc>
            </a:pPr>
            <a:r>
              <a:rPr lang="en-US" sz="1200" b="1">
                <a:solidFill>
                  <a:srgbClr val="000000"/>
                </a:solidFill>
                <a:latin typeface="29LT Bukra Medium"/>
                <a:ea typeface="29LT Bukra Medium"/>
                <a:cs typeface="29LT Bukra Medium"/>
                <a:sym typeface="29LT Bukra Medium"/>
              </a:rPr>
              <a:t>5.</a:t>
            </a:r>
          </a:p>
          <a:p>
            <a:pPr algn="just">
              <a:lnSpc>
                <a:spcPts val="603"/>
              </a:lnSpc>
            </a:pPr>
            <a:r>
              <a:rPr lang="en-US" sz="1200" b="1">
                <a:solidFill>
                  <a:srgbClr val="000000"/>
                </a:solidFill>
                <a:latin typeface="29LT Bukra Medium"/>
                <a:ea typeface="29LT Bukra Medium"/>
                <a:cs typeface="29LT Bukra Medium"/>
                <a:sym typeface="29LT Bukra Medium"/>
              </a:rPr>
              <a:t>6.</a:t>
            </a:r>
          </a:p>
        </p:txBody>
      </p:sp>
      <p:sp>
        <p:nvSpPr>
          <p:cNvPr id="14" name="TextBox 14"/>
          <p:cNvSpPr txBox="1"/>
          <p:nvPr/>
        </p:nvSpPr>
        <p:spPr>
          <a:xfrm>
            <a:off x="708050" y="1683515"/>
            <a:ext cx="4254456" cy="1360629"/>
          </a:xfrm>
          <a:prstGeom prst="rect">
            <a:avLst/>
          </a:prstGeom>
        </p:spPr>
        <p:txBody>
          <a:bodyPr lIns="0" tIns="0" rIns="0" bIns="0" rtlCol="0" anchor="t">
            <a:spAutoFit/>
          </a:bodyPr>
          <a:lstStyle/>
          <a:p>
            <a:pPr algn="l">
              <a:lnSpc>
                <a:spcPts val="3000"/>
              </a:lnSpc>
            </a:pPr>
            <a:r>
              <a:rPr lang="en-US" sz="1200" b="1" dirty="0">
                <a:solidFill>
                  <a:srgbClr val="000000"/>
                </a:solidFill>
                <a:latin typeface="29LT Bukra Medium"/>
                <a:ea typeface="29LT Bukra Medium"/>
                <a:cs typeface="29LT Bukra Medium"/>
                <a:sym typeface="29LT Bukra Medium"/>
              </a:rPr>
              <a:t>Choose number of K Clusters </a:t>
            </a:r>
          </a:p>
          <a:p>
            <a:pPr algn="l">
              <a:lnSpc>
                <a:spcPts val="600"/>
              </a:lnSpc>
            </a:pPr>
            <a:r>
              <a:rPr lang="en-US" sz="1200" b="1" dirty="0">
                <a:solidFill>
                  <a:srgbClr val="000000"/>
                </a:solidFill>
                <a:latin typeface="29LT Bukra Medium"/>
                <a:ea typeface="29LT Bukra Medium"/>
                <a:cs typeface="29LT Bukra Medium"/>
                <a:sym typeface="29LT Bukra Medium"/>
              </a:rPr>
              <a:t>Select a random K points, the centroids (not</a:t>
            </a:r>
          </a:p>
          <a:p>
            <a:pPr algn="l">
              <a:lnSpc>
                <a:spcPts val="2814"/>
              </a:lnSpc>
            </a:pPr>
            <a:r>
              <a:rPr lang="en-US" sz="1200" b="1" dirty="0">
                <a:solidFill>
                  <a:srgbClr val="000000"/>
                </a:solidFill>
                <a:latin typeface="29LT Bukra Medium"/>
                <a:ea typeface="29LT Bukra Medium"/>
                <a:cs typeface="29LT Bukra Medium"/>
                <a:sym typeface="29LT Bukra Medium"/>
              </a:rPr>
              <a:t>necessarily from the dataset) </a:t>
            </a:r>
          </a:p>
          <a:p>
            <a:pPr algn="l">
              <a:lnSpc>
                <a:spcPts val="600"/>
              </a:lnSpc>
            </a:pPr>
            <a:r>
              <a:rPr lang="en-US" sz="1200" b="1" dirty="0">
                <a:solidFill>
                  <a:srgbClr val="000000"/>
                </a:solidFill>
                <a:latin typeface="29LT Bukra Medium"/>
                <a:ea typeface="29LT Bukra Medium"/>
                <a:cs typeface="29LT Bukra Medium"/>
                <a:sym typeface="29LT Bukra Medium"/>
              </a:rPr>
              <a:t>Assign each data set point to the nearest</a:t>
            </a:r>
          </a:p>
          <a:p>
            <a:pPr algn="l">
              <a:lnSpc>
                <a:spcPts val="2808"/>
              </a:lnSpc>
            </a:pPr>
            <a:r>
              <a:rPr lang="en-US" sz="1200" dirty="0">
                <a:solidFill>
                  <a:srgbClr val="000000"/>
                </a:solidFill>
                <a:latin typeface="Arial" panose="020B0604020202020204" pitchFamily="34" charset="0"/>
                <a:ea typeface="29LT Bukra"/>
                <a:cs typeface="Arial" panose="020B0604020202020204" pitchFamily="34" charset="0"/>
                <a:sym typeface="29LT Bukra"/>
              </a:rPr>
              <a:t>→</a:t>
            </a:r>
            <a:r>
              <a:rPr lang="en-US" sz="1200" b="1" dirty="0">
                <a:solidFill>
                  <a:srgbClr val="000000"/>
                </a:solidFill>
                <a:latin typeface="29LT Bukra Medium"/>
                <a:ea typeface="29LT Bukra Medium"/>
                <a:cs typeface="29LT Bukra Medium"/>
                <a:sym typeface="29LT Bukra Medium"/>
              </a:rPr>
              <a:t>That forms K clusters </a:t>
            </a:r>
          </a:p>
          <a:p>
            <a:pPr algn="l">
              <a:lnSpc>
                <a:spcPts val="600"/>
              </a:lnSpc>
            </a:pPr>
            <a:r>
              <a:rPr lang="en-US" sz="1200" b="1" dirty="0">
                <a:solidFill>
                  <a:srgbClr val="000000"/>
                </a:solidFill>
                <a:latin typeface="29LT Bukra Medium"/>
                <a:ea typeface="29LT Bukra Medium"/>
                <a:cs typeface="29LT Bukra Medium"/>
                <a:sym typeface="29LT Bukra Medium"/>
              </a:rPr>
              <a:t>Compute &amp; place new centroid for </a:t>
            </a:r>
            <a:r>
              <a:rPr lang="en-US" sz="1200" b="1" dirty="0" err="1">
                <a:solidFill>
                  <a:srgbClr val="000000"/>
                </a:solidFill>
                <a:latin typeface="29LT Bukra Medium"/>
                <a:ea typeface="29LT Bukra Medium"/>
                <a:cs typeface="29LT Bukra Medium"/>
                <a:sym typeface="29LT Bukra Medium"/>
              </a:rPr>
              <a:t>eachcluster</a:t>
            </a:r>
            <a:endParaRPr lang="en-US" sz="1200" b="1" dirty="0">
              <a:solidFill>
                <a:srgbClr val="000000"/>
              </a:solidFill>
              <a:latin typeface="29LT Bukra Medium"/>
              <a:ea typeface="29LT Bukra Medium"/>
              <a:cs typeface="29LT Bukra Medium"/>
              <a:sym typeface="29LT Bukra Medium"/>
            </a:endParaRPr>
          </a:p>
        </p:txBody>
      </p:sp>
      <p:sp>
        <p:nvSpPr>
          <p:cNvPr id="15" name="TextBox 15"/>
          <p:cNvSpPr txBox="1"/>
          <p:nvPr/>
        </p:nvSpPr>
        <p:spPr>
          <a:xfrm>
            <a:off x="4529023" y="2560196"/>
            <a:ext cx="640909" cy="152400"/>
          </a:xfrm>
          <a:prstGeom prst="rect">
            <a:avLst/>
          </a:prstGeom>
        </p:spPr>
        <p:txBody>
          <a:bodyPr lIns="0" tIns="0" rIns="0" bIns="0" rtlCol="0" anchor="t">
            <a:spAutoFit/>
          </a:bodyPr>
          <a:lstStyle/>
          <a:p>
            <a:pPr algn="l">
              <a:lnSpc>
                <a:spcPts val="600"/>
              </a:lnSpc>
            </a:pPr>
            <a:r>
              <a:rPr lang="en-US" sz="1200" b="1">
                <a:solidFill>
                  <a:srgbClr val="000000"/>
                </a:solidFill>
                <a:latin typeface="29LT Bukra Medium"/>
                <a:ea typeface="29LT Bukra Medium"/>
                <a:cs typeface="29LT Bukra Medium"/>
                <a:sym typeface="29LT Bukra Medium"/>
              </a:rPr>
              <a:t>centroid</a:t>
            </a:r>
          </a:p>
        </p:txBody>
      </p:sp>
      <p:sp>
        <p:nvSpPr>
          <p:cNvPr id="16" name="TextBox 16"/>
          <p:cNvSpPr txBox="1"/>
          <p:nvPr/>
        </p:nvSpPr>
        <p:spPr>
          <a:xfrm>
            <a:off x="708050" y="2998346"/>
            <a:ext cx="3557111" cy="361950"/>
          </a:xfrm>
          <a:prstGeom prst="rect">
            <a:avLst/>
          </a:prstGeom>
        </p:spPr>
        <p:txBody>
          <a:bodyPr lIns="0" tIns="0" rIns="0" bIns="0" rtlCol="0" anchor="t">
            <a:spAutoFit/>
          </a:bodyPr>
          <a:lstStyle/>
          <a:p>
            <a:pPr algn="l">
              <a:lnSpc>
                <a:spcPts val="2808"/>
              </a:lnSpc>
            </a:pPr>
            <a:r>
              <a:rPr lang="en-US" sz="1200" b="1">
                <a:solidFill>
                  <a:srgbClr val="000000"/>
                </a:solidFill>
                <a:latin typeface="29LT Bukra Medium"/>
                <a:ea typeface="29LT Bukra Medium"/>
                <a:cs typeface="29LT Bukra Medium"/>
                <a:sym typeface="29LT Bukra Medium"/>
              </a:rPr>
              <a:t>Reassign each data point to the closest</a:t>
            </a:r>
          </a:p>
        </p:txBody>
      </p:sp>
      <p:sp>
        <p:nvSpPr>
          <p:cNvPr id="17" name="TextBox 17"/>
          <p:cNvSpPr txBox="1"/>
          <p:nvPr/>
        </p:nvSpPr>
        <p:spPr>
          <a:xfrm>
            <a:off x="4320540" y="2998346"/>
            <a:ext cx="669979" cy="361950"/>
          </a:xfrm>
          <a:prstGeom prst="rect">
            <a:avLst/>
          </a:prstGeom>
        </p:spPr>
        <p:txBody>
          <a:bodyPr lIns="0" tIns="0" rIns="0" bIns="0" rtlCol="0" anchor="t">
            <a:spAutoFit/>
          </a:bodyPr>
          <a:lstStyle/>
          <a:p>
            <a:pPr algn="l">
              <a:lnSpc>
                <a:spcPts val="2808"/>
              </a:lnSpc>
            </a:pPr>
            <a:r>
              <a:rPr lang="en-US" sz="1200" b="1">
                <a:solidFill>
                  <a:srgbClr val="000000"/>
                </a:solidFill>
                <a:latin typeface="29LT Bukra Medium"/>
                <a:ea typeface="29LT Bukra Medium"/>
                <a:cs typeface="29LT Bukra Medium"/>
                <a:sym typeface="29LT Bukra Medium"/>
              </a:rPr>
              <a:t>centroid.</a:t>
            </a:r>
          </a:p>
        </p:txBody>
      </p:sp>
      <p:sp>
        <p:nvSpPr>
          <p:cNvPr id="18" name="TextBox 18"/>
          <p:cNvSpPr txBox="1"/>
          <p:nvPr/>
        </p:nvSpPr>
        <p:spPr>
          <a:xfrm>
            <a:off x="708050" y="3424552"/>
            <a:ext cx="4510478" cy="367284"/>
          </a:xfrm>
          <a:prstGeom prst="rect">
            <a:avLst/>
          </a:prstGeom>
        </p:spPr>
        <p:txBody>
          <a:bodyPr lIns="0" tIns="0" rIns="0" bIns="0" rtlCol="0" anchor="t">
            <a:spAutoFit/>
          </a:bodyPr>
          <a:lstStyle/>
          <a:p>
            <a:pPr algn="l">
              <a:lnSpc>
                <a:spcPts val="603"/>
              </a:lnSpc>
            </a:pPr>
            <a:r>
              <a:rPr lang="en-US" sz="1200" b="1">
                <a:solidFill>
                  <a:srgbClr val="000000"/>
                </a:solidFill>
                <a:latin typeface="29LT Bukra Medium"/>
                <a:ea typeface="29LT Bukra Medium"/>
                <a:cs typeface="29LT Bukra Medium"/>
                <a:sym typeface="29LT Bukra Medium"/>
              </a:rPr>
              <a:t>If any reassignment took place, go to Step4,else</a:t>
            </a:r>
          </a:p>
          <a:p>
            <a:pPr algn="l">
              <a:lnSpc>
                <a:spcPts val="2780"/>
              </a:lnSpc>
            </a:pPr>
            <a:r>
              <a:rPr lang="en-US" sz="1200" b="1">
                <a:solidFill>
                  <a:srgbClr val="000000"/>
                </a:solidFill>
                <a:latin typeface="29LT Bukra Medium"/>
                <a:ea typeface="29LT Bukra Medium"/>
                <a:cs typeface="29LT Bukra Medium"/>
                <a:sym typeface="29LT Bukra Medium"/>
              </a:rPr>
              <a:t>FINISH.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1158554" y="1062723"/>
            <a:ext cx="539591" cy="2642635"/>
          </a:xfrm>
          <a:custGeom>
            <a:avLst/>
            <a:gdLst/>
            <a:ahLst/>
            <a:cxnLst/>
            <a:rect l="l" t="t" r="r" b="b"/>
            <a:pathLst>
              <a:path w="539591" h="2642635">
                <a:moveTo>
                  <a:pt x="0" y="0"/>
                </a:moveTo>
                <a:lnTo>
                  <a:pt x="539592" y="0"/>
                </a:lnTo>
                <a:lnTo>
                  <a:pt x="539592" y="2642635"/>
                </a:lnTo>
                <a:lnTo>
                  <a:pt x="0" y="26426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Freeform 8"/>
          <p:cNvSpPr/>
          <p:nvPr/>
        </p:nvSpPr>
        <p:spPr>
          <a:xfrm>
            <a:off x="2252853" y="3167377"/>
            <a:ext cx="585435" cy="693420"/>
          </a:xfrm>
          <a:custGeom>
            <a:avLst/>
            <a:gdLst/>
            <a:ahLst/>
            <a:cxnLst/>
            <a:rect l="l" t="t" r="r" b="b"/>
            <a:pathLst>
              <a:path w="585435" h="693420">
                <a:moveTo>
                  <a:pt x="0" y="0"/>
                </a:moveTo>
                <a:lnTo>
                  <a:pt x="585435" y="0"/>
                </a:lnTo>
                <a:lnTo>
                  <a:pt x="585435" y="693420"/>
                </a:lnTo>
                <a:lnTo>
                  <a:pt x="0" y="6934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9" name="Freeform 9"/>
          <p:cNvSpPr/>
          <p:nvPr/>
        </p:nvSpPr>
        <p:spPr>
          <a:xfrm>
            <a:off x="2127885" y="632974"/>
            <a:ext cx="815559" cy="1007745"/>
          </a:xfrm>
          <a:custGeom>
            <a:avLst/>
            <a:gdLst/>
            <a:ahLst/>
            <a:cxnLst/>
            <a:rect l="l" t="t" r="r" b="b"/>
            <a:pathLst>
              <a:path w="815559" h="1007745">
                <a:moveTo>
                  <a:pt x="0" y="0"/>
                </a:moveTo>
                <a:lnTo>
                  <a:pt x="815559" y="0"/>
                </a:lnTo>
                <a:lnTo>
                  <a:pt x="815559" y="1007745"/>
                </a:lnTo>
                <a:lnTo>
                  <a:pt x="0" y="100774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N"/>
          </a:p>
        </p:txBody>
      </p:sp>
      <p:sp>
        <p:nvSpPr>
          <p:cNvPr id="10" name="Freeform 10"/>
          <p:cNvSpPr/>
          <p:nvPr/>
        </p:nvSpPr>
        <p:spPr>
          <a:xfrm>
            <a:off x="2831973" y="1289818"/>
            <a:ext cx="815588" cy="1009269"/>
          </a:xfrm>
          <a:custGeom>
            <a:avLst/>
            <a:gdLst/>
            <a:ahLst/>
            <a:cxnLst/>
            <a:rect l="l" t="t" r="r" b="b"/>
            <a:pathLst>
              <a:path w="815588" h="1009269">
                <a:moveTo>
                  <a:pt x="0" y="0"/>
                </a:moveTo>
                <a:lnTo>
                  <a:pt x="815588" y="0"/>
                </a:lnTo>
                <a:lnTo>
                  <a:pt x="815588" y="1009269"/>
                </a:lnTo>
                <a:lnTo>
                  <a:pt x="0" y="10092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IN"/>
          </a:p>
        </p:txBody>
      </p:sp>
      <p:sp>
        <p:nvSpPr>
          <p:cNvPr id="11" name="Freeform 11"/>
          <p:cNvSpPr/>
          <p:nvPr/>
        </p:nvSpPr>
        <p:spPr>
          <a:xfrm>
            <a:off x="3914013" y="2996689"/>
            <a:ext cx="1094546" cy="1359665"/>
          </a:xfrm>
          <a:custGeom>
            <a:avLst/>
            <a:gdLst/>
            <a:ahLst/>
            <a:cxnLst/>
            <a:rect l="l" t="t" r="r" b="b"/>
            <a:pathLst>
              <a:path w="1094546" h="1359665">
                <a:moveTo>
                  <a:pt x="0" y="0"/>
                </a:moveTo>
                <a:lnTo>
                  <a:pt x="1094546" y="0"/>
                </a:lnTo>
                <a:lnTo>
                  <a:pt x="1094546" y="1359665"/>
                </a:lnTo>
                <a:lnTo>
                  <a:pt x="0" y="135966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IN"/>
          </a:p>
        </p:txBody>
      </p:sp>
      <p:sp>
        <p:nvSpPr>
          <p:cNvPr id="12" name="Freeform 12"/>
          <p:cNvSpPr/>
          <p:nvPr/>
        </p:nvSpPr>
        <p:spPr>
          <a:xfrm>
            <a:off x="3921633" y="1384297"/>
            <a:ext cx="585445" cy="693420"/>
          </a:xfrm>
          <a:custGeom>
            <a:avLst/>
            <a:gdLst/>
            <a:ahLst/>
            <a:cxnLst/>
            <a:rect l="l" t="t" r="r" b="b"/>
            <a:pathLst>
              <a:path w="585445" h="693420">
                <a:moveTo>
                  <a:pt x="0" y="0"/>
                </a:moveTo>
                <a:lnTo>
                  <a:pt x="585445" y="0"/>
                </a:lnTo>
                <a:lnTo>
                  <a:pt x="585445" y="693420"/>
                </a:lnTo>
                <a:lnTo>
                  <a:pt x="0" y="693420"/>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IN"/>
          </a:p>
        </p:txBody>
      </p:sp>
      <p:sp>
        <p:nvSpPr>
          <p:cNvPr id="13" name="Freeform 13"/>
          <p:cNvSpPr/>
          <p:nvPr/>
        </p:nvSpPr>
        <p:spPr>
          <a:xfrm>
            <a:off x="5101209" y="1009393"/>
            <a:ext cx="1068410" cy="865308"/>
          </a:xfrm>
          <a:custGeom>
            <a:avLst/>
            <a:gdLst/>
            <a:ahLst/>
            <a:cxnLst/>
            <a:rect l="l" t="t" r="r" b="b"/>
            <a:pathLst>
              <a:path w="1068410" h="865308">
                <a:moveTo>
                  <a:pt x="0" y="0"/>
                </a:moveTo>
                <a:lnTo>
                  <a:pt x="1068410" y="0"/>
                </a:lnTo>
                <a:lnTo>
                  <a:pt x="1068410" y="865308"/>
                </a:lnTo>
                <a:lnTo>
                  <a:pt x="0" y="865308"/>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IN"/>
          </a:p>
        </p:txBody>
      </p:sp>
      <p:sp>
        <p:nvSpPr>
          <p:cNvPr id="14" name="Freeform 14"/>
          <p:cNvSpPr/>
          <p:nvPr/>
        </p:nvSpPr>
        <p:spPr>
          <a:xfrm>
            <a:off x="5861809" y="3450841"/>
            <a:ext cx="3167377" cy="427225"/>
          </a:xfrm>
          <a:custGeom>
            <a:avLst/>
            <a:gdLst/>
            <a:ahLst/>
            <a:cxnLst/>
            <a:rect l="l" t="t" r="r" b="b"/>
            <a:pathLst>
              <a:path w="3167377" h="427225">
                <a:moveTo>
                  <a:pt x="0" y="0"/>
                </a:moveTo>
                <a:lnTo>
                  <a:pt x="3167377" y="0"/>
                </a:lnTo>
                <a:lnTo>
                  <a:pt x="3167377" y="427225"/>
                </a:lnTo>
                <a:lnTo>
                  <a:pt x="0" y="42722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IN"/>
          </a:p>
        </p:txBody>
      </p:sp>
      <p:sp>
        <p:nvSpPr>
          <p:cNvPr id="15" name="TextBox 15"/>
          <p:cNvSpPr txBox="1"/>
          <p:nvPr/>
        </p:nvSpPr>
        <p:spPr>
          <a:xfrm>
            <a:off x="293827" y="4645304"/>
            <a:ext cx="107804"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52</a:t>
            </a:r>
          </a:p>
        </p:txBody>
      </p:sp>
      <p:sp>
        <p:nvSpPr>
          <p:cNvPr id="16" name="TextBox 16"/>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7" name="TextBox 17"/>
          <p:cNvSpPr txBox="1"/>
          <p:nvPr/>
        </p:nvSpPr>
        <p:spPr>
          <a:xfrm>
            <a:off x="259385" y="145094"/>
            <a:ext cx="3337046"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Hierarchical Clustering</a:t>
            </a:r>
          </a:p>
        </p:txBody>
      </p:sp>
      <p:sp>
        <p:nvSpPr>
          <p:cNvPr id="18" name="TextBox 18"/>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9" name="TextBox 19"/>
          <p:cNvSpPr txBox="1"/>
          <p:nvPr/>
        </p:nvSpPr>
        <p:spPr>
          <a:xfrm>
            <a:off x="283159" y="2280618"/>
            <a:ext cx="817426" cy="304442"/>
          </a:xfrm>
          <a:prstGeom prst="rect">
            <a:avLst/>
          </a:prstGeom>
        </p:spPr>
        <p:txBody>
          <a:bodyPr lIns="0" tIns="0" rIns="0" bIns="0" rtlCol="0" anchor="t">
            <a:spAutoFit/>
          </a:bodyPr>
          <a:lstStyle/>
          <a:p>
            <a:pPr algn="l">
              <a:lnSpc>
                <a:spcPts val="2523"/>
              </a:lnSpc>
            </a:pPr>
            <a:r>
              <a:rPr lang="en-US" sz="1802" dirty="0">
                <a:solidFill>
                  <a:srgbClr val="000000"/>
                </a:solidFill>
                <a:latin typeface="Aptos" panose="020B0004020202020204" pitchFamily="34" charset="0"/>
                <a:ea typeface="Heading Now 11-18"/>
                <a:cs typeface="Heading Now 11-18"/>
                <a:sym typeface="Heading Now 11-18"/>
              </a:rPr>
              <a:t>Animal</a:t>
            </a:r>
          </a:p>
        </p:txBody>
      </p:sp>
      <p:sp>
        <p:nvSpPr>
          <p:cNvPr id="20" name="TextBox 20"/>
          <p:cNvSpPr txBox="1"/>
          <p:nvPr/>
        </p:nvSpPr>
        <p:spPr>
          <a:xfrm>
            <a:off x="1734950" y="1556471"/>
            <a:ext cx="1172318" cy="304442"/>
          </a:xfrm>
          <a:prstGeom prst="rect">
            <a:avLst/>
          </a:prstGeom>
        </p:spPr>
        <p:txBody>
          <a:bodyPr lIns="0" tIns="0" rIns="0" bIns="0" rtlCol="0" anchor="t">
            <a:spAutoFit/>
          </a:bodyPr>
          <a:lstStyle/>
          <a:p>
            <a:pPr algn="l">
              <a:lnSpc>
                <a:spcPts val="2523"/>
              </a:lnSpc>
            </a:pPr>
            <a:r>
              <a:rPr lang="en-US" sz="1802" dirty="0">
                <a:solidFill>
                  <a:srgbClr val="000000"/>
                </a:solidFill>
                <a:latin typeface="Aptos" panose="020B0004020202020204" pitchFamily="34" charset="0"/>
                <a:ea typeface="Heading Now 11-18"/>
                <a:cs typeface="Heading Now 11-18"/>
                <a:sym typeface="Heading Now 11-18"/>
              </a:rPr>
              <a:t>Mammals</a:t>
            </a:r>
          </a:p>
        </p:txBody>
      </p:sp>
      <p:sp>
        <p:nvSpPr>
          <p:cNvPr id="21" name="TextBox 21"/>
          <p:cNvSpPr txBox="1"/>
          <p:nvPr/>
        </p:nvSpPr>
        <p:spPr>
          <a:xfrm>
            <a:off x="4523489" y="1208361"/>
            <a:ext cx="592817" cy="817340"/>
          </a:xfrm>
          <a:prstGeom prst="rect">
            <a:avLst/>
          </a:prstGeom>
        </p:spPr>
        <p:txBody>
          <a:bodyPr lIns="0" tIns="0" rIns="0" bIns="0" rtlCol="0" anchor="t">
            <a:spAutoFit/>
          </a:bodyPr>
          <a:lstStyle/>
          <a:p>
            <a:pPr algn="l">
              <a:lnSpc>
                <a:spcPts val="2523"/>
              </a:lnSpc>
            </a:pPr>
            <a:r>
              <a:rPr lang="en-US" sz="1802" dirty="0">
                <a:solidFill>
                  <a:srgbClr val="000000"/>
                </a:solidFill>
                <a:latin typeface="Aptos" panose="020B0004020202020204" pitchFamily="34" charset="0"/>
                <a:ea typeface="Heading Now 11-18"/>
                <a:cs typeface="Heading Now 11-18"/>
                <a:sym typeface="Heading Now 11-18"/>
              </a:rPr>
              <a:t>Dogs</a:t>
            </a:r>
          </a:p>
          <a:p>
            <a:pPr algn="l">
              <a:lnSpc>
                <a:spcPts val="4500"/>
              </a:lnSpc>
            </a:pPr>
            <a:r>
              <a:rPr lang="en-US" sz="1800" dirty="0">
                <a:solidFill>
                  <a:srgbClr val="000000"/>
                </a:solidFill>
                <a:latin typeface="Aptos" panose="020B0004020202020204" pitchFamily="34" charset="0"/>
                <a:ea typeface="Heading Now 11-18"/>
                <a:cs typeface="Heading Now 11-18"/>
                <a:sym typeface="Heading Now 11-18"/>
              </a:rPr>
              <a:t>Cats</a:t>
            </a:r>
          </a:p>
        </p:txBody>
      </p:sp>
      <p:sp>
        <p:nvSpPr>
          <p:cNvPr id="22" name="TextBox 22"/>
          <p:cNvSpPr txBox="1"/>
          <p:nvPr/>
        </p:nvSpPr>
        <p:spPr>
          <a:xfrm>
            <a:off x="1726054" y="909066"/>
            <a:ext cx="446294" cy="304379"/>
          </a:xfrm>
          <a:prstGeom prst="rect">
            <a:avLst/>
          </a:prstGeom>
        </p:spPr>
        <p:txBody>
          <a:bodyPr lIns="0" tIns="0" rIns="0" bIns="0" rtlCol="0" anchor="t">
            <a:spAutoFit/>
          </a:bodyPr>
          <a:lstStyle/>
          <a:p>
            <a:pPr algn="l">
              <a:lnSpc>
                <a:spcPts val="2520"/>
              </a:lnSpc>
            </a:pPr>
            <a:r>
              <a:rPr lang="en-US" sz="1800" spc="1" dirty="0">
                <a:solidFill>
                  <a:srgbClr val="000000"/>
                </a:solidFill>
                <a:latin typeface="Aptos" panose="020B0004020202020204" pitchFamily="34" charset="0"/>
                <a:ea typeface="Heading Now 11-18"/>
                <a:cs typeface="Heading Now 11-18"/>
                <a:sym typeface="Heading Now 11-18"/>
              </a:rPr>
              <a:t>Fish</a:t>
            </a:r>
          </a:p>
        </p:txBody>
      </p:sp>
      <p:sp>
        <p:nvSpPr>
          <p:cNvPr id="23" name="TextBox 23"/>
          <p:cNvSpPr txBox="1"/>
          <p:nvPr/>
        </p:nvSpPr>
        <p:spPr>
          <a:xfrm>
            <a:off x="1726054" y="2523239"/>
            <a:ext cx="566604" cy="1065741"/>
          </a:xfrm>
          <a:prstGeom prst="rect">
            <a:avLst/>
          </a:prstGeom>
        </p:spPr>
        <p:txBody>
          <a:bodyPr lIns="0" tIns="0" rIns="0" bIns="0" rtlCol="0" anchor="t">
            <a:spAutoFit/>
          </a:bodyPr>
          <a:lstStyle/>
          <a:p>
            <a:pPr algn="l">
              <a:lnSpc>
                <a:spcPts val="4500"/>
              </a:lnSpc>
            </a:pPr>
            <a:r>
              <a:rPr lang="en-US" sz="1800" dirty="0">
                <a:solidFill>
                  <a:srgbClr val="000000"/>
                </a:solidFill>
                <a:latin typeface="Aptos" panose="020B0004020202020204" pitchFamily="34" charset="0"/>
                <a:ea typeface="Heading Now 11-18"/>
                <a:cs typeface="Heading Now 11-18"/>
                <a:sym typeface="Heading Now 11-18"/>
              </a:rPr>
              <a:t>…</a:t>
            </a:r>
          </a:p>
          <a:p>
            <a:pPr algn="l">
              <a:lnSpc>
                <a:spcPts val="4500"/>
              </a:lnSpc>
            </a:pPr>
            <a:r>
              <a:rPr lang="en-US" sz="1800" dirty="0">
                <a:solidFill>
                  <a:srgbClr val="000000"/>
                </a:solidFill>
                <a:latin typeface="Aptos" panose="020B0004020202020204" pitchFamily="34" charset="0"/>
                <a:ea typeface="Heading Now 11-18"/>
                <a:cs typeface="Heading Now 11-18"/>
                <a:sym typeface="Heading Now 11-18"/>
              </a:rPr>
              <a:t>Birds</a:t>
            </a:r>
          </a:p>
        </p:txBody>
      </p:sp>
      <p:sp>
        <p:nvSpPr>
          <p:cNvPr id="24" name="TextBox 24"/>
          <p:cNvSpPr txBox="1"/>
          <p:nvPr/>
        </p:nvSpPr>
        <p:spPr>
          <a:xfrm>
            <a:off x="3714874" y="1446152"/>
            <a:ext cx="135474" cy="304379"/>
          </a:xfrm>
          <a:prstGeom prst="rect">
            <a:avLst/>
          </a:prstGeom>
        </p:spPr>
        <p:txBody>
          <a:bodyPr lIns="0" tIns="0" rIns="0" bIns="0" rtlCol="0" anchor="t">
            <a:spAutoFit/>
          </a:bodyPr>
          <a:lstStyle/>
          <a:p>
            <a:pPr algn="l">
              <a:lnSpc>
                <a:spcPts val="2520"/>
              </a:lnSpc>
            </a:pPr>
            <a:r>
              <a:rPr lang="en-US" sz="1800" dirty="0">
                <a:solidFill>
                  <a:srgbClr val="000000"/>
                </a:solidFill>
                <a:latin typeface="Aptos" panose="020B0004020202020204" pitchFamily="34" charset="0"/>
                <a:ea typeface="Heading Now 11-18"/>
                <a:cs typeface="Heading Now 11-18"/>
                <a:sym typeface="Heading Now 11-18"/>
              </a:rPr>
              <a:t>…</a:t>
            </a:r>
          </a:p>
        </p:txBody>
      </p:sp>
      <p:sp>
        <p:nvSpPr>
          <p:cNvPr id="25" name="TextBox 25"/>
          <p:cNvSpPr txBox="1"/>
          <p:nvPr/>
        </p:nvSpPr>
        <p:spPr>
          <a:xfrm>
            <a:off x="2886199" y="2878712"/>
            <a:ext cx="670131" cy="458267"/>
          </a:xfrm>
          <a:prstGeom prst="rect">
            <a:avLst/>
          </a:prstGeom>
        </p:spPr>
        <p:txBody>
          <a:bodyPr lIns="0" tIns="0" rIns="0" bIns="0" rtlCol="0" anchor="t">
            <a:spAutoFit/>
          </a:bodyPr>
          <a:lstStyle/>
          <a:p>
            <a:pPr algn="l">
              <a:lnSpc>
                <a:spcPts val="4100"/>
              </a:lnSpc>
            </a:pPr>
            <a:r>
              <a:rPr lang="en-US" sz="1800" dirty="0">
                <a:solidFill>
                  <a:srgbClr val="000000"/>
                </a:solidFill>
                <a:latin typeface="Aptos" panose="020B0004020202020204" pitchFamily="34" charset="0"/>
                <a:ea typeface="Heading Now 11-18"/>
                <a:cs typeface="Heading Now 11-18"/>
                <a:sym typeface="Heading Now 11-18"/>
              </a:rPr>
              <a:t>Flying</a:t>
            </a:r>
          </a:p>
        </p:txBody>
      </p:sp>
      <p:sp>
        <p:nvSpPr>
          <p:cNvPr id="26" name="TextBox 26"/>
          <p:cNvSpPr txBox="1"/>
          <p:nvPr/>
        </p:nvSpPr>
        <p:spPr>
          <a:xfrm>
            <a:off x="2914526" y="3399539"/>
            <a:ext cx="1069791" cy="458267"/>
          </a:xfrm>
          <a:prstGeom prst="rect">
            <a:avLst/>
          </a:prstGeom>
        </p:spPr>
        <p:txBody>
          <a:bodyPr lIns="0" tIns="0" rIns="0" bIns="0" rtlCol="0" anchor="t">
            <a:spAutoFit/>
          </a:bodyPr>
          <a:lstStyle/>
          <a:p>
            <a:pPr algn="l">
              <a:lnSpc>
                <a:spcPts val="4100"/>
              </a:lnSpc>
            </a:pPr>
            <a:r>
              <a:rPr lang="en-US" sz="1800" dirty="0">
                <a:solidFill>
                  <a:srgbClr val="000000"/>
                </a:solidFill>
                <a:latin typeface="Aptos" panose="020B0004020202020204" pitchFamily="34" charset="0"/>
                <a:ea typeface="Heading Now 11-18"/>
                <a:cs typeface="Heading Now 11-18"/>
                <a:sym typeface="Heading Now 11-18"/>
              </a:rPr>
              <a:t>Flightless</a:t>
            </a:r>
          </a:p>
        </p:txBody>
      </p:sp>
      <p:sp>
        <p:nvSpPr>
          <p:cNvPr id="27" name="TextBox 27"/>
          <p:cNvSpPr txBox="1"/>
          <p:nvPr/>
        </p:nvSpPr>
        <p:spPr>
          <a:xfrm>
            <a:off x="5027676" y="2604011"/>
            <a:ext cx="942251" cy="1514645"/>
          </a:xfrm>
          <a:prstGeom prst="rect">
            <a:avLst/>
          </a:prstGeom>
        </p:spPr>
        <p:txBody>
          <a:bodyPr lIns="0" tIns="0" rIns="0" bIns="0" rtlCol="0" anchor="t">
            <a:spAutoFit/>
          </a:bodyPr>
          <a:lstStyle/>
          <a:p>
            <a:pPr algn="l">
              <a:lnSpc>
                <a:spcPts val="4500"/>
              </a:lnSpc>
            </a:pPr>
            <a:r>
              <a:rPr lang="en-US" sz="1800" dirty="0">
                <a:solidFill>
                  <a:srgbClr val="000000"/>
                </a:solidFill>
                <a:latin typeface="Aptos" panose="020B0004020202020204" pitchFamily="34" charset="0"/>
                <a:ea typeface="Heading Now 11-18"/>
                <a:cs typeface="Heading Now 11-18"/>
                <a:sym typeface="Heading Now 11-18"/>
              </a:rPr>
              <a:t>Penguin</a:t>
            </a:r>
          </a:p>
          <a:p>
            <a:pPr algn="l">
              <a:lnSpc>
                <a:spcPts val="1691"/>
              </a:lnSpc>
            </a:pPr>
            <a:r>
              <a:rPr lang="en-US" sz="1800" dirty="0">
                <a:solidFill>
                  <a:srgbClr val="000000"/>
                </a:solidFill>
                <a:latin typeface="Aptos" panose="020B0004020202020204" pitchFamily="34" charset="0"/>
                <a:ea typeface="Heading Now 11-18"/>
                <a:cs typeface="Heading Now 11-18"/>
                <a:sym typeface="Heading Now 11-18"/>
              </a:rPr>
              <a:t>Emu</a:t>
            </a:r>
          </a:p>
          <a:p>
            <a:pPr algn="l">
              <a:lnSpc>
                <a:spcPts val="4500"/>
              </a:lnSpc>
            </a:pPr>
            <a:r>
              <a:rPr lang="en-US" sz="1800" dirty="0">
                <a:solidFill>
                  <a:srgbClr val="000000"/>
                </a:solidFill>
                <a:latin typeface="Aptos" panose="020B0004020202020204" pitchFamily="34" charset="0"/>
                <a:ea typeface="Heading Now 11-18"/>
                <a:cs typeface="Heading Now 11-18"/>
                <a:sym typeface="Heading Now 11-18"/>
              </a:rPr>
              <a:t>Kiwi</a:t>
            </a:r>
          </a:p>
          <a:p>
            <a:pPr algn="l">
              <a:lnSpc>
                <a:spcPts val="901"/>
              </a:lnSpc>
            </a:pPr>
            <a:r>
              <a:rPr lang="en-US" sz="1802" dirty="0">
                <a:solidFill>
                  <a:srgbClr val="000000"/>
                </a:solidFill>
                <a:latin typeface="Aptos" panose="020B0004020202020204" pitchFamily="34" charset="0"/>
                <a:ea typeface="Heading Now 11-18"/>
                <a:cs typeface="Heading Now 11-18"/>
                <a:sym typeface="Heading Now 11-18"/>
              </a:rPr>
              <a:t>…</a:t>
            </a:r>
          </a:p>
        </p:txBody>
      </p:sp>
      <p:sp>
        <p:nvSpPr>
          <p:cNvPr id="28" name="TextBox 28"/>
          <p:cNvSpPr txBox="1"/>
          <p:nvPr/>
        </p:nvSpPr>
        <p:spPr>
          <a:xfrm>
            <a:off x="6206995" y="827532"/>
            <a:ext cx="793013" cy="974626"/>
          </a:xfrm>
          <a:prstGeom prst="rect">
            <a:avLst/>
          </a:prstGeom>
        </p:spPr>
        <p:txBody>
          <a:bodyPr lIns="0" tIns="0" rIns="0" bIns="0" rtlCol="0" anchor="t">
            <a:spAutoFit/>
          </a:bodyPr>
          <a:lstStyle/>
          <a:p>
            <a:pPr algn="l">
              <a:lnSpc>
                <a:spcPts val="2764"/>
              </a:lnSpc>
            </a:pPr>
            <a:r>
              <a:rPr lang="en-US" sz="1800" dirty="0">
                <a:solidFill>
                  <a:srgbClr val="000000"/>
                </a:solidFill>
                <a:latin typeface="Aptos" panose="020B0004020202020204" pitchFamily="34" charset="0"/>
                <a:ea typeface="Heading Now 11-18"/>
                <a:cs typeface="Heading Now 11-18"/>
                <a:sym typeface="Heading Now 11-18"/>
              </a:rPr>
              <a:t>Poodle Pug</a:t>
            </a:r>
          </a:p>
          <a:p>
            <a:pPr algn="l">
              <a:lnSpc>
                <a:spcPts val="2036"/>
              </a:lnSpc>
            </a:pPr>
            <a:r>
              <a:rPr lang="en-US" sz="1802" dirty="0">
                <a:solidFill>
                  <a:srgbClr val="000000"/>
                </a:solidFill>
                <a:latin typeface="Aptos" panose="020B0004020202020204" pitchFamily="34" charset="0"/>
                <a:ea typeface="Heading Now 11-18"/>
                <a:cs typeface="Heading Now 11-18"/>
                <a:sym typeface="Heading Now 11-18"/>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835652" y="1600200"/>
            <a:ext cx="4076700" cy="2808732"/>
          </a:xfrm>
          <a:custGeom>
            <a:avLst/>
            <a:gdLst/>
            <a:ahLst/>
            <a:cxnLst/>
            <a:rect l="l" t="t" r="r" b="b"/>
            <a:pathLst>
              <a:path w="4076700" h="2808732">
                <a:moveTo>
                  <a:pt x="0" y="0"/>
                </a:moveTo>
                <a:lnTo>
                  <a:pt x="4076700" y="0"/>
                </a:lnTo>
                <a:lnTo>
                  <a:pt x="4076700" y="2808732"/>
                </a:lnTo>
                <a:lnTo>
                  <a:pt x="0" y="2808732"/>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45304"/>
            <a:ext cx="109061"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53</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337046"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Hierarchical Clustering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78562" y="1109843"/>
            <a:ext cx="885215" cy="170047"/>
          </a:xfrm>
          <a:prstGeom prst="rect">
            <a:avLst/>
          </a:prstGeom>
        </p:spPr>
        <p:txBody>
          <a:bodyPr lIns="0" tIns="0" rIns="0" bIns="0" rtlCol="0" anchor="t">
            <a:spAutoFit/>
          </a:bodyPr>
          <a:lstStyle/>
          <a:p>
            <a:pPr algn="l">
              <a:lnSpc>
                <a:spcPts val="1394"/>
              </a:lnSpc>
            </a:pPr>
            <a:r>
              <a:rPr lang="en-US" sz="996" dirty="0">
                <a:solidFill>
                  <a:srgbClr val="000000"/>
                </a:solidFill>
                <a:latin typeface="Aptos" panose="020B0004020202020204" pitchFamily="34" charset="0"/>
                <a:ea typeface="Heading Now 11-18"/>
                <a:cs typeface="Heading Now 11-18"/>
                <a:sym typeface="Heading Now 11-18"/>
              </a:rPr>
              <a:t>Pseudo Code:</a:t>
            </a:r>
          </a:p>
        </p:txBody>
      </p:sp>
      <p:sp>
        <p:nvSpPr>
          <p:cNvPr id="13" name="TextBox 13"/>
          <p:cNvSpPr txBox="1"/>
          <p:nvPr/>
        </p:nvSpPr>
        <p:spPr>
          <a:xfrm>
            <a:off x="543154" y="1638290"/>
            <a:ext cx="102756" cy="1294514"/>
          </a:xfrm>
          <a:prstGeom prst="rect">
            <a:avLst/>
          </a:prstGeom>
        </p:spPr>
        <p:txBody>
          <a:bodyPr lIns="0" tIns="0" rIns="0" bIns="0" rtlCol="0" anchor="t">
            <a:spAutoFit/>
          </a:bodyPr>
          <a:lstStyle/>
          <a:p>
            <a:pPr algn="just">
              <a:lnSpc>
                <a:spcPts val="1416"/>
              </a:lnSpc>
            </a:pPr>
            <a:r>
              <a:rPr lang="en-US" sz="996" b="1">
                <a:solidFill>
                  <a:srgbClr val="000000"/>
                </a:solidFill>
                <a:latin typeface="29LT Bukra Medium"/>
                <a:ea typeface="29LT Bukra Medium"/>
                <a:cs typeface="29LT Bukra Medium"/>
                <a:sym typeface="29LT Bukra Medium"/>
              </a:rPr>
              <a:t>1. 2. 3. 4.</a:t>
            </a:r>
          </a:p>
        </p:txBody>
      </p:sp>
      <p:sp>
        <p:nvSpPr>
          <p:cNvPr id="14" name="TextBox 14"/>
          <p:cNvSpPr txBox="1"/>
          <p:nvPr/>
        </p:nvSpPr>
        <p:spPr>
          <a:xfrm>
            <a:off x="836066" y="1638290"/>
            <a:ext cx="3929586" cy="718145"/>
          </a:xfrm>
          <a:prstGeom prst="rect">
            <a:avLst/>
          </a:prstGeom>
        </p:spPr>
        <p:txBody>
          <a:bodyPr lIns="0" tIns="0" rIns="0" bIns="0" rtlCol="0" anchor="t">
            <a:spAutoFit/>
          </a:bodyPr>
          <a:lstStyle/>
          <a:p>
            <a:pPr algn="l">
              <a:lnSpc>
                <a:spcPts val="1416"/>
              </a:lnSpc>
            </a:pPr>
            <a:r>
              <a:rPr lang="en-US" sz="996" b="1" dirty="0">
                <a:solidFill>
                  <a:srgbClr val="000000"/>
                </a:solidFill>
                <a:latin typeface="29LT Bukra Medium"/>
                <a:ea typeface="29LT Bukra Medium"/>
                <a:cs typeface="29LT Bukra Medium"/>
                <a:sym typeface="29LT Bukra Medium"/>
              </a:rPr>
              <a:t>Make each data point a single point cluster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N Clusters Take two closest data points &amp; make 1 cluster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N -1 Clusters Take two closest clusters &amp; make 1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N -2 Clusters Repeat Step 3 until there is one cluster.</a:t>
            </a:r>
          </a:p>
        </p:txBody>
      </p:sp>
      <p:sp>
        <p:nvSpPr>
          <p:cNvPr id="15" name="TextBox 15"/>
          <p:cNvSpPr txBox="1"/>
          <p:nvPr/>
        </p:nvSpPr>
        <p:spPr>
          <a:xfrm>
            <a:off x="378562" y="3086719"/>
            <a:ext cx="4498858" cy="532069"/>
          </a:xfrm>
          <a:prstGeom prst="rect">
            <a:avLst/>
          </a:prstGeom>
        </p:spPr>
        <p:txBody>
          <a:bodyPr lIns="0" tIns="0" rIns="0" bIns="0" rtlCol="0" anchor="t">
            <a:spAutoFit/>
          </a:bodyPr>
          <a:lstStyle/>
          <a:p>
            <a:pPr algn="l">
              <a:lnSpc>
                <a:spcPts val="1416"/>
              </a:lnSpc>
            </a:pPr>
            <a:r>
              <a:rPr lang="en-US" sz="996" dirty="0">
                <a:solidFill>
                  <a:srgbClr val="000000"/>
                </a:solidFill>
                <a:latin typeface="Aptos" panose="020B0004020202020204" pitchFamily="34" charset="0"/>
                <a:ea typeface="Heading Now 11-18"/>
                <a:cs typeface="Heading Now 11-18"/>
                <a:sym typeface="Heading Now 11-18"/>
              </a:rPr>
              <a:t>Pros:</a:t>
            </a:r>
          </a:p>
          <a:p>
            <a:pPr algn="l">
              <a:lnSpc>
                <a:spcPts val="1416"/>
              </a:lnSpc>
            </a:pPr>
            <a:r>
              <a:rPr lang="en-US" sz="996" b="1" spc="1" dirty="0">
                <a:solidFill>
                  <a:srgbClr val="000000"/>
                </a:solidFill>
                <a:latin typeface="29LT Bukra Medium"/>
                <a:ea typeface="29LT Bukra Medium"/>
                <a:cs typeface="29LT Bukra Medium"/>
                <a:sym typeface="29LT Bukra Medium"/>
              </a:rPr>
              <a:t>HC shows all the possible linkages between clusters, &amp; we understand the data better. </a:t>
            </a:r>
            <a:r>
              <a:rPr lang="en-US" sz="996" spc="1" dirty="0">
                <a:solidFill>
                  <a:srgbClr val="000000"/>
                </a:solidFill>
                <a:latin typeface="Arial" panose="020B0604020202020204" pitchFamily="34" charset="0"/>
                <a:ea typeface="29LT Bukra"/>
                <a:cs typeface="Arial" panose="020B0604020202020204" pitchFamily="34" charset="0"/>
                <a:sym typeface="29LT Bukra"/>
              </a:rPr>
              <a:t>Cons: </a:t>
            </a:r>
            <a:r>
              <a:rPr lang="en-US" sz="996" b="1" spc="1" dirty="0">
                <a:solidFill>
                  <a:srgbClr val="000000"/>
                </a:solidFill>
                <a:latin typeface="29LT Bukra Medium"/>
                <a:ea typeface="29LT Bukra Medium"/>
                <a:cs typeface="29LT Bukra Medium"/>
                <a:sym typeface="29LT Bukra Medium"/>
              </a:rPr>
              <a:t>Can’t handle big data</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029200" y="1411224"/>
            <a:ext cx="3724656" cy="2647188"/>
          </a:xfrm>
          <a:custGeom>
            <a:avLst/>
            <a:gdLst/>
            <a:ahLst/>
            <a:cxnLst/>
            <a:rect l="l" t="t" r="r" b="b"/>
            <a:pathLst>
              <a:path w="3724656" h="2647188">
                <a:moveTo>
                  <a:pt x="0" y="0"/>
                </a:moveTo>
                <a:lnTo>
                  <a:pt x="3724656" y="0"/>
                </a:lnTo>
                <a:lnTo>
                  <a:pt x="3724656" y="2647188"/>
                </a:lnTo>
                <a:lnTo>
                  <a:pt x="0" y="2647188"/>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45304"/>
            <a:ext cx="112671"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54</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077251"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Mean Shift Clustering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55702" y="1250823"/>
            <a:ext cx="4488409" cy="1767716"/>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Mean-shift algorithm basically assigns the data points to the clusters iteratively by shifting points towards the highest density of data points i.e. cluster centroid. </a:t>
            </a:r>
          </a:p>
          <a:p>
            <a:pPr algn="l">
              <a:lnSpc>
                <a:spcPts val="3000"/>
              </a:lnSpc>
            </a:pPr>
            <a:r>
              <a:rPr lang="en-US" sz="1200" b="1">
                <a:solidFill>
                  <a:srgbClr val="000000"/>
                </a:solidFill>
                <a:latin typeface="29LT Bukra Medium"/>
                <a:ea typeface="29LT Bukra Medium"/>
                <a:cs typeface="29LT Bukra Medium"/>
                <a:sym typeface="29LT Bukra Medium"/>
              </a:rPr>
              <a:t>The difference between K-Means algorithm and </a:t>
            </a:r>
          </a:p>
          <a:p>
            <a:pPr algn="l">
              <a:lnSpc>
                <a:spcPts val="600"/>
              </a:lnSpc>
            </a:pPr>
            <a:r>
              <a:rPr lang="en-US" sz="1200" b="1">
                <a:solidFill>
                  <a:srgbClr val="000000"/>
                </a:solidFill>
                <a:latin typeface="29LT Bukra Medium"/>
                <a:ea typeface="29LT Bukra Medium"/>
                <a:cs typeface="29LT Bukra Medium"/>
                <a:sym typeface="29LT Bukra Medium"/>
              </a:rPr>
              <a:t>Mean-Shift is that later one does not need to specify </a:t>
            </a:r>
          </a:p>
          <a:p>
            <a:pPr algn="l">
              <a:lnSpc>
                <a:spcPts val="2783"/>
              </a:lnSpc>
            </a:pPr>
            <a:r>
              <a:rPr lang="en-US" sz="1200" b="1">
                <a:solidFill>
                  <a:srgbClr val="000000"/>
                </a:solidFill>
                <a:latin typeface="29LT Bukra Medium"/>
                <a:ea typeface="29LT Bukra Medium"/>
                <a:cs typeface="29LT Bukra Medium"/>
                <a:sym typeface="29LT Bukra Medium"/>
              </a:rPr>
              <a:t>the number of clusters in advance because the </a:t>
            </a:r>
          </a:p>
        </p:txBody>
      </p:sp>
      <p:sp>
        <p:nvSpPr>
          <p:cNvPr id="13" name="TextBox 13"/>
          <p:cNvSpPr txBox="1"/>
          <p:nvPr/>
        </p:nvSpPr>
        <p:spPr>
          <a:xfrm>
            <a:off x="355702" y="3082547"/>
            <a:ext cx="1848593" cy="367284"/>
          </a:xfrm>
          <a:prstGeom prst="rect">
            <a:avLst/>
          </a:prstGeom>
        </p:spPr>
        <p:txBody>
          <a:bodyPr lIns="0" tIns="0" rIns="0" bIns="0" rtlCol="0" anchor="t">
            <a:spAutoFit/>
          </a:bodyPr>
          <a:lstStyle/>
          <a:p>
            <a:pPr algn="l">
              <a:lnSpc>
                <a:spcPts val="624"/>
              </a:lnSpc>
            </a:pPr>
            <a:r>
              <a:rPr lang="en-US" sz="1200" b="1">
                <a:solidFill>
                  <a:srgbClr val="000000"/>
                </a:solidFill>
                <a:latin typeface="29LT Bukra Medium"/>
                <a:ea typeface="29LT Bukra Medium"/>
                <a:cs typeface="29LT Bukra Medium"/>
                <a:sym typeface="29LT Bukra Medium"/>
              </a:rPr>
              <a:t>number of </a:t>
            </a:r>
          </a:p>
          <a:p>
            <a:pPr algn="l">
              <a:lnSpc>
                <a:spcPts val="2760"/>
              </a:lnSpc>
            </a:pPr>
            <a:r>
              <a:rPr lang="en-US" sz="1200" b="1">
                <a:solidFill>
                  <a:srgbClr val="000000"/>
                </a:solidFill>
                <a:latin typeface="29LT Bukra Medium"/>
                <a:ea typeface="29LT Bukra Medium"/>
                <a:cs typeface="29LT Bukra Medium"/>
                <a:sym typeface="29LT Bukra Medium"/>
              </a:rPr>
              <a:t>the algorithm w.r.t. data.</a:t>
            </a:r>
          </a:p>
        </p:txBody>
      </p:sp>
      <p:sp>
        <p:nvSpPr>
          <p:cNvPr id="14" name="TextBox 14"/>
          <p:cNvSpPr txBox="1"/>
          <p:nvPr/>
        </p:nvSpPr>
        <p:spPr>
          <a:xfrm>
            <a:off x="2384908" y="3082547"/>
            <a:ext cx="2341826" cy="152400"/>
          </a:xfrm>
          <a:prstGeom prst="rect">
            <a:avLst/>
          </a:prstGeom>
        </p:spPr>
        <p:txBody>
          <a:bodyPr lIns="0" tIns="0" rIns="0" bIns="0" rtlCol="0" anchor="t">
            <a:spAutoFit/>
          </a:bodyPr>
          <a:lstStyle/>
          <a:p>
            <a:pPr algn="l">
              <a:lnSpc>
                <a:spcPts val="624"/>
              </a:lnSpc>
            </a:pPr>
            <a:r>
              <a:rPr lang="en-US" sz="1200" b="1">
                <a:solidFill>
                  <a:srgbClr val="000000"/>
                </a:solidFill>
                <a:latin typeface="29LT Bukra Medium"/>
                <a:ea typeface="29LT Bukra Medium"/>
                <a:cs typeface="29LT Bukra Medium"/>
                <a:sym typeface="29LT Bukra Medium"/>
              </a:rPr>
              <a:t>clusters will be determined by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98949"/>
            <a:ext cx="11258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55</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4220099"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Association Rule Learning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572000" y="2647188"/>
            <a:ext cx="3974592" cy="2028444"/>
          </a:xfrm>
          <a:custGeom>
            <a:avLst/>
            <a:gdLst/>
            <a:ahLst/>
            <a:cxnLst/>
            <a:rect l="l" t="t" r="r" b="b"/>
            <a:pathLst>
              <a:path w="3974592" h="2028444">
                <a:moveTo>
                  <a:pt x="0" y="0"/>
                </a:moveTo>
                <a:lnTo>
                  <a:pt x="3974592" y="0"/>
                </a:lnTo>
                <a:lnTo>
                  <a:pt x="3974592" y="2028444"/>
                </a:lnTo>
                <a:lnTo>
                  <a:pt x="0" y="2028444"/>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45304"/>
            <a:ext cx="113214"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69286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Association Rule Learning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50825" y="1119883"/>
            <a:ext cx="4373061" cy="1308050"/>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From Wikipedia: </a:t>
            </a:r>
          </a:p>
          <a:p>
            <a:pPr algn="l">
              <a:lnSpc>
                <a:spcPts val="1702"/>
              </a:lnSpc>
            </a:pPr>
            <a:r>
              <a:rPr lang="en-US" sz="1200" b="1" dirty="0">
                <a:solidFill>
                  <a:srgbClr val="000000"/>
                </a:solidFill>
                <a:latin typeface="29LT Bukra Medium"/>
                <a:ea typeface="29LT Bukra Medium"/>
                <a:cs typeface="29LT Bukra Medium"/>
                <a:sym typeface="29LT Bukra Medium"/>
              </a:rPr>
              <a:t>Association rule learning is a rule-based machine learning method for discovering interesting relations between variables in large databases. It is intended to identify strong rules discovered databases using some measures of interest.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698492" y="2880360"/>
            <a:ext cx="3840480" cy="1940052"/>
          </a:xfrm>
          <a:custGeom>
            <a:avLst/>
            <a:gdLst/>
            <a:ahLst/>
            <a:cxnLst/>
            <a:rect l="l" t="t" r="r" b="b"/>
            <a:pathLst>
              <a:path w="3840480" h="1940052">
                <a:moveTo>
                  <a:pt x="0" y="0"/>
                </a:moveTo>
                <a:lnTo>
                  <a:pt x="3840480" y="0"/>
                </a:lnTo>
                <a:lnTo>
                  <a:pt x="3840480" y="1940052"/>
                </a:lnTo>
                <a:lnTo>
                  <a:pt x="0" y="1940052"/>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5351" y="4645304"/>
            <a:ext cx="105185"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57</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937665" cy="340221"/>
          </a:xfrm>
          <a:prstGeom prst="rect">
            <a:avLst/>
          </a:prstGeom>
        </p:spPr>
        <p:txBody>
          <a:bodyPr lIns="0" tIns="0" rIns="0" bIns="0" rtlCol="0" anchor="t">
            <a:spAutoFit/>
          </a:bodyPr>
          <a:lstStyle/>
          <a:p>
            <a:pPr algn="l">
              <a:lnSpc>
                <a:spcPts val="2940"/>
              </a:lnSpc>
            </a:pPr>
            <a:r>
              <a:rPr lang="en-US" sz="2100" b="1" spc="10" dirty="0">
                <a:solidFill>
                  <a:srgbClr val="000000"/>
                </a:solidFill>
                <a:latin typeface="Arial" panose="020B0604020202020204" pitchFamily="34" charset="0"/>
                <a:ea typeface="29LT Bukra Bold"/>
                <a:cs typeface="Arial" panose="020B0604020202020204" pitchFamily="34" charset="0"/>
                <a:sym typeface="29LT Bukra Bold"/>
              </a:rPr>
              <a:t>Association Rule Learning -</a:t>
            </a:r>
            <a:r>
              <a:rPr lang="en-US" sz="2100" b="1" spc="10" dirty="0" err="1">
                <a:solidFill>
                  <a:srgbClr val="000000"/>
                </a:solidFill>
                <a:latin typeface="Arial" panose="020B0604020202020204" pitchFamily="34" charset="0"/>
                <a:ea typeface="29LT Bukra Bold"/>
                <a:cs typeface="Arial" panose="020B0604020202020204" pitchFamily="34" charset="0"/>
                <a:sym typeface="29LT Bukra Bold"/>
              </a:rPr>
              <a:t>Apriori</a:t>
            </a:r>
            <a:endParaRPr lang="en-US" sz="2100" b="1" spc="10" dirty="0">
              <a:solidFill>
                <a:srgbClr val="000000"/>
              </a:solidFill>
              <a:latin typeface="Arial" panose="020B0604020202020204" pitchFamily="34" charset="0"/>
              <a:ea typeface="29LT Bukra Bold"/>
              <a:cs typeface="Arial" panose="020B0604020202020204" pitchFamily="34" charset="0"/>
              <a:sym typeface="29LT Bukra Bold"/>
            </a:endParaRP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350825" y="1053836"/>
            <a:ext cx="4098122" cy="735711"/>
          </a:xfrm>
          <a:prstGeom prst="rect">
            <a:avLst/>
          </a:prstGeom>
        </p:spPr>
        <p:txBody>
          <a:bodyPr lIns="0" tIns="0" rIns="0" bIns="0" rtlCol="0" anchor="t">
            <a:spAutoFit/>
          </a:bodyPr>
          <a:lstStyle/>
          <a:p>
            <a:pPr algn="l">
              <a:lnSpc>
                <a:spcPts val="1394"/>
              </a:lnSpc>
            </a:pPr>
            <a:r>
              <a:rPr lang="en-US" sz="996" dirty="0">
                <a:solidFill>
                  <a:srgbClr val="000000"/>
                </a:solidFill>
                <a:latin typeface="Aptos" panose="020B0004020202020204" pitchFamily="34" charset="0"/>
                <a:ea typeface="Heading Now 11-18"/>
                <a:cs typeface="Heading Now 11-18"/>
                <a:sym typeface="Heading Now 11-18"/>
              </a:rPr>
              <a:t>Support: </a:t>
            </a:r>
          </a:p>
          <a:p>
            <a:pPr algn="l">
              <a:lnSpc>
                <a:spcPts val="1416"/>
              </a:lnSpc>
            </a:pPr>
            <a:r>
              <a:rPr lang="en-US" sz="996" b="1" dirty="0">
                <a:solidFill>
                  <a:srgbClr val="000000"/>
                </a:solidFill>
                <a:latin typeface="29LT Bukra Medium"/>
                <a:ea typeface="29LT Bukra Medium"/>
                <a:cs typeface="29LT Bukra Medium"/>
                <a:sym typeface="29LT Bukra Medium"/>
              </a:rPr>
              <a:t>This explains how important an itemset is, as measured by the proportion of transactions in which an itemset appears. Support(Apple) = 4/8</a:t>
            </a:r>
          </a:p>
        </p:txBody>
      </p:sp>
      <p:sp>
        <p:nvSpPr>
          <p:cNvPr id="13" name="TextBox 13"/>
          <p:cNvSpPr txBox="1"/>
          <p:nvPr/>
        </p:nvSpPr>
        <p:spPr>
          <a:xfrm>
            <a:off x="350825" y="2035921"/>
            <a:ext cx="3892201" cy="1020318"/>
          </a:xfrm>
          <a:prstGeom prst="rect">
            <a:avLst/>
          </a:prstGeom>
        </p:spPr>
        <p:txBody>
          <a:bodyPr lIns="0" tIns="0" rIns="0" bIns="0" rtlCol="0" anchor="t">
            <a:spAutoFit/>
          </a:bodyPr>
          <a:lstStyle/>
          <a:p>
            <a:pPr algn="l">
              <a:lnSpc>
                <a:spcPts val="2490"/>
              </a:lnSpc>
            </a:pPr>
            <a:r>
              <a:rPr lang="en-US" sz="996" dirty="0">
                <a:solidFill>
                  <a:srgbClr val="000000"/>
                </a:solidFill>
                <a:latin typeface="Aptos" panose="020B0004020202020204" pitchFamily="34" charset="0"/>
                <a:ea typeface="Heading Now 11-18"/>
                <a:cs typeface="Heading Now 11-18"/>
                <a:sym typeface="Heading Now 11-18"/>
              </a:rPr>
              <a:t>Confidence: </a:t>
            </a:r>
          </a:p>
          <a:p>
            <a:pPr algn="l">
              <a:lnSpc>
                <a:spcPts val="498"/>
              </a:lnSpc>
            </a:pPr>
            <a:r>
              <a:rPr lang="en-US" sz="996" b="1" dirty="0">
                <a:solidFill>
                  <a:srgbClr val="000000"/>
                </a:solidFill>
                <a:latin typeface="29LT Bukra Medium"/>
                <a:ea typeface="29LT Bukra Medium"/>
                <a:cs typeface="29LT Bukra Medium"/>
                <a:sym typeface="29LT Bukra Medium"/>
              </a:rPr>
              <a:t>This says how likely item Y is purchased when item X is </a:t>
            </a:r>
          </a:p>
          <a:p>
            <a:pPr algn="l">
              <a:lnSpc>
                <a:spcPts val="2333"/>
              </a:lnSpc>
            </a:pPr>
            <a:r>
              <a:rPr lang="en-US" sz="996" b="1" dirty="0">
                <a:solidFill>
                  <a:srgbClr val="000000"/>
                </a:solidFill>
                <a:latin typeface="29LT Bukra Medium"/>
                <a:ea typeface="29LT Bukra Medium"/>
                <a:cs typeface="29LT Bukra Medium"/>
                <a:sym typeface="29LT Bukra Medium"/>
              </a:rPr>
              <a:t>purchased, expressed as [X</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Y]</a:t>
            </a:r>
          </a:p>
          <a:p>
            <a:pPr algn="l">
              <a:lnSpc>
                <a:spcPts val="498"/>
              </a:lnSpc>
            </a:pPr>
            <a:r>
              <a:rPr lang="en-US" sz="996" b="1" spc="2" dirty="0">
                <a:solidFill>
                  <a:srgbClr val="000000"/>
                </a:solidFill>
                <a:latin typeface="29LT Bukra Medium"/>
                <a:ea typeface="29LT Bukra Medium"/>
                <a:cs typeface="29LT Bukra Medium"/>
                <a:sym typeface="29LT Bukra Medium"/>
              </a:rPr>
              <a:t>Confidence(</a:t>
            </a:r>
            <a:r>
              <a:rPr lang="en-US" sz="996" b="1" spc="2" dirty="0" err="1">
                <a:solidFill>
                  <a:srgbClr val="000000"/>
                </a:solidFill>
                <a:latin typeface="29LT Bukra Medium"/>
                <a:ea typeface="29LT Bukra Medium"/>
                <a:cs typeface="29LT Bukra Medium"/>
                <a:sym typeface="29LT Bukra Medium"/>
              </a:rPr>
              <a:t>Apple</a:t>
            </a:r>
            <a:r>
              <a:rPr lang="en-US" sz="996" spc="2" dirty="0" err="1">
                <a:solidFill>
                  <a:srgbClr val="000000"/>
                </a:solidFill>
                <a:latin typeface="Arial" panose="020B0604020202020204" pitchFamily="34" charset="0"/>
                <a:ea typeface="29LT Bukra"/>
                <a:cs typeface="Arial" panose="020B0604020202020204" pitchFamily="34" charset="0"/>
                <a:sym typeface="29LT Bukra"/>
              </a:rPr>
              <a:t>→</a:t>
            </a:r>
            <a:r>
              <a:rPr lang="en-US" sz="996" b="1" spc="2" dirty="0" err="1">
                <a:solidFill>
                  <a:srgbClr val="000000"/>
                </a:solidFill>
                <a:latin typeface="29LT Bukra Medium"/>
                <a:ea typeface="29LT Bukra Medium"/>
                <a:cs typeface="29LT Bukra Medium"/>
                <a:sym typeface="29LT Bukra Medium"/>
              </a:rPr>
              <a:t>Beer</a:t>
            </a:r>
            <a:r>
              <a:rPr lang="en-US" sz="996" b="1" spc="2" dirty="0">
                <a:solidFill>
                  <a:srgbClr val="000000"/>
                </a:solidFill>
                <a:latin typeface="29LT Bukra Medium"/>
                <a:ea typeface="29LT Bukra Medium"/>
                <a:cs typeface="29LT Bukra Medium"/>
                <a:sym typeface="29LT Bukra Medium"/>
              </a:rPr>
              <a:t>) = </a:t>
            </a:r>
          </a:p>
          <a:p>
            <a:pPr algn="l">
              <a:lnSpc>
                <a:spcPts val="2333"/>
              </a:lnSpc>
            </a:pPr>
            <a:r>
              <a:rPr lang="en-US" sz="996" b="1" spc="0" dirty="0">
                <a:solidFill>
                  <a:srgbClr val="000000"/>
                </a:solidFill>
                <a:latin typeface="29LT Bukra Medium"/>
                <a:ea typeface="29LT Bukra Medium"/>
                <a:cs typeface="29LT Bukra Medium"/>
                <a:sym typeface="29LT Bukra Medium"/>
              </a:rPr>
              <a:t>Support(</a:t>
            </a:r>
            <a:r>
              <a:rPr lang="en-US" sz="996" b="1" spc="0" dirty="0" err="1">
                <a:solidFill>
                  <a:srgbClr val="000000"/>
                </a:solidFill>
                <a:latin typeface="29LT Bukra Medium"/>
                <a:ea typeface="29LT Bukra Medium"/>
                <a:cs typeface="29LT Bukra Medium"/>
                <a:sym typeface="29LT Bukra Medium"/>
              </a:rPr>
              <a:t>Apple,Beer</a:t>
            </a:r>
            <a:r>
              <a:rPr lang="en-US" sz="996" b="1" spc="0" dirty="0">
                <a:solidFill>
                  <a:srgbClr val="000000"/>
                </a:solidFill>
                <a:latin typeface="29LT Bukra Medium"/>
                <a:ea typeface="29LT Bukra Medium"/>
                <a:cs typeface="29LT Bukra Medium"/>
                <a:sym typeface="29LT Bukra Medium"/>
              </a:rPr>
              <a:t>)/Support(Apple)</a:t>
            </a:r>
          </a:p>
        </p:txBody>
      </p:sp>
      <p:sp>
        <p:nvSpPr>
          <p:cNvPr id="14" name="TextBox 14"/>
          <p:cNvSpPr txBox="1"/>
          <p:nvPr/>
        </p:nvSpPr>
        <p:spPr>
          <a:xfrm>
            <a:off x="1869053" y="3153861"/>
            <a:ext cx="186785" cy="82296"/>
          </a:xfrm>
          <a:prstGeom prst="rect">
            <a:avLst/>
          </a:prstGeom>
        </p:spPr>
        <p:txBody>
          <a:bodyPr lIns="0" tIns="0" rIns="0" bIns="0" rtlCol="0" anchor="t">
            <a:spAutoFit/>
          </a:bodyPr>
          <a:lstStyle/>
          <a:p>
            <a:pPr algn="l">
              <a:lnSpc>
                <a:spcPts val="499"/>
              </a:lnSpc>
            </a:pPr>
            <a:r>
              <a:rPr lang="en-US" sz="998" spc="419">
                <a:solidFill>
                  <a:srgbClr val="000000"/>
                </a:solidFill>
                <a:latin typeface="IBM Plex Sans"/>
                <a:ea typeface="IBM Plex Sans"/>
                <a:cs typeface="IBM Plex Sans"/>
                <a:sym typeface="IBM Plex Sans"/>
              </a:rPr>
              <a:t> ⅜</a:t>
            </a:r>
          </a:p>
        </p:txBody>
      </p:sp>
      <p:sp>
        <p:nvSpPr>
          <p:cNvPr id="15" name="TextBox 15"/>
          <p:cNvSpPr txBox="1"/>
          <p:nvPr/>
        </p:nvSpPr>
        <p:spPr>
          <a:xfrm>
            <a:off x="2481148" y="3115761"/>
            <a:ext cx="35433" cy="120396"/>
          </a:xfrm>
          <a:prstGeom prst="rect">
            <a:avLst/>
          </a:prstGeom>
        </p:spPr>
        <p:txBody>
          <a:bodyPr lIns="0" tIns="0" rIns="0" bIns="0" rtlCol="0" anchor="t">
            <a:spAutoFit/>
          </a:bodyPr>
          <a:lstStyle/>
          <a:p>
            <a:pPr algn="l">
              <a:lnSpc>
                <a:spcPts val="499"/>
              </a:lnSpc>
            </a:pPr>
            <a:r>
              <a:rPr lang="en-US" sz="998" b="1" spc="419">
                <a:solidFill>
                  <a:srgbClr val="000000"/>
                </a:solidFill>
                <a:latin typeface="29LT Bukra Medium"/>
                <a:ea typeface="29LT Bukra Medium"/>
                <a:cs typeface="29LT Bukra Medium"/>
                <a:sym typeface="29LT Bukra Medium"/>
              </a:rPr>
              <a:t> </a:t>
            </a:r>
          </a:p>
        </p:txBody>
      </p:sp>
      <p:sp>
        <p:nvSpPr>
          <p:cNvPr id="16" name="TextBox 16"/>
          <p:cNvSpPr txBox="1"/>
          <p:nvPr/>
        </p:nvSpPr>
        <p:spPr>
          <a:xfrm>
            <a:off x="2638682" y="3160062"/>
            <a:ext cx="97003" cy="73019"/>
          </a:xfrm>
          <a:prstGeom prst="rect">
            <a:avLst/>
          </a:prstGeom>
        </p:spPr>
        <p:txBody>
          <a:bodyPr lIns="0" tIns="0" rIns="0" bIns="0" rtlCol="0" anchor="t">
            <a:spAutoFit/>
          </a:bodyPr>
          <a:lstStyle/>
          <a:p>
            <a:pPr algn="l">
              <a:lnSpc>
                <a:spcPts val="499"/>
              </a:lnSpc>
            </a:pPr>
            <a:r>
              <a:rPr lang="en-US" sz="998" spc="599">
                <a:solidFill>
                  <a:srgbClr val="000000"/>
                </a:solidFill>
                <a:latin typeface="IBM Plex Sans"/>
                <a:ea typeface="IBM Plex Sans"/>
                <a:cs typeface="IBM Plex Sans"/>
                <a:sym typeface="IBM Plex Sans"/>
              </a:rPr>
              <a:t>⅜</a:t>
            </a:r>
          </a:p>
        </p:txBody>
      </p:sp>
      <p:sp>
        <p:nvSpPr>
          <p:cNvPr id="17" name="TextBox 17"/>
          <p:cNvSpPr txBox="1"/>
          <p:nvPr/>
        </p:nvSpPr>
        <p:spPr>
          <a:xfrm>
            <a:off x="2864272" y="3115761"/>
            <a:ext cx="35433" cy="120396"/>
          </a:xfrm>
          <a:prstGeom prst="rect">
            <a:avLst/>
          </a:prstGeom>
        </p:spPr>
        <p:txBody>
          <a:bodyPr lIns="0" tIns="0" rIns="0" bIns="0" rtlCol="0" anchor="t">
            <a:spAutoFit/>
          </a:bodyPr>
          <a:lstStyle/>
          <a:p>
            <a:pPr algn="l">
              <a:lnSpc>
                <a:spcPts val="499"/>
              </a:lnSpc>
            </a:pPr>
            <a:r>
              <a:rPr lang="en-US" sz="998" b="1" spc="419">
                <a:solidFill>
                  <a:srgbClr val="000000"/>
                </a:solidFill>
                <a:latin typeface="29LT Bukra Medium"/>
                <a:ea typeface="29LT Bukra Medium"/>
                <a:cs typeface="29LT Bukra Medium"/>
                <a:sym typeface="29LT Bukra Medium"/>
              </a:rPr>
              <a:t> </a:t>
            </a:r>
          </a:p>
        </p:txBody>
      </p:sp>
      <p:sp>
        <p:nvSpPr>
          <p:cNvPr id="18" name="TextBox 18"/>
          <p:cNvSpPr txBox="1"/>
          <p:nvPr/>
        </p:nvSpPr>
        <p:spPr>
          <a:xfrm>
            <a:off x="4659125" y="1050655"/>
            <a:ext cx="4129926" cy="718145"/>
          </a:xfrm>
          <a:prstGeom prst="rect">
            <a:avLst/>
          </a:prstGeom>
        </p:spPr>
        <p:txBody>
          <a:bodyPr lIns="0" tIns="0" rIns="0" bIns="0" rtlCol="0" anchor="t">
            <a:spAutoFit/>
          </a:bodyPr>
          <a:lstStyle/>
          <a:p>
            <a:pPr algn="l">
              <a:lnSpc>
                <a:spcPts val="1416"/>
              </a:lnSpc>
            </a:pPr>
            <a:r>
              <a:rPr lang="en-US" sz="996" dirty="0">
                <a:solidFill>
                  <a:srgbClr val="000000"/>
                </a:solidFill>
                <a:latin typeface="Arial" panose="020B0604020202020204" pitchFamily="34" charset="0"/>
                <a:ea typeface="29LT Bukra"/>
                <a:cs typeface="Arial" panose="020B0604020202020204" pitchFamily="34" charset="0"/>
                <a:sym typeface="29LT Bukra"/>
              </a:rPr>
              <a:t>Lift</a:t>
            </a:r>
            <a:r>
              <a:rPr lang="en-US" sz="996" b="1" dirty="0">
                <a:solidFill>
                  <a:srgbClr val="000000"/>
                </a:solidFill>
                <a:latin typeface="29LT Bukra Medium"/>
                <a:ea typeface="29LT Bukra Medium"/>
                <a:cs typeface="29LT Bukra Medium"/>
                <a:sym typeface="29LT Bukra Medium"/>
              </a:rPr>
              <a:t>: This says how likely item Y is purchased when item X is purchased, while controlling for how popular item Y is. Lift(</a:t>
            </a:r>
            <a:r>
              <a:rPr lang="en-US" sz="996" b="1" dirty="0" err="1">
                <a:solidFill>
                  <a:srgbClr val="000000"/>
                </a:solidFill>
                <a:latin typeface="29LT Bukra Medium"/>
                <a:ea typeface="29LT Bukra Medium"/>
                <a:cs typeface="29LT Bukra Medium"/>
                <a:sym typeface="29LT Bukra Medium"/>
              </a:rPr>
              <a:t>Apple</a:t>
            </a:r>
            <a:r>
              <a:rPr lang="en-US" sz="996" dirty="0" err="1">
                <a:solidFill>
                  <a:srgbClr val="000000"/>
                </a:solidFill>
                <a:latin typeface="Arial" panose="020B0604020202020204" pitchFamily="34" charset="0"/>
                <a:ea typeface="29LT Bukra"/>
                <a:cs typeface="Arial" panose="020B0604020202020204" pitchFamily="34" charset="0"/>
                <a:sym typeface="29LT Bukra"/>
              </a:rPr>
              <a:t>→</a:t>
            </a:r>
            <a:r>
              <a:rPr lang="en-US" sz="996" b="1" dirty="0" err="1">
                <a:solidFill>
                  <a:srgbClr val="000000"/>
                </a:solidFill>
                <a:latin typeface="29LT Bukra Medium"/>
                <a:ea typeface="29LT Bukra Medium"/>
                <a:cs typeface="29LT Bukra Medium"/>
                <a:sym typeface="29LT Bukra Medium"/>
              </a:rPr>
              <a:t>Beer</a:t>
            </a:r>
            <a:r>
              <a:rPr lang="en-US" sz="996" b="1" dirty="0">
                <a:solidFill>
                  <a:srgbClr val="000000"/>
                </a:solidFill>
                <a:latin typeface="29LT Bukra Medium"/>
                <a:ea typeface="29LT Bukra Medium"/>
                <a:cs typeface="29LT Bukra Medium"/>
                <a:sym typeface="29LT Bukra Medium"/>
              </a:rPr>
              <a:t>) = Support(</a:t>
            </a:r>
            <a:r>
              <a:rPr lang="en-US" sz="996" b="1" dirty="0" err="1">
                <a:solidFill>
                  <a:srgbClr val="000000"/>
                </a:solidFill>
                <a:latin typeface="29LT Bukra Medium"/>
                <a:ea typeface="29LT Bukra Medium"/>
                <a:cs typeface="29LT Bukra Medium"/>
                <a:sym typeface="29LT Bukra Medium"/>
              </a:rPr>
              <a:t>Apple,Beer</a:t>
            </a:r>
            <a:r>
              <a:rPr lang="en-US" sz="996" b="1" dirty="0">
                <a:solidFill>
                  <a:srgbClr val="000000"/>
                </a:solidFill>
                <a:latin typeface="29LT Bukra Medium"/>
                <a:ea typeface="29LT Bukra Medium"/>
                <a:cs typeface="29LT Bukra Medium"/>
                <a:sym typeface="29LT Bukra Medium"/>
              </a:rPr>
              <a:t>)/(Support(Apple)*Support(Beer)) </a:t>
            </a:r>
          </a:p>
        </p:txBody>
      </p:sp>
      <p:sp>
        <p:nvSpPr>
          <p:cNvPr id="19" name="TextBox 19"/>
          <p:cNvSpPr txBox="1"/>
          <p:nvPr/>
        </p:nvSpPr>
        <p:spPr>
          <a:xfrm>
            <a:off x="4659125" y="1769983"/>
            <a:ext cx="1678057" cy="172996"/>
          </a:xfrm>
          <a:prstGeom prst="rect">
            <a:avLst/>
          </a:prstGeom>
        </p:spPr>
        <p:txBody>
          <a:bodyPr lIns="0" tIns="0" rIns="0" bIns="0" rtlCol="0" anchor="t">
            <a:spAutoFit/>
          </a:bodyPr>
          <a:lstStyle/>
          <a:p>
            <a:pPr algn="l">
              <a:lnSpc>
                <a:spcPts val="1416"/>
              </a:lnSpc>
            </a:pPr>
            <a:r>
              <a:rPr lang="en-US" sz="996" b="1" dirty="0">
                <a:solidFill>
                  <a:srgbClr val="000000"/>
                </a:solidFill>
                <a:latin typeface="29LT Bukra Medium"/>
                <a:ea typeface="29LT Bukra Medium"/>
                <a:cs typeface="29LT Bukra Medium"/>
                <a:sym typeface="29LT Bukra Medium"/>
              </a:rPr>
              <a:t>= (</a:t>
            </a:r>
            <a:r>
              <a:rPr lang="en-US" sz="996" dirty="0">
                <a:solidFill>
                  <a:srgbClr val="000000"/>
                </a:solidFill>
                <a:latin typeface="Arial" panose="020B0604020202020204" pitchFamily="34" charset="0"/>
                <a:ea typeface="29LT Bukra"/>
                <a:cs typeface="Arial" panose="020B0604020202020204" pitchFamily="34" charset="0"/>
                <a:sym typeface="29LT Bukra"/>
              </a:rPr>
              <a:t>⅜</a:t>
            </a:r>
            <a:r>
              <a:rPr lang="en-US" sz="996" b="1" dirty="0">
                <a:solidFill>
                  <a:srgbClr val="000000"/>
                </a:solidFill>
                <a:latin typeface="29LT Bukra Medium"/>
                <a:ea typeface="29LT Bukra Medium"/>
                <a:cs typeface="29LT Bukra Medium"/>
                <a:sym typeface="29LT Bukra Medium"/>
              </a:rPr>
              <a:t>) / (4/8*6/8) = </a:t>
            </a:r>
            <a:r>
              <a:rPr lang="en-US" sz="996" dirty="0">
                <a:solidFill>
                  <a:srgbClr val="000000"/>
                </a:solidFill>
                <a:latin typeface="Arial" panose="020B0604020202020204" pitchFamily="34" charset="0"/>
                <a:ea typeface="29LT Bukra"/>
                <a:cs typeface="Arial" panose="020B0604020202020204" pitchFamily="34" charset="0"/>
                <a:sym typeface="29LT Bukra"/>
              </a:rPr>
              <a:t>⅜</a:t>
            </a:r>
          </a:p>
        </p:txBody>
      </p:sp>
      <p:sp>
        <p:nvSpPr>
          <p:cNvPr id="20" name="TextBox 20"/>
          <p:cNvSpPr txBox="1"/>
          <p:nvPr/>
        </p:nvSpPr>
        <p:spPr>
          <a:xfrm>
            <a:off x="6409058" y="1769983"/>
            <a:ext cx="912828" cy="215265"/>
          </a:xfrm>
          <a:prstGeom prst="rect">
            <a:avLst/>
          </a:prstGeom>
        </p:spPr>
        <p:txBody>
          <a:bodyPr lIns="0" tIns="0" rIns="0" bIns="0" rtlCol="0" anchor="t">
            <a:spAutoFit/>
          </a:bodyPr>
          <a:lstStyle/>
          <a:p>
            <a:pPr algn="l">
              <a:lnSpc>
                <a:spcPts val="1416"/>
              </a:lnSpc>
            </a:pPr>
            <a:r>
              <a:rPr lang="en-US" sz="996" b="1">
                <a:solidFill>
                  <a:srgbClr val="000000"/>
                </a:solidFill>
                <a:latin typeface="29LT Bukra Medium"/>
                <a:ea typeface="29LT Bukra Medium"/>
                <a:cs typeface="29LT Bukra Medium"/>
                <a:sym typeface="29LT Bukra Medium"/>
              </a:rPr>
              <a:t>* 64/24 = 1 </a:t>
            </a:r>
          </a:p>
        </p:txBody>
      </p:sp>
      <p:sp>
        <p:nvSpPr>
          <p:cNvPr id="21" name="TextBox 21"/>
          <p:cNvSpPr txBox="1"/>
          <p:nvPr/>
        </p:nvSpPr>
        <p:spPr>
          <a:xfrm>
            <a:off x="1783337" y="3030036"/>
            <a:ext cx="177184" cy="206121"/>
          </a:xfrm>
          <a:prstGeom prst="rect">
            <a:avLst/>
          </a:prstGeom>
        </p:spPr>
        <p:txBody>
          <a:bodyPr lIns="0" tIns="0" rIns="0" bIns="0" rtlCol="0" anchor="t">
            <a:spAutoFit/>
          </a:bodyPr>
          <a:lstStyle/>
          <a:p>
            <a:pPr algn="l">
              <a:lnSpc>
                <a:spcPts val="1397"/>
              </a:lnSpc>
            </a:pPr>
            <a:r>
              <a:rPr lang="en-US" sz="998" b="1" spc="273">
                <a:solidFill>
                  <a:srgbClr val="000000"/>
                </a:solidFill>
                <a:latin typeface="29LT Bukra Medium"/>
                <a:ea typeface="29LT Bukra Medium"/>
                <a:cs typeface="29LT Bukra Medium"/>
                <a:sym typeface="29LT Bukra Medium"/>
              </a:rPr>
              <a:t>=(</a:t>
            </a:r>
          </a:p>
        </p:txBody>
      </p:sp>
      <p:sp>
        <p:nvSpPr>
          <p:cNvPr id="22" name="TextBox 22"/>
          <p:cNvSpPr txBox="1"/>
          <p:nvPr/>
        </p:nvSpPr>
        <p:spPr>
          <a:xfrm>
            <a:off x="2051942" y="3030036"/>
            <a:ext cx="562594" cy="206121"/>
          </a:xfrm>
          <a:prstGeom prst="rect">
            <a:avLst/>
          </a:prstGeom>
        </p:spPr>
        <p:txBody>
          <a:bodyPr lIns="0" tIns="0" rIns="0" bIns="0" rtlCol="0" anchor="t">
            <a:spAutoFit/>
          </a:bodyPr>
          <a:lstStyle/>
          <a:p>
            <a:pPr algn="l">
              <a:lnSpc>
                <a:spcPts val="1397"/>
              </a:lnSpc>
            </a:pPr>
            <a:r>
              <a:rPr lang="en-US" sz="998" b="1" spc="0">
                <a:solidFill>
                  <a:srgbClr val="000000"/>
                </a:solidFill>
                <a:latin typeface="29LT Bukra Medium"/>
                <a:ea typeface="29LT Bukra Medium"/>
                <a:cs typeface="29LT Bukra Medium"/>
                <a:sym typeface="29LT Bukra Medium"/>
              </a:rPr>
              <a:t>)/(4/8)</a:t>
            </a:r>
            <a:r>
              <a:rPr lang="en-US" sz="998" b="1" spc="0">
                <a:solidFill>
                  <a:srgbClr val="FFFFFF"/>
                </a:solidFill>
                <a:latin typeface="29LT Bukra Medium"/>
                <a:ea typeface="29LT Bukra Medium"/>
                <a:cs typeface="29LT Bukra Medium"/>
                <a:sym typeface="29LT Bukra Medium"/>
              </a:rPr>
              <a:t> </a:t>
            </a:r>
            <a:r>
              <a:rPr lang="en-US" sz="998" b="1" spc="0">
                <a:solidFill>
                  <a:srgbClr val="000000"/>
                </a:solidFill>
                <a:latin typeface="29LT Bukra Medium"/>
                <a:ea typeface="29LT Bukra Medium"/>
                <a:cs typeface="29LT Bukra Medium"/>
                <a:sym typeface="29LT Bukra Medium"/>
              </a:rPr>
              <a:t>=</a:t>
            </a:r>
          </a:p>
        </p:txBody>
      </p:sp>
      <p:sp>
        <p:nvSpPr>
          <p:cNvPr id="23" name="TextBox 23"/>
          <p:cNvSpPr txBox="1"/>
          <p:nvPr/>
        </p:nvSpPr>
        <p:spPr>
          <a:xfrm>
            <a:off x="2733170" y="3030036"/>
            <a:ext cx="383210" cy="206121"/>
          </a:xfrm>
          <a:prstGeom prst="rect">
            <a:avLst/>
          </a:prstGeom>
        </p:spPr>
        <p:txBody>
          <a:bodyPr lIns="0" tIns="0" rIns="0" bIns="0" rtlCol="0" anchor="t">
            <a:spAutoFit/>
          </a:bodyPr>
          <a:lstStyle/>
          <a:p>
            <a:pPr algn="l">
              <a:lnSpc>
                <a:spcPts val="1397"/>
              </a:lnSpc>
            </a:pPr>
            <a:r>
              <a:rPr lang="en-US" sz="998" b="1">
                <a:solidFill>
                  <a:srgbClr val="000000"/>
                </a:solidFill>
                <a:latin typeface="29LT Bukra Medium"/>
                <a:ea typeface="29LT Bukra Medium"/>
                <a:cs typeface="29LT Bukra Medium"/>
                <a:sym typeface="29LT Bukra Medium"/>
              </a:rPr>
              <a:t>*2=¾</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385816" y="1632204"/>
            <a:ext cx="3625596" cy="1734312"/>
          </a:xfrm>
          <a:custGeom>
            <a:avLst/>
            <a:gdLst/>
            <a:ahLst/>
            <a:cxnLst/>
            <a:rect l="l" t="t" r="r" b="b"/>
            <a:pathLst>
              <a:path w="3625596" h="1734312">
                <a:moveTo>
                  <a:pt x="0" y="0"/>
                </a:moveTo>
                <a:lnTo>
                  <a:pt x="3625596" y="0"/>
                </a:lnTo>
                <a:lnTo>
                  <a:pt x="3625596" y="1734312"/>
                </a:lnTo>
                <a:lnTo>
                  <a:pt x="0" y="1734312"/>
                </a:lnTo>
                <a:lnTo>
                  <a:pt x="0" y="0"/>
                </a:lnTo>
                <a:close/>
              </a:path>
            </a:pathLst>
          </a:custGeom>
          <a:blipFill>
            <a:blip r:embed="rId9"/>
            <a:stretch>
              <a:fillRect/>
            </a:stretch>
          </a:blipFill>
        </p:spPr>
        <p:txBody>
          <a:bodyPr/>
          <a:lstStyle/>
          <a:p>
            <a:endParaRPr lang="en-IN"/>
          </a:p>
        </p:txBody>
      </p:sp>
      <p:sp>
        <p:nvSpPr>
          <p:cNvPr id="8" name="Freeform 8"/>
          <p:cNvSpPr/>
          <p:nvPr/>
        </p:nvSpPr>
        <p:spPr>
          <a:xfrm>
            <a:off x="5366004" y="1612392"/>
            <a:ext cx="3665220" cy="1773936"/>
          </a:xfrm>
          <a:custGeom>
            <a:avLst/>
            <a:gdLst/>
            <a:ahLst/>
            <a:cxnLst/>
            <a:rect l="l" t="t" r="r" b="b"/>
            <a:pathLst>
              <a:path w="3665220" h="1773936">
                <a:moveTo>
                  <a:pt x="0" y="0"/>
                </a:moveTo>
                <a:lnTo>
                  <a:pt x="3665220" y="0"/>
                </a:lnTo>
                <a:lnTo>
                  <a:pt x="3665220" y="1773936"/>
                </a:lnTo>
                <a:lnTo>
                  <a:pt x="0" y="17739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290779" y="4645304"/>
            <a:ext cx="112852"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58</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4649305" cy="340221"/>
          </a:xfrm>
          <a:prstGeom prst="rect">
            <a:avLst/>
          </a:prstGeom>
        </p:spPr>
        <p:txBody>
          <a:bodyPr lIns="0" tIns="0" rIns="0" bIns="0" rtlCol="0" anchor="t">
            <a:spAutoFit/>
          </a:bodyPr>
          <a:lstStyle/>
          <a:p>
            <a:pPr algn="l">
              <a:lnSpc>
                <a:spcPts val="2940"/>
              </a:lnSpc>
            </a:pPr>
            <a:r>
              <a:rPr lang="en-US" sz="2100" b="1" spc="10" dirty="0">
                <a:solidFill>
                  <a:srgbClr val="000000"/>
                </a:solidFill>
                <a:latin typeface="Arial" panose="020B0604020202020204" pitchFamily="34" charset="0"/>
                <a:ea typeface="29LT Bukra Bold"/>
                <a:cs typeface="Arial" panose="020B0604020202020204" pitchFamily="34" charset="0"/>
                <a:sym typeface="29LT Bukra Bold"/>
              </a:rPr>
              <a:t>Association Rule Learning -Eclat</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376123" y="2824610"/>
            <a:ext cx="64046" cy="838691"/>
          </a:xfrm>
          <a:prstGeom prst="rect">
            <a:avLst/>
          </a:prstGeom>
        </p:spPr>
        <p:txBody>
          <a:bodyPr lIns="0" tIns="0" rIns="0" bIns="0" rtlCol="0" anchor="t">
            <a:spAutoFit/>
          </a:bodyPr>
          <a:lstStyle/>
          <a:p>
            <a:pPr algn="just">
              <a:lnSpc>
                <a:spcPts val="2883"/>
              </a:lnSpc>
            </a:pPr>
            <a:r>
              <a:rPr lang="en-US" sz="1200" dirty="0">
                <a:solidFill>
                  <a:srgbClr val="000000"/>
                </a:solidFill>
                <a:latin typeface="Aptos" panose="020B0004020202020204" pitchFamily="34" charset="0"/>
                <a:ea typeface="Heading Now 11-18"/>
                <a:cs typeface="Heading Now 11-18"/>
                <a:sym typeface="Heading Now 11-18"/>
              </a:rPr>
              <a:t>• •</a:t>
            </a:r>
          </a:p>
          <a:p>
            <a:pPr algn="just">
              <a:lnSpc>
                <a:spcPts val="600"/>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4" name="TextBox 14"/>
          <p:cNvSpPr txBox="1"/>
          <p:nvPr/>
        </p:nvSpPr>
        <p:spPr>
          <a:xfrm>
            <a:off x="223418" y="971931"/>
            <a:ext cx="528056"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ECLAT: </a:t>
            </a:r>
          </a:p>
        </p:txBody>
      </p:sp>
      <p:sp>
        <p:nvSpPr>
          <p:cNvPr id="15" name="TextBox 15"/>
          <p:cNvSpPr txBox="1"/>
          <p:nvPr/>
        </p:nvSpPr>
        <p:spPr>
          <a:xfrm>
            <a:off x="223418" y="1523619"/>
            <a:ext cx="2211248"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How the algorithm work? </a:t>
            </a:r>
          </a:p>
        </p:txBody>
      </p:sp>
      <p:sp>
        <p:nvSpPr>
          <p:cNvPr id="16" name="TextBox 16"/>
          <p:cNvSpPr txBox="1"/>
          <p:nvPr/>
        </p:nvSpPr>
        <p:spPr>
          <a:xfrm>
            <a:off x="376123" y="2074040"/>
            <a:ext cx="64046"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7" name="TextBox 17"/>
          <p:cNvSpPr txBox="1"/>
          <p:nvPr/>
        </p:nvSpPr>
        <p:spPr>
          <a:xfrm>
            <a:off x="680923" y="2216915"/>
            <a:ext cx="4826813" cy="1692021"/>
          </a:xfrm>
          <a:prstGeom prst="rect">
            <a:avLst/>
          </a:prstGeom>
        </p:spPr>
        <p:txBody>
          <a:bodyPr lIns="0" tIns="0" rIns="0" bIns="0" rtlCol="0" anchor="t">
            <a:spAutoFit/>
          </a:bodyPr>
          <a:lstStyle/>
          <a:p>
            <a:pPr algn="l">
              <a:lnSpc>
                <a:spcPts val="1439"/>
              </a:lnSpc>
            </a:pPr>
            <a:r>
              <a:rPr lang="en-US" sz="1200" b="1">
                <a:solidFill>
                  <a:srgbClr val="000000"/>
                </a:solidFill>
                <a:latin typeface="29LT Bukra Medium"/>
                <a:ea typeface="29LT Bukra Medium"/>
                <a:cs typeface="29LT Bukra Medium"/>
                <a:sym typeface="29LT Bukra Medium"/>
              </a:rPr>
              <a:t>The basic idea is to use Transaction Id Sets(tidsets) intersections to compute the support value of a candidate and avoiding the generation of subsets which do not exist in the preﬁx tree. Uses breadth first search and hence does not use a lot of memory Computationally Faster than apriori In Apriori we need to add Support, Confidence But in Eclat only we need to give Support.</a:t>
            </a:r>
          </a:p>
        </p:txBody>
      </p:sp>
      <p:sp>
        <p:nvSpPr>
          <p:cNvPr id="18" name="TextBox 18"/>
          <p:cNvSpPr txBox="1"/>
          <p:nvPr/>
        </p:nvSpPr>
        <p:spPr>
          <a:xfrm>
            <a:off x="743407" y="1095756"/>
            <a:ext cx="4763548"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EquivalenceClassClustering and bottom-up Lattice Traversal</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345948" y="1159764"/>
            <a:ext cx="4152900" cy="3112008"/>
          </a:xfrm>
          <a:custGeom>
            <a:avLst/>
            <a:gdLst/>
            <a:ahLst/>
            <a:cxnLst/>
            <a:rect l="l" t="t" r="r" b="b"/>
            <a:pathLst>
              <a:path w="4152900" h="3112008">
                <a:moveTo>
                  <a:pt x="0" y="0"/>
                </a:moveTo>
                <a:lnTo>
                  <a:pt x="4152900" y="0"/>
                </a:lnTo>
                <a:lnTo>
                  <a:pt x="4152900" y="3112008"/>
                </a:lnTo>
                <a:lnTo>
                  <a:pt x="0" y="3112008"/>
                </a:lnTo>
                <a:lnTo>
                  <a:pt x="0" y="0"/>
                </a:lnTo>
                <a:close/>
              </a:path>
            </a:pathLst>
          </a:custGeom>
          <a:blipFill>
            <a:blip r:embed="rId9"/>
            <a:stretch>
              <a:fillRect/>
            </a:stretch>
          </a:blipFill>
        </p:spPr>
        <p:txBody>
          <a:bodyPr/>
          <a:lstStyle/>
          <a:p>
            <a:endParaRPr lang="en-IN"/>
          </a:p>
        </p:txBody>
      </p:sp>
      <p:sp>
        <p:nvSpPr>
          <p:cNvPr id="8" name="Freeform 8"/>
          <p:cNvSpPr/>
          <p:nvPr/>
        </p:nvSpPr>
        <p:spPr>
          <a:xfrm>
            <a:off x="4645152" y="1159764"/>
            <a:ext cx="4152900" cy="3112008"/>
          </a:xfrm>
          <a:custGeom>
            <a:avLst/>
            <a:gdLst/>
            <a:ahLst/>
            <a:cxnLst/>
            <a:rect l="l" t="t" r="r" b="b"/>
            <a:pathLst>
              <a:path w="4152900" h="3112008">
                <a:moveTo>
                  <a:pt x="0" y="0"/>
                </a:moveTo>
                <a:lnTo>
                  <a:pt x="4152900" y="0"/>
                </a:lnTo>
                <a:lnTo>
                  <a:pt x="4152900" y="3112008"/>
                </a:lnTo>
                <a:lnTo>
                  <a:pt x="0" y="3112008"/>
                </a:lnTo>
                <a:lnTo>
                  <a:pt x="0" y="0"/>
                </a:lnTo>
                <a:close/>
              </a:path>
            </a:pathLst>
          </a:custGeom>
          <a:blipFill>
            <a:blip r:embed="rId10"/>
            <a:stretch>
              <a:fillRect/>
            </a:stretch>
          </a:blipFill>
        </p:spPr>
        <p:txBody>
          <a:bodyPr/>
          <a:lstStyle/>
          <a:p>
            <a:endParaRPr lang="en-IN"/>
          </a:p>
        </p:txBody>
      </p:sp>
      <p:sp>
        <p:nvSpPr>
          <p:cNvPr id="9" name="Freeform 9"/>
          <p:cNvSpPr/>
          <p:nvPr/>
        </p:nvSpPr>
        <p:spPr>
          <a:xfrm>
            <a:off x="4625340" y="1139952"/>
            <a:ext cx="4192524" cy="3151632"/>
          </a:xfrm>
          <a:custGeom>
            <a:avLst/>
            <a:gdLst/>
            <a:ahLst/>
            <a:cxnLst/>
            <a:rect l="l" t="t" r="r" b="b"/>
            <a:pathLst>
              <a:path w="4192524" h="3151632">
                <a:moveTo>
                  <a:pt x="0" y="0"/>
                </a:moveTo>
                <a:lnTo>
                  <a:pt x="4192524" y="0"/>
                </a:lnTo>
                <a:lnTo>
                  <a:pt x="4192524" y="3151632"/>
                </a:lnTo>
                <a:lnTo>
                  <a:pt x="0" y="31516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10" name="TextBox 10"/>
          <p:cNvSpPr txBox="1"/>
          <p:nvPr/>
        </p:nvSpPr>
        <p:spPr>
          <a:xfrm>
            <a:off x="290779" y="4645304"/>
            <a:ext cx="112766" cy="120867"/>
          </a:xfrm>
          <a:prstGeom prst="rect">
            <a:avLst/>
          </a:prstGeom>
        </p:spPr>
        <p:txBody>
          <a:bodyPr lIns="0" tIns="0" rIns="0" bIns="0" rtlCol="0" anchor="t">
            <a:spAutoFit/>
          </a:bodyPr>
          <a:lstStyle/>
          <a:p>
            <a:pPr algn="l">
              <a:lnSpc>
                <a:spcPts val="974"/>
              </a:lnSpc>
            </a:pPr>
            <a:r>
              <a:rPr lang="en-US" sz="696" dirty="0">
                <a:solidFill>
                  <a:srgbClr val="FFFFFF"/>
                </a:solidFill>
                <a:latin typeface="Aptos" panose="020B0004020202020204" pitchFamily="34" charset="0"/>
                <a:ea typeface="Heading Now 11-18"/>
                <a:cs typeface="Heading Now 11-18"/>
                <a:sym typeface="Heading Now 11-18"/>
              </a:rPr>
              <a:t>59</a:t>
            </a:r>
          </a:p>
        </p:txBody>
      </p:sp>
      <p:sp>
        <p:nvSpPr>
          <p:cNvPr id="11" name="TextBox 11"/>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2" name="TextBox 12"/>
          <p:cNvSpPr txBox="1"/>
          <p:nvPr/>
        </p:nvSpPr>
        <p:spPr>
          <a:xfrm>
            <a:off x="259385" y="145094"/>
            <a:ext cx="4649305" cy="340221"/>
          </a:xfrm>
          <a:prstGeom prst="rect">
            <a:avLst/>
          </a:prstGeom>
        </p:spPr>
        <p:txBody>
          <a:bodyPr lIns="0" tIns="0" rIns="0" bIns="0" rtlCol="0" anchor="t">
            <a:spAutoFit/>
          </a:bodyPr>
          <a:lstStyle/>
          <a:p>
            <a:pPr algn="l">
              <a:lnSpc>
                <a:spcPts val="2940"/>
              </a:lnSpc>
            </a:pPr>
            <a:r>
              <a:rPr lang="en-US" sz="2100" b="1" spc="10" dirty="0">
                <a:solidFill>
                  <a:srgbClr val="000000"/>
                </a:solidFill>
                <a:latin typeface="Arial" panose="020B0604020202020204" pitchFamily="34" charset="0"/>
                <a:ea typeface="29LT Bukra Bold"/>
                <a:cs typeface="Arial" panose="020B0604020202020204" pitchFamily="34" charset="0"/>
                <a:sym typeface="29LT Bukra Bold"/>
              </a:rPr>
              <a:t>Association Rule Learning -Eclat</a:t>
            </a:r>
          </a:p>
        </p:txBody>
      </p:sp>
      <p:sp>
        <p:nvSpPr>
          <p:cNvPr id="13" name="TextBox 13"/>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02692" y="1316736"/>
            <a:ext cx="4152900" cy="1325880"/>
          </a:xfrm>
          <a:custGeom>
            <a:avLst/>
            <a:gdLst/>
            <a:ahLst/>
            <a:cxnLst/>
            <a:rect l="l" t="t" r="r" b="b"/>
            <a:pathLst>
              <a:path w="4152900" h="1325880">
                <a:moveTo>
                  <a:pt x="0" y="0"/>
                </a:moveTo>
                <a:lnTo>
                  <a:pt x="4152900" y="0"/>
                </a:lnTo>
                <a:lnTo>
                  <a:pt x="4152900" y="1325880"/>
                </a:lnTo>
                <a:lnTo>
                  <a:pt x="0" y="1325880"/>
                </a:lnTo>
                <a:lnTo>
                  <a:pt x="0" y="0"/>
                </a:lnTo>
                <a:close/>
              </a:path>
            </a:pathLst>
          </a:custGeom>
          <a:blipFill>
            <a:blip r:embed="rId9"/>
            <a:stretch>
              <a:fillRect/>
            </a:stretch>
          </a:blipFill>
        </p:spPr>
        <p:txBody>
          <a:bodyPr/>
          <a:lstStyle/>
          <a:p>
            <a:endParaRPr lang="en-IN"/>
          </a:p>
        </p:txBody>
      </p:sp>
      <p:sp>
        <p:nvSpPr>
          <p:cNvPr id="8" name="Freeform 8"/>
          <p:cNvSpPr/>
          <p:nvPr/>
        </p:nvSpPr>
        <p:spPr>
          <a:xfrm>
            <a:off x="182880" y="1296924"/>
            <a:ext cx="4192524" cy="1365504"/>
          </a:xfrm>
          <a:custGeom>
            <a:avLst/>
            <a:gdLst/>
            <a:ahLst/>
            <a:cxnLst/>
            <a:rect l="l" t="t" r="r" b="b"/>
            <a:pathLst>
              <a:path w="4192524" h="1365504">
                <a:moveTo>
                  <a:pt x="0" y="0"/>
                </a:moveTo>
                <a:lnTo>
                  <a:pt x="4192524" y="0"/>
                </a:lnTo>
                <a:lnTo>
                  <a:pt x="4192524" y="1365504"/>
                </a:lnTo>
                <a:lnTo>
                  <a:pt x="0" y="13655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Freeform 9"/>
          <p:cNvSpPr/>
          <p:nvPr/>
        </p:nvSpPr>
        <p:spPr>
          <a:xfrm>
            <a:off x="4527804" y="1363980"/>
            <a:ext cx="4433316" cy="2964180"/>
          </a:xfrm>
          <a:custGeom>
            <a:avLst/>
            <a:gdLst/>
            <a:ahLst/>
            <a:cxnLst/>
            <a:rect l="l" t="t" r="r" b="b"/>
            <a:pathLst>
              <a:path w="4433316" h="2964180">
                <a:moveTo>
                  <a:pt x="0" y="0"/>
                </a:moveTo>
                <a:lnTo>
                  <a:pt x="4433316" y="0"/>
                </a:lnTo>
                <a:lnTo>
                  <a:pt x="4433316" y="2964180"/>
                </a:lnTo>
                <a:lnTo>
                  <a:pt x="0" y="29641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10" name="Freeform 10"/>
          <p:cNvSpPr/>
          <p:nvPr/>
        </p:nvSpPr>
        <p:spPr>
          <a:xfrm>
            <a:off x="4547616" y="1383792"/>
            <a:ext cx="4393692" cy="2924556"/>
          </a:xfrm>
          <a:custGeom>
            <a:avLst/>
            <a:gdLst/>
            <a:ahLst/>
            <a:cxnLst/>
            <a:rect l="l" t="t" r="r" b="b"/>
            <a:pathLst>
              <a:path w="4393692" h="2924556">
                <a:moveTo>
                  <a:pt x="0" y="0"/>
                </a:moveTo>
                <a:lnTo>
                  <a:pt x="4393692" y="0"/>
                </a:lnTo>
                <a:lnTo>
                  <a:pt x="4393692" y="2924556"/>
                </a:lnTo>
                <a:lnTo>
                  <a:pt x="0" y="2924556"/>
                </a:lnTo>
                <a:lnTo>
                  <a:pt x="0" y="0"/>
                </a:lnTo>
                <a:close/>
              </a:path>
            </a:pathLst>
          </a:custGeom>
          <a:blipFill>
            <a:blip r:embed="rId14"/>
            <a:stretch>
              <a:fillRect/>
            </a:stretch>
          </a:blipFill>
        </p:spPr>
        <p:txBody>
          <a:bodyPr/>
          <a:lstStyle/>
          <a:p>
            <a:endParaRPr lang="en-IN"/>
          </a:p>
        </p:txBody>
      </p:sp>
      <p:sp>
        <p:nvSpPr>
          <p:cNvPr id="11" name="Freeform 11"/>
          <p:cNvSpPr/>
          <p:nvPr/>
        </p:nvSpPr>
        <p:spPr>
          <a:xfrm>
            <a:off x="202692" y="3009900"/>
            <a:ext cx="4152900" cy="1298448"/>
          </a:xfrm>
          <a:custGeom>
            <a:avLst/>
            <a:gdLst/>
            <a:ahLst/>
            <a:cxnLst/>
            <a:rect l="l" t="t" r="r" b="b"/>
            <a:pathLst>
              <a:path w="4152900" h="1298448">
                <a:moveTo>
                  <a:pt x="0" y="0"/>
                </a:moveTo>
                <a:lnTo>
                  <a:pt x="4152900" y="0"/>
                </a:lnTo>
                <a:lnTo>
                  <a:pt x="4152900" y="1298448"/>
                </a:lnTo>
                <a:lnTo>
                  <a:pt x="0" y="1298448"/>
                </a:lnTo>
                <a:lnTo>
                  <a:pt x="0" y="0"/>
                </a:lnTo>
                <a:close/>
              </a:path>
            </a:pathLst>
          </a:custGeom>
          <a:blipFill>
            <a:blip r:embed="rId15"/>
            <a:stretch>
              <a:fillRect/>
            </a:stretch>
          </a:blipFill>
        </p:spPr>
        <p:txBody>
          <a:bodyPr/>
          <a:lstStyle/>
          <a:p>
            <a:endParaRPr lang="en-IN"/>
          </a:p>
        </p:txBody>
      </p:sp>
      <p:sp>
        <p:nvSpPr>
          <p:cNvPr id="12" name="Freeform 12"/>
          <p:cNvSpPr/>
          <p:nvPr/>
        </p:nvSpPr>
        <p:spPr>
          <a:xfrm>
            <a:off x="182880" y="2990088"/>
            <a:ext cx="4192524" cy="1338072"/>
          </a:xfrm>
          <a:custGeom>
            <a:avLst/>
            <a:gdLst/>
            <a:ahLst/>
            <a:cxnLst/>
            <a:rect l="l" t="t" r="r" b="b"/>
            <a:pathLst>
              <a:path w="4192524" h="1338072">
                <a:moveTo>
                  <a:pt x="0" y="0"/>
                </a:moveTo>
                <a:lnTo>
                  <a:pt x="4192524" y="0"/>
                </a:lnTo>
                <a:lnTo>
                  <a:pt x="4192524" y="1338072"/>
                </a:lnTo>
                <a:lnTo>
                  <a:pt x="0" y="133807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13" name="TextBox 13"/>
          <p:cNvSpPr txBox="1"/>
          <p:nvPr/>
        </p:nvSpPr>
        <p:spPr>
          <a:xfrm>
            <a:off x="290779" y="4645304"/>
            <a:ext cx="114138"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60</a:t>
            </a:r>
          </a:p>
        </p:txBody>
      </p:sp>
      <p:sp>
        <p:nvSpPr>
          <p:cNvPr id="14" name="TextBox 14"/>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5" name="TextBox 15"/>
          <p:cNvSpPr txBox="1"/>
          <p:nvPr/>
        </p:nvSpPr>
        <p:spPr>
          <a:xfrm>
            <a:off x="259385" y="145094"/>
            <a:ext cx="4649305" cy="340221"/>
          </a:xfrm>
          <a:prstGeom prst="rect">
            <a:avLst/>
          </a:prstGeom>
        </p:spPr>
        <p:txBody>
          <a:bodyPr lIns="0" tIns="0" rIns="0" bIns="0" rtlCol="0" anchor="t">
            <a:spAutoFit/>
          </a:bodyPr>
          <a:lstStyle/>
          <a:p>
            <a:pPr algn="l">
              <a:lnSpc>
                <a:spcPts val="2940"/>
              </a:lnSpc>
            </a:pPr>
            <a:r>
              <a:rPr lang="en-US" sz="2100" b="1" spc="10" dirty="0">
                <a:solidFill>
                  <a:srgbClr val="000000"/>
                </a:solidFill>
                <a:latin typeface="Arial" panose="020B0604020202020204" pitchFamily="34" charset="0"/>
                <a:ea typeface="29LT Bukra Bold"/>
                <a:cs typeface="Arial" panose="020B0604020202020204" pitchFamily="34" charset="0"/>
                <a:sym typeface="29LT Bukra Bold"/>
              </a:rPr>
              <a:t>Association Rule Learning -Eclat</a:t>
            </a:r>
          </a:p>
        </p:txBody>
      </p:sp>
      <p:sp>
        <p:nvSpPr>
          <p:cNvPr id="16" name="TextBox 16"/>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98949"/>
            <a:ext cx="86363" cy="24910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61</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3556025"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Ensemble Techniques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163312" y="1341120"/>
            <a:ext cx="3494532" cy="1812036"/>
          </a:xfrm>
          <a:custGeom>
            <a:avLst/>
            <a:gdLst/>
            <a:ahLst/>
            <a:cxnLst/>
            <a:rect l="l" t="t" r="r" b="b"/>
            <a:pathLst>
              <a:path w="3494532" h="1812036">
                <a:moveTo>
                  <a:pt x="0" y="0"/>
                </a:moveTo>
                <a:lnTo>
                  <a:pt x="3494532" y="0"/>
                </a:lnTo>
                <a:lnTo>
                  <a:pt x="3494532" y="1812036"/>
                </a:lnTo>
                <a:lnTo>
                  <a:pt x="0" y="181203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45304"/>
            <a:ext cx="109357"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62</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3110979"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Ensemble Techniques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16662" y="1012050"/>
            <a:ext cx="4351772" cy="1298304"/>
          </a:xfrm>
          <a:prstGeom prst="rect">
            <a:avLst/>
          </a:prstGeom>
        </p:spPr>
        <p:txBody>
          <a:bodyPr lIns="0" tIns="0" rIns="0" bIns="0" rtlCol="0" anchor="t">
            <a:spAutoFit/>
          </a:bodyPr>
          <a:lstStyle/>
          <a:p>
            <a:pPr algn="l">
              <a:lnSpc>
                <a:spcPts val="1200"/>
              </a:lnSpc>
            </a:pPr>
            <a:r>
              <a:rPr lang="en-US" sz="996" b="1" dirty="0">
                <a:solidFill>
                  <a:srgbClr val="000000"/>
                </a:solidFill>
                <a:latin typeface="29LT Bukra Medium"/>
                <a:ea typeface="29LT Bukra Medium"/>
                <a:cs typeface="29LT Bukra Medium"/>
                <a:sym typeface="29LT Bukra Medium"/>
              </a:rPr>
              <a:t>Ensemble Learning is the mechanism to use multiple algorithms together to have a better prediction than the individual models. </a:t>
            </a:r>
          </a:p>
          <a:p>
            <a:pPr algn="l">
              <a:lnSpc>
                <a:spcPts val="2490"/>
              </a:lnSpc>
            </a:pPr>
            <a:r>
              <a:rPr lang="en-US" sz="996" b="1" dirty="0">
                <a:solidFill>
                  <a:srgbClr val="000000"/>
                </a:solidFill>
                <a:latin typeface="29LT Bukra Medium"/>
                <a:ea typeface="29LT Bukra Medium"/>
                <a:cs typeface="29LT Bukra Medium"/>
                <a:sym typeface="29LT Bukra Medium"/>
              </a:rPr>
              <a:t>Let say, we extract the features from a use case, and try</a:t>
            </a:r>
          </a:p>
          <a:p>
            <a:pPr algn="l">
              <a:lnSpc>
                <a:spcPts val="498"/>
              </a:lnSpc>
            </a:pPr>
            <a:r>
              <a:rPr lang="en-US" sz="996" b="1" dirty="0">
                <a:solidFill>
                  <a:srgbClr val="000000"/>
                </a:solidFill>
                <a:latin typeface="29LT Bukra Medium"/>
                <a:ea typeface="29LT Bukra Medium"/>
                <a:cs typeface="29LT Bukra Medium"/>
                <a:sym typeface="29LT Bukra Medium"/>
              </a:rPr>
              <a:t>check the model’s accuracy or </a:t>
            </a:r>
            <a:r>
              <a:rPr lang="en-US" sz="996" b="1" dirty="0" err="1">
                <a:solidFill>
                  <a:srgbClr val="000000"/>
                </a:solidFill>
                <a:latin typeface="29LT Bukra Medium"/>
                <a:ea typeface="29LT Bukra Medium"/>
                <a:cs typeface="29LT Bukra Medium"/>
                <a:sym typeface="29LT Bukra Medium"/>
              </a:rPr>
              <a:t>behaviour</a:t>
            </a:r>
            <a:r>
              <a:rPr lang="en-US" sz="996" b="1" dirty="0">
                <a:solidFill>
                  <a:srgbClr val="000000"/>
                </a:solidFill>
                <a:latin typeface="29LT Bukra Medium"/>
                <a:ea typeface="29LT Bukra Medium"/>
                <a:cs typeface="29LT Bukra Medium"/>
                <a:sym typeface="29LT Bukra Medium"/>
              </a:rPr>
              <a:t> individually. </a:t>
            </a:r>
          </a:p>
          <a:p>
            <a:pPr algn="l">
              <a:lnSpc>
                <a:spcPts val="2490"/>
              </a:lnSpc>
            </a:pPr>
            <a:r>
              <a:rPr lang="en-US" sz="996" b="1" dirty="0">
                <a:solidFill>
                  <a:srgbClr val="000000"/>
                </a:solidFill>
                <a:latin typeface="29LT Bukra Medium"/>
                <a:ea typeface="29LT Bukra Medium"/>
                <a:cs typeface="29LT Bukra Medium"/>
                <a:sym typeface="29LT Bukra Medium"/>
              </a:rPr>
              <a:t>Features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Decision Trees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69% </a:t>
            </a:r>
          </a:p>
          <a:p>
            <a:pPr algn="l">
              <a:lnSpc>
                <a:spcPts val="498"/>
              </a:lnSpc>
            </a:pPr>
            <a:r>
              <a:rPr lang="en-US" sz="996" b="1" dirty="0">
                <a:solidFill>
                  <a:srgbClr val="000000"/>
                </a:solidFill>
                <a:latin typeface="29LT Bukra Medium"/>
                <a:ea typeface="29LT Bukra Medium"/>
                <a:cs typeface="29LT Bukra Medium"/>
                <a:sym typeface="29LT Bukra Medium"/>
              </a:rPr>
              <a:t>Features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SVM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75% </a:t>
            </a:r>
          </a:p>
          <a:p>
            <a:pPr algn="l">
              <a:lnSpc>
                <a:spcPts val="1902"/>
              </a:lnSpc>
            </a:pPr>
            <a:r>
              <a:rPr lang="en-US" sz="996" b="1" dirty="0">
                <a:solidFill>
                  <a:srgbClr val="000000"/>
                </a:solidFill>
                <a:latin typeface="29LT Bukra Medium"/>
                <a:ea typeface="29LT Bukra Medium"/>
                <a:cs typeface="29LT Bukra Medium"/>
                <a:sym typeface="29LT Bukra Medium"/>
              </a:rPr>
              <a:t>Features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Logistic Regression </a:t>
            </a:r>
            <a:r>
              <a:rPr lang="en-US" sz="996" dirty="0">
                <a:solidFill>
                  <a:srgbClr val="000000"/>
                </a:solidFill>
                <a:latin typeface="Arial" panose="020B0604020202020204" pitchFamily="34" charset="0"/>
                <a:ea typeface="29LT Bukra"/>
                <a:cs typeface="Arial" panose="020B0604020202020204" pitchFamily="34" charset="0"/>
                <a:sym typeface="29LT Bukra"/>
              </a:rPr>
              <a:t>→</a:t>
            </a:r>
            <a:r>
              <a:rPr lang="en-US" sz="996" b="1" dirty="0">
                <a:solidFill>
                  <a:srgbClr val="000000"/>
                </a:solidFill>
                <a:latin typeface="29LT Bukra Medium"/>
                <a:ea typeface="29LT Bukra Medium"/>
                <a:cs typeface="29LT Bukra Medium"/>
                <a:sym typeface="29LT Bukra Medium"/>
              </a:rPr>
              <a:t>65% </a:t>
            </a:r>
          </a:p>
        </p:txBody>
      </p:sp>
      <p:sp>
        <p:nvSpPr>
          <p:cNvPr id="13" name="TextBox 13"/>
          <p:cNvSpPr txBox="1"/>
          <p:nvPr/>
        </p:nvSpPr>
        <p:spPr>
          <a:xfrm>
            <a:off x="416662" y="2789672"/>
            <a:ext cx="2880541" cy="767715"/>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So why use Ensemble Learning? </a:t>
            </a:r>
          </a:p>
          <a:p>
            <a:pPr algn="l">
              <a:lnSpc>
                <a:spcPts val="498"/>
              </a:lnSpc>
            </a:pPr>
            <a:r>
              <a:rPr lang="en-US" sz="996" b="1">
                <a:solidFill>
                  <a:srgbClr val="000000"/>
                </a:solidFill>
                <a:latin typeface="29LT Bukra Medium"/>
                <a:ea typeface="29LT Bukra Medium"/>
                <a:cs typeface="29LT Bukra Medium"/>
                <a:sym typeface="29LT Bukra Medium"/>
              </a:rPr>
              <a:t>1. Better Accuracy (Low Error) </a:t>
            </a:r>
          </a:p>
          <a:p>
            <a:pPr algn="l">
              <a:lnSpc>
                <a:spcPts val="1902"/>
              </a:lnSpc>
            </a:pPr>
            <a:r>
              <a:rPr lang="en-US" sz="996" b="1">
                <a:solidFill>
                  <a:srgbClr val="000000"/>
                </a:solidFill>
                <a:latin typeface="29LT Bukra Medium"/>
                <a:ea typeface="29LT Bukra Medium"/>
                <a:cs typeface="29LT Bukra Medium"/>
                <a:sym typeface="29LT Bukra Medium"/>
              </a:rPr>
              <a:t>2. Higher Consistency (Avoids Overﬁtting) </a:t>
            </a:r>
          </a:p>
          <a:p>
            <a:pPr algn="l">
              <a:lnSpc>
                <a:spcPts val="498"/>
              </a:lnSpc>
            </a:pPr>
            <a:r>
              <a:rPr lang="en-US" sz="996" b="1">
                <a:solidFill>
                  <a:srgbClr val="000000"/>
                </a:solidFill>
                <a:latin typeface="29LT Bukra Medium"/>
                <a:ea typeface="29LT Bukra Medium"/>
                <a:cs typeface="29LT Bukra Medium"/>
                <a:sym typeface="29LT Bukra Medium"/>
              </a:rPr>
              <a:t>3. Reduces Bias &amp; Variance Errors </a:t>
            </a:r>
          </a:p>
        </p:txBody>
      </p:sp>
      <p:sp>
        <p:nvSpPr>
          <p:cNvPr id="14" name="TextBox 14"/>
          <p:cNvSpPr txBox="1"/>
          <p:nvPr/>
        </p:nvSpPr>
        <p:spPr>
          <a:xfrm>
            <a:off x="4787465" y="1612125"/>
            <a:ext cx="129283" cy="205740"/>
          </a:xfrm>
          <a:prstGeom prst="rect">
            <a:avLst/>
          </a:prstGeom>
        </p:spPr>
        <p:txBody>
          <a:bodyPr lIns="0" tIns="0" rIns="0" bIns="0" rtlCol="0" anchor="t">
            <a:spAutoFit/>
          </a:bodyPr>
          <a:lstStyle/>
          <a:p>
            <a:pPr algn="l">
              <a:lnSpc>
                <a:spcPts val="1394"/>
              </a:lnSpc>
            </a:pPr>
            <a:r>
              <a:rPr lang="en-US" sz="996" b="1" spc="3">
                <a:solidFill>
                  <a:srgbClr val="000000"/>
                </a:solidFill>
                <a:latin typeface="29LT Bukra Medium"/>
                <a:ea typeface="29LT Bukra Medium"/>
                <a:cs typeface="29LT Bukra Medium"/>
                <a:sym typeface="29LT Bukra Medium"/>
              </a:rPr>
              <a:t>to</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460748" y="1373124"/>
            <a:ext cx="4596384" cy="1950720"/>
          </a:xfrm>
          <a:custGeom>
            <a:avLst/>
            <a:gdLst/>
            <a:ahLst/>
            <a:cxnLst/>
            <a:rect l="l" t="t" r="r" b="b"/>
            <a:pathLst>
              <a:path w="4596384" h="1950720">
                <a:moveTo>
                  <a:pt x="0" y="0"/>
                </a:moveTo>
                <a:lnTo>
                  <a:pt x="4596384" y="0"/>
                </a:lnTo>
                <a:lnTo>
                  <a:pt x="4596384" y="1950720"/>
                </a:lnTo>
                <a:lnTo>
                  <a:pt x="0" y="195072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2303" y="4645304"/>
            <a:ext cx="110623"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63</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129307" cy="340221"/>
          </a:xfrm>
          <a:prstGeom prst="rect">
            <a:avLst/>
          </a:prstGeom>
        </p:spPr>
        <p:txBody>
          <a:bodyPr lIns="0" tIns="0" rIns="0" bIns="0" rtlCol="0" anchor="t">
            <a:spAutoFit/>
          </a:bodyPr>
          <a:lstStyle/>
          <a:p>
            <a:pPr algn="l">
              <a:lnSpc>
                <a:spcPts val="2940"/>
              </a:lnSpc>
            </a:pPr>
            <a:r>
              <a:rPr lang="en-US" sz="2100" b="1" spc="12" dirty="0">
                <a:solidFill>
                  <a:srgbClr val="000000"/>
                </a:solidFill>
                <a:latin typeface="Arial" panose="020B0604020202020204" pitchFamily="34" charset="0"/>
                <a:ea typeface="29LT Bukra Bold"/>
                <a:cs typeface="Arial" panose="020B0604020202020204" pitchFamily="34" charset="0"/>
                <a:sym typeface="29LT Bukra Bold"/>
              </a:rPr>
              <a:t>Ensemble Techniques -Cont.</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16662" y="2378192"/>
            <a:ext cx="2379555" cy="310515"/>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1. Bootstrap Aggregation (Bagging)</a:t>
            </a:r>
          </a:p>
        </p:txBody>
      </p:sp>
      <p:sp>
        <p:nvSpPr>
          <p:cNvPr id="13" name="TextBox 13"/>
          <p:cNvSpPr txBox="1"/>
          <p:nvPr/>
        </p:nvSpPr>
        <p:spPr>
          <a:xfrm>
            <a:off x="416662" y="2899400"/>
            <a:ext cx="1784375" cy="767972"/>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Bagging Algorithms: </a:t>
            </a:r>
          </a:p>
          <a:p>
            <a:pPr algn="l">
              <a:lnSpc>
                <a:spcPts val="498"/>
              </a:lnSpc>
            </a:pPr>
            <a:r>
              <a:rPr lang="en-US" sz="996" b="1">
                <a:solidFill>
                  <a:srgbClr val="000000"/>
                </a:solidFill>
                <a:latin typeface="29LT Bukra Medium"/>
                <a:ea typeface="29LT Bukra Medium"/>
                <a:cs typeface="29LT Bukra Medium"/>
                <a:sym typeface="29LT Bukra Medium"/>
              </a:rPr>
              <a:t>a. Bagged Decision Trees </a:t>
            </a:r>
          </a:p>
          <a:p>
            <a:pPr algn="l">
              <a:lnSpc>
                <a:spcPts val="1902"/>
              </a:lnSpc>
            </a:pPr>
            <a:r>
              <a:rPr lang="en-US" sz="996" b="1">
                <a:solidFill>
                  <a:srgbClr val="000000"/>
                </a:solidFill>
                <a:latin typeface="29LT Bukra Medium"/>
                <a:ea typeface="29LT Bukra Medium"/>
                <a:cs typeface="29LT Bukra Medium"/>
                <a:sym typeface="29LT Bukra Medium"/>
              </a:rPr>
              <a:t>b. Random Forest </a:t>
            </a:r>
          </a:p>
          <a:p>
            <a:pPr algn="l">
              <a:lnSpc>
                <a:spcPts val="498"/>
              </a:lnSpc>
            </a:pPr>
            <a:r>
              <a:rPr lang="en-US" sz="996" b="1">
                <a:solidFill>
                  <a:srgbClr val="000000"/>
                </a:solidFill>
                <a:latin typeface="29LT Bukra Medium"/>
                <a:ea typeface="29LT Bukra Medium"/>
                <a:cs typeface="29LT Bukra Medium"/>
                <a:sym typeface="29LT Bukra Medium"/>
              </a:rPr>
              <a:t>c. Extra Trees </a:t>
            </a:r>
          </a:p>
        </p:txBody>
      </p:sp>
      <p:sp>
        <p:nvSpPr>
          <p:cNvPr id="14" name="TextBox 14"/>
          <p:cNvSpPr txBox="1"/>
          <p:nvPr/>
        </p:nvSpPr>
        <p:spPr>
          <a:xfrm>
            <a:off x="416662" y="1058027"/>
            <a:ext cx="3764985" cy="805815"/>
          </a:xfrm>
          <a:prstGeom prst="rect">
            <a:avLst/>
          </a:prstGeom>
        </p:spPr>
        <p:txBody>
          <a:bodyPr lIns="0" tIns="0" rIns="0" bIns="0" rtlCol="0" anchor="t">
            <a:spAutoFit/>
          </a:bodyPr>
          <a:lstStyle/>
          <a:p>
            <a:pPr algn="l">
              <a:lnSpc>
                <a:spcPts val="1200"/>
              </a:lnSpc>
            </a:pPr>
            <a:r>
              <a:rPr lang="en-US" sz="996" b="1">
                <a:solidFill>
                  <a:srgbClr val="000000"/>
                </a:solidFill>
                <a:latin typeface="29LT Bukra Medium"/>
                <a:ea typeface="29LT Bukra Medium"/>
                <a:cs typeface="29LT Bukra Medium"/>
                <a:sym typeface="29LT Bukra Medium"/>
              </a:rPr>
              <a:t>When and Where do we use Ensemble Learning? 1. Single model overﬁts 2. Results worth the extra training 3. Can be used for classiﬁcation &amp; regression both. </a:t>
            </a:r>
          </a:p>
        </p:txBody>
      </p:sp>
      <p:sp>
        <p:nvSpPr>
          <p:cNvPr id="15" name="TextBox 15"/>
          <p:cNvSpPr txBox="1"/>
          <p:nvPr/>
        </p:nvSpPr>
        <p:spPr>
          <a:xfrm>
            <a:off x="416662" y="2178167"/>
            <a:ext cx="1925260" cy="163699"/>
          </a:xfrm>
          <a:prstGeom prst="rect">
            <a:avLst/>
          </a:prstGeom>
        </p:spPr>
        <p:txBody>
          <a:bodyPr lIns="0" tIns="0" rIns="0" bIns="0" rtlCol="0" anchor="t">
            <a:spAutoFit/>
          </a:bodyPr>
          <a:lstStyle/>
          <a:p>
            <a:pPr algn="l">
              <a:lnSpc>
                <a:spcPts val="1394"/>
              </a:lnSpc>
            </a:pPr>
            <a:r>
              <a:rPr lang="en-US" sz="996" b="1" dirty="0">
                <a:solidFill>
                  <a:srgbClr val="000000"/>
                </a:solidFill>
                <a:latin typeface="Arial" panose="020B0604020202020204" pitchFamily="34" charset="0"/>
                <a:ea typeface="29LT Bukra Bold"/>
                <a:cs typeface="Arial" panose="020B0604020202020204" pitchFamily="34" charset="0"/>
                <a:sym typeface="29LT Bukra Bold"/>
              </a:rPr>
              <a:t>Popular Ensemble Methods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951476" y="1242060"/>
            <a:ext cx="3918204" cy="2551176"/>
          </a:xfrm>
          <a:custGeom>
            <a:avLst/>
            <a:gdLst/>
            <a:ahLst/>
            <a:cxnLst/>
            <a:rect l="l" t="t" r="r" b="b"/>
            <a:pathLst>
              <a:path w="3918204" h="2551176">
                <a:moveTo>
                  <a:pt x="0" y="0"/>
                </a:moveTo>
                <a:lnTo>
                  <a:pt x="3918204" y="0"/>
                </a:lnTo>
                <a:lnTo>
                  <a:pt x="3918204" y="2551176"/>
                </a:lnTo>
                <a:lnTo>
                  <a:pt x="0" y="255117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45304"/>
            <a:ext cx="114224"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64</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129307" cy="340221"/>
          </a:xfrm>
          <a:prstGeom prst="rect">
            <a:avLst/>
          </a:prstGeom>
        </p:spPr>
        <p:txBody>
          <a:bodyPr lIns="0" tIns="0" rIns="0" bIns="0" rtlCol="0" anchor="t">
            <a:spAutoFit/>
          </a:bodyPr>
          <a:lstStyle/>
          <a:p>
            <a:pPr algn="l">
              <a:lnSpc>
                <a:spcPts val="2940"/>
              </a:lnSpc>
            </a:pPr>
            <a:r>
              <a:rPr lang="en-US" sz="2100" b="1" spc="12" dirty="0">
                <a:solidFill>
                  <a:srgbClr val="000000"/>
                </a:solidFill>
                <a:latin typeface="Arial" panose="020B0604020202020204" pitchFamily="34" charset="0"/>
                <a:ea typeface="29LT Bukra Bold"/>
                <a:cs typeface="Arial" panose="020B0604020202020204" pitchFamily="34" charset="0"/>
                <a:sym typeface="29LT Bukra Bold"/>
              </a:rPr>
              <a:t>Ensemble Techniques -Cont.</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16662" y="1130284"/>
            <a:ext cx="721881" cy="310515"/>
          </a:xfrm>
          <a:prstGeom prst="rect">
            <a:avLst/>
          </a:prstGeom>
        </p:spPr>
        <p:txBody>
          <a:bodyPr lIns="0" tIns="0" rIns="0" bIns="0" rtlCol="0" anchor="t">
            <a:spAutoFit/>
          </a:bodyPr>
          <a:lstStyle/>
          <a:p>
            <a:pPr algn="l">
              <a:lnSpc>
                <a:spcPts val="2490"/>
              </a:lnSpc>
            </a:pPr>
            <a:r>
              <a:rPr lang="en-US" sz="996" b="1" spc="0">
                <a:solidFill>
                  <a:srgbClr val="000000"/>
                </a:solidFill>
                <a:latin typeface="29LT Bukra Medium"/>
                <a:ea typeface="29LT Bukra Medium"/>
                <a:cs typeface="29LT Bukra Medium"/>
                <a:sym typeface="29LT Bukra Medium"/>
              </a:rPr>
              <a:t>2. Boosting </a:t>
            </a:r>
          </a:p>
        </p:txBody>
      </p:sp>
      <p:sp>
        <p:nvSpPr>
          <p:cNvPr id="13" name="TextBox 13"/>
          <p:cNvSpPr txBox="1"/>
          <p:nvPr/>
        </p:nvSpPr>
        <p:spPr>
          <a:xfrm>
            <a:off x="416662" y="1650349"/>
            <a:ext cx="4221718" cy="1682372"/>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Boosting is used to create a collection of predictors. In</a:t>
            </a:r>
          </a:p>
          <a:p>
            <a:pPr algn="l">
              <a:lnSpc>
                <a:spcPts val="498"/>
              </a:lnSpc>
            </a:pPr>
            <a:r>
              <a:rPr lang="en-US" sz="996" b="1" spc="0">
                <a:solidFill>
                  <a:srgbClr val="000000"/>
                </a:solidFill>
                <a:latin typeface="29LT Bukra Medium"/>
                <a:ea typeface="29LT Bukra Medium"/>
                <a:cs typeface="29LT Bukra Medium"/>
                <a:sym typeface="29LT Bukra Medium"/>
              </a:rPr>
              <a:t>this technique, learners are learned sequentially with early</a:t>
            </a:r>
          </a:p>
          <a:p>
            <a:pPr algn="l">
              <a:lnSpc>
                <a:spcPts val="1902"/>
              </a:lnSpc>
            </a:pPr>
            <a:r>
              <a:rPr lang="en-US" sz="996" b="1">
                <a:solidFill>
                  <a:srgbClr val="000000"/>
                </a:solidFill>
                <a:latin typeface="29LT Bukra Medium"/>
                <a:ea typeface="29LT Bukra Medium"/>
                <a:cs typeface="29LT Bukra Medium"/>
                <a:sym typeface="29LT Bukra Medium"/>
              </a:rPr>
              <a:t>learners ﬁtting simple models to the data and then </a:t>
            </a:r>
          </a:p>
          <a:p>
            <a:pPr algn="l">
              <a:lnSpc>
                <a:spcPts val="498"/>
              </a:lnSpc>
            </a:pPr>
            <a:r>
              <a:rPr lang="en-US" sz="996" b="1">
                <a:solidFill>
                  <a:srgbClr val="000000"/>
                </a:solidFill>
                <a:latin typeface="29LT Bukra Medium"/>
                <a:ea typeface="29LT Bukra Medium"/>
                <a:cs typeface="29LT Bukra Medium"/>
                <a:sym typeface="29LT Bukra Medium"/>
              </a:rPr>
              <a:t>analysing data for errors. Consecutive trees (random </a:t>
            </a:r>
          </a:p>
          <a:p>
            <a:pPr algn="l">
              <a:lnSpc>
                <a:spcPts val="1902"/>
              </a:lnSpc>
            </a:pPr>
            <a:r>
              <a:rPr lang="en-US" sz="996" b="1">
                <a:solidFill>
                  <a:srgbClr val="000000"/>
                </a:solidFill>
                <a:latin typeface="29LT Bukra Medium"/>
                <a:ea typeface="29LT Bukra Medium"/>
                <a:cs typeface="29LT Bukra Medium"/>
                <a:sym typeface="29LT Bukra Medium"/>
              </a:rPr>
              <a:t>sample) are ﬁt and at every step, the goal is to </a:t>
            </a:r>
          </a:p>
          <a:p>
            <a:pPr algn="l">
              <a:lnSpc>
                <a:spcPts val="501"/>
              </a:lnSpc>
            </a:pPr>
            <a:r>
              <a:rPr lang="en-US" sz="996" b="1">
                <a:solidFill>
                  <a:srgbClr val="000000"/>
                </a:solidFill>
                <a:latin typeface="29LT Bukra Medium"/>
                <a:ea typeface="29LT Bukra Medium"/>
                <a:cs typeface="29LT Bukra Medium"/>
                <a:sym typeface="29LT Bukra Medium"/>
              </a:rPr>
              <a:t>improve the accuracy from the prior tree. When an </a:t>
            </a:r>
          </a:p>
          <a:p>
            <a:pPr algn="l">
              <a:lnSpc>
                <a:spcPts val="1898"/>
              </a:lnSpc>
            </a:pPr>
            <a:r>
              <a:rPr lang="en-US" sz="996" b="1">
                <a:solidFill>
                  <a:srgbClr val="000000"/>
                </a:solidFill>
                <a:latin typeface="29LT Bukra Medium"/>
                <a:ea typeface="29LT Bukra Medium"/>
                <a:cs typeface="29LT Bukra Medium"/>
                <a:sym typeface="29LT Bukra Medium"/>
              </a:rPr>
              <a:t>input is misclassiﬁed by a hypothesis, its weight is </a:t>
            </a:r>
          </a:p>
          <a:p>
            <a:pPr algn="l">
              <a:lnSpc>
                <a:spcPts val="501"/>
              </a:lnSpc>
            </a:pPr>
            <a:r>
              <a:rPr lang="en-US" sz="996" b="1">
                <a:solidFill>
                  <a:srgbClr val="000000"/>
                </a:solidFill>
                <a:latin typeface="29LT Bukra Medium"/>
                <a:ea typeface="29LT Bukra Medium"/>
                <a:cs typeface="29LT Bukra Medium"/>
                <a:sym typeface="29LT Bukra Medium"/>
              </a:rPr>
              <a:t>increased so that the next hypothesis is more likely to </a:t>
            </a:r>
          </a:p>
          <a:p>
            <a:pPr algn="l">
              <a:lnSpc>
                <a:spcPts val="1898"/>
              </a:lnSpc>
            </a:pPr>
            <a:r>
              <a:rPr lang="en-US" sz="996" b="1">
                <a:solidFill>
                  <a:srgbClr val="000000"/>
                </a:solidFill>
                <a:latin typeface="29LT Bukra Medium"/>
                <a:ea typeface="29LT Bukra Medium"/>
                <a:cs typeface="29LT Bukra Medium"/>
                <a:sym typeface="29LT Bukra Medium"/>
              </a:rPr>
              <a:t>classify it correctly. This process converts weak learners </a:t>
            </a:r>
          </a:p>
          <a:p>
            <a:pPr algn="l">
              <a:lnSpc>
                <a:spcPts val="501"/>
              </a:lnSpc>
            </a:pPr>
            <a:r>
              <a:rPr lang="en-US" sz="996" b="1">
                <a:solidFill>
                  <a:srgbClr val="000000"/>
                </a:solidFill>
                <a:latin typeface="29LT Bukra Medium"/>
                <a:ea typeface="29LT Bukra Medium"/>
                <a:cs typeface="29LT Bukra Medium"/>
                <a:sym typeface="29LT Bukra Medium"/>
              </a:rPr>
              <a:t>into better performing model.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5200393" y="873757"/>
            <a:ext cx="3555997" cy="3929377"/>
          </a:xfrm>
          <a:custGeom>
            <a:avLst/>
            <a:gdLst/>
            <a:ahLst/>
            <a:cxnLst/>
            <a:rect l="l" t="t" r="r" b="b"/>
            <a:pathLst>
              <a:path w="3555997" h="3929377">
                <a:moveTo>
                  <a:pt x="0" y="0"/>
                </a:moveTo>
                <a:lnTo>
                  <a:pt x="3555997" y="0"/>
                </a:lnTo>
                <a:lnTo>
                  <a:pt x="3555997" y="3929377"/>
                </a:lnTo>
                <a:lnTo>
                  <a:pt x="0" y="39293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0779" y="4645304"/>
            <a:ext cx="114138"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65</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129307" cy="340221"/>
          </a:xfrm>
          <a:prstGeom prst="rect">
            <a:avLst/>
          </a:prstGeom>
        </p:spPr>
        <p:txBody>
          <a:bodyPr lIns="0" tIns="0" rIns="0" bIns="0" rtlCol="0" anchor="t">
            <a:spAutoFit/>
          </a:bodyPr>
          <a:lstStyle/>
          <a:p>
            <a:pPr algn="l">
              <a:lnSpc>
                <a:spcPts val="2940"/>
              </a:lnSpc>
            </a:pPr>
            <a:r>
              <a:rPr lang="en-US" sz="2100" b="1" spc="12" dirty="0">
                <a:solidFill>
                  <a:srgbClr val="000000"/>
                </a:solidFill>
                <a:latin typeface="Arial" panose="020B0604020202020204" pitchFamily="34" charset="0"/>
                <a:ea typeface="29LT Bukra Bold"/>
                <a:cs typeface="Arial" panose="020B0604020202020204" pitchFamily="34" charset="0"/>
                <a:sym typeface="29LT Bukra Bold"/>
              </a:rPr>
              <a:t>Ensemble Techniques -Cont.</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416662" y="1008764"/>
            <a:ext cx="677751" cy="381000"/>
          </a:xfrm>
          <a:prstGeom prst="rect">
            <a:avLst/>
          </a:prstGeom>
        </p:spPr>
        <p:txBody>
          <a:bodyPr lIns="0" tIns="0" rIns="0" bIns="0" rtlCol="0" anchor="t">
            <a:spAutoFit/>
          </a:bodyPr>
          <a:lstStyle/>
          <a:p>
            <a:pPr algn="l">
              <a:lnSpc>
                <a:spcPts val="3000"/>
              </a:lnSpc>
            </a:pPr>
            <a:r>
              <a:rPr lang="en-US" sz="1200" b="1" spc="2">
                <a:solidFill>
                  <a:srgbClr val="000000"/>
                </a:solidFill>
                <a:latin typeface="29LT Bukra Medium"/>
                <a:ea typeface="29LT Bukra Medium"/>
                <a:cs typeface="29LT Bukra Medium"/>
                <a:sym typeface="29LT Bukra Medium"/>
              </a:rPr>
              <a:t>Bagging:</a:t>
            </a:r>
          </a:p>
        </p:txBody>
      </p:sp>
      <p:sp>
        <p:nvSpPr>
          <p:cNvPr id="13" name="TextBox 13"/>
          <p:cNvSpPr txBox="1"/>
          <p:nvPr/>
        </p:nvSpPr>
        <p:spPr>
          <a:xfrm>
            <a:off x="569062" y="1560700"/>
            <a:ext cx="116900" cy="74676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1.</a:t>
            </a:r>
          </a:p>
          <a:p>
            <a:pPr algn="l">
              <a:lnSpc>
                <a:spcPts val="2279"/>
              </a:lnSpc>
            </a:pPr>
            <a:r>
              <a:rPr lang="en-US" sz="1200" b="1">
                <a:solidFill>
                  <a:srgbClr val="000000"/>
                </a:solidFill>
                <a:latin typeface="29LT Bukra Medium"/>
                <a:ea typeface="29LT Bukra Medium"/>
                <a:cs typeface="29LT Bukra Medium"/>
                <a:sym typeface="29LT Bukra Medium"/>
              </a:rPr>
              <a:t>2.</a:t>
            </a:r>
          </a:p>
        </p:txBody>
      </p:sp>
      <p:sp>
        <p:nvSpPr>
          <p:cNvPr id="14" name="TextBox 14"/>
          <p:cNvSpPr txBox="1"/>
          <p:nvPr/>
        </p:nvSpPr>
        <p:spPr>
          <a:xfrm>
            <a:off x="873862" y="1560700"/>
            <a:ext cx="4208288" cy="1478661"/>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Bagged Decision Trees</a:t>
            </a:r>
          </a:p>
          <a:p>
            <a:pPr algn="l">
              <a:lnSpc>
                <a:spcPts val="600"/>
              </a:lnSpc>
            </a:pPr>
            <a:r>
              <a:rPr lang="en-US" sz="1200" b="1">
                <a:solidFill>
                  <a:srgbClr val="000000"/>
                </a:solidFill>
                <a:latin typeface="29LT Bukra Medium"/>
                <a:ea typeface="29LT Bukra Medium"/>
                <a:cs typeface="29LT Bukra Medium"/>
                <a:sym typeface="29LT Bukra Medium"/>
              </a:rPr>
              <a:t>All features are used for splitting a node.</a:t>
            </a:r>
          </a:p>
          <a:p>
            <a:pPr algn="l">
              <a:lnSpc>
                <a:spcPts val="2279"/>
              </a:lnSpc>
            </a:pPr>
            <a:r>
              <a:rPr lang="en-US" sz="1200" b="1">
                <a:solidFill>
                  <a:srgbClr val="000000"/>
                </a:solidFill>
                <a:latin typeface="29LT Bukra Medium"/>
                <a:ea typeface="29LT Bukra Medium"/>
                <a:cs typeface="29LT Bukra Medium"/>
                <a:sym typeface="29LT Bukra Medium"/>
              </a:rPr>
              <a:t>Random Forest</a:t>
            </a:r>
          </a:p>
          <a:p>
            <a:pPr algn="l">
              <a:lnSpc>
                <a:spcPts val="600"/>
              </a:lnSpc>
            </a:pPr>
            <a:r>
              <a:rPr lang="en-US" sz="1200" b="1">
                <a:solidFill>
                  <a:srgbClr val="000000"/>
                </a:solidFill>
                <a:latin typeface="29LT Bukra Medium"/>
                <a:ea typeface="29LT Bukra Medium"/>
                <a:cs typeface="29LT Bukra Medium"/>
                <a:sym typeface="29LT Bukra Medium"/>
              </a:rPr>
              <a:t>Subset of features are used at random out of the total </a:t>
            </a:r>
          </a:p>
          <a:p>
            <a:pPr algn="l">
              <a:lnSpc>
                <a:spcPts val="2279"/>
              </a:lnSpc>
            </a:pPr>
            <a:r>
              <a:rPr lang="en-US" sz="1200" b="1">
                <a:solidFill>
                  <a:srgbClr val="000000"/>
                </a:solidFill>
                <a:latin typeface="29LT Bukra Medium"/>
                <a:ea typeface="29LT Bukra Medium"/>
                <a:cs typeface="29LT Bukra Medium"/>
                <a:sym typeface="29LT Bukra Medium"/>
              </a:rPr>
              <a:t>and the best split feature from the subset is used to </a:t>
            </a:r>
          </a:p>
          <a:p>
            <a:pPr algn="l">
              <a:lnSpc>
                <a:spcPts val="606"/>
              </a:lnSpc>
            </a:pPr>
            <a:r>
              <a:rPr lang="en-US" sz="1200" b="1">
                <a:solidFill>
                  <a:srgbClr val="000000"/>
                </a:solidFill>
                <a:latin typeface="29LT Bukra Medium"/>
                <a:ea typeface="29LT Bukra Medium"/>
                <a:cs typeface="29LT Bukra Medium"/>
                <a:sym typeface="29LT Bukra Medium"/>
              </a:rPr>
              <a:t>split each node in a tree,</a:t>
            </a:r>
          </a:p>
          <a:p>
            <a:pPr algn="l">
              <a:lnSpc>
                <a:spcPts val="2274"/>
              </a:lnSpc>
            </a:pPr>
            <a:r>
              <a:rPr lang="en-US" sz="1200" b="1">
                <a:solidFill>
                  <a:srgbClr val="000000"/>
                </a:solidFill>
                <a:latin typeface="29LT Bukra Medium"/>
                <a:ea typeface="29LT Bukra Medium"/>
                <a:cs typeface="29LT Bukra Medium"/>
                <a:sym typeface="29LT Bukra Medium"/>
              </a:rPr>
              <a:t>Extra Trees</a:t>
            </a:r>
          </a:p>
        </p:txBody>
      </p:sp>
      <p:sp>
        <p:nvSpPr>
          <p:cNvPr id="15" name="TextBox 15"/>
          <p:cNvSpPr txBox="1"/>
          <p:nvPr/>
        </p:nvSpPr>
        <p:spPr>
          <a:xfrm>
            <a:off x="569062" y="2734561"/>
            <a:ext cx="120005" cy="304800"/>
          </a:xfrm>
          <a:prstGeom prst="rect">
            <a:avLst/>
          </a:prstGeom>
        </p:spPr>
        <p:txBody>
          <a:bodyPr lIns="0" tIns="0" rIns="0" bIns="0" rtlCol="0" anchor="t">
            <a:spAutoFit/>
          </a:bodyPr>
          <a:lstStyle/>
          <a:p>
            <a:pPr algn="l">
              <a:lnSpc>
                <a:spcPts val="2274"/>
              </a:lnSpc>
            </a:pPr>
            <a:r>
              <a:rPr lang="en-US" sz="1200" b="1">
                <a:solidFill>
                  <a:srgbClr val="000000"/>
                </a:solidFill>
                <a:latin typeface="29LT Bukra Medium"/>
                <a:ea typeface="29LT Bukra Medium"/>
                <a:cs typeface="29LT Bukra Medium"/>
                <a:sym typeface="29LT Bukra Medium"/>
              </a:rPr>
              <a:t>3.</a:t>
            </a:r>
          </a:p>
        </p:txBody>
      </p:sp>
      <p:sp>
        <p:nvSpPr>
          <p:cNvPr id="16" name="TextBox 16"/>
          <p:cNvSpPr txBox="1"/>
          <p:nvPr/>
        </p:nvSpPr>
        <p:spPr>
          <a:xfrm>
            <a:off x="416662" y="3208525"/>
            <a:ext cx="666093"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Boosting</a:t>
            </a:r>
          </a:p>
        </p:txBody>
      </p:sp>
      <p:sp>
        <p:nvSpPr>
          <p:cNvPr id="17" name="TextBox 17"/>
          <p:cNvSpPr txBox="1"/>
          <p:nvPr/>
        </p:nvSpPr>
        <p:spPr>
          <a:xfrm>
            <a:off x="569062" y="3760470"/>
            <a:ext cx="116900" cy="563880"/>
          </a:xfrm>
          <a:prstGeom prst="rect">
            <a:avLst/>
          </a:prstGeom>
        </p:spPr>
        <p:txBody>
          <a:bodyPr lIns="0" tIns="0" rIns="0" bIns="0" rtlCol="0" anchor="t">
            <a:spAutoFit/>
          </a:bodyPr>
          <a:lstStyle/>
          <a:p>
            <a:pPr algn="just">
              <a:lnSpc>
                <a:spcPts val="3000"/>
              </a:lnSpc>
            </a:pPr>
            <a:r>
              <a:rPr lang="en-US" sz="1200" b="1">
                <a:solidFill>
                  <a:srgbClr val="000000"/>
                </a:solidFill>
                <a:latin typeface="29LT Bukra Medium"/>
                <a:ea typeface="29LT Bukra Medium"/>
                <a:cs typeface="29LT Bukra Medium"/>
                <a:sym typeface="29LT Bukra Medium"/>
              </a:rPr>
              <a:t>1.</a:t>
            </a:r>
            <a:r>
              <a:rPr lang="en-US" sz="1200" b="1">
                <a:solidFill>
                  <a:srgbClr val="FFFFFF"/>
                </a:solidFill>
                <a:latin typeface="29LT Bukra Medium"/>
                <a:ea typeface="29LT Bukra Medium"/>
                <a:cs typeface="29LT Bukra Medium"/>
                <a:sym typeface="29LT Bukra Medium"/>
              </a:rPr>
              <a:t> </a:t>
            </a:r>
          </a:p>
          <a:p>
            <a:pPr algn="just">
              <a:lnSpc>
                <a:spcPts val="600"/>
              </a:lnSpc>
            </a:pPr>
            <a:r>
              <a:rPr lang="en-US" sz="1200" b="1">
                <a:solidFill>
                  <a:srgbClr val="000000"/>
                </a:solidFill>
                <a:latin typeface="29LT Bukra Medium"/>
                <a:ea typeface="29LT Bukra Medium"/>
                <a:cs typeface="29LT Bukra Medium"/>
                <a:sym typeface="29LT Bukra Medium"/>
              </a:rPr>
              <a:t>2.</a:t>
            </a:r>
          </a:p>
        </p:txBody>
      </p:sp>
      <p:sp>
        <p:nvSpPr>
          <p:cNvPr id="18" name="TextBox 18"/>
          <p:cNvSpPr txBox="1"/>
          <p:nvPr/>
        </p:nvSpPr>
        <p:spPr>
          <a:xfrm>
            <a:off x="873862" y="3760470"/>
            <a:ext cx="2233632" cy="56388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AdaBoost</a:t>
            </a:r>
          </a:p>
          <a:p>
            <a:pPr algn="l">
              <a:lnSpc>
                <a:spcPts val="600"/>
              </a:lnSpc>
            </a:pPr>
            <a:r>
              <a:rPr lang="en-US" sz="1200" b="1">
                <a:solidFill>
                  <a:srgbClr val="000000"/>
                </a:solidFill>
                <a:latin typeface="29LT Bukra Medium"/>
                <a:ea typeface="29LT Bukra Medium"/>
                <a:cs typeface="29LT Bukra Medium"/>
                <a:sym typeface="29LT Bukra Medium"/>
              </a:rPr>
              <a:t>Stochastic Gradient Boosting</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98949"/>
            <a:ext cx="114767"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3364830"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Time Series Analysis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367277" y="3619757"/>
            <a:ext cx="1440180" cy="9525"/>
          </a:xfrm>
          <a:custGeom>
            <a:avLst/>
            <a:gdLst/>
            <a:ahLst/>
            <a:cxnLst/>
            <a:rect l="l" t="t" r="r" b="b"/>
            <a:pathLst>
              <a:path w="1440180" h="9525">
                <a:moveTo>
                  <a:pt x="0" y="0"/>
                </a:moveTo>
                <a:lnTo>
                  <a:pt x="1440180" y="0"/>
                </a:lnTo>
                <a:lnTo>
                  <a:pt x="1440180" y="9525"/>
                </a:lnTo>
                <a:lnTo>
                  <a:pt x="0" y="95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Freeform 8"/>
          <p:cNvSpPr/>
          <p:nvPr/>
        </p:nvSpPr>
        <p:spPr>
          <a:xfrm>
            <a:off x="4744717" y="1352302"/>
            <a:ext cx="3039361" cy="3109465"/>
          </a:xfrm>
          <a:custGeom>
            <a:avLst/>
            <a:gdLst/>
            <a:ahLst/>
            <a:cxnLst/>
            <a:rect l="l" t="t" r="r" b="b"/>
            <a:pathLst>
              <a:path w="3039361" h="3109465">
                <a:moveTo>
                  <a:pt x="0" y="0"/>
                </a:moveTo>
                <a:lnTo>
                  <a:pt x="3039361" y="0"/>
                </a:lnTo>
                <a:lnTo>
                  <a:pt x="3039361" y="3109465"/>
                </a:lnTo>
                <a:lnTo>
                  <a:pt x="0" y="310946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a:p>
        </p:txBody>
      </p:sp>
      <p:sp>
        <p:nvSpPr>
          <p:cNvPr id="9" name="TextBox 9"/>
          <p:cNvSpPr txBox="1"/>
          <p:nvPr/>
        </p:nvSpPr>
        <p:spPr>
          <a:xfrm>
            <a:off x="293827" y="4645304"/>
            <a:ext cx="106747"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67</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293905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Time Series Analysis</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16662" y="3153166"/>
            <a:ext cx="54407" cy="217827"/>
          </a:xfrm>
          <a:prstGeom prst="rect">
            <a:avLst/>
          </a:prstGeom>
        </p:spPr>
        <p:txBody>
          <a:bodyPr lIns="0" tIns="0" rIns="0" bIns="0" rtlCol="0" anchor="t">
            <a:spAutoFit/>
          </a:bodyPr>
          <a:lstStyle/>
          <a:p>
            <a:pPr algn="l">
              <a:lnSpc>
                <a:spcPts val="1679"/>
              </a:lnSpc>
            </a:pPr>
            <a:r>
              <a:rPr lang="en-US" sz="1200">
                <a:solidFill>
                  <a:srgbClr val="000000"/>
                </a:solidFill>
                <a:latin typeface="Arial"/>
                <a:ea typeface="Arial"/>
                <a:cs typeface="Arial"/>
                <a:sym typeface="Arial"/>
              </a:rPr>
              <a:t>•</a:t>
            </a:r>
          </a:p>
        </p:txBody>
      </p:sp>
      <p:sp>
        <p:nvSpPr>
          <p:cNvPr id="14" name="TextBox 14"/>
          <p:cNvSpPr txBox="1"/>
          <p:nvPr/>
        </p:nvSpPr>
        <p:spPr>
          <a:xfrm>
            <a:off x="588874" y="1160021"/>
            <a:ext cx="4104761" cy="2490473"/>
          </a:xfrm>
          <a:prstGeom prst="rect">
            <a:avLst/>
          </a:prstGeom>
        </p:spPr>
        <p:txBody>
          <a:bodyPr lIns="0" tIns="0" rIns="0" bIns="0" rtlCol="0" anchor="t">
            <a:spAutoFit/>
          </a:bodyPr>
          <a:lstStyle/>
          <a:p>
            <a:pPr algn="l">
              <a:lnSpc>
                <a:spcPts val="2160"/>
              </a:lnSpc>
            </a:pPr>
            <a:r>
              <a:rPr lang="en-US" sz="1200" b="1">
                <a:solidFill>
                  <a:srgbClr val="000000"/>
                </a:solidFill>
                <a:latin typeface="29LT Bukra Medium"/>
                <a:ea typeface="29LT Bukra Medium"/>
                <a:cs typeface="29LT Bukra Medium"/>
                <a:sym typeface="29LT Bukra Medium"/>
              </a:rPr>
              <a:t>Time series forecasting is an important area of machine</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learning</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that</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is</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often</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neglected. It is important because there are so many prediction problems that involve a time component and these problems are often neglected because it is this time component that makes time series problems more difficult to handle. Before getting started with Time Series Analysis, let’s get our basics clear on </a:t>
            </a:r>
            <a:r>
              <a:rPr lang="en-US" sz="1200" b="1">
                <a:solidFill>
                  <a:srgbClr val="F0EFEE"/>
                </a:solidFill>
                <a:latin typeface="29LT Bukra Medium"/>
                <a:ea typeface="29LT Bukra Medium"/>
                <a:cs typeface="29LT Bukra Medium"/>
                <a:sym typeface="29LT Bukra Medium"/>
                <a:hlinkClick r:id="rId13" tooltip="https://beingdatum.com/anomaly-detection/"/>
              </a:rPr>
              <a:t>Anomaly Detection</a:t>
            </a:r>
          </a:p>
        </p:txBody>
      </p:sp>
      <p:sp>
        <p:nvSpPr>
          <p:cNvPr id="15" name="TextBox 15"/>
          <p:cNvSpPr txBox="1"/>
          <p:nvPr/>
        </p:nvSpPr>
        <p:spPr>
          <a:xfrm>
            <a:off x="416662" y="1184672"/>
            <a:ext cx="54407" cy="265452"/>
          </a:xfrm>
          <a:prstGeom prst="rect">
            <a:avLst/>
          </a:prstGeom>
        </p:spPr>
        <p:txBody>
          <a:bodyPr lIns="0" tIns="0" rIns="0" bIns="0" rtlCol="0" anchor="t">
            <a:spAutoFit/>
          </a:bodyPr>
          <a:lstStyle/>
          <a:p>
            <a:pPr algn="l">
              <a:lnSpc>
                <a:spcPts val="2160"/>
              </a:lnSpc>
            </a:pPr>
            <a:r>
              <a:rPr lang="en-US" sz="1200">
                <a:solidFill>
                  <a:srgbClr val="000000"/>
                </a:solidFill>
                <a:latin typeface="Arial"/>
                <a:ea typeface="Arial"/>
                <a:cs typeface="Arial"/>
                <a:sym typeface="Arial"/>
              </a:rPr>
              <a:t>•</a:t>
            </a:r>
          </a:p>
        </p:txBody>
      </p:sp>
      <p:sp>
        <p:nvSpPr>
          <p:cNvPr id="16" name="TextBox 16"/>
          <p:cNvSpPr txBox="1"/>
          <p:nvPr/>
        </p:nvSpPr>
        <p:spPr>
          <a:xfrm>
            <a:off x="416662" y="1733560"/>
            <a:ext cx="54407" cy="265452"/>
          </a:xfrm>
          <a:prstGeom prst="rect">
            <a:avLst/>
          </a:prstGeom>
        </p:spPr>
        <p:txBody>
          <a:bodyPr lIns="0" tIns="0" rIns="0" bIns="0" rtlCol="0" anchor="t">
            <a:spAutoFit/>
          </a:bodyPr>
          <a:lstStyle/>
          <a:p>
            <a:pPr algn="l">
              <a:lnSpc>
                <a:spcPts val="2160"/>
              </a:lnSpc>
            </a:pPr>
            <a:r>
              <a:rPr lang="en-US" sz="1200">
                <a:solidFill>
                  <a:srgbClr val="000000"/>
                </a:solidFill>
                <a:latin typeface="Arial"/>
                <a:ea typeface="Arial"/>
                <a:cs typeface="Arial"/>
                <a:sym typeface="Arial"/>
              </a:rPr>
              <a: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933693" y="870709"/>
            <a:ext cx="3555997" cy="3930901"/>
          </a:xfrm>
          <a:custGeom>
            <a:avLst/>
            <a:gdLst/>
            <a:ahLst/>
            <a:cxnLst/>
            <a:rect l="l" t="t" r="r" b="b"/>
            <a:pathLst>
              <a:path w="3555997" h="3930901">
                <a:moveTo>
                  <a:pt x="0" y="0"/>
                </a:moveTo>
                <a:lnTo>
                  <a:pt x="3555997" y="0"/>
                </a:lnTo>
                <a:lnTo>
                  <a:pt x="3555997" y="3930901"/>
                </a:lnTo>
                <a:lnTo>
                  <a:pt x="0" y="393090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a:p>
        </p:txBody>
      </p:sp>
      <p:sp>
        <p:nvSpPr>
          <p:cNvPr id="8" name="TextBox 8"/>
          <p:cNvSpPr txBox="1"/>
          <p:nvPr/>
        </p:nvSpPr>
        <p:spPr>
          <a:xfrm>
            <a:off x="290779" y="4645304"/>
            <a:ext cx="114405" cy="120867"/>
          </a:xfrm>
          <a:prstGeom prst="rect">
            <a:avLst/>
          </a:prstGeom>
        </p:spPr>
        <p:txBody>
          <a:bodyPr lIns="0" tIns="0" rIns="0" bIns="0" rtlCol="0" anchor="t">
            <a:spAutoFit/>
          </a:bodyPr>
          <a:lstStyle/>
          <a:p>
            <a:pPr algn="l">
              <a:lnSpc>
                <a:spcPts val="974"/>
              </a:lnSpc>
            </a:pPr>
            <a:r>
              <a:rPr lang="en-US" sz="696" spc="2" dirty="0">
                <a:solidFill>
                  <a:srgbClr val="FFFFFF"/>
                </a:solidFill>
                <a:latin typeface="Aptos" panose="020B0004020202020204" pitchFamily="34" charset="0"/>
                <a:ea typeface="Heading Now 11-18"/>
                <a:cs typeface="Heading Now 11-18"/>
                <a:sym typeface="Heading Now 11-18"/>
              </a:rPr>
              <a:t>68</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291484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What is Time Series?</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609600" y="1432436"/>
            <a:ext cx="4126525" cy="594360"/>
          </a:xfrm>
          <a:prstGeom prst="rect">
            <a:avLst/>
          </a:prstGeom>
        </p:spPr>
        <p:txBody>
          <a:bodyPr lIns="0" tIns="0" rIns="0" bIns="0" rtlCol="0" anchor="t">
            <a:spAutoFit/>
          </a:bodyPr>
          <a:lstStyle/>
          <a:p>
            <a:pPr algn="l">
              <a:lnSpc>
                <a:spcPts val="1439"/>
              </a:lnSpc>
            </a:pPr>
            <a:r>
              <a:rPr lang="en-US" sz="1200" b="1">
                <a:solidFill>
                  <a:srgbClr val="000000"/>
                </a:solidFill>
                <a:latin typeface="29LT Bukra Medium"/>
                <a:ea typeface="29LT Bukra Medium"/>
                <a:cs typeface="29LT Bukra Medium"/>
                <a:sym typeface="29LT Bukra Medium"/>
              </a:rPr>
              <a:t>It is a series of observations taken at specified times basically at equal intervals. It is used to predict future values based on past observed values.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2816" y="1304544"/>
            <a:ext cx="1729740" cy="608076"/>
          </a:xfrm>
          <a:custGeom>
            <a:avLst/>
            <a:gdLst/>
            <a:ahLst/>
            <a:cxnLst/>
            <a:rect l="l" t="t" r="r" b="b"/>
            <a:pathLst>
              <a:path w="1729740" h="608076">
                <a:moveTo>
                  <a:pt x="0" y="0"/>
                </a:moveTo>
                <a:lnTo>
                  <a:pt x="1729740" y="0"/>
                </a:lnTo>
                <a:lnTo>
                  <a:pt x="1729740" y="608076"/>
                </a:lnTo>
                <a:lnTo>
                  <a:pt x="0" y="608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2371344" y="1304544"/>
            <a:ext cx="1937004" cy="608076"/>
          </a:xfrm>
          <a:custGeom>
            <a:avLst/>
            <a:gdLst/>
            <a:ahLst/>
            <a:cxnLst/>
            <a:rect l="l" t="t" r="r" b="b"/>
            <a:pathLst>
              <a:path w="1937004" h="608076">
                <a:moveTo>
                  <a:pt x="0" y="0"/>
                </a:moveTo>
                <a:lnTo>
                  <a:pt x="1937004" y="0"/>
                </a:lnTo>
                <a:lnTo>
                  <a:pt x="1937004" y="608076"/>
                </a:lnTo>
                <a:lnTo>
                  <a:pt x="0" y="608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4572000" y="1304544"/>
            <a:ext cx="1938528" cy="608076"/>
          </a:xfrm>
          <a:custGeom>
            <a:avLst/>
            <a:gdLst/>
            <a:ahLst/>
            <a:cxnLst/>
            <a:rect l="l" t="t" r="r" b="b"/>
            <a:pathLst>
              <a:path w="1938528" h="608076">
                <a:moveTo>
                  <a:pt x="0" y="0"/>
                </a:moveTo>
                <a:lnTo>
                  <a:pt x="1938528" y="0"/>
                </a:lnTo>
                <a:lnTo>
                  <a:pt x="1938528" y="608076"/>
                </a:lnTo>
                <a:lnTo>
                  <a:pt x="0" y="6080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a:off x="6771132" y="1304544"/>
            <a:ext cx="1938528" cy="608076"/>
          </a:xfrm>
          <a:custGeom>
            <a:avLst/>
            <a:gdLst/>
            <a:ahLst/>
            <a:cxnLst/>
            <a:rect l="l" t="t" r="r" b="b"/>
            <a:pathLst>
              <a:path w="1938528" h="608076">
                <a:moveTo>
                  <a:pt x="0" y="0"/>
                </a:moveTo>
                <a:lnTo>
                  <a:pt x="1938528" y="0"/>
                </a:lnTo>
                <a:lnTo>
                  <a:pt x="1938528" y="608076"/>
                </a:lnTo>
                <a:lnTo>
                  <a:pt x="0" y="60807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10"/>
            <a:stretch>
              <a:fillRect/>
            </a:stretch>
          </a:blipFill>
        </p:spPr>
        <p:txBody>
          <a:bodyPr/>
          <a:lstStyle/>
          <a:p>
            <a:endParaRPr lang="en-IN"/>
          </a:p>
        </p:txBody>
      </p:sp>
      <p:sp>
        <p:nvSpPr>
          <p:cNvPr id="7" name="TextBox 7"/>
          <p:cNvSpPr txBox="1"/>
          <p:nvPr/>
        </p:nvSpPr>
        <p:spPr>
          <a:xfrm>
            <a:off x="403250" y="343729"/>
            <a:ext cx="3861254"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Components of Time Series</a:t>
            </a:r>
          </a:p>
        </p:txBody>
      </p:sp>
      <p:sp>
        <p:nvSpPr>
          <p:cNvPr id="8" name="TextBox 8"/>
          <p:cNvSpPr txBox="1"/>
          <p:nvPr/>
        </p:nvSpPr>
        <p:spPr>
          <a:xfrm>
            <a:off x="91440" y="1424569"/>
            <a:ext cx="1036139" cy="289560"/>
          </a:xfrm>
          <a:prstGeom prst="rect">
            <a:avLst/>
          </a:prstGeom>
        </p:spPr>
        <p:txBody>
          <a:bodyPr lIns="0" tIns="0" rIns="0" bIns="0" rtlCol="0" anchor="t">
            <a:spAutoFit/>
          </a:bodyPr>
          <a:lstStyle/>
          <a:p>
            <a:pPr algn="l">
              <a:lnSpc>
                <a:spcPts val="1965"/>
              </a:lnSpc>
            </a:pPr>
            <a:r>
              <a:rPr lang="en-US" sz="1403" b="1">
                <a:solidFill>
                  <a:srgbClr val="FFFFFF"/>
                </a:solidFill>
                <a:latin typeface="29LT Bukra Medium"/>
                <a:ea typeface="29LT Bukra Medium"/>
                <a:cs typeface="29LT Bukra Medium"/>
                <a:sym typeface="29LT Bukra Medium"/>
              </a:rPr>
              <a:t>STreeansdonality</a:t>
            </a:r>
          </a:p>
        </p:txBody>
      </p:sp>
      <p:sp>
        <p:nvSpPr>
          <p:cNvPr id="9" name="TextBox 9"/>
          <p:cNvSpPr txBox="1"/>
          <p:nvPr/>
        </p:nvSpPr>
        <p:spPr>
          <a:xfrm>
            <a:off x="7825483" y="1424569"/>
            <a:ext cx="961301" cy="289560"/>
          </a:xfrm>
          <a:prstGeom prst="rect">
            <a:avLst/>
          </a:prstGeom>
        </p:spPr>
        <p:txBody>
          <a:bodyPr lIns="0" tIns="0" rIns="0" bIns="0" rtlCol="0" anchor="t">
            <a:spAutoFit/>
          </a:bodyPr>
          <a:lstStyle/>
          <a:p>
            <a:pPr algn="l">
              <a:lnSpc>
                <a:spcPts val="1965"/>
              </a:lnSpc>
            </a:pPr>
            <a:r>
              <a:rPr lang="en-US" sz="1403" b="1">
                <a:solidFill>
                  <a:srgbClr val="FFFFFF"/>
                </a:solidFill>
                <a:latin typeface="29LT Bukra Medium"/>
                <a:ea typeface="29LT Bukra Medium"/>
                <a:cs typeface="29LT Bukra Medium"/>
                <a:sym typeface="29LT Bukra Medium"/>
              </a:rPr>
              <a:t>CIrryecgliuclarity</a:t>
            </a:r>
          </a:p>
        </p:txBody>
      </p:sp>
      <p:sp>
        <p:nvSpPr>
          <p:cNvPr id="10" name="TextBox 10"/>
          <p:cNvSpPr txBox="1"/>
          <p:nvPr/>
        </p:nvSpPr>
        <p:spPr>
          <a:xfrm>
            <a:off x="523951" y="2158489"/>
            <a:ext cx="1563662" cy="662940"/>
          </a:xfrm>
          <a:prstGeom prst="rect">
            <a:avLst/>
          </a:prstGeom>
        </p:spPr>
        <p:txBody>
          <a:bodyPr lIns="0" tIns="0" rIns="0" bIns="0" rtlCol="0" anchor="t">
            <a:spAutoFit/>
          </a:bodyPr>
          <a:lstStyle/>
          <a:p>
            <a:pPr algn="l">
              <a:lnSpc>
                <a:spcPts val="2594"/>
              </a:lnSpc>
            </a:pPr>
            <a:r>
              <a:rPr lang="en-US" sz="1200" b="1" spc="1">
                <a:solidFill>
                  <a:srgbClr val="000000"/>
                </a:solidFill>
                <a:latin typeface="29LT Bukra Medium"/>
                <a:ea typeface="29LT Bukra Medium"/>
                <a:cs typeface="29LT Bukra Medium"/>
                <a:sym typeface="29LT Bukra Medium"/>
              </a:rPr>
              <a:t>Increasing or </a:t>
            </a:r>
          </a:p>
          <a:p>
            <a:pPr algn="l">
              <a:lnSpc>
                <a:spcPts val="1683"/>
              </a:lnSpc>
            </a:pPr>
            <a:r>
              <a:rPr lang="en-US" sz="1202" b="1">
                <a:solidFill>
                  <a:srgbClr val="000000"/>
                </a:solidFill>
                <a:latin typeface="29LT Bukra Medium"/>
                <a:ea typeface="29LT Bukra Medium"/>
                <a:cs typeface="29LT Bukra Medium"/>
                <a:sym typeface="29LT Bukra Medium"/>
              </a:rPr>
              <a:t>Decreasingvalue in </a:t>
            </a:r>
          </a:p>
          <a:p>
            <a:pPr algn="l">
              <a:lnSpc>
                <a:spcPts val="2594"/>
              </a:lnSpc>
            </a:pPr>
            <a:r>
              <a:rPr lang="en-US" sz="1200" b="1">
                <a:solidFill>
                  <a:srgbClr val="000000"/>
                </a:solidFill>
                <a:latin typeface="29LT Bukra Medium"/>
                <a:ea typeface="29LT Bukra Medium"/>
                <a:cs typeface="29LT Bukra Medium"/>
                <a:sym typeface="29LT Bukra Medium"/>
              </a:rPr>
              <a:t>the series</a:t>
            </a:r>
          </a:p>
        </p:txBody>
      </p:sp>
      <p:sp>
        <p:nvSpPr>
          <p:cNvPr id="11" name="TextBox 11"/>
          <p:cNvSpPr txBox="1"/>
          <p:nvPr/>
        </p:nvSpPr>
        <p:spPr>
          <a:xfrm>
            <a:off x="2517648" y="2297554"/>
            <a:ext cx="1798530" cy="868299"/>
          </a:xfrm>
          <a:prstGeom prst="rect">
            <a:avLst/>
          </a:prstGeom>
        </p:spPr>
        <p:txBody>
          <a:bodyPr lIns="0" tIns="0" rIns="0" bIns="0" rtlCol="0" anchor="t">
            <a:spAutoFit/>
          </a:bodyPr>
          <a:lstStyle/>
          <a:p>
            <a:pPr algn="just">
              <a:lnSpc>
                <a:spcPts val="1297"/>
              </a:lnSpc>
            </a:pPr>
            <a:r>
              <a:rPr lang="en-US" sz="1200" b="1" spc="1">
                <a:solidFill>
                  <a:srgbClr val="000000"/>
                </a:solidFill>
                <a:latin typeface="29LT Bukra Medium"/>
                <a:ea typeface="29LT Bukra Medium"/>
                <a:cs typeface="29LT Bukra Medium"/>
                <a:sym typeface="29LT Bukra Medium"/>
              </a:rPr>
              <a:t>A general systematic linear or (most often) non-linear component that changes over time and does repeat.</a:t>
            </a:r>
          </a:p>
        </p:txBody>
      </p:sp>
      <p:sp>
        <p:nvSpPr>
          <p:cNvPr id="12" name="TextBox 12"/>
          <p:cNvSpPr txBox="1"/>
          <p:nvPr/>
        </p:nvSpPr>
        <p:spPr>
          <a:xfrm>
            <a:off x="4664078" y="2297554"/>
            <a:ext cx="1813922" cy="1032891"/>
          </a:xfrm>
          <a:prstGeom prst="rect">
            <a:avLst/>
          </a:prstGeom>
        </p:spPr>
        <p:txBody>
          <a:bodyPr lIns="0" tIns="0" rIns="0" bIns="0" rtlCol="0" anchor="t">
            <a:spAutoFit/>
          </a:bodyPr>
          <a:lstStyle/>
          <a:p>
            <a:pPr algn="l">
              <a:lnSpc>
                <a:spcPts val="1294"/>
              </a:lnSpc>
            </a:pPr>
            <a:r>
              <a:rPr lang="en-US" sz="1200" b="1">
                <a:solidFill>
                  <a:srgbClr val="000000"/>
                </a:solidFill>
                <a:latin typeface="29LT Bukra Medium"/>
                <a:ea typeface="29LT Bukra Medium"/>
                <a:cs typeface="29LT Bukra Medium"/>
                <a:sym typeface="29LT Bukra Medium"/>
              </a:rPr>
              <a:t>The data in the time series follows a temporal sequence, but the measurements might not happen at a regular time interval.</a:t>
            </a:r>
          </a:p>
        </p:txBody>
      </p:sp>
      <p:sp>
        <p:nvSpPr>
          <p:cNvPr id="13" name="TextBox 13"/>
          <p:cNvSpPr txBox="1"/>
          <p:nvPr/>
        </p:nvSpPr>
        <p:spPr>
          <a:xfrm>
            <a:off x="6986273" y="2297554"/>
            <a:ext cx="1518571" cy="703431"/>
          </a:xfrm>
          <a:prstGeom prst="rect">
            <a:avLst/>
          </a:prstGeom>
        </p:spPr>
        <p:txBody>
          <a:bodyPr lIns="0" tIns="0" rIns="0" bIns="0" rtlCol="0" anchor="t">
            <a:spAutoFit/>
          </a:bodyPr>
          <a:lstStyle/>
          <a:p>
            <a:pPr algn="l">
              <a:lnSpc>
                <a:spcPts val="1296"/>
              </a:lnSpc>
            </a:pPr>
            <a:r>
              <a:rPr lang="en-US" sz="1200" b="1">
                <a:solidFill>
                  <a:srgbClr val="000000"/>
                </a:solidFill>
                <a:latin typeface="29LT Bukra Medium"/>
                <a:ea typeface="29LT Bukra Medium"/>
                <a:cs typeface="29LT Bukra Medium"/>
                <a:sym typeface="29LT Bukra Medium"/>
              </a:rPr>
              <a:t>Pattern exists when data exhibit rises &amp; falls that are not of </a:t>
            </a:r>
          </a:p>
          <a:p>
            <a:pPr algn="l">
              <a:lnSpc>
                <a:spcPts val="1683"/>
              </a:lnSpc>
            </a:pPr>
            <a:r>
              <a:rPr lang="en-US" sz="1202" b="1">
                <a:solidFill>
                  <a:srgbClr val="000000"/>
                </a:solidFill>
                <a:latin typeface="29LT Bukra Medium"/>
                <a:ea typeface="29LT Bukra Medium"/>
                <a:cs typeface="29LT Bukra Medium"/>
                <a:sym typeface="29LT Bukra Medium"/>
              </a:rPr>
              <a:t>fixed</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period.</a:t>
            </a:r>
          </a:p>
        </p:txBody>
      </p:sp>
      <p:sp>
        <p:nvSpPr>
          <p:cNvPr id="14" name="TextBox 14"/>
          <p:cNvSpPr txBox="1"/>
          <p:nvPr/>
        </p:nvSpPr>
        <p:spPr>
          <a:xfrm>
            <a:off x="800710" y="1464173"/>
            <a:ext cx="635946"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Trend</a:t>
            </a:r>
          </a:p>
        </p:txBody>
      </p:sp>
      <p:sp>
        <p:nvSpPr>
          <p:cNvPr id="15" name="TextBox 15"/>
          <p:cNvSpPr txBox="1"/>
          <p:nvPr/>
        </p:nvSpPr>
        <p:spPr>
          <a:xfrm>
            <a:off x="2786510" y="1464173"/>
            <a:ext cx="1295886"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Seasonality</a:t>
            </a:r>
          </a:p>
        </p:txBody>
      </p:sp>
      <p:sp>
        <p:nvSpPr>
          <p:cNvPr id="16" name="TextBox 16"/>
          <p:cNvSpPr txBox="1"/>
          <p:nvPr/>
        </p:nvSpPr>
        <p:spPr>
          <a:xfrm>
            <a:off x="4969507" y="1464173"/>
            <a:ext cx="1271483"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Irregularity</a:t>
            </a:r>
          </a:p>
        </p:txBody>
      </p:sp>
      <p:sp>
        <p:nvSpPr>
          <p:cNvPr id="17" name="TextBox 17"/>
          <p:cNvSpPr txBox="1"/>
          <p:nvPr/>
        </p:nvSpPr>
        <p:spPr>
          <a:xfrm>
            <a:off x="7250306" y="1464173"/>
            <a:ext cx="680609"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Cyclic</a:t>
            </a:r>
          </a:p>
        </p:txBody>
      </p:sp>
      <p:sp>
        <p:nvSpPr>
          <p:cNvPr id="18" name="TextBox 18"/>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3217" y="1236469"/>
            <a:ext cx="8284969" cy="3650485"/>
          </a:xfrm>
          <a:custGeom>
            <a:avLst/>
            <a:gdLst/>
            <a:ahLst/>
            <a:cxnLst/>
            <a:rect l="l" t="t" r="r" b="b"/>
            <a:pathLst>
              <a:path w="8284969" h="3650485">
                <a:moveTo>
                  <a:pt x="0" y="0"/>
                </a:moveTo>
                <a:lnTo>
                  <a:pt x="8284969" y="0"/>
                </a:lnTo>
                <a:lnTo>
                  <a:pt x="8284969" y="3650485"/>
                </a:lnTo>
                <a:lnTo>
                  <a:pt x="0" y="3650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403250" y="343729"/>
            <a:ext cx="324346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Testing TS Stationarity</a:t>
            </a:r>
          </a:p>
        </p:txBody>
      </p:sp>
      <p:sp>
        <p:nvSpPr>
          <p:cNvPr id="5" name="TextBox 5"/>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6" name="TextBox 6"/>
          <p:cNvSpPr txBox="1"/>
          <p:nvPr/>
        </p:nvSpPr>
        <p:spPr>
          <a:xfrm>
            <a:off x="2762374" y="1223391"/>
            <a:ext cx="2592876" cy="476250"/>
          </a:xfrm>
          <a:prstGeom prst="rect">
            <a:avLst/>
          </a:prstGeom>
        </p:spPr>
        <p:txBody>
          <a:bodyPr lIns="0" tIns="0" rIns="0" bIns="0" rtlCol="0" anchor="t">
            <a:spAutoFit/>
          </a:bodyPr>
          <a:lstStyle/>
          <a:p>
            <a:pPr algn="l">
              <a:lnSpc>
                <a:spcPts val="3596"/>
              </a:lnSpc>
            </a:pPr>
            <a:r>
              <a:rPr lang="en-US" sz="1800" b="1">
                <a:solidFill>
                  <a:srgbClr val="FFFFFF"/>
                </a:solidFill>
                <a:latin typeface="29LT Bukra Medium"/>
                <a:ea typeface="29LT Bukra Medium"/>
                <a:cs typeface="29LT Bukra Medium"/>
                <a:sym typeface="29LT Bukra Medium"/>
              </a:rPr>
              <a:t>Checks for Stationarity</a:t>
            </a:r>
          </a:p>
        </p:txBody>
      </p:sp>
      <p:sp>
        <p:nvSpPr>
          <p:cNvPr id="7" name="TextBox 7"/>
          <p:cNvSpPr txBox="1"/>
          <p:nvPr/>
        </p:nvSpPr>
        <p:spPr>
          <a:xfrm>
            <a:off x="2661971" y="1754248"/>
            <a:ext cx="42596"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 </a:t>
            </a:r>
          </a:p>
        </p:txBody>
      </p:sp>
      <p:sp>
        <p:nvSpPr>
          <p:cNvPr id="8" name="TextBox 8"/>
          <p:cNvSpPr txBox="1"/>
          <p:nvPr/>
        </p:nvSpPr>
        <p:spPr>
          <a:xfrm>
            <a:off x="550774" y="1754248"/>
            <a:ext cx="6751263"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There are many methods tocheckwhetheratimeseriesisstationary or non-stationary.</a:t>
            </a:r>
          </a:p>
        </p:txBody>
      </p:sp>
      <p:sp>
        <p:nvSpPr>
          <p:cNvPr id="9" name="TextBox 9"/>
          <p:cNvSpPr txBox="1"/>
          <p:nvPr/>
        </p:nvSpPr>
        <p:spPr>
          <a:xfrm>
            <a:off x="706222" y="2195913"/>
            <a:ext cx="145961" cy="1184805"/>
          </a:xfrm>
          <a:prstGeom prst="rect">
            <a:avLst/>
          </a:prstGeom>
        </p:spPr>
        <p:txBody>
          <a:bodyPr lIns="0" tIns="0" rIns="0" bIns="0" rtlCol="0" anchor="t">
            <a:spAutoFit/>
          </a:bodyPr>
          <a:lstStyle/>
          <a:p>
            <a:pPr algn="l">
              <a:lnSpc>
                <a:spcPts val="3006"/>
              </a:lnSpc>
            </a:pPr>
            <a:r>
              <a:rPr lang="en-US" sz="1202" b="1" spc="50">
                <a:solidFill>
                  <a:srgbClr val="555555"/>
                </a:solidFill>
                <a:latin typeface="Montserrat Bold"/>
                <a:ea typeface="Montserrat Bold"/>
                <a:cs typeface="Montserrat Bold"/>
                <a:sym typeface="Montserrat Bold"/>
              </a:rPr>
              <a:t>1.</a:t>
            </a:r>
          </a:p>
          <a:p>
            <a:pPr algn="l">
              <a:lnSpc>
                <a:spcPts val="2711"/>
              </a:lnSpc>
            </a:pPr>
            <a:r>
              <a:rPr lang="en-US" sz="1200" b="1" spc="50">
                <a:solidFill>
                  <a:srgbClr val="555555"/>
                </a:solidFill>
                <a:latin typeface="Montserrat Bold"/>
                <a:ea typeface="Montserrat Bold"/>
                <a:cs typeface="Montserrat Bold"/>
                <a:sym typeface="Montserrat Bold"/>
              </a:rPr>
              <a:t>2. 3.</a:t>
            </a:r>
          </a:p>
        </p:txBody>
      </p:sp>
      <p:sp>
        <p:nvSpPr>
          <p:cNvPr id="10" name="TextBox 10"/>
          <p:cNvSpPr txBox="1"/>
          <p:nvPr/>
        </p:nvSpPr>
        <p:spPr>
          <a:xfrm>
            <a:off x="1007974" y="2157813"/>
            <a:ext cx="7548372" cy="2027543"/>
          </a:xfrm>
          <a:prstGeom prst="rect">
            <a:avLst/>
          </a:prstGeom>
        </p:spPr>
        <p:txBody>
          <a:bodyPr lIns="0" tIns="0" rIns="0" bIns="0" rtlCol="0" anchor="t">
            <a:spAutoFit/>
          </a:bodyPr>
          <a:lstStyle/>
          <a:p>
            <a:pPr algn="l">
              <a:lnSpc>
                <a:spcPts val="3006"/>
              </a:lnSpc>
            </a:pPr>
            <a:r>
              <a:rPr lang="en-US" sz="1202" b="1" dirty="0">
                <a:solidFill>
                  <a:srgbClr val="000000"/>
                </a:solidFill>
                <a:latin typeface="Arial" panose="020B0604020202020204" pitchFamily="34" charset="0"/>
                <a:ea typeface="29LT Bukra Bold"/>
                <a:cs typeface="Arial" panose="020B0604020202020204" pitchFamily="34" charset="0"/>
                <a:sym typeface="29LT Bukra Bold"/>
              </a:rPr>
              <a:t>Look at Plots: </a:t>
            </a:r>
            <a:r>
              <a:rPr lang="en-US" sz="1202" b="1" dirty="0">
                <a:solidFill>
                  <a:srgbClr val="000000"/>
                </a:solidFill>
                <a:latin typeface="29LT Bukra Medium"/>
                <a:ea typeface="29LT Bukra Medium"/>
                <a:cs typeface="29LT Bukra Medium"/>
                <a:sym typeface="29LT Bukra Medium"/>
              </a:rPr>
              <a:t>You can review a time series plot of your data and visually check if there are any </a:t>
            </a:r>
          </a:p>
          <a:p>
            <a:pPr algn="l">
              <a:lnSpc>
                <a:spcPts val="600"/>
              </a:lnSpc>
            </a:pPr>
            <a:r>
              <a:rPr lang="en-US" sz="1200" b="1" spc="1" dirty="0">
                <a:solidFill>
                  <a:srgbClr val="000000"/>
                </a:solidFill>
                <a:latin typeface="29LT Bukra Medium"/>
                <a:ea typeface="29LT Bukra Medium"/>
                <a:cs typeface="29LT Bukra Medium"/>
                <a:sym typeface="29LT Bukra Medium"/>
              </a:rPr>
              <a:t>obvious trends or seasonality.</a:t>
            </a:r>
          </a:p>
          <a:p>
            <a:pPr algn="l">
              <a:lnSpc>
                <a:spcPts val="2711"/>
              </a:lnSpc>
            </a:pPr>
            <a:r>
              <a:rPr lang="en-US" sz="1200" b="1" dirty="0">
                <a:solidFill>
                  <a:srgbClr val="000000"/>
                </a:solidFill>
                <a:latin typeface="Arial" panose="020B0604020202020204" pitchFamily="34" charset="0"/>
                <a:ea typeface="29LT Bukra Bold"/>
                <a:cs typeface="Arial" panose="020B0604020202020204" pitchFamily="34" charset="0"/>
                <a:sym typeface="29LT Bukra Bold"/>
              </a:rPr>
              <a:t>Summary Statistics: </a:t>
            </a:r>
            <a:r>
              <a:rPr lang="en-US" sz="1200" b="1" dirty="0">
                <a:solidFill>
                  <a:srgbClr val="000000"/>
                </a:solidFill>
                <a:latin typeface="29LT Bukra Medium"/>
                <a:ea typeface="29LT Bukra Medium"/>
                <a:cs typeface="29LT Bukra Medium"/>
                <a:sym typeface="29LT Bukra Medium"/>
              </a:rPr>
              <a:t>You can review the summary statistics for your data for seasons or random </a:t>
            </a:r>
          </a:p>
          <a:p>
            <a:pPr algn="l">
              <a:lnSpc>
                <a:spcPts val="600"/>
              </a:lnSpc>
            </a:pPr>
            <a:r>
              <a:rPr lang="en-US" sz="1200" b="1" dirty="0">
                <a:solidFill>
                  <a:srgbClr val="000000"/>
                </a:solidFill>
                <a:latin typeface="29LT Bukra Medium"/>
                <a:ea typeface="29LT Bukra Medium"/>
                <a:cs typeface="29LT Bukra Medium"/>
                <a:sym typeface="29LT Bukra Medium"/>
              </a:rPr>
              <a:t>partitions and check for obvious or significant differences.</a:t>
            </a:r>
          </a:p>
          <a:p>
            <a:pPr algn="l">
              <a:lnSpc>
                <a:spcPts val="2711"/>
              </a:lnSpc>
            </a:pPr>
            <a:r>
              <a:rPr lang="en-US" sz="1200" b="1" dirty="0">
                <a:solidFill>
                  <a:srgbClr val="000000"/>
                </a:solidFill>
                <a:latin typeface="Arial" panose="020B0604020202020204" pitchFamily="34" charset="0"/>
                <a:ea typeface="29LT Bukra Bold"/>
                <a:cs typeface="Arial" panose="020B0604020202020204" pitchFamily="34" charset="0"/>
                <a:sym typeface="29LT Bukra Bold"/>
              </a:rPr>
              <a:t>Statistical Tests: </a:t>
            </a:r>
            <a:r>
              <a:rPr lang="en-US" sz="1200" b="1" dirty="0">
                <a:solidFill>
                  <a:srgbClr val="000000"/>
                </a:solidFill>
                <a:latin typeface="29LT Bukra Medium"/>
                <a:ea typeface="29LT Bukra Medium"/>
                <a:cs typeface="29LT Bukra Medium"/>
                <a:sym typeface="29LT Bukra Medium"/>
              </a:rPr>
              <a:t>You can use statistical tests to check if the expectations of stationarity are met </a:t>
            </a:r>
          </a:p>
          <a:p>
            <a:pPr algn="l">
              <a:lnSpc>
                <a:spcPts val="601"/>
              </a:lnSpc>
            </a:pPr>
            <a:r>
              <a:rPr lang="en-US" sz="1202" b="1" dirty="0">
                <a:solidFill>
                  <a:srgbClr val="000000"/>
                </a:solidFill>
                <a:latin typeface="29LT Bukra Medium"/>
                <a:ea typeface="29LT Bukra Medium"/>
                <a:cs typeface="29LT Bukra Medium"/>
                <a:sym typeface="29LT Bukra Medium"/>
              </a:rPr>
              <a:t>or have been violated.</a:t>
            </a:r>
          </a:p>
        </p:txBody>
      </p:sp>
      <p:sp>
        <p:nvSpPr>
          <p:cNvPr id="11" name="TextBox 11"/>
          <p:cNvSpPr txBox="1"/>
          <p:nvPr/>
        </p:nvSpPr>
        <p:spPr>
          <a:xfrm>
            <a:off x="550774" y="3679698"/>
            <a:ext cx="7659538" cy="92964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You can split your time series into two (or more) partitions and compare the mean and variance of </a:t>
            </a:r>
          </a:p>
          <a:p>
            <a:pPr algn="l">
              <a:lnSpc>
                <a:spcPts val="1320"/>
              </a:lnSpc>
            </a:pPr>
            <a:r>
              <a:rPr lang="en-US" sz="1200" b="1">
                <a:solidFill>
                  <a:srgbClr val="000000"/>
                </a:solidFill>
                <a:latin typeface="29LT Bukra Medium"/>
                <a:ea typeface="29LT Bukra Medium"/>
                <a:cs typeface="29LT Bukra Medium"/>
                <a:sym typeface="29LT Bukra Medium"/>
              </a:rPr>
              <a:t>each group. If they differ and the difference is statistically significant, the time series is likely non-</a:t>
            </a:r>
          </a:p>
          <a:p>
            <a:pPr algn="l">
              <a:lnSpc>
                <a:spcPts val="3000"/>
              </a:lnSpc>
            </a:pPr>
            <a:r>
              <a:rPr lang="en-US" sz="1200" b="1" spc="1">
                <a:solidFill>
                  <a:srgbClr val="000000"/>
                </a:solidFill>
                <a:latin typeface="29LT Bukra Medium"/>
                <a:ea typeface="29LT Bukra Medium"/>
                <a:cs typeface="29LT Bukra Medium"/>
                <a:sym typeface="29LT Bukra Medium"/>
              </a:rPr>
              <a:t>stationary.</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3217" y="1236469"/>
            <a:ext cx="8284969" cy="3650485"/>
          </a:xfrm>
          <a:custGeom>
            <a:avLst/>
            <a:gdLst/>
            <a:ahLst/>
            <a:cxnLst/>
            <a:rect l="l" t="t" r="r" b="b"/>
            <a:pathLst>
              <a:path w="8284969" h="3650485">
                <a:moveTo>
                  <a:pt x="0" y="0"/>
                </a:moveTo>
                <a:lnTo>
                  <a:pt x="8284969" y="0"/>
                </a:lnTo>
                <a:lnTo>
                  <a:pt x="8284969" y="3650485"/>
                </a:lnTo>
                <a:lnTo>
                  <a:pt x="0" y="3650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403250" y="343729"/>
            <a:ext cx="324346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Testing TS Stationarity</a:t>
            </a:r>
          </a:p>
        </p:txBody>
      </p:sp>
      <p:sp>
        <p:nvSpPr>
          <p:cNvPr id="5" name="TextBox 5"/>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6" name="TextBox 6"/>
          <p:cNvSpPr txBox="1"/>
          <p:nvPr/>
        </p:nvSpPr>
        <p:spPr>
          <a:xfrm>
            <a:off x="2762374" y="1223391"/>
            <a:ext cx="2592876" cy="476250"/>
          </a:xfrm>
          <a:prstGeom prst="rect">
            <a:avLst/>
          </a:prstGeom>
        </p:spPr>
        <p:txBody>
          <a:bodyPr lIns="0" tIns="0" rIns="0" bIns="0" rtlCol="0" anchor="t">
            <a:spAutoFit/>
          </a:bodyPr>
          <a:lstStyle/>
          <a:p>
            <a:pPr algn="l">
              <a:lnSpc>
                <a:spcPts val="3596"/>
              </a:lnSpc>
            </a:pPr>
            <a:r>
              <a:rPr lang="en-US" sz="1800" b="1">
                <a:solidFill>
                  <a:srgbClr val="FFFFFF"/>
                </a:solidFill>
                <a:latin typeface="29LT Bukra Medium"/>
                <a:ea typeface="29LT Bukra Medium"/>
                <a:cs typeface="29LT Bukra Medium"/>
                <a:sym typeface="29LT Bukra Medium"/>
              </a:rPr>
              <a:t>Checks for Stationarity</a:t>
            </a:r>
          </a:p>
        </p:txBody>
      </p:sp>
      <p:sp>
        <p:nvSpPr>
          <p:cNvPr id="7" name="TextBox 7"/>
          <p:cNvSpPr txBox="1"/>
          <p:nvPr/>
        </p:nvSpPr>
        <p:spPr>
          <a:xfrm>
            <a:off x="2675534" y="1754248"/>
            <a:ext cx="42596"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 </a:t>
            </a:r>
          </a:p>
        </p:txBody>
      </p:sp>
      <p:sp>
        <p:nvSpPr>
          <p:cNvPr id="8" name="TextBox 8"/>
          <p:cNvSpPr txBox="1"/>
          <p:nvPr/>
        </p:nvSpPr>
        <p:spPr>
          <a:xfrm>
            <a:off x="550774" y="1839973"/>
            <a:ext cx="7979302" cy="295275"/>
          </a:xfrm>
          <a:prstGeom prst="rect">
            <a:avLst/>
          </a:prstGeom>
        </p:spPr>
        <p:txBody>
          <a:bodyPr lIns="0" tIns="0" rIns="0" bIns="0" rtlCol="0" anchor="t">
            <a:spAutoFit/>
          </a:bodyPr>
          <a:lstStyle/>
          <a:p>
            <a:pPr algn="l">
              <a:lnSpc>
                <a:spcPts val="2162"/>
              </a:lnSpc>
            </a:pPr>
            <a:r>
              <a:rPr lang="en-US" sz="1200" b="1">
                <a:solidFill>
                  <a:srgbClr val="000000"/>
                </a:solidFill>
                <a:latin typeface="29LT Bukra Medium"/>
                <a:ea typeface="29LT Bukra Medium"/>
                <a:cs typeface="29LT Bukra Medium"/>
                <a:sym typeface="29LT Bukra Medium"/>
              </a:rPr>
              <a:t>Statistical tests make strongassumptions about your data.They can only be used to inform the degree </a:t>
            </a:r>
          </a:p>
        </p:txBody>
      </p:sp>
      <p:sp>
        <p:nvSpPr>
          <p:cNvPr id="9" name="TextBox 9"/>
          <p:cNvSpPr txBox="1"/>
          <p:nvPr/>
        </p:nvSpPr>
        <p:spPr>
          <a:xfrm>
            <a:off x="550774" y="2114293"/>
            <a:ext cx="7932668" cy="1748285"/>
          </a:xfrm>
          <a:prstGeom prst="rect">
            <a:avLst/>
          </a:prstGeom>
        </p:spPr>
        <p:txBody>
          <a:bodyPr lIns="0" tIns="0" rIns="0" bIns="0" rtlCol="0" anchor="t">
            <a:spAutoFit/>
          </a:bodyPr>
          <a:lstStyle/>
          <a:p>
            <a:pPr algn="l">
              <a:lnSpc>
                <a:spcPts val="2162"/>
              </a:lnSpc>
            </a:pPr>
            <a:r>
              <a:rPr lang="en-US" sz="1200" b="1">
                <a:solidFill>
                  <a:srgbClr val="000000"/>
                </a:solidFill>
                <a:latin typeface="29LT Bukra Medium"/>
                <a:ea typeface="29LT Bukra Medium"/>
                <a:cs typeface="29LT Bukra Medium"/>
                <a:sym typeface="29LT Bukra Medium"/>
              </a:rPr>
              <a:t>to which a null hypothesis can be rejected or fail to be reject. The result must be interpreted for a given problem to be meaningful.</a:t>
            </a:r>
          </a:p>
          <a:p>
            <a:pPr algn="l">
              <a:lnSpc>
                <a:spcPts val="3000"/>
              </a:lnSpc>
            </a:pPr>
            <a:r>
              <a:rPr lang="en-US" sz="1200" b="1" spc="1">
                <a:solidFill>
                  <a:srgbClr val="000000"/>
                </a:solidFill>
                <a:latin typeface="29LT Bukra Medium"/>
                <a:ea typeface="29LT Bukra Medium"/>
                <a:cs typeface="29LT Bukra Medium"/>
                <a:sym typeface="29LT Bukra Medium"/>
              </a:rPr>
              <a:t>Nevertheless, they can provide a quick check and confirmatory evidence that your time series is </a:t>
            </a:r>
          </a:p>
          <a:p>
            <a:pPr algn="l">
              <a:lnSpc>
                <a:spcPts val="1320"/>
              </a:lnSpc>
            </a:pPr>
            <a:r>
              <a:rPr lang="en-US" sz="1200" b="1">
                <a:solidFill>
                  <a:srgbClr val="000000"/>
                </a:solidFill>
                <a:latin typeface="29LT Bukra Medium"/>
                <a:ea typeface="29LT Bukra Medium"/>
                <a:cs typeface="29LT Bukra Medium"/>
                <a:sym typeface="29LT Bukra Medium"/>
              </a:rPr>
              <a:t>stationary or non-stationary. </a:t>
            </a:r>
          </a:p>
          <a:p>
            <a:pPr algn="l">
              <a:lnSpc>
                <a:spcPts val="3000"/>
              </a:lnSpc>
            </a:pPr>
            <a:r>
              <a:rPr lang="en-US" sz="1200" b="1" spc="50">
                <a:solidFill>
                  <a:srgbClr val="000000"/>
                </a:solidFill>
                <a:latin typeface="Montserrat Bold"/>
                <a:ea typeface="Montserrat Bold"/>
                <a:cs typeface="Montserrat Bold"/>
                <a:sym typeface="Montserrat Bold"/>
              </a:rPr>
              <a:t>ADF Test </a:t>
            </a:r>
            <a:r>
              <a:rPr lang="en-US" sz="1200" spc="50">
                <a:solidFill>
                  <a:srgbClr val="000000"/>
                </a:solidFill>
                <a:latin typeface="Montserrat"/>
                <a:ea typeface="Montserrat"/>
                <a:cs typeface="Montserrat"/>
                <a:sym typeface="Montserrat"/>
              </a:rPr>
              <a:t>is otherwise known as </a:t>
            </a:r>
            <a:r>
              <a:rPr lang="en-US" sz="1200" b="1" spc="50">
                <a:solidFill>
                  <a:srgbClr val="000000"/>
                </a:solidFill>
                <a:latin typeface="Montserrat Bold"/>
                <a:ea typeface="Montserrat Bold"/>
                <a:cs typeface="Montserrat Bold"/>
                <a:sym typeface="Montserrat Bold"/>
              </a:rPr>
              <a:t>unit root test.</a:t>
            </a:r>
          </a:p>
        </p:txBody>
      </p:sp>
      <p:sp>
        <p:nvSpPr>
          <p:cNvPr id="10" name="TextBox 10"/>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3217" y="1236469"/>
            <a:ext cx="8284969" cy="3650485"/>
          </a:xfrm>
          <a:custGeom>
            <a:avLst/>
            <a:gdLst/>
            <a:ahLst/>
            <a:cxnLst/>
            <a:rect l="l" t="t" r="r" b="b"/>
            <a:pathLst>
              <a:path w="8284969" h="3650485">
                <a:moveTo>
                  <a:pt x="0" y="0"/>
                </a:moveTo>
                <a:lnTo>
                  <a:pt x="8284969" y="0"/>
                </a:lnTo>
                <a:lnTo>
                  <a:pt x="8284969" y="3650485"/>
                </a:lnTo>
                <a:lnTo>
                  <a:pt x="0" y="3650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403250" y="343729"/>
            <a:ext cx="324346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Testing TS Stationarity</a:t>
            </a:r>
          </a:p>
        </p:txBody>
      </p:sp>
      <p:sp>
        <p:nvSpPr>
          <p:cNvPr id="5" name="TextBox 5"/>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6" name="TextBox 6"/>
          <p:cNvSpPr txBox="1"/>
          <p:nvPr/>
        </p:nvSpPr>
        <p:spPr>
          <a:xfrm>
            <a:off x="2762374" y="1309116"/>
            <a:ext cx="2592876" cy="390525"/>
          </a:xfrm>
          <a:prstGeom prst="rect">
            <a:avLst/>
          </a:prstGeom>
        </p:spPr>
        <p:txBody>
          <a:bodyPr lIns="0" tIns="0" rIns="0" bIns="0" rtlCol="0" anchor="t">
            <a:spAutoFit/>
          </a:bodyPr>
          <a:lstStyle/>
          <a:p>
            <a:pPr algn="l">
              <a:lnSpc>
                <a:spcPts val="2613"/>
              </a:lnSpc>
            </a:pPr>
            <a:r>
              <a:rPr lang="en-US" sz="1800" b="1">
                <a:solidFill>
                  <a:srgbClr val="FFFFFF"/>
                </a:solidFill>
                <a:latin typeface="29LT Bukra Medium"/>
                <a:ea typeface="29LT Bukra Medium"/>
                <a:cs typeface="29LT Bukra Medium"/>
                <a:sym typeface="29LT Bukra Medium"/>
              </a:rPr>
              <a:t>Checks for Stationarity</a:t>
            </a:r>
          </a:p>
        </p:txBody>
      </p:sp>
      <p:sp>
        <p:nvSpPr>
          <p:cNvPr id="7" name="TextBox 7"/>
          <p:cNvSpPr txBox="1"/>
          <p:nvPr/>
        </p:nvSpPr>
        <p:spPr>
          <a:xfrm>
            <a:off x="2831459" y="1784080"/>
            <a:ext cx="35347" cy="310515"/>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 </a:t>
            </a:r>
          </a:p>
        </p:txBody>
      </p:sp>
      <p:sp>
        <p:nvSpPr>
          <p:cNvPr id="8" name="TextBox 8"/>
          <p:cNvSpPr txBox="1"/>
          <p:nvPr/>
        </p:nvSpPr>
        <p:spPr>
          <a:xfrm>
            <a:off x="750351" y="3456756"/>
            <a:ext cx="35433" cy="253746"/>
          </a:xfrm>
          <a:prstGeom prst="rect">
            <a:avLst/>
          </a:prstGeom>
        </p:spPr>
        <p:txBody>
          <a:bodyPr lIns="0" tIns="0" rIns="0" bIns="0" rtlCol="0" anchor="t">
            <a:spAutoFit/>
          </a:bodyPr>
          <a:lstStyle/>
          <a:p>
            <a:pPr algn="l">
              <a:lnSpc>
                <a:spcPts val="1804"/>
              </a:lnSpc>
            </a:pPr>
            <a:r>
              <a:rPr lang="en-US" sz="998" b="1">
                <a:solidFill>
                  <a:srgbClr val="000000"/>
                </a:solidFill>
                <a:latin typeface="29LT Bukra Medium"/>
                <a:ea typeface="29LT Bukra Medium"/>
                <a:cs typeface="29LT Bukra Medium"/>
                <a:sym typeface="29LT Bukra Medium"/>
              </a:rPr>
              <a:t> </a:t>
            </a:r>
          </a:p>
        </p:txBody>
      </p:sp>
      <p:sp>
        <p:nvSpPr>
          <p:cNvPr id="9" name="TextBox 9"/>
          <p:cNvSpPr txBox="1"/>
          <p:nvPr/>
        </p:nvSpPr>
        <p:spPr>
          <a:xfrm>
            <a:off x="550774" y="3695433"/>
            <a:ext cx="7683294" cy="472440"/>
          </a:xfrm>
          <a:prstGeom prst="rect">
            <a:avLst/>
          </a:prstGeom>
        </p:spPr>
        <p:txBody>
          <a:bodyPr lIns="0" tIns="0" rIns="0" bIns="0" rtlCol="0" anchor="t">
            <a:spAutoFit/>
          </a:bodyPr>
          <a:lstStyle/>
          <a:p>
            <a:pPr algn="l">
              <a:lnSpc>
                <a:spcPts val="1799"/>
              </a:lnSpc>
            </a:pPr>
            <a:r>
              <a:rPr lang="en-US" sz="996" b="1" spc="1">
                <a:solidFill>
                  <a:srgbClr val="000000"/>
                </a:solidFill>
                <a:latin typeface="29LT Bukra Medium"/>
                <a:ea typeface="29LT Bukra Medium"/>
                <a:cs typeface="29LT Bukra Medium"/>
                <a:sym typeface="29LT Bukra Medium"/>
              </a:rPr>
              <a:t>null hypothesis (stationary), otherwise a p-value above the threshold suggests we fail to reject the null hypothesis (non- stationary).</a:t>
            </a:r>
          </a:p>
        </p:txBody>
      </p:sp>
      <p:sp>
        <p:nvSpPr>
          <p:cNvPr id="10" name="TextBox 10"/>
          <p:cNvSpPr txBox="1"/>
          <p:nvPr/>
        </p:nvSpPr>
        <p:spPr>
          <a:xfrm>
            <a:off x="744322" y="4341628"/>
            <a:ext cx="46949" cy="350844"/>
          </a:xfrm>
          <a:prstGeom prst="rect">
            <a:avLst/>
          </a:prstGeom>
        </p:spPr>
        <p:txBody>
          <a:bodyPr lIns="0" tIns="0" rIns="0" bIns="0" rtlCol="0" anchor="t">
            <a:spAutoFit/>
          </a:bodyPr>
          <a:lstStyle/>
          <a:p>
            <a:pPr algn="just">
              <a:lnSpc>
                <a:spcPts val="1500"/>
              </a:lnSpc>
            </a:pPr>
            <a:r>
              <a:rPr lang="en-US" sz="600" spc="1">
                <a:solidFill>
                  <a:srgbClr val="555555"/>
                </a:solidFill>
                <a:latin typeface="Arial"/>
                <a:ea typeface="Arial"/>
                <a:cs typeface="Arial"/>
                <a:sym typeface="Arial"/>
              </a:rPr>
              <a:t>●</a:t>
            </a:r>
          </a:p>
          <a:p>
            <a:pPr algn="just">
              <a:lnSpc>
                <a:spcPts val="300"/>
              </a:lnSpc>
            </a:pPr>
            <a:r>
              <a:rPr lang="en-US" sz="600" spc="1">
                <a:solidFill>
                  <a:srgbClr val="555555"/>
                </a:solidFill>
                <a:latin typeface="Arial"/>
                <a:ea typeface="Arial"/>
                <a:cs typeface="Arial"/>
                <a:sym typeface="Arial"/>
              </a:rPr>
              <a:t>●</a:t>
            </a:r>
          </a:p>
        </p:txBody>
      </p:sp>
      <p:sp>
        <p:nvSpPr>
          <p:cNvPr id="11" name="TextBox 11"/>
          <p:cNvSpPr txBox="1"/>
          <p:nvPr/>
        </p:nvSpPr>
        <p:spPr>
          <a:xfrm>
            <a:off x="1007974" y="4223118"/>
            <a:ext cx="6425213" cy="791692"/>
          </a:xfrm>
          <a:prstGeom prst="rect">
            <a:avLst/>
          </a:prstGeom>
        </p:spPr>
        <p:txBody>
          <a:bodyPr lIns="0" tIns="0" rIns="0" bIns="0" rtlCol="0" anchor="t">
            <a:spAutoFit/>
          </a:bodyPr>
          <a:lstStyle/>
          <a:p>
            <a:pPr algn="l">
              <a:lnSpc>
                <a:spcPts val="2490"/>
              </a:lnSpc>
            </a:pPr>
            <a:r>
              <a:rPr lang="en-US" sz="996" b="1" spc="1" dirty="0">
                <a:solidFill>
                  <a:srgbClr val="000000"/>
                </a:solidFill>
                <a:latin typeface="Arial" panose="020B0604020202020204" pitchFamily="34" charset="0"/>
                <a:ea typeface="29LT Bukra Bold"/>
                <a:cs typeface="Arial" panose="020B0604020202020204" pitchFamily="34" charset="0"/>
                <a:sym typeface="29LT Bukra Bold"/>
              </a:rPr>
              <a:t>p-value &gt; 0.05: </a:t>
            </a:r>
            <a:r>
              <a:rPr lang="en-US" sz="996" b="1" spc="1" dirty="0">
                <a:solidFill>
                  <a:srgbClr val="000000"/>
                </a:solidFill>
                <a:latin typeface="29LT Bukra Medium"/>
                <a:ea typeface="29LT Bukra Medium"/>
                <a:cs typeface="29LT Bukra Medium"/>
                <a:sym typeface="29LT Bukra Medium"/>
              </a:rPr>
              <a:t>Fail to reject the null hypothesis (H0), the data has a unit root and is non-stationary.</a:t>
            </a:r>
          </a:p>
          <a:p>
            <a:pPr algn="l">
              <a:lnSpc>
                <a:spcPts val="498"/>
              </a:lnSpc>
            </a:pPr>
            <a:r>
              <a:rPr lang="en-US" sz="996" b="1" spc="1" dirty="0">
                <a:solidFill>
                  <a:srgbClr val="000000"/>
                </a:solidFill>
                <a:latin typeface="Arial" panose="020B0604020202020204" pitchFamily="34" charset="0"/>
                <a:ea typeface="29LT Bukra Bold"/>
                <a:cs typeface="Arial" panose="020B0604020202020204" pitchFamily="34" charset="0"/>
                <a:sym typeface="29LT Bukra Bold"/>
              </a:rPr>
              <a:t>p-value &lt;= 0.05: </a:t>
            </a:r>
            <a:r>
              <a:rPr lang="en-US" sz="996" b="1" spc="1" dirty="0">
                <a:solidFill>
                  <a:srgbClr val="000000"/>
                </a:solidFill>
                <a:latin typeface="29LT Bukra Medium"/>
                <a:ea typeface="29LT Bukra Medium"/>
                <a:cs typeface="29LT Bukra Medium"/>
                <a:sym typeface="29LT Bukra Medium"/>
              </a:rPr>
              <a:t>Reject the null hypothesis (H0), the data does not have a unit root and is stationary.</a:t>
            </a:r>
          </a:p>
        </p:txBody>
      </p:sp>
      <p:sp>
        <p:nvSpPr>
          <p:cNvPr id="12" name="TextBox 12"/>
          <p:cNvSpPr txBox="1"/>
          <p:nvPr/>
        </p:nvSpPr>
        <p:spPr>
          <a:xfrm>
            <a:off x="550774" y="1850755"/>
            <a:ext cx="7736834" cy="243840"/>
          </a:xfrm>
          <a:prstGeom prst="rect">
            <a:avLst/>
          </a:prstGeom>
        </p:spPr>
        <p:txBody>
          <a:bodyPr lIns="0" tIns="0" rIns="0" bIns="0" rtlCol="0" anchor="t">
            <a:spAutoFit/>
          </a:bodyPr>
          <a:lstStyle/>
          <a:p>
            <a:pPr algn="l">
              <a:lnSpc>
                <a:spcPts val="1799"/>
              </a:lnSpc>
            </a:pPr>
            <a:r>
              <a:rPr lang="en-US" sz="996" b="1">
                <a:solidFill>
                  <a:srgbClr val="000000"/>
                </a:solidFill>
                <a:latin typeface="29LT Bukra Medium"/>
                <a:ea typeface="29LT Bukra Medium"/>
                <a:cs typeface="29LT Bukra Medium"/>
                <a:sym typeface="29LT Bukra Medium"/>
              </a:rPr>
              <a:t>The null hypothesis of the test is thatthe timeseries canberepresented byaunit root, that it is not stationary (has some </a:t>
            </a:r>
          </a:p>
        </p:txBody>
      </p:sp>
      <p:sp>
        <p:nvSpPr>
          <p:cNvPr id="13" name="TextBox 13"/>
          <p:cNvSpPr txBox="1"/>
          <p:nvPr/>
        </p:nvSpPr>
        <p:spPr>
          <a:xfrm>
            <a:off x="550774" y="2079355"/>
            <a:ext cx="7554363" cy="243840"/>
          </a:xfrm>
          <a:prstGeom prst="rect">
            <a:avLst/>
          </a:prstGeom>
        </p:spPr>
        <p:txBody>
          <a:bodyPr lIns="0" tIns="0" rIns="0" bIns="0" rtlCol="0" anchor="t">
            <a:spAutoFit/>
          </a:bodyPr>
          <a:lstStyle/>
          <a:p>
            <a:pPr algn="l">
              <a:lnSpc>
                <a:spcPts val="1799"/>
              </a:lnSpc>
            </a:pPr>
            <a:r>
              <a:rPr lang="en-US" sz="996" b="1" spc="1">
                <a:solidFill>
                  <a:srgbClr val="000000"/>
                </a:solidFill>
                <a:latin typeface="29LT Bukra Medium"/>
                <a:ea typeface="29LT Bukra Medium"/>
                <a:cs typeface="29LT Bukra Medium"/>
                <a:sym typeface="29LT Bukra Medium"/>
              </a:rPr>
              <a:t>time-dependent structure). The alternate hypothesis (rejecting the null hypothesis) is that the time series is stationary.</a:t>
            </a:r>
          </a:p>
        </p:txBody>
      </p:sp>
      <p:sp>
        <p:nvSpPr>
          <p:cNvPr id="14" name="TextBox 14"/>
          <p:cNvSpPr txBox="1"/>
          <p:nvPr/>
        </p:nvSpPr>
        <p:spPr>
          <a:xfrm>
            <a:off x="744322" y="2497331"/>
            <a:ext cx="46949" cy="175584"/>
          </a:xfrm>
          <a:prstGeom prst="rect">
            <a:avLst/>
          </a:prstGeom>
        </p:spPr>
        <p:txBody>
          <a:bodyPr lIns="0" tIns="0" rIns="0" bIns="0" rtlCol="0" anchor="t">
            <a:spAutoFit/>
          </a:bodyPr>
          <a:lstStyle/>
          <a:p>
            <a:pPr algn="l">
              <a:lnSpc>
                <a:spcPts val="1500"/>
              </a:lnSpc>
            </a:pPr>
            <a:r>
              <a:rPr lang="en-US" sz="600" spc="1">
                <a:solidFill>
                  <a:srgbClr val="555555"/>
                </a:solidFill>
                <a:latin typeface="Arial"/>
                <a:ea typeface="Arial"/>
                <a:cs typeface="Arial"/>
                <a:sym typeface="Arial"/>
              </a:rPr>
              <a:t>●</a:t>
            </a:r>
          </a:p>
        </p:txBody>
      </p:sp>
      <p:sp>
        <p:nvSpPr>
          <p:cNvPr id="15" name="TextBox 15"/>
          <p:cNvSpPr txBox="1"/>
          <p:nvPr/>
        </p:nvSpPr>
        <p:spPr>
          <a:xfrm>
            <a:off x="1007974" y="2378821"/>
            <a:ext cx="7599578" cy="1086644"/>
          </a:xfrm>
          <a:prstGeom prst="rect">
            <a:avLst/>
          </a:prstGeom>
        </p:spPr>
        <p:txBody>
          <a:bodyPr lIns="0" tIns="0" rIns="0" bIns="0" rtlCol="0" anchor="t">
            <a:spAutoFit/>
          </a:bodyPr>
          <a:lstStyle/>
          <a:p>
            <a:pPr algn="l">
              <a:lnSpc>
                <a:spcPts val="2490"/>
              </a:lnSpc>
            </a:pPr>
            <a:r>
              <a:rPr lang="en-US" sz="996" b="1" spc="1" dirty="0">
                <a:solidFill>
                  <a:srgbClr val="000000"/>
                </a:solidFill>
                <a:latin typeface="Arial" panose="020B0604020202020204" pitchFamily="34" charset="0"/>
                <a:ea typeface="29LT Bukra Bold"/>
                <a:cs typeface="Arial" panose="020B0604020202020204" pitchFamily="34" charset="0"/>
                <a:sym typeface="29LT Bukra Bold"/>
              </a:rPr>
              <a:t>Null Hypothesis (H0): </a:t>
            </a:r>
            <a:r>
              <a:rPr lang="en-US" sz="996" b="1" spc="1" dirty="0">
                <a:solidFill>
                  <a:srgbClr val="000000"/>
                </a:solidFill>
                <a:latin typeface="29LT Bukra Medium"/>
                <a:ea typeface="29LT Bukra Medium"/>
                <a:cs typeface="29LT Bukra Medium"/>
                <a:sym typeface="29LT Bukra Medium"/>
              </a:rPr>
              <a:t>If failed to be rejected, it suggests the time series has a unit root, meaning it is non-stationary. It </a:t>
            </a:r>
          </a:p>
          <a:p>
            <a:pPr algn="l">
              <a:lnSpc>
                <a:spcPts val="498"/>
              </a:lnSpc>
            </a:pPr>
            <a:r>
              <a:rPr lang="en-US" sz="996" b="1" spc="2" dirty="0">
                <a:solidFill>
                  <a:srgbClr val="000000"/>
                </a:solidFill>
                <a:latin typeface="29LT Bukra Medium"/>
                <a:ea typeface="29LT Bukra Medium"/>
                <a:cs typeface="29LT Bukra Medium"/>
                <a:sym typeface="29LT Bukra Medium"/>
              </a:rPr>
              <a:t>has some time dependent structure.</a:t>
            </a:r>
          </a:p>
          <a:p>
            <a:pPr algn="l">
              <a:lnSpc>
                <a:spcPts val="2261"/>
              </a:lnSpc>
            </a:pPr>
            <a:r>
              <a:rPr lang="en-US" sz="996" b="1" spc="1" dirty="0">
                <a:solidFill>
                  <a:srgbClr val="000000"/>
                </a:solidFill>
                <a:latin typeface="Arial" panose="020B0604020202020204" pitchFamily="34" charset="0"/>
                <a:ea typeface="29LT Bukra Bold"/>
                <a:cs typeface="Arial" panose="020B0604020202020204" pitchFamily="34" charset="0"/>
                <a:sym typeface="29LT Bukra Bold"/>
              </a:rPr>
              <a:t>Alternate Hypothesis (H1): </a:t>
            </a:r>
            <a:r>
              <a:rPr lang="en-US" sz="996" b="1" spc="1" dirty="0">
                <a:solidFill>
                  <a:srgbClr val="000000"/>
                </a:solidFill>
                <a:latin typeface="29LT Bukra Medium"/>
                <a:ea typeface="29LT Bukra Medium"/>
                <a:cs typeface="29LT Bukra Medium"/>
                <a:sym typeface="29LT Bukra Medium"/>
              </a:rPr>
              <a:t>The null hypothesis is rejected; it suggests the time series does not have a unit root, </a:t>
            </a:r>
          </a:p>
          <a:p>
            <a:pPr algn="l">
              <a:lnSpc>
                <a:spcPts val="498"/>
              </a:lnSpc>
            </a:pPr>
            <a:r>
              <a:rPr lang="en-US" sz="996" b="1" spc="1" dirty="0">
                <a:solidFill>
                  <a:srgbClr val="000000"/>
                </a:solidFill>
                <a:latin typeface="29LT Bukra Medium"/>
                <a:ea typeface="29LT Bukra Medium"/>
                <a:cs typeface="29LT Bukra Medium"/>
                <a:sym typeface="29LT Bukra Medium"/>
              </a:rPr>
              <a:t>meaning it is stationary. It does not have time-dependent structure.</a:t>
            </a:r>
          </a:p>
        </p:txBody>
      </p:sp>
      <p:sp>
        <p:nvSpPr>
          <p:cNvPr id="16" name="TextBox 16"/>
          <p:cNvSpPr txBox="1"/>
          <p:nvPr/>
        </p:nvSpPr>
        <p:spPr>
          <a:xfrm>
            <a:off x="744322" y="2866901"/>
            <a:ext cx="46949" cy="156534"/>
          </a:xfrm>
          <a:prstGeom prst="rect">
            <a:avLst/>
          </a:prstGeom>
        </p:spPr>
        <p:txBody>
          <a:bodyPr lIns="0" tIns="0" rIns="0" bIns="0" rtlCol="0" anchor="t">
            <a:spAutoFit/>
          </a:bodyPr>
          <a:lstStyle/>
          <a:p>
            <a:pPr algn="l">
              <a:lnSpc>
                <a:spcPts val="1362"/>
              </a:lnSpc>
            </a:pPr>
            <a:r>
              <a:rPr lang="en-US" sz="600" spc="1">
                <a:solidFill>
                  <a:srgbClr val="555555"/>
                </a:solidFill>
                <a:latin typeface="Arial"/>
                <a:ea typeface="Arial"/>
                <a:cs typeface="Arial"/>
                <a:sym typeface="Arial"/>
              </a:rPr>
              <a:t>●</a:t>
            </a:r>
          </a:p>
        </p:txBody>
      </p:sp>
      <p:sp>
        <p:nvSpPr>
          <p:cNvPr id="17" name="TextBox 17"/>
          <p:cNvSpPr txBox="1"/>
          <p:nvPr/>
        </p:nvSpPr>
        <p:spPr>
          <a:xfrm>
            <a:off x="550774" y="3504381"/>
            <a:ext cx="8036881" cy="206121"/>
          </a:xfrm>
          <a:prstGeom prst="rect">
            <a:avLst/>
          </a:prstGeom>
        </p:spPr>
        <p:txBody>
          <a:bodyPr lIns="0" tIns="0" rIns="0" bIns="0" rtlCol="0" anchor="t">
            <a:spAutoFit/>
          </a:bodyPr>
          <a:lstStyle/>
          <a:p>
            <a:pPr algn="l">
              <a:lnSpc>
                <a:spcPts val="1397"/>
              </a:lnSpc>
            </a:pPr>
            <a:r>
              <a:rPr lang="en-US" sz="998" b="1">
                <a:solidFill>
                  <a:srgbClr val="000000"/>
                </a:solidFill>
                <a:latin typeface="29LT Bukra Medium"/>
                <a:ea typeface="29LT Bukra Medium"/>
                <a:cs typeface="29LT Bukra Medium"/>
                <a:sym typeface="29LT Bukra Medium"/>
              </a:rPr>
              <a:t>Weinterpretthisresultusingthep-valuefromthetest.Ap-valuebelowathreshold(suchas5%or1%)suggestswereject the </a:t>
            </a:r>
          </a:p>
        </p:txBody>
      </p:sp>
      <p:sp>
        <p:nvSpPr>
          <p:cNvPr id="18" name="TextBox 18"/>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08497" y="-63503"/>
            <a:ext cx="4698997" cy="5270497"/>
          </a:xfrm>
          <a:custGeom>
            <a:avLst/>
            <a:gdLst/>
            <a:ahLst/>
            <a:cxnLst/>
            <a:rect l="l" t="t" r="r" b="b"/>
            <a:pathLst>
              <a:path w="4698997" h="5270497">
                <a:moveTo>
                  <a:pt x="0" y="0"/>
                </a:moveTo>
                <a:lnTo>
                  <a:pt x="4698997" y="0"/>
                </a:lnTo>
                <a:lnTo>
                  <a:pt x="4698997" y="5270497"/>
                </a:lnTo>
                <a:lnTo>
                  <a:pt x="0" y="5270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5" name="TextBox 5"/>
          <p:cNvSpPr txBox="1"/>
          <p:nvPr/>
        </p:nvSpPr>
        <p:spPr>
          <a:xfrm>
            <a:off x="2762374" y="1318641"/>
            <a:ext cx="2592876" cy="381000"/>
          </a:xfrm>
          <a:prstGeom prst="rect">
            <a:avLst/>
          </a:prstGeom>
        </p:spPr>
        <p:txBody>
          <a:bodyPr lIns="0" tIns="0" rIns="0" bIns="0" rtlCol="0" anchor="t">
            <a:spAutoFit/>
          </a:bodyPr>
          <a:lstStyle/>
          <a:p>
            <a:pPr algn="l">
              <a:lnSpc>
                <a:spcPts val="2520"/>
              </a:lnSpc>
            </a:pPr>
            <a:r>
              <a:rPr lang="en-US" sz="1800" b="1">
                <a:solidFill>
                  <a:srgbClr val="FFFFFF"/>
                </a:solidFill>
                <a:latin typeface="29LT Bukra Medium"/>
                <a:ea typeface="29LT Bukra Medium"/>
                <a:cs typeface="29LT Bukra Medium"/>
                <a:sym typeface="29LT Bukra Medium"/>
              </a:rPr>
              <a:t>Checks for Stationarity</a:t>
            </a:r>
          </a:p>
        </p:txBody>
      </p:sp>
      <p:sp>
        <p:nvSpPr>
          <p:cNvPr id="6" name="TextBox 6"/>
          <p:cNvSpPr txBox="1"/>
          <p:nvPr/>
        </p:nvSpPr>
        <p:spPr>
          <a:xfrm>
            <a:off x="1375915" y="2121665"/>
            <a:ext cx="1858851" cy="397032"/>
          </a:xfrm>
          <a:prstGeom prst="rect">
            <a:avLst/>
          </a:prstGeom>
        </p:spPr>
        <p:txBody>
          <a:bodyPr lIns="0" tIns="0" rIns="0" bIns="0" rtlCol="0" anchor="t">
            <a:spAutoFit/>
          </a:bodyPr>
          <a:lstStyle/>
          <a:p>
            <a:pPr algn="l">
              <a:lnSpc>
                <a:spcPts val="3359"/>
              </a:lnSpc>
            </a:pPr>
            <a:r>
              <a:rPr lang="en-US" sz="2400" b="1" dirty="0">
                <a:solidFill>
                  <a:srgbClr val="4A6F94"/>
                </a:solidFill>
                <a:latin typeface="Arial" panose="020B0604020202020204" pitchFamily="34" charset="0"/>
                <a:ea typeface="29LT Bukra Bold"/>
                <a:cs typeface="Arial" panose="020B0604020202020204" pitchFamily="34" charset="0"/>
                <a:sym typeface="29LT Bukra Bold"/>
              </a:rPr>
              <a:t>Algorithms</a:t>
            </a:r>
          </a:p>
        </p:txBody>
      </p:sp>
      <p:sp>
        <p:nvSpPr>
          <p:cNvPr id="7" name="TextBox 7"/>
          <p:cNvSpPr txBox="1"/>
          <p:nvPr/>
        </p:nvSpPr>
        <p:spPr>
          <a:xfrm>
            <a:off x="4778378" y="1674371"/>
            <a:ext cx="2743505" cy="1509141"/>
          </a:xfrm>
          <a:prstGeom prst="rect">
            <a:avLst/>
          </a:prstGeom>
        </p:spPr>
        <p:txBody>
          <a:bodyPr lIns="0" tIns="0" rIns="0" bIns="0" rtlCol="0" anchor="t">
            <a:spAutoFit/>
          </a:bodyPr>
          <a:lstStyle/>
          <a:p>
            <a:pPr algn="l">
              <a:lnSpc>
                <a:spcPts val="1439"/>
              </a:lnSpc>
            </a:pPr>
            <a:r>
              <a:rPr lang="en-US" sz="1200" b="1" spc="1">
                <a:solidFill>
                  <a:srgbClr val="FFFFFF"/>
                </a:solidFill>
                <a:latin typeface="29LT Bukra Medium"/>
                <a:ea typeface="29LT Bukra Medium"/>
                <a:cs typeface="29LT Bukra Medium"/>
                <a:sym typeface="29LT Bukra Medium"/>
              </a:rPr>
              <a:t>ARIMA (AR, MA, ARMA, ARIMA) Facebook Prophet LSTMs Holt’s Winter Exponential Smoothing GARCH SARIMA/SARIMAX VAR VARMA etc. etc.</a:t>
            </a:r>
          </a:p>
        </p:txBody>
      </p:sp>
      <p:sp>
        <p:nvSpPr>
          <p:cNvPr id="8" name="TextBox 8"/>
          <p:cNvSpPr txBox="1"/>
          <p:nvPr/>
        </p:nvSpPr>
        <p:spPr>
          <a:xfrm>
            <a:off x="4664078" y="3341551"/>
            <a:ext cx="3969353" cy="357254"/>
          </a:xfrm>
          <a:prstGeom prst="rect">
            <a:avLst/>
          </a:prstGeom>
        </p:spPr>
        <p:txBody>
          <a:bodyPr lIns="0" tIns="0" rIns="0" bIns="0" rtlCol="0" anchor="t">
            <a:spAutoFit/>
          </a:bodyPr>
          <a:lstStyle/>
          <a:p>
            <a:pPr algn="l">
              <a:lnSpc>
                <a:spcPts val="1280"/>
              </a:lnSpc>
            </a:pPr>
            <a:r>
              <a:rPr lang="en-US" sz="1056" b="1">
                <a:solidFill>
                  <a:srgbClr val="FFFFFF"/>
                </a:solidFill>
                <a:latin typeface="29LT Bukra Medium"/>
                <a:ea typeface="29LT Bukra Medium"/>
                <a:cs typeface="29LT Bukra Medium"/>
                <a:sym typeface="29LT Bukra Medium"/>
                <a:hlinkClick r:id="rId5" tooltip="https://machinelearningmastery.com/time-series-forecasting-methods-in-python-cheat-sheet/"/>
              </a:rPr>
              <a:t>Quick Link: </a:t>
            </a:r>
            <a:r>
              <a:rPr lang="en-US" sz="1056" b="1">
                <a:solidFill>
                  <a:srgbClr val="F0EFEE"/>
                </a:solidFill>
                <a:latin typeface="29LT Bukra Medium"/>
                <a:ea typeface="29LT Bukra Medium"/>
                <a:cs typeface="29LT Bukra Medium"/>
                <a:sym typeface="29LT Bukra Medium"/>
                <a:hlinkClick r:id="rId5" tooltip="https://machinelearningmastery.com/time-series-forecasting-methods-in-python-cheat-sheet/"/>
              </a:rPr>
              <a:t>https://machinelearningmastery.com/time-series-</a:t>
            </a:r>
          </a:p>
          <a:p>
            <a:pPr algn="l">
              <a:lnSpc>
                <a:spcPts val="1208"/>
              </a:lnSpc>
            </a:pPr>
            <a:r>
              <a:rPr lang="en-US" sz="996" b="1" spc="1">
                <a:solidFill>
                  <a:srgbClr val="F0EFEE"/>
                </a:solidFill>
                <a:latin typeface="29LT Bukra Medium"/>
                <a:ea typeface="29LT Bukra Medium"/>
                <a:cs typeface="29LT Bukra Medium"/>
                <a:sym typeface="29LT Bukra Medium"/>
                <a:hlinkClick r:id="rId5" tooltip="https://machinelearningmastery.com/time-series-forecasting-methods-in-python-cheat-sheet/"/>
              </a:rPr>
              <a:t>forecasting-methods-in-python-cheat-sheet/</a:t>
            </a:r>
          </a:p>
        </p:txBody>
      </p:sp>
      <p:sp>
        <p:nvSpPr>
          <p:cNvPr id="9" name="TextBox 9"/>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2816" y="1304544"/>
            <a:ext cx="1729740" cy="608076"/>
          </a:xfrm>
          <a:custGeom>
            <a:avLst/>
            <a:gdLst/>
            <a:ahLst/>
            <a:cxnLst/>
            <a:rect l="l" t="t" r="r" b="b"/>
            <a:pathLst>
              <a:path w="1729740" h="608076">
                <a:moveTo>
                  <a:pt x="0" y="0"/>
                </a:moveTo>
                <a:lnTo>
                  <a:pt x="1729740" y="0"/>
                </a:lnTo>
                <a:lnTo>
                  <a:pt x="1729740" y="608076"/>
                </a:lnTo>
                <a:lnTo>
                  <a:pt x="0" y="6080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2371344" y="1304544"/>
            <a:ext cx="1937004" cy="608076"/>
          </a:xfrm>
          <a:custGeom>
            <a:avLst/>
            <a:gdLst/>
            <a:ahLst/>
            <a:cxnLst/>
            <a:rect l="l" t="t" r="r" b="b"/>
            <a:pathLst>
              <a:path w="1937004" h="608076">
                <a:moveTo>
                  <a:pt x="0" y="0"/>
                </a:moveTo>
                <a:lnTo>
                  <a:pt x="1937004" y="0"/>
                </a:lnTo>
                <a:lnTo>
                  <a:pt x="1937004" y="608076"/>
                </a:lnTo>
                <a:lnTo>
                  <a:pt x="0" y="608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4572000" y="1304544"/>
            <a:ext cx="1938528" cy="608076"/>
          </a:xfrm>
          <a:custGeom>
            <a:avLst/>
            <a:gdLst/>
            <a:ahLst/>
            <a:cxnLst/>
            <a:rect l="l" t="t" r="r" b="b"/>
            <a:pathLst>
              <a:path w="1938528" h="608076">
                <a:moveTo>
                  <a:pt x="0" y="0"/>
                </a:moveTo>
                <a:lnTo>
                  <a:pt x="1938528" y="0"/>
                </a:lnTo>
                <a:lnTo>
                  <a:pt x="1938528" y="608076"/>
                </a:lnTo>
                <a:lnTo>
                  <a:pt x="0" y="6080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a:off x="6771132" y="1304544"/>
            <a:ext cx="1938528" cy="608076"/>
          </a:xfrm>
          <a:custGeom>
            <a:avLst/>
            <a:gdLst/>
            <a:ahLst/>
            <a:cxnLst/>
            <a:rect l="l" t="t" r="r" b="b"/>
            <a:pathLst>
              <a:path w="1938528" h="608076">
                <a:moveTo>
                  <a:pt x="0" y="0"/>
                </a:moveTo>
                <a:lnTo>
                  <a:pt x="1938528" y="0"/>
                </a:lnTo>
                <a:lnTo>
                  <a:pt x="1938528" y="608076"/>
                </a:lnTo>
                <a:lnTo>
                  <a:pt x="0" y="60807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10"/>
            <a:stretch>
              <a:fillRect/>
            </a:stretch>
          </a:blipFill>
        </p:spPr>
        <p:txBody>
          <a:bodyPr/>
          <a:lstStyle/>
          <a:p>
            <a:endParaRPr lang="en-IN"/>
          </a:p>
        </p:txBody>
      </p:sp>
      <p:sp>
        <p:nvSpPr>
          <p:cNvPr id="7" name="TextBox 7"/>
          <p:cNvSpPr txBox="1"/>
          <p:nvPr/>
        </p:nvSpPr>
        <p:spPr>
          <a:xfrm>
            <a:off x="403250" y="343729"/>
            <a:ext cx="94722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ARIMA</a:t>
            </a:r>
          </a:p>
        </p:txBody>
      </p:sp>
      <p:sp>
        <p:nvSpPr>
          <p:cNvPr id="8" name="TextBox 8"/>
          <p:cNvSpPr txBox="1"/>
          <p:nvPr/>
        </p:nvSpPr>
        <p:spPr>
          <a:xfrm>
            <a:off x="91440" y="1424569"/>
            <a:ext cx="272472" cy="289560"/>
          </a:xfrm>
          <a:prstGeom prst="rect">
            <a:avLst/>
          </a:prstGeom>
        </p:spPr>
        <p:txBody>
          <a:bodyPr lIns="0" tIns="0" rIns="0" bIns="0" rtlCol="0" anchor="t">
            <a:spAutoFit/>
          </a:bodyPr>
          <a:lstStyle/>
          <a:p>
            <a:pPr algn="l">
              <a:lnSpc>
                <a:spcPts val="1965"/>
              </a:lnSpc>
            </a:pPr>
            <a:r>
              <a:rPr lang="en-US" sz="1403" b="1">
                <a:solidFill>
                  <a:srgbClr val="FFFFFF"/>
                </a:solidFill>
                <a:latin typeface="29LT Bukra Medium"/>
                <a:ea typeface="29LT Bukra Medium"/>
                <a:cs typeface="29LT Bukra Medium"/>
                <a:sym typeface="29LT Bukra Medium"/>
              </a:rPr>
              <a:t>MARA</a:t>
            </a:r>
          </a:p>
        </p:txBody>
      </p:sp>
      <p:sp>
        <p:nvSpPr>
          <p:cNvPr id="9" name="TextBox 9"/>
          <p:cNvSpPr txBox="1"/>
          <p:nvPr/>
        </p:nvSpPr>
        <p:spPr>
          <a:xfrm>
            <a:off x="7943269" y="1424569"/>
            <a:ext cx="419481" cy="289560"/>
          </a:xfrm>
          <a:prstGeom prst="rect">
            <a:avLst/>
          </a:prstGeom>
        </p:spPr>
        <p:txBody>
          <a:bodyPr lIns="0" tIns="0" rIns="0" bIns="0" rtlCol="0" anchor="t">
            <a:spAutoFit/>
          </a:bodyPr>
          <a:lstStyle/>
          <a:p>
            <a:pPr algn="l">
              <a:lnSpc>
                <a:spcPts val="1965"/>
              </a:lnSpc>
            </a:pPr>
            <a:r>
              <a:rPr lang="en-US" sz="1403" b="1">
                <a:solidFill>
                  <a:srgbClr val="FFFFFF"/>
                </a:solidFill>
                <a:latin typeface="29LT Bukra Medium"/>
                <a:ea typeface="29LT Bukra Medium"/>
                <a:cs typeface="29LT Bukra Medium"/>
                <a:sym typeface="29LT Bukra Medium"/>
              </a:rPr>
              <a:t>RIMAA</a:t>
            </a:r>
          </a:p>
        </p:txBody>
      </p:sp>
      <p:sp>
        <p:nvSpPr>
          <p:cNvPr id="10" name="TextBox 10"/>
          <p:cNvSpPr txBox="1"/>
          <p:nvPr/>
        </p:nvSpPr>
        <p:spPr>
          <a:xfrm>
            <a:off x="572719" y="2242690"/>
            <a:ext cx="1184205"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Auto regressive</a:t>
            </a:r>
          </a:p>
        </p:txBody>
      </p:sp>
      <p:sp>
        <p:nvSpPr>
          <p:cNvPr id="11" name="TextBox 11"/>
          <p:cNvSpPr txBox="1"/>
          <p:nvPr/>
        </p:nvSpPr>
        <p:spPr>
          <a:xfrm>
            <a:off x="2514600" y="2244214"/>
            <a:ext cx="1244670" cy="247650"/>
          </a:xfrm>
          <a:prstGeom prst="rect">
            <a:avLst/>
          </a:prstGeom>
        </p:spPr>
        <p:txBody>
          <a:bodyPr lIns="0" tIns="0" rIns="0" bIns="0" rtlCol="0" anchor="t">
            <a:spAutoFit/>
          </a:bodyPr>
          <a:lstStyle/>
          <a:p>
            <a:pPr algn="l">
              <a:lnSpc>
                <a:spcPts val="1679"/>
              </a:lnSpc>
            </a:pPr>
            <a:r>
              <a:rPr lang="en-US" sz="1200" b="1" spc="1">
                <a:solidFill>
                  <a:srgbClr val="000000"/>
                </a:solidFill>
                <a:latin typeface="29LT Bukra Medium"/>
                <a:ea typeface="29LT Bukra Medium"/>
                <a:cs typeface="29LT Bukra Medium"/>
                <a:sym typeface="29LT Bukra Medium"/>
              </a:rPr>
              <a:t>Moving Average</a:t>
            </a:r>
          </a:p>
        </p:txBody>
      </p:sp>
      <p:sp>
        <p:nvSpPr>
          <p:cNvPr id="12" name="TextBox 12"/>
          <p:cNvSpPr txBox="1"/>
          <p:nvPr/>
        </p:nvSpPr>
        <p:spPr>
          <a:xfrm>
            <a:off x="4651886" y="2282695"/>
            <a:ext cx="1785785" cy="538734"/>
          </a:xfrm>
          <a:prstGeom prst="rect">
            <a:avLst/>
          </a:prstGeom>
        </p:spPr>
        <p:txBody>
          <a:bodyPr lIns="0" tIns="0" rIns="0" bIns="0" rtlCol="0" anchor="t">
            <a:spAutoFit/>
          </a:bodyPr>
          <a:lstStyle/>
          <a:p>
            <a:pPr algn="l">
              <a:lnSpc>
                <a:spcPts val="1296"/>
              </a:lnSpc>
            </a:pPr>
            <a:r>
              <a:rPr lang="en-US" sz="1200" b="1" spc="1">
                <a:solidFill>
                  <a:srgbClr val="000000"/>
                </a:solidFill>
                <a:latin typeface="29LT Bukra Medium"/>
                <a:ea typeface="29LT Bukra Medium"/>
                <a:cs typeface="29LT Bukra Medium"/>
                <a:sym typeface="29LT Bukra Medium"/>
              </a:rPr>
              <a:t>Autoregressive Moving Average (No differencing)</a:t>
            </a:r>
          </a:p>
        </p:txBody>
      </p:sp>
      <p:sp>
        <p:nvSpPr>
          <p:cNvPr id="13" name="TextBox 13"/>
          <p:cNvSpPr txBox="1"/>
          <p:nvPr/>
        </p:nvSpPr>
        <p:spPr>
          <a:xfrm>
            <a:off x="6986273" y="2158489"/>
            <a:ext cx="1450115" cy="662940"/>
          </a:xfrm>
          <a:prstGeom prst="rect">
            <a:avLst/>
          </a:prstGeom>
        </p:spPr>
        <p:txBody>
          <a:bodyPr lIns="0" tIns="0" rIns="0" bIns="0" rtlCol="0" anchor="t">
            <a:spAutoFit/>
          </a:bodyPr>
          <a:lstStyle/>
          <a:p>
            <a:pPr algn="l">
              <a:lnSpc>
                <a:spcPts val="2594"/>
              </a:lnSpc>
            </a:pPr>
            <a:r>
              <a:rPr lang="en-US" sz="1200" b="1">
                <a:solidFill>
                  <a:srgbClr val="000000"/>
                </a:solidFill>
                <a:latin typeface="29LT Bukra Medium"/>
                <a:ea typeface="29LT Bukra Medium"/>
                <a:cs typeface="29LT Bukra Medium"/>
                <a:sym typeface="29LT Bukra Medium"/>
              </a:rPr>
              <a:t>Autoregressive </a:t>
            </a:r>
          </a:p>
          <a:p>
            <a:pPr algn="l">
              <a:lnSpc>
                <a:spcPts val="1683"/>
              </a:lnSpc>
            </a:pPr>
            <a:r>
              <a:rPr lang="en-US" sz="1202" b="1">
                <a:solidFill>
                  <a:srgbClr val="000000"/>
                </a:solidFill>
                <a:latin typeface="29LT Bukra Medium"/>
                <a:ea typeface="29LT Bukra Medium"/>
                <a:cs typeface="29LT Bukra Medium"/>
                <a:sym typeface="29LT Bukra Medium"/>
              </a:rPr>
              <a:t>IntegratedMoving </a:t>
            </a:r>
          </a:p>
          <a:p>
            <a:pPr algn="l">
              <a:lnSpc>
                <a:spcPts val="2594"/>
              </a:lnSpc>
            </a:pPr>
            <a:r>
              <a:rPr lang="en-US" sz="1200" b="1" spc="1">
                <a:solidFill>
                  <a:srgbClr val="000000"/>
                </a:solidFill>
                <a:latin typeface="29LT Bukra Medium"/>
                <a:ea typeface="29LT Bukra Medium"/>
                <a:cs typeface="29LT Bukra Medium"/>
                <a:sym typeface="29LT Bukra Medium"/>
              </a:rPr>
              <a:t>Average</a:t>
            </a:r>
          </a:p>
        </p:txBody>
      </p:sp>
      <p:sp>
        <p:nvSpPr>
          <p:cNvPr id="14" name="TextBox 14"/>
          <p:cNvSpPr txBox="1"/>
          <p:nvPr/>
        </p:nvSpPr>
        <p:spPr>
          <a:xfrm>
            <a:off x="800710" y="1464173"/>
            <a:ext cx="298628" cy="281940"/>
          </a:xfrm>
          <a:prstGeom prst="rect">
            <a:avLst/>
          </a:prstGeom>
        </p:spPr>
        <p:txBody>
          <a:bodyPr lIns="0" tIns="0" rIns="0" bIns="0" rtlCol="0" anchor="t">
            <a:spAutoFit/>
          </a:bodyPr>
          <a:lstStyle/>
          <a:p>
            <a:pPr algn="l">
              <a:lnSpc>
                <a:spcPts val="2234"/>
              </a:lnSpc>
            </a:pPr>
            <a:r>
              <a:rPr lang="en-US" sz="1596" b="1" spc="68">
                <a:solidFill>
                  <a:srgbClr val="FFFFFF"/>
                </a:solidFill>
                <a:latin typeface="Montserrat Bold"/>
                <a:ea typeface="Montserrat Bold"/>
                <a:cs typeface="Montserrat Bold"/>
                <a:sym typeface="Montserrat Bold"/>
              </a:rPr>
              <a:t>AR</a:t>
            </a:r>
          </a:p>
        </p:txBody>
      </p:sp>
      <p:sp>
        <p:nvSpPr>
          <p:cNvPr id="15" name="TextBox 15"/>
          <p:cNvSpPr txBox="1"/>
          <p:nvPr/>
        </p:nvSpPr>
        <p:spPr>
          <a:xfrm>
            <a:off x="2841374" y="1466078"/>
            <a:ext cx="355683"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MA</a:t>
            </a:r>
          </a:p>
        </p:txBody>
      </p:sp>
      <p:sp>
        <p:nvSpPr>
          <p:cNvPr id="16" name="TextBox 16"/>
          <p:cNvSpPr txBox="1"/>
          <p:nvPr/>
        </p:nvSpPr>
        <p:spPr>
          <a:xfrm>
            <a:off x="5017646" y="1464173"/>
            <a:ext cx="654139"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ARMA</a:t>
            </a:r>
          </a:p>
        </p:txBody>
      </p:sp>
      <p:sp>
        <p:nvSpPr>
          <p:cNvPr id="17" name="TextBox 17"/>
          <p:cNvSpPr txBox="1"/>
          <p:nvPr/>
        </p:nvSpPr>
        <p:spPr>
          <a:xfrm>
            <a:off x="7250306" y="1464173"/>
            <a:ext cx="721338" cy="281940"/>
          </a:xfrm>
          <a:prstGeom prst="rect">
            <a:avLst/>
          </a:prstGeom>
        </p:spPr>
        <p:txBody>
          <a:bodyPr lIns="0" tIns="0" rIns="0" bIns="0" rtlCol="0" anchor="t">
            <a:spAutoFit/>
          </a:bodyPr>
          <a:lstStyle/>
          <a:p>
            <a:pPr algn="l">
              <a:lnSpc>
                <a:spcPts val="2234"/>
              </a:lnSpc>
            </a:pPr>
            <a:r>
              <a:rPr lang="en-US" sz="1596" b="1" spc="67">
                <a:solidFill>
                  <a:srgbClr val="FFFFFF"/>
                </a:solidFill>
                <a:latin typeface="Montserrat Bold"/>
                <a:ea typeface="Montserrat Bold"/>
                <a:cs typeface="Montserrat Bold"/>
                <a:sym typeface="Montserrat Bold"/>
              </a:rPr>
              <a:t>ARIMA</a:t>
            </a:r>
          </a:p>
        </p:txBody>
      </p:sp>
      <p:sp>
        <p:nvSpPr>
          <p:cNvPr id="18" name="TextBox 18"/>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3217" y="1236469"/>
            <a:ext cx="8284969" cy="3650485"/>
          </a:xfrm>
          <a:custGeom>
            <a:avLst/>
            <a:gdLst/>
            <a:ahLst/>
            <a:cxnLst/>
            <a:rect l="l" t="t" r="r" b="b"/>
            <a:pathLst>
              <a:path w="8284969" h="3650485">
                <a:moveTo>
                  <a:pt x="0" y="0"/>
                </a:moveTo>
                <a:lnTo>
                  <a:pt x="8284969" y="0"/>
                </a:lnTo>
                <a:lnTo>
                  <a:pt x="8284969" y="3650485"/>
                </a:lnTo>
                <a:lnTo>
                  <a:pt x="0" y="36504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403250" y="343729"/>
            <a:ext cx="94722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ARIMA</a:t>
            </a:r>
          </a:p>
        </p:txBody>
      </p:sp>
      <p:sp>
        <p:nvSpPr>
          <p:cNvPr id="5" name="TextBox 5"/>
          <p:cNvSpPr txBox="1"/>
          <p:nvPr/>
        </p:nvSpPr>
        <p:spPr>
          <a:xfrm>
            <a:off x="91440" y="1449924"/>
            <a:ext cx="1161860" cy="238316"/>
          </a:xfrm>
          <a:prstGeom prst="rect">
            <a:avLst/>
          </a:prstGeom>
        </p:spPr>
        <p:txBody>
          <a:bodyPr lIns="0" tIns="0" rIns="0" bIns="0" rtlCol="0" anchor="t">
            <a:spAutoFit/>
          </a:bodyPr>
          <a:lstStyle/>
          <a:p>
            <a:pPr algn="l">
              <a:lnSpc>
                <a:spcPts val="1642"/>
              </a:lnSpc>
            </a:pPr>
            <a:r>
              <a:rPr lang="en-US" sz="2100">
                <a:solidFill>
                  <a:srgbClr val="FFFFFF"/>
                </a:solidFill>
                <a:latin typeface="Arial"/>
                <a:ea typeface="Arial"/>
                <a:cs typeface="Arial"/>
                <a:sym typeface="Arial"/>
              </a:rPr>
              <a:t>Company</a:t>
            </a:r>
          </a:p>
        </p:txBody>
      </p:sp>
      <p:sp>
        <p:nvSpPr>
          <p:cNvPr id="6" name="TextBox 6"/>
          <p:cNvSpPr txBox="1"/>
          <p:nvPr/>
        </p:nvSpPr>
        <p:spPr>
          <a:xfrm>
            <a:off x="901027" y="1729216"/>
            <a:ext cx="35347" cy="310515"/>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 </a:t>
            </a:r>
          </a:p>
        </p:txBody>
      </p:sp>
      <p:sp>
        <p:nvSpPr>
          <p:cNvPr id="7" name="TextBox 7"/>
          <p:cNvSpPr txBox="1"/>
          <p:nvPr/>
        </p:nvSpPr>
        <p:spPr>
          <a:xfrm>
            <a:off x="2762374" y="1328166"/>
            <a:ext cx="2592876" cy="371475"/>
          </a:xfrm>
          <a:prstGeom prst="rect">
            <a:avLst/>
          </a:prstGeom>
        </p:spPr>
        <p:txBody>
          <a:bodyPr lIns="0" tIns="0" rIns="0" bIns="0" rtlCol="0" anchor="t">
            <a:spAutoFit/>
          </a:bodyPr>
          <a:lstStyle/>
          <a:p>
            <a:pPr algn="l">
              <a:lnSpc>
                <a:spcPts val="2462"/>
              </a:lnSpc>
            </a:pPr>
            <a:r>
              <a:rPr lang="en-US" sz="1800" b="1">
                <a:solidFill>
                  <a:srgbClr val="FFFFFF"/>
                </a:solidFill>
                <a:latin typeface="29LT Bukra Medium"/>
                <a:ea typeface="29LT Bukra Medium"/>
                <a:cs typeface="29LT Bukra Medium"/>
                <a:sym typeface="29LT Bukra Medium"/>
              </a:rPr>
              <a:t>Checks for Stationarity</a:t>
            </a:r>
          </a:p>
        </p:txBody>
      </p:sp>
      <p:sp>
        <p:nvSpPr>
          <p:cNvPr id="8" name="TextBox 8"/>
          <p:cNvSpPr txBox="1"/>
          <p:nvPr/>
        </p:nvSpPr>
        <p:spPr>
          <a:xfrm>
            <a:off x="2609593" y="1729216"/>
            <a:ext cx="35347" cy="310515"/>
          </a:xfrm>
          <a:prstGeom prst="rect">
            <a:avLst/>
          </a:prstGeom>
        </p:spPr>
        <p:txBody>
          <a:bodyPr lIns="0" tIns="0" rIns="0" bIns="0" rtlCol="0" anchor="t">
            <a:spAutoFit/>
          </a:bodyPr>
          <a:lstStyle/>
          <a:p>
            <a:pPr algn="l">
              <a:lnSpc>
                <a:spcPts val="2490"/>
              </a:lnSpc>
            </a:pPr>
            <a:r>
              <a:rPr lang="en-US" sz="996" b="1">
                <a:solidFill>
                  <a:srgbClr val="000000"/>
                </a:solidFill>
                <a:latin typeface="29LT Bukra Medium"/>
                <a:ea typeface="29LT Bukra Medium"/>
                <a:cs typeface="29LT Bukra Medium"/>
                <a:sym typeface="29LT Bukra Medium"/>
              </a:rPr>
              <a:t> </a:t>
            </a:r>
          </a:p>
        </p:txBody>
      </p:sp>
      <p:sp>
        <p:nvSpPr>
          <p:cNvPr id="9" name="TextBox 9"/>
          <p:cNvSpPr txBox="1"/>
          <p:nvPr/>
        </p:nvSpPr>
        <p:spPr>
          <a:xfrm>
            <a:off x="550774" y="2794492"/>
            <a:ext cx="3311995" cy="205740"/>
          </a:xfrm>
          <a:prstGeom prst="rect">
            <a:avLst/>
          </a:prstGeom>
        </p:spPr>
        <p:txBody>
          <a:bodyPr lIns="0" tIns="0" rIns="0" bIns="0" rtlCol="0" anchor="t">
            <a:spAutoFit/>
          </a:bodyPr>
          <a:lstStyle/>
          <a:p>
            <a:pPr algn="l">
              <a:lnSpc>
                <a:spcPts val="1394"/>
              </a:lnSpc>
            </a:pPr>
            <a:r>
              <a:rPr lang="en-US" sz="996" b="1" spc="1">
                <a:solidFill>
                  <a:srgbClr val="000000"/>
                </a:solidFill>
                <a:latin typeface="29LT Bukra Medium"/>
                <a:ea typeface="29LT Bukra Medium"/>
                <a:cs typeface="29LT Bukra Medium"/>
                <a:sym typeface="29LT Bukra Medium"/>
              </a:rPr>
              <a:t>Let’s learn about these techniques in the next slides.</a:t>
            </a:r>
          </a:p>
        </p:txBody>
      </p:sp>
      <p:sp>
        <p:nvSpPr>
          <p:cNvPr id="10" name="TextBox 10"/>
          <p:cNvSpPr txBox="1"/>
          <p:nvPr/>
        </p:nvSpPr>
        <p:spPr>
          <a:xfrm>
            <a:off x="550774" y="1833991"/>
            <a:ext cx="4786703" cy="205740"/>
          </a:xfrm>
          <a:prstGeom prst="rect">
            <a:avLst/>
          </a:prstGeom>
        </p:spPr>
        <p:txBody>
          <a:bodyPr lIns="0" tIns="0" rIns="0" bIns="0" rtlCol="0" anchor="t">
            <a:spAutoFit/>
          </a:bodyPr>
          <a:lstStyle/>
          <a:p>
            <a:pPr algn="l">
              <a:lnSpc>
                <a:spcPts val="1394"/>
              </a:lnSpc>
            </a:pPr>
            <a:r>
              <a:rPr lang="en-US" sz="996" b="1">
                <a:solidFill>
                  <a:srgbClr val="000000"/>
                </a:solidFill>
                <a:latin typeface="29LT Bukra Medium"/>
                <a:ea typeface="29LT Bukra Medium"/>
                <a:cs typeface="29LT Bukra Medium"/>
                <a:sym typeface="29LT Bukra Medium"/>
              </a:rPr>
              <a:t>Therearedifferent techniques tofindtherightparametersforARIMA(p,d,q)</a:t>
            </a:r>
          </a:p>
        </p:txBody>
      </p:sp>
      <p:sp>
        <p:nvSpPr>
          <p:cNvPr id="11" name="TextBox 11"/>
          <p:cNvSpPr txBox="1"/>
          <p:nvPr/>
        </p:nvSpPr>
        <p:spPr>
          <a:xfrm>
            <a:off x="550774" y="2169814"/>
            <a:ext cx="50159" cy="520055"/>
          </a:xfrm>
          <a:prstGeom prst="rect">
            <a:avLst/>
          </a:prstGeom>
        </p:spPr>
        <p:txBody>
          <a:bodyPr lIns="0" tIns="0" rIns="0" bIns="0" rtlCol="0" anchor="t">
            <a:spAutoFit/>
          </a:bodyPr>
          <a:lstStyle/>
          <a:p>
            <a:pPr algn="just">
              <a:lnSpc>
                <a:spcPts val="1321"/>
              </a:lnSpc>
            </a:pPr>
            <a:r>
              <a:rPr lang="en-US" sz="1103">
                <a:solidFill>
                  <a:srgbClr val="000000"/>
                </a:solidFill>
                <a:latin typeface="Arial"/>
                <a:ea typeface="Arial"/>
                <a:cs typeface="Arial"/>
                <a:sym typeface="Arial"/>
              </a:rPr>
              <a:t>• • •</a:t>
            </a:r>
          </a:p>
        </p:txBody>
      </p:sp>
      <p:sp>
        <p:nvSpPr>
          <p:cNvPr id="12" name="TextBox 12"/>
          <p:cNvSpPr txBox="1"/>
          <p:nvPr/>
        </p:nvSpPr>
        <p:spPr>
          <a:xfrm>
            <a:off x="837286" y="2145611"/>
            <a:ext cx="1056427" cy="549021"/>
          </a:xfrm>
          <a:prstGeom prst="rect">
            <a:avLst/>
          </a:prstGeom>
        </p:spPr>
        <p:txBody>
          <a:bodyPr lIns="0" tIns="0" rIns="0" bIns="0" rtlCol="0" anchor="t">
            <a:spAutoFit/>
          </a:bodyPr>
          <a:lstStyle/>
          <a:p>
            <a:pPr algn="l">
              <a:lnSpc>
                <a:spcPts val="1321"/>
              </a:lnSpc>
            </a:pPr>
            <a:r>
              <a:rPr lang="en-US" sz="1103" b="1">
                <a:solidFill>
                  <a:srgbClr val="000000"/>
                </a:solidFill>
                <a:latin typeface="29LT Bukra Medium"/>
                <a:ea typeface="29LT Bukra Medium"/>
                <a:cs typeface="29LT Bukra Medium"/>
                <a:sym typeface="29LT Bukra Medium"/>
              </a:rPr>
              <a:t>ACF/PACF Plots Grid Search Auto Arima</a:t>
            </a:r>
          </a:p>
        </p:txBody>
      </p:sp>
      <p:sp>
        <p:nvSpPr>
          <p:cNvPr id="13" name="TextBox 13"/>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0" y="0"/>
            <a:ext cx="4572000" cy="5143500"/>
          </a:xfrm>
          <a:custGeom>
            <a:avLst/>
            <a:gdLst/>
            <a:ahLst/>
            <a:cxnLst/>
            <a:rect l="l" t="t" r="r" b="b"/>
            <a:pathLst>
              <a:path w="4572000" h="5143500">
                <a:moveTo>
                  <a:pt x="0" y="0"/>
                </a:moveTo>
                <a:lnTo>
                  <a:pt x="4572000" y="0"/>
                </a:lnTo>
                <a:lnTo>
                  <a:pt x="457200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678180" y="908304"/>
            <a:ext cx="7566660" cy="2993136"/>
          </a:xfrm>
          <a:custGeom>
            <a:avLst/>
            <a:gdLst/>
            <a:ahLst/>
            <a:cxnLst/>
            <a:rect l="l" t="t" r="r" b="b"/>
            <a:pathLst>
              <a:path w="7566660" h="2993136">
                <a:moveTo>
                  <a:pt x="0" y="0"/>
                </a:moveTo>
                <a:lnTo>
                  <a:pt x="7566660" y="0"/>
                </a:lnTo>
                <a:lnTo>
                  <a:pt x="7566660" y="2993136"/>
                </a:lnTo>
                <a:lnTo>
                  <a:pt x="0" y="2993136"/>
                </a:lnTo>
                <a:lnTo>
                  <a:pt x="0" y="0"/>
                </a:lnTo>
                <a:close/>
              </a:path>
            </a:pathLst>
          </a:custGeom>
          <a:blipFill>
            <a:blip r:embed="rId4"/>
            <a:stretch>
              <a:fillRect/>
            </a:stretch>
          </a:blipFill>
        </p:spPr>
        <p:txBody>
          <a:bodyPr/>
          <a:lstStyle/>
          <a:p>
            <a:endParaRPr lang="en-IN"/>
          </a:p>
        </p:txBody>
      </p:sp>
      <p:sp>
        <p:nvSpPr>
          <p:cNvPr id="4" name="Freeform 4"/>
          <p:cNvSpPr/>
          <p:nvPr/>
        </p:nvSpPr>
        <p:spPr>
          <a:xfrm>
            <a:off x="1142305" y="3972649"/>
            <a:ext cx="7233352" cy="879843"/>
          </a:xfrm>
          <a:custGeom>
            <a:avLst/>
            <a:gdLst/>
            <a:ahLst/>
            <a:cxnLst/>
            <a:rect l="l" t="t" r="r" b="b"/>
            <a:pathLst>
              <a:path w="7233352" h="879843">
                <a:moveTo>
                  <a:pt x="0" y="0"/>
                </a:moveTo>
                <a:lnTo>
                  <a:pt x="7233351" y="0"/>
                </a:lnTo>
                <a:lnTo>
                  <a:pt x="7233351" y="879843"/>
                </a:lnTo>
                <a:lnTo>
                  <a:pt x="0" y="8798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7"/>
            <a:stretch>
              <a:fillRect/>
            </a:stretch>
          </a:blipFill>
        </p:spPr>
        <p:txBody>
          <a:bodyPr/>
          <a:lstStyle/>
          <a:p>
            <a:endParaRPr lang="en-IN"/>
          </a:p>
        </p:txBody>
      </p:sp>
      <p:sp>
        <p:nvSpPr>
          <p:cNvPr id="6" name="TextBox 6"/>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7" name="TextBox 7"/>
          <p:cNvSpPr txBox="1"/>
          <p:nvPr/>
        </p:nvSpPr>
        <p:spPr>
          <a:xfrm>
            <a:off x="2762374" y="1318641"/>
            <a:ext cx="2592876" cy="381000"/>
          </a:xfrm>
          <a:prstGeom prst="rect">
            <a:avLst/>
          </a:prstGeom>
        </p:spPr>
        <p:txBody>
          <a:bodyPr lIns="0" tIns="0" rIns="0" bIns="0" rtlCol="0" anchor="t">
            <a:spAutoFit/>
          </a:bodyPr>
          <a:lstStyle/>
          <a:p>
            <a:pPr algn="l">
              <a:lnSpc>
                <a:spcPts val="2520"/>
              </a:lnSpc>
            </a:pPr>
            <a:r>
              <a:rPr lang="en-US" sz="1800" b="1">
                <a:solidFill>
                  <a:srgbClr val="FFFFFF"/>
                </a:solidFill>
                <a:latin typeface="29LT Bukra Medium"/>
                <a:ea typeface="29LT Bukra Medium"/>
                <a:cs typeface="29LT Bukra Medium"/>
                <a:sym typeface="29LT Bukra Medium"/>
              </a:rPr>
              <a:t>Checks for Stationarity</a:t>
            </a:r>
          </a:p>
        </p:txBody>
      </p:sp>
      <p:sp>
        <p:nvSpPr>
          <p:cNvPr id="8" name="TextBox 8"/>
          <p:cNvSpPr txBox="1"/>
          <p:nvPr/>
        </p:nvSpPr>
        <p:spPr>
          <a:xfrm>
            <a:off x="1119530" y="345634"/>
            <a:ext cx="2377573"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Auto Correlation</a:t>
            </a:r>
          </a:p>
        </p:txBody>
      </p:sp>
      <p:sp>
        <p:nvSpPr>
          <p:cNvPr id="9" name="TextBox 9"/>
          <p:cNvSpPr txBox="1"/>
          <p:nvPr/>
        </p:nvSpPr>
        <p:spPr>
          <a:xfrm>
            <a:off x="5196840" y="345634"/>
            <a:ext cx="3389271" cy="340221"/>
          </a:xfrm>
          <a:prstGeom prst="rect">
            <a:avLst/>
          </a:prstGeom>
        </p:spPr>
        <p:txBody>
          <a:bodyPr lIns="0" tIns="0" rIns="0" bIns="0" rtlCol="0" anchor="t">
            <a:spAutoFit/>
          </a:bodyPr>
          <a:lstStyle/>
          <a:p>
            <a:pPr algn="l">
              <a:lnSpc>
                <a:spcPts val="2940"/>
              </a:lnSpc>
            </a:pPr>
            <a:r>
              <a:rPr lang="en-US" sz="2100" b="1" dirty="0">
                <a:solidFill>
                  <a:srgbClr val="FFFFFF"/>
                </a:solidFill>
                <a:latin typeface="Arial" panose="020B0604020202020204" pitchFamily="34" charset="0"/>
                <a:ea typeface="29LT Bukra Bold"/>
                <a:cs typeface="Arial" panose="020B0604020202020204" pitchFamily="34" charset="0"/>
                <a:sym typeface="29LT Bukra Bold"/>
              </a:rPr>
              <a:t>Partial Auto Correlation</a:t>
            </a:r>
          </a:p>
        </p:txBody>
      </p:sp>
      <p:sp>
        <p:nvSpPr>
          <p:cNvPr id="10" name="TextBox 10"/>
          <p:cNvSpPr txBox="1"/>
          <p:nvPr/>
        </p:nvSpPr>
        <p:spPr>
          <a:xfrm>
            <a:off x="977494" y="3909365"/>
            <a:ext cx="138189" cy="691134"/>
          </a:xfrm>
          <a:prstGeom prst="rect">
            <a:avLst/>
          </a:prstGeom>
        </p:spPr>
        <p:txBody>
          <a:bodyPr lIns="0" tIns="0" rIns="0" bIns="0" rtlCol="0" anchor="t">
            <a:spAutoFit/>
          </a:bodyPr>
          <a:lstStyle/>
          <a:p>
            <a:pPr algn="l">
              <a:lnSpc>
                <a:spcPts val="2892"/>
              </a:lnSpc>
            </a:pPr>
            <a:r>
              <a:rPr lang="en-US" sz="1200" b="1" spc="51">
                <a:solidFill>
                  <a:srgbClr val="595858"/>
                </a:solidFill>
                <a:latin typeface="Montserrat Bold"/>
                <a:ea typeface="Montserrat Bold"/>
                <a:cs typeface="Montserrat Bold"/>
                <a:sym typeface="Montserrat Bold"/>
              </a:rPr>
              <a:t>1. 2.</a:t>
            </a:r>
          </a:p>
        </p:txBody>
      </p:sp>
      <p:sp>
        <p:nvSpPr>
          <p:cNvPr id="11" name="TextBox 11"/>
          <p:cNvSpPr txBox="1"/>
          <p:nvPr/>
        </p:nvSpPr>
        <p:spPr>
          <a:xfrm>
            <a:off x="3030712" y="3927196"/>
            <a:ext cx="412690" cy="300990"/>
          </a:xfrm>
          <a:prstGeom prst="rect">
            <a:avLst/>
          </a:prstGeom>
        </p:spPr>
        <p:txBody>
          <a:bodyPr lIns="0" tIns="0" rIns="0" bIns="0" rtlCol="0" anchor="t">
            <a:spAutoFit/>
          </a:bodyPr>
          <a:lstStyle/>
          <a:p>
            <a:pPr algn="l">
              <a:lnSpc>
                <a:spcPts val="2640"/>
              </a:lnSpc>
            </a:pPr>
            <a:r>
              <a:rPr lang="en-US" sz="1056" spc="44">
                <a:solidFill>
                  <a:srgbClr val="595858"/>
                </a:solidFill>
                <a:latin typeface="Montserrat"/>
                <a:ea typeface="Montserrat"/>
                <a:cs typeface="Montserrat"/>
                <a:sym typeface="Montserrat"/>
              </a:rPr>
              <a:t> </a:t>
            </a:r>
            <a:r>
              <a:rPr lang="en-US" sz="1056" b="1" spc="44">
                <a:solidFill>
                  <a:srgbClr val="333333"/>
                </a:solidFill>
                <a:latin typeface="Montserrat Bold"/>
                <a:ea typeface="Montserrat Bold"/>
                <a:cs typeface="Montserrat Bold"/>
                <a:sym typeface="Montserrat Bold"/>
              </a:rPr>
              <a:t>PACF</a:t>
            </a:r>
          </a:p>
        </p:txBody>
      </p:sp>
      <p:sp>
        <p:nvSpPr>
          <p:cNvPr id="12" name="TextBox 12"/>
          <p:cNvSpPr txBox="1"/>
          <p:nvPr/>
        </p:nvSpPr>
        <p:spPr>
          <a:xfrm>
            <a:off x="3030712" y="4294480"/>
            <a:ext cx="324193" cy="300990"/>
          </a:xfrm>
          <a:prstGeom prst="rect">
            <a:avLst/>
          </a:prstGeom>
        </p:spPr>
        <p:txBody>
          <a:bodyPr lIns="0" tIns="0" rIns="0" bIns="0" rtlCol="0" anchor="t">
            <a:spAutoFit/>
          </a:bodyPr>
          <a:lstStyle/>
          <a:p>
            <a:pPr algn="l">
              <a:lnSpc>
                <a:spcPts val="2640"/>
              </a:lnSpc>
            </a:pPr>
            <a:r>
              <a:rPr lang="en-US" sz="1056" spc="44">
                <a:solidFill>
                  <a:srgbClr val="595858"/>
                </a:solidFill>
                <a:latin typeface="Montserrat"/>
                <a:ea typeface="Montserrat"/>
                <a:cs typeface="Montserrat"/>
                <a:sym typeface="Montserrat"/>
              </a:rPr>
              <a:t> </a:t>
            </a:r>
            <a:r>
              <a:rPr lang="en-US" sz="1056" b="1" spc="44">
                <a:solidFill>
                  <a:srgbClr val="333333"/>
                </a:solidFill>
                <a:latin typeface="Montserrat Bold"/>
                <a:ea typeface="Montserrat Bold"/>
                <a:cs typeface="Montserrat Bold"/>
                <a:sym typeface="Montserrat Bold"/>
              </a:rPr>
              <a:t>ACF</a:t>
            </a:r>
          </a:p>
        </p:txBody>
      </p:sp>
      <p:sp>
        <p:nvSpPr>
          <p:cNvPr id="13" name="TextBox 13"/>
          <p:cNvSpPr txBox="1"/>
          <p:nvPr/>
        </p:nvSpPr>
        <p:spPr>
          <a:xfrm>
            <a:off x="1206094" y="4003396"/>
            <a:ext cx="1860842" cy="534377"/>
          </a:xfrm>
          <a:prstGeom prst="rect">
            <a:avLst/>
          </a:prstGeom>
        </p:spPr>
        <p:txBody>
          <a:bodyPr lIns="0" tIns="0" rIns="0" bIns="0" rtlCol="0" anchor="t">
            <a:spAutoFit/>
          </a:bodyPr>
          <a:lstStyle/>
          <a:p>
            <a:pPr algn="l">
              <a:lnSpc>
                <a:spcPts val="1444"/>
              </a:lnSpc>
            </a:pPr>
            <a:r>
              <a:rPr lang="en-US" sz="1056" b="1" dirty="0">
                <a:solidFill>
                  <a:srgbClr val="333333"/>
                </a:solidFill>
                <a:latin typeface="Arial" panose="020B0604020202020204" pitchFamily="34" charset="0"/>
                <a:ea typeface="29LT Bukra Bold"/>
                <a:cs typeface="Arial" panose="020B0604020202020204" pitchFamily="34" charset="0"/>
                <a:sym typeface="29LT Bukra Bold"/>
              </a:rPr>
              <a:t>p</a:t>
            </a:r>
            <a:r>
              <a:rPr lang="en-US" sz="1056" b="1" dirty="0">
                <a:solidFill>
                  <a:srgbClr val="595858"/>
                </a:solidFill>
                <a:latin typeface="29LT Bukra Medium"/>
                <a:ea typeface="29LT Bukra Medium"/>
                <a:cs typeface="29LT Bukra Medium"/>
                <a:sym typeface="29LT Bukra Medium"/>
              </a:rPr>
              <a:t>–The lag value where the closely, in this case p=2. </a:t>
            </a:r>
            <a:r>
              <a:rPr lang="en-US" sz="1056" b="1" dirty="0">
                <a:solidFill>
                  <a:srgbClr val="333333"/>
                </a:solidFill>
                <a:latin typeface="Arial" panose="020B0604020202020204" pitchFamily="34" charset="0"/>
                <a:ea typeface="29LT Bukra Bold"/>
                <a:cs typeface="Arial" panose="020B0604020202020204" pitchFamily="34" charset="0"/>
                <a:sym typeface="29LT Bukra Bold"/>
              </a:rPr>
              <a:t>q</a:t>
            </a:r>
            <a:r>
              <a:rPr lang="en-US" sz="1056" b="1" dirty="0">
                <a:solidFill>
                  <a:srgbClr val="595858"/>
                </a:solidFill>
                <a:latin typeface="29LT Bukra Medium"/>
                <a:ea typeface="29LT Bukra Medium"/>
                <a:cs typeface="29LT Bukra Medium"/>
                <a:sym typeface="29LT Bukra Medium"/>
              </a:rPr>
              <a:t>–The lag value where the</a:t>
            </a:r>
          </a:p>
        </p:txBody>
      </p:sp>
      <p:sp>
        <p:nvSpPr>
          <p:cNvPr id="14" name="TextBox 14"/>
          <p:cNvSpPr txBox="1"/>
          <p:nvPr/>
        </p:nvSpPr>
        <p:spPr>
          <a:xfrm>
            <a:off x="1683134" y="4554788"/>
            <a:ext cx="37567" cy="225171"/>
          </a:xfrm>
          <a:prstGeom prst="rect">
            <a:avLst/>
          </a:prstGeom>
        </p:spPr>
        <p:txBody>
          <a:bodyPr lIns="0" tIns="0" rIns="0" bIns="0" rtlCol="0" anchor="t">
            <a:spAutoFit/>
          </a:bodyPr>
          <a:lstStyle/>
          <a:p>
            <a:pPr algn="l">
              <a:lnSpc>
                <a:spcPts val="1447"/>
              </a:lnSpc>
            </a:pPr>
            <a:r>
              <a:rPr lang="en-US" sz="1058" b="1">
                <a:solidFill>
                  <a:srgbClr val="595858"/>
                </a:solidFill>
                <a:latin typeface="29LT Bukra Medium"/>
                <a:ea typeface="29LT Bukra Medium"/>
                <a:cs typeface="29LT Bukra Medium"/>
                <a:sym typeface="29LT Bukra Medium"/>
              </a:rPr>
              <a:t> </a:t>
            </a:r>
          </a:p>
        </p:txBody>
      </p:sp>
      <p:sp>
        <p:nvSpPr>
          <p:cNvPr id="15" name="TextBox 15"/>
          <p:cNvSpPr txBox="1"/>
          <p:nvPr/>
        </p:nvSpPr>
        <p:spPr>
          <a:xfrm>
            <a:off x="3469510" y="3889096"/>
            <a:ext cx="4940865" cy="339090"/>
          </a:xfrm>
          <a:prstGeom prst="rect">
            <a:avLst/>
          </a:prstGeom>
        </p:spPr>
        <p:txBody>
          <a:bodyPr lIns="0" tIns="0" rIns="0" bIns="0" rtlCol="0" anchor="t">
            <a:spAutoFit/>
          </a:bodyPr>
          <a:lstStyle/>
          <a:p>
            <a:pPr algn="l">
              <a:lnSpc>
                <a:spcPts val="2640"/>
              </a:lnSpc>
            </a:pPr>
            <a:r>
              <a:rPr lang="en-US" sz="1056" b="1">
                <a:solidFill>
                  <a:srgbClr val="595858"/>
                </a:solidFill>
                <a:latin typeface="29LT Bukra Medium"/>
                <a:ea typeface="29LT Bukra Medium"/>
                <a:cs typeface="29LT Bukra Medium"/>
                <a:sym typeface="29LT Bukra Medium"/>
              </a:rPr>
              <a:t>chart crosses the upper confidence interval for the first time. If you notice </a:t>
            </a:r>
          </a:p>
        </p:txBody>
      </p:sp>
      <p:sp>
        <p:nvSpPr>
          <p:cNvPr id="16" name="TextBox 16"/>
          <p:cNvSpPr txBox="1"/>
          <p:nvPr/>
        </p:nvSpPr>
        <p:spPr>
          <a:xfrm>
            <a:off x="3382642" y="4256380"/>
            <a:ext cx="4938951" cy="339090"/>
          </a:xfrm>
          <a:prstGeom prst="rect">
            <a:avLst/>
          </a:prstGeom>
        </p:spPr>
        <p:txBody>
          <a:bodyPr lIns="0" tIns="0" rIns="0" bIns="0" rtlCol="0" anchor="t">
            <a:spAutoFit/>
          </a:bodyPr>
          <a:lstStyle/>
          <a:p>
            <a:pPr algn="l">
              <a:lnSpc>
                <a:spcPts val="2640"/>
              </a:lnSpc>
            </a:pPr>
            <a:r>
              <a:rPr lang="en-US" sz="1056" b="1">
                <a:solidFill>
                  <a:srgbClr val="595858"/>
                </a:solidFill>
                <a:latin typeface="29LT Bukra Medium"/>
                <a:ea typeface="29LT Bukra Medium"/>
                <a:cs typeface="29LT Bukra Medium"/>
                <a:sym typeface="29LT Bukra Medium"/>
              </a:rPr>
              <a:t>chart crosses the upper confidence interval for the first time. If you notice </a:t>
            </a:r>
          </a:p>
        </p:txBody>
      </p:sp>
      <p:sp>
        <p:nvSpPr>
          <p:cNvPr id="17" name="TextBox 17"/>
          <p:cNvSpPr txBox="1"/>
          <p:nvPr/>
        </p:nvSpPr>
        <p:spPr>
          <a:xfrm>
            <a:off x="1206094" y="4554788"/>
            <a:ext cx="1599609" cy="225171"/>
          </a:xfrm>
          <a:prstGeom prst="rect">
            <a:avLst/>
          </a:prstGeom>
        </p:spPr>
        <p:txBody>
          <a:bodyPr lIns="0" tIns="0" rIns="0" bIns="0" rtlCol="0" anchor="t">
            <a:spAutoFit/>
          </a:bodyPr>
          <a:lstStyle/>
          <a:p>
            <a:pPr algn="l">
              <a:lnSpc>
                <a:spcPts val="1481"/>
              </a:lnSpc>
            </a:pPr>
            <a:r>
              <a:rPr lang="en-US" sz="1058" b="1">
                <a:solidFill>
                  <a:srgbClr val="595858"/>
                </a:solidFill>
                <a:latin typeface="29LT Bukra Medium"/>
                <a:ea typeface="29LT Bukra Medium"/>
                <a:cs typeface="29LT Bukra Medium"/>
                <a:sym typeface="29LT Bukra Medium"/>
              </a:rPr>
              <a:t>closely,</a:t>
            </a:r>
            <a:r>
              <a:rPr lang="en-US" sz="1058" b="1">
                <a:solidFill>
                  <a:srgbClr val="FFFFFF"/>
                </a:solidFill>
                <a:latin typeface="29LT Bukra Medium"/>
                <a:ea typeface="29LT Bukra Medium"/>
                <a:cs typeface="29LT Bukra Medium"/>
                <a:sym typeface="29LT Bukra Medium"/>
              </a:rPr>
              <a:t> </a:t>
            </a:r>
            <a:r>
              <a:rPr lang="en-US" sz="1058" b="1">
                <a:solidFill>
                  <a:srgbClr val="595858"/>
                </a:solidFill>
                <a:latin typeface="29LT Bukra Medium"/>
                <a:ea typeface="29LT Bukra Medium"/>
                <a:cs typeface="29LT Bukra Medium"/>
                <a:sym typeface="29LT Bukra Medium"/>
              </a:rPr>
              <a:t>in</a:t>
            </a:r>
            <a:r>
              <a:rPr lang="en-US" sz="1058" b="1">
                <a:solidFill>
                  <a:srgbClr val="FFFFFF"/>
                </a:solidFill>
                <a:latin typeface="29LT Bukra Medium"/>
                <a:ea typeface="29LT Bukra Medium"/>
                <a:cs typeface="29LT Bukra Medium"/>
                <a:sym typeface="29LT Bukra Medium"/>
              </a:rPr>
              <a:t> </a:t>
            </a:r>
            <a:r>
              <a:rPr lang="en-US" sz="1058" b="1">
                <a:solidFill>
                  <a:srgbClr val="595858"/>
                </a:solidFill>
                <a:latin typeface="29LT Bukra Medium"/>
                <a:ea typeface="29LT Bukra Medium"/>
                <a:cs typeface="29LT Bukra Medium"/>
                <a:sym typeface="29LT Bukra Medium"/>
              </a:rPr>
              <a:t>this</a:t>
            </a:r>
            <a:r>
              <a:rPr lang="en-US" sz="1058" b="1">
                <a:solidFill>
                  <a:srgbClr val="FFFFFF"/>
                </a:solidFill>
                <a:latin typeface="29LT Bukra Medium"/>
                <a:ea typeface="29LT Bukra Medium"/>
                <a:cs typeface="29LT Bukra Medium"/>
                <a:sym typeface="29LT Bukra Medium"/>
              </a:rPr>
              <a:t> </a:t>
            </a:r>
            <a:r>
              <a:rPr lang="en-US" sz="1058" b="1">
                <a:solidFill>
                  <a:srgbClr val="595858"/>
                </a:solidFill>
                <a:latin typeface="29LT Bukra Medium"/>
                <a:ea typeface="29LT Bukra Medium"/>
                <a:cs typeface="29LT Bukra Medium"/>
                <a:sym typeface="29LT Bukra Medium"/>
              </a:rPr>
              <a:t>case</a:t>
            </a:r>
            <a:r>
              <a:rPr lang="en-US" sz="1058" b="1">
                <a:solidFill>
                  <a:srgbClr val="FFFFFF"/>
                </a:solidFill>
                <a:latin typeface="29LT Bukra Medium"/>
                <a:ea typeface="29LT Bukra Medium"/>
                <a:cs typeface="29LT Bukra Medium"/>
                <a:sym typeface="29LT Bukra Medium"/>
              </a:rPr>
              <a:t> </a:t>
            </a:r>
            <a:r>
              <a:rPr lang="en-US" sz="1058" b="1">
                <a:solidFill>
                  <a:srgbClr val="595858"/>
                </a:solidFill>
                <a:latin typeface="29LT Bukra Medium"/>
                <a:ea typeface="29LT Bukra Medium"/>
                <a:cs typeface="29LT Bukra Medium"/>
                <a:sym typeface="29LT Bukra Medium"/>
              </a:rPr>
              <a:t>q=2.</a:t>
            </a:r>
          </a:p>
        </p:txBody>
      </p:sp>
      <p:sp>
        <p:nvSpPr>
          <p:cNvPr id="18" name="TextBox 18"/>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0" y="0"/>
            <a:ext cx="4572000" cy="5143500"/>
          </a:xfrm>
          <a:custGeom>
            <a:avLst/>
            <a:gdLst/>
            <a:ahLst/>
            <a:cxnLst/>
            <a:rect l="l" t="t" r="r" b="b"/>
            <a:pathLst>
              <a:path w="4572000" h="5143500">
                <a:moveTo>
                  <a:pt x="0" y="0"/>
                </a:moveTo>
                <a:lnTo>
                  <a:pt x="4572000" y="0"/>
                </a:lnTo>
                <a:lnTo>
                  <a:pt x="457200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5" name="TextBox 5"/>
          <p:cNvSpPr txBox="1"/>
          <p:nvPr/>
        </p:nvSpPr>
        <p:spPr>
          <a:xfrm>
            <a:off x="2762374" y="1318641"/>
            <a:ext cx="2592876" cy="381000"/>
          </a:xfrm>
          <a:prstGeom prst="rect">
            <a:avLst/>
          </a:prstGeom>
        </p:spPr>
        <p:txBody>
          <a:bodyPr lIns="0" tIns="0" rIns="0" bIns="0" rtlCol="0" anchor="t">
            <a:spAutoFit/>
          </a:bodyPr>
          <a:lstStyle/>
          <a:p>
            <a:pPr algn="l">
              <a:lnSpc>
                <a:spcPts val="2520"/>
              </a:lnSpc>
            </a:pPr>
            <a:r>
              <a:rPr lang="en-US" sz="1800" b="1">
                <a:solidFill>
                  <a:srgbClr val="FFFFFF"/>
                </a:solidFill>
                <a:latin typeface="29LT Bukra Medium"/>
                <a:ea typeface="29LT Bukra Medium"/>
                <a:cs typeface="29LT Bukra Medium"/>
                <a:sym typeface="29LT Bukra Medium"/>
              </a:rPr>
              <a:t>Checks for Stationarity</a:t>
            </a:r>
          </a:p>
        </p:txBody>
      </p:sp>
      <p:sp>
        <p:nvSpPr>
          <p:cNvPr id="6" name="TextBox 6"/>
          <p:cNvSpPr txBox="1"/>
          <p:nvPr/>
        </p:nvSpPr>
        <p:spPr>
          <a:xfrm>
            <a:off x="1360675" y="2121665"/>
            <a:ext cx="1891798" cy="397032"/>
          </a:xfrm>
          <a:prstGeom prst="rect">
            <a:avLst/>
          </a:prstGeom>
        </p:spPr>
        <p:txBody>
          <a:bodyPr lIns="0" tIns="0" rIns="0" bIns="0" rtlCol="0" anchor="t">
            <a:spAutoFit/>
          </a:bodyPr>
          <a:lstStyle/>
          <a:p>
            <a:pPr algn="l">
              <a:lnSpc>
                <a:spcPts val="3359"/>
              </a:lnSpc>
            </a:pPr>
            <a:r>
              <a:rPr lang="en-US" sz="2400" b="1" dirty="0">
                <a:solidFill>
                  <a:srgbClr val="4A6F94"/>
                </a:solidFill>
                <a:latin typeface="Arial" panose="020B0604020202020204" pitchFamily="34" charset="0"/>
                <a:ea typeface="29LT Bukra Bold"/>
                <a:cs typeface="Arial" panose="020B0604020202020204" pitchFamily="34" charset="0"/>
                <a:sym typeface="29LT Bukra Bold"/>
              </a:rPr>
              <a:t>Grid Search</a:t>
            </a:r>
          </a:p>
        </p:txBody>
      </p:sp>
      <p:sp>
        <p:nvSpPr>
          <p:cNvPr id="7" name="TextBox 7"/>
          <p:cNvSpPr txBox="1"/>
          <p:nvPr/>
        </p:nvSpPr>
        <p:spPr>
          <a:xfrm>
            <a:off x="4664078" y="971045"/>
            <a:ext cx="3981279" cy="823341"/>
          </a:xfrm>
          <a:prstGeom prst="rect">
            <a:avLst/>
          </a:prstGeom>
        </p:spPr>
        <p:txBody>
          <a:bodyPr lIns="0" tIns="0" rIns="0" bIns="0" rtlCol="0" anchor="t">
            <a:spAutoFit/>
          </a:bodyPr>
          <a:lstStyle/>
          <a:p>
            <a:pPr algn="l">
              <a:lnSpc>
                <a:spcPts val="2879"/>
              </a:lnSpc>
            </a:pPr>
            <a:r>
              <a:rPr lang="en-US" sz="2400" b="1">
                <a:solidFill>
                  <a:srgbClr val="FFFFFF"/>
                </a:solidFill>
                <a:latin typeface="29LT Bukra Medium"/>
                <a:ea typeface="29LT Bukra Medium"/>
                <a:cs typeface="29LT Bukra Medium"/>
                <a:sym typeface="29LT Bukra Medium"/>
              </a:rPr>
              <a:t>ACF/PACF plots are some traditional methods of </a:t>
            </a:r>
          </a:p>
        </p:txBody>
      </p:sp>
      <p:sp>
        <p:nvSpPr>
          <p:cNvPr id="8" name="TextBox 8"/>
          <p:cNvSpPr txBox="1"/>
          <p:nvPr/>
        </p:nvSpPr>
        <p:spPr>
          <a:xfrm>
            <a:off x="4664078" y="1702946"/>
            <a:ext cx="4489333" cy="2652341"/>
          </a:xfrm>
          <a:prstGeom prst="rect">
            <a:avLst/>
          </a:prstGeom>
        </p:spPr>
        <p:txBody>
          <a:bodyPr lIns="0" tIns="0" rIns="0" bIns="0" rtlCol="0" anchor="t">
            <a:spAutoFit/>
          </a:bodyPr>
          <a:lstStyle/>
          <a:p>
            <a:pPr algn="l">
              <a:lnSpc>
                <a:spcPts val="2879"/>
              </a:lnSpc>
            </a:pPr>
            <a:r>
              <a:rPr lang="en-US" sz="2400" b="1" spc="2">
                <a:solidFill>
                  <a:srgbClr val="FFFFFF"/>
                </a:solidFill>
                <a:latin typeface="29LT Bukra Medium"/>
                <a:ea typeface="29LT Bukra Medium"/>
                <a:cs typeface="29LT Bukra Medium"/>
                <a:sym typeface="29LT Bukra Medium"/>
              </a:rPr>
              <a:t>obtaining p &amp; q values, and are sometimes misleading, hence we need to perform a hyper parameter optimization step in Time Series Analysis to get the optimum p,d&amp; q values</a:t>
            </a:r>
          </a:p>
        </p:txBody>
      </p:sp>
      <p:sp>
        <p:nvSpPr>
          <p:cNvPr id="9" name="TextBox 9"/>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0" y="0"/>
            <a:ext cx="4572000" cy="5143500"/>
          </a:xfrm>
          <a:custGeom>
            <a:avLst/>
            <a:gdLst/>
            <a:ahLst/>
            <a:cxnLst/>
            <a:rect l="l" t="t" r="r" b="b"/>
            <a:pathLst>
              <a:path w="4572000" h="5143500">
                <a:moveTo>
                  <a:pt x="0" y="0"/>
                </a:moveTo>
                <a:lnTo>
                  <a:pt x="4572000" y="0"/>
                </a:lnTo>
                <a:lnTo>
                  <a:pt x="457200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5" name="TextBox 5"/>
          <p:cNvSpPr txBox="1"/>
          <p:nvPr/>
        </p:nvSpPr>
        <p:spPr>
          <a:xfrm>
            <a:off x="2762374" y="1318641"/>
            <a:ext cx="2592876" cy="381000"/>
          </a:xfrm>
          <a:prstGeom prst="rect">
            <a:avLst/>
          </a:prstGeom>
        </p:spPr>
        <p:txBody>
          <a:bodyPr lIns="0" tIns="0" rIns="0" bIns="0" rtlCol="0" anchor="t">
            <a:spAutoFit/>
          </a:bodyPr>
          <a:lstStyle/>
          <a:p>
            <a:pPr algn="l">
              <a:lnSpc>
                <a:spcPts val="2520"/>
              </a:lnSpc>
            </a:pPr>
            <a:r>
              <a:rPr lang="en-US" sz="1800" b="1">
                <a:solidFill>
                  <a:srgbClr val="FFFFFF"/>
                </a:solidFill>
                <a:latin typeface="29LT Bukra Medium"/>
                <a:ea typeface="29LT Bukra Medium"/>
                <a:cs typeface="29LT Bukra Medium"/>
                <a:sym typeface="29LT Bukra Medium"/>
              </a:rPr>
              <a:t>Checks for Stationarity</a:t>
            </a:r>
          </a:p>
        </p:txBody>
      </p:sp>
      <p:sp>
        <p:nvSpPr>
          <p:cNvPr id="6" name="TextBox 6"/>
          <p:cNvSpPr txBox="1"/>
          <p:nvPr/>
        </p:nvSpPr>
        <p:spPr>
          <a:xfrm>
            <a:off x="1368295" y="2121665"/>
            <a:ext cx="1874958" cy="397032"/>
          </a:xfrm>
          <a:prstGeom prst="rect">
            <a:avLst/>
          </a:prstGeom>
        </p:spPr>
        <p:txBody>
          <a:bodyPr lIns="0" tIns="0" rIns="0" bIns="0" rtlCol="0" anchor="t">
            <a:spAutoFit/>
          </a:bodyPr>
          <a:lstStyle/>
          <a:p>
            <a:pPr algn="l">
              <a:lnSpc>
                <a:spcPts val="3359"/>
              </a:lnSpc>
            </a:pPr>
            <a:r>
              <a:rPr lang="en-US" sz="2400" b="1" dirty="0">
                <a:solidFill>
                  <a:srgbClr val="4A6F94"/>
                </a:solidFill>
                <a:latin typeface="Arial" panose="020B0604020202020204" pitchFamily="34" charset="0"/>
                <a:ea typeface="29LT Bukra Bold"/>
                <a:cs typeface="Arial" panose="020B0604020202020204" pitchFamily="34" charset="0"/>
                <a:sym typeface="29LT Bukra Bold"/>
              </a:rPr>
              <a:t>Auto Arima</a:t>
            </a:r>
          </a:p>
        </p:txBody>
      </p:sp>
      <p:sp>
        <p:nvSpPr>
          <p:cNvPr id="7" name="TextBox 7"/>
          <p:cNvSpPr txBox="1"/>
          <p:nvPr/>
        </p:nvSpPr>
        <p:spPr>
          <a:xfrm>
            <a:off x="4664078" y="1702946"/>
            <a:ext cx="4484989" cy="1920497"/>
          </a:xfrm>
          <a:prstGeom prst="rect">
            <a:avLst/>
          </a:prstGeom>
        </p:spPr>
        <p:txBody>
          <a:bodyPr lIns="0" tIns="0" rIns="0" bIns="0" rtlCol="0" anchor="t">
            <a:spAutoFit/>
          </a:bodyPr>
          <a:lstStyle/>
          <a:p>
            <a:pPr algn="just">
              <a:lnSpc>
                <a:spcPts val="2879"/>
              </a:lnSpc>
            </a:pPr>
            <a:r>
              <a:rPr lang="en-US" sz="2400" b="1" spc="2">
                <a:solidFill>
                  <a:srgbClr val="FFFFFF"/>
                </a:solidFill>
                <a:latin typeface="29LT Bukra Medium"/>
                <a:ea typeface="29LT Bukra Medium"/>
                <a:cs typeface="29LT Bukra Medium"/>
                <a:sym typeface="29LT Bukra Medium"/>
              </a:rPr>
              <a:t>Grid Search techniques are manual ways, the same task can be achieved in few lines of coding and with a better efficiency using Auto Arima</a:t>
            </a:r>
          </a:p>
        </p:txBody>
      </p:sp>
      <p:sp>
        <p:nvSpPr>
          <p:cNvPr id="8" name="TextBox 8"/>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08497" y="-63503"/>
            <a:ext cx="4698997" cy="5270497"/>
          </a:xfrm>
          <a:custGeom>
            <a:avLst/>
            <a:gdLst/>
            <a:ahLst/>
            <a:cxnLst/>
            <a:rect l="l" t="t" r="r" b="b"/>
            <a:pathLst>
              <a:path w="4698997" h="5270497">
                <a:moveTo>
                  <a:pt x="0" y="0"/>
                </a:moveTo>
                <a:lnTo>
                  <a:pt x="4698997" y="0"/>
                </a:lnTo>
                <a:lnTo>
                  <a:pt x="4698997" y="5270497"/>
                </a:lnTo>
                <a:lnTo>
                  <a:pt x="0" y="5270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5" name="TextBox 5"/>
          <p:cNvSpPr txBox="1"/>
          <p:nvPr/>
        </p:nvSpPr>
        <p:spPr>
          <a:xfrm>
            <a:off x="4664078" y="991867"/>
            <a:ext cx="1220295" cy="381000"/>
          </a:xfrm>
          <a:prstGeom prst="rect">
            <a:avLst/>
          </a:prstGeom>
        </p:spPr>
        <p:txBody>
          <a:bodyPr lIns="0" tIns="0" rIns="0" bIns="0" rtlCol="0" anchor="t">
            <a:spAutoFit/>
          </a:bodyPr>
          <a:lstStyle/>
          <a:p>
            <a:pPr algn="l">
              <a:lnSpc>
                <a:spcPts val="2572"/>
              </a:lnSpc>
            </a:pP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Quick Link: </a:t>
            </a:r>
          </a:p>
        </p:txBody>
      </p:sp>
      <p:sp>
        <p:nvSpPr>
          <p:cNvPr id="6" name="TextBox 6"/>
          <p:cNvSpPr txBox="1"/>
          <p:nvPr/>
        </p:nvSpPr>
        <p:spPr>
          <a:xfrm>
            <a:off x="2762374" y="1266187"/>
            <a:ext cx="6328962" cy="433454"/>
          </a:xfrm>
          <a:prstGeom prst="rect">
            <a:avLst/>
          </a:prstGeom>
        </p:spPr>
        <p:txBody>
          <a:bodyPr lIns="0" tIns="0" rIns="0" bIns="0" rtlCol="0" anchor="t">
            <a:spAutoFit/>
          </a:bodyPr>
          <a:lstStyle/>
          <a:p>
            <a:pPr algn="l">
              <a:lnSpc>
                <a:spcPts val="2572"/>
              </a:lnSpc>
            </a:pPr>
            <a:r>
              <a:rPr lang="en-US" sz="1800" b="1">
                <a:solidFill>
                  <a:srgbClr val="FFFFFF"/>
                </a:solidFill>
                <a:latin typeface="29LT Bukra Medium"/>
                <a:ea typeface="29LT Bukra Medium"/>
                <a:cs typeface="29LT Bukra Medium"/>
                <a:sym typeface="29LT Bukra Medium"/>
              </a:rPr>
              <a:t>Checks for Stati</a:t>
            </a: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o</a:t>
            </a:r>
            <a:r>
              <a:rPr lang="en-US" sz="1800" b="1">
                <a:solidFill>
                  <a:srgbClr val="F0EFEE"/>
                </a:solidFill>
                <a:latin typeface="29LT Bukra Medium"/>
                <a:ea typeface="29LT Bukra Medium"/>
                <a:cs typeface="29LT Bukra Medium"/>
                <a:sym typeface="29LT Bukra Medium"/>
                <a:hlinkClick r:id="rId5" tooltip="https://facebook.github.io/prophet/docs/quick_start.html#python-api"/>
              </a:rPr>
              <a:t>h</a:t>
            </a: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n</a:t>
            </a:r>
            <a:r>
              <a:rPr lang="en-US" sz="1800" b="1">
                <a:solidFill>
                  <a:srgbClr val="F0EFEE"/>
                </a:solidFill>
                <a:latin typeface="29LT Bukra Medium"/>
                <a:ea typeface="29LT Bukra Medium"/>
                <a:cs typeface="29LT Bukra Medium"/>
                <a:sym typeface="29LT Bukra Medium"/>
                <a:hlinkClick r:id="rId5" tooltip="https://facebook.github.io/prophet/docs/quick_start.html#python-api"/>
              </a:rPr>
              <a:t>t</a:t>
            </a: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a</a:t>
            </a:r>
            <a:r>
              <a:rPr lang="en-US" sz="1800" b="1">
                <a:solidFill>
                  <a:srgbClr val="F0EFEE"/>
                </a:solidFill>
                <a:latin typeface="29LT Bukra Medium"/>
                <a:ea typeface="29LT Bukra Medium"/>
                <a:cs typeface="29LT Bukra Medium"/>
                <a:sym typeface="29LT Bukra Medium"/>
                <a:hlinkClick r:id="rId5" tooltip="https://facebook.github.io/prophet/docs/quick_start.html#python-api"/>
              </a:rPr>
              <a:t>t</a:t>
            </a: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r</a:t>
            </a:r>
            <a:r>
              <a:rPr lang="en-US" sz="1800" b="1">
                <a:solidFill>
                  <a:srgbClr val="F0EFEE"/>
                </a:solidFill>
                <a:latin typeface="29LT Bukra Medium"/>
                <a:ea typeface="29LT Bukra Medium"/>
                <a:cs typeface="29LT Bukra Medium"/>
                <a:sym typeface="29LT Bukra Medium"/>
                <a:hlinkClick r:id="rId5" tooltip="https://facebook.github.io/prophet/docs/quick_start.html#python-api"/>
              </a:rPr>
              <a:t>p</a:t>
            </a: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it</a:t>
            </a:r>
            <a:r>
              <a:rPr lang="en-US" sz="1800" b="1">
                <a:solidFill>
                  <a:srgbClr val="F0EFEE"/>
                </a:solidFill>
                <a:latin typeface="29LT Bukra Medium"/>
                <a:ea typeface="29LT Bukra Medium"/>
                <a:cs typeface="29LT Bukra Medium"/>
                <a:sym typeface="29LT Bukra Medium"/>
                <a:hlinkClick r:id="rId5" tooltip="https://facebook.github.io/prophet/docs/quick_start.html#python-api"/>
              </a:rPr>
              <a:t>s</a:t>
            </a:r>
            <a:r>
              <a:rPr lang="en-US" sz="1800" b="1">
                <a:solidFill>
                  <a:srgbClr val="FFFFFF"/>
                </a:solidFill>
                <a:latin typeface="29LT Bukra Medium"/>
                <a:ea typeface="29LT Bukra Medium"/>
                <a:cs typeface="29LT Bukra Medium"/>
                <a:sym typeface="29LT Bukra Medium"/>
                <a:hlinkClick r:id="rId5" tooltip="https://facebook.github.io/prophet/docs/quick_start.html#python-api"/>
              </a:rPr>
              <a:t>y</a:t>
            </a:r>
            <a:r>
              <a:rPr lang="en-US" sz="1800" b="1">
                <a:solidFill>
                  <a:srgbClr val="F0EFEE"/>
                </a:solidFill>
                <a:latin typeface="29LT Bukra Medium"/>
                <a:ea typeface="29LT Bukra Medium"/>
                <a:cs typeface="29LT Bukra Medium"/>
                <a:sym typeface="29LT Bukra Medium"/>
                <a:hlinkClick r:id="rId5" tooltip="https://facebook.github.io/prophet/docs/quick_start.html#python-api"/>
              </a:rPr>
              <a:t>://facebook.github.io/prophet/do</a:t>
            </a:r>
          </a:p>
        </p:txBody>
      </p:sp>
      <p:sp>
        <p:nvSpPr>
          <p:cNvPr id="7" name="TextBox 7"/>
          <p:cNvSpPr txBox="1"/>
          <p:nvPr/>
        </p:nvSpPr>
        <p:spPr>
          <a:xfrm>
            <a:off x="4664078" y="1692612"/>
            <a:ext cx="3710254" cy="706269"/>
          </a:xfrm>
          <a:prstGeom prst="rect">
            <a:avLst/>
          </a:prstGeom>
        </p:spPr>
        <p:txBody>
          <a:bodyPr lIns="0" tIns="0" rIns="0" bIns="0" rtlCol="0" anchor="t">
            <a:spAutoFit/>
          </a:bodyPr>
          <a:lstStyle/>
          <a:p>
            <a:pPr algn="l">
              <a:lnSpc>
                <a:spcPts val="919"/>
              </a:lnSpc>
            </a:pPr>
            <a:r>
              <a:rPr lang="en-US" sz="1802" b="1">
                <a:solidFill>
                  <a:srgbClr val="F0EFEE"/>
                </a:solidFill>
                <a:latin typeface="29LT Bukra Medium"/>
                <a:ea typeface="29LT Bukra Medium"/>
                <a:cs typeface="29LT Bukra Medium"/>
                <a:sym typeface="29LT Bukra Medium"/>
                <a:hlinkClick r:id="rId5" tooltip="https://facebook.github.io/prophet/docs/quick_start.html#python-api"/>
              </a:rPr>
              <a:t>cs/quick_start.html#python-api</a:t>
            </a:r>
          </a:p>
          <a:p>
            <a:pPr algn="l">
              <a:lnSpc>
                <a:spcPts val="4500"/>
              </a:lnSpc>
            </a:pPr>
            <a:r>
              <a:rPr lang="en-US" sz="1800" b="1">
                <a:solidFill>
                  <a:srgbClr val="FFFFFF"/>
                </a:solidFill>
                <a:latin typeface="29LT Bukra Medium"/>
                <a:ea typeface="29LT Bukra Medium"/>
                <a:cs typeface="29LT Bukra Medium"/>
                <a:sym typeface="29LT Bukra Medium"/>
              </a:rPr>
              <a:t>Features:</a:t>
            </a:r>
          </a:p>
        </p:txBody>
      </p:sp>
      <p:sp>
        <p:nvSpPr>
          <p:cNvPr id="8" name="TextBox 8"/>
          <p:cNvSpPr txBox="1"/>
          <p:nvPr/>
        </p:nvSpPr>
        <p:spPr>
          <a:xfrm>
            <a:off x="847039" y="2121665"/>
            <a:ext cx="2939520" cy="397032"/>
          </a:xfrm>
          <a:prstGeom prst="rect">
            <a:avLst/>
          </a:prstGeom>
        </p:spPr>
        <p:txBody>
          <a:bodyPr lIns="0" tIns="0" rIns="0" bIns="0" rtlCol="0" anchor="t">
            <a:spAutoFit/>
          </a:bodyPr>
          <a:lstStyle/>
          <a:p>
            <a:pPr algn="l">
              <a:lnSpc>
                <a:spcPts val="3359"/>
              </a:lnSpc>
            </a:pPr>
            <a:r>
              <a:rPr lang="en-US" sz="2400" b="1" dirty="0">
                <a:solidFill>
                  <a:srgbClr val="4A6F94"/>
                </a:solidFill>
                <a:latin typeface="Arial" panose="020B0604020202020204" pitchFamily="34" charset="0"/>
                <a:ea typeface="29LT Bukra Bold"/>
                <a:cs typeface="Arial" panose="020B0604020202020204" pitchFamily="34" charset="0"/>
                <a:sym typeface="29LT Bukra Bold"/>
              </a:rPr>
              <a:t>Facebook Prophet</a:t>
            </a:r>
          </a:p>
        </p:txBody>
      </p:sp>
      <p:sp>
        <p:nvSpPr>
          <p:cNvPr id="9" name="TextBox 9"/>
          <p:cNvSpPr txBox="1"/>
          <p:nvPr/>
        </p:nvSpPr>
        <p:spPr>
          <a:xfrm>
            <a:off x="4804286" y="2580980"/>
            <a:ext cx="63656" cy="442684"/>
          </a:xfrm>
          <a:prstGeom prst="rect">
            <a:avLst/>
          </a:prstGeom>
        </p:spPr>
        <p:txBody>
          <a:bodyPr lIns="0" tIns="0" rIns="0" bIns="0" rtlCol="0" anchor="t">
            <a:spAutoFit/>
          </a:bodyPr>
          <a:lstStyle/>
          <a:p>
            <a:pPr algn="just">
              <a:lnSpc>
                <a:spcPts val="1680"/>
              </a:lnSpc>
            </a:pPr>
            <a:r>
              <a:rPr lang="en-US" sz="1403">
                <a:solidFill>
                  <a:srgbClr val="000000"/>
                </a:solidFill>
                <a:latin typeface="Arial"/>
                <a:ea typeface="Arial"/>
                <a:cs typeface="Arial"/>
                <a:sym typeface="Arial"/>
              </a:rPr>
              <a:t>• •</a:t>
            </a:r>
          </a:p>
        </p:txBody>
      </p:sp>
      <p:sp>
        <p:nvSpPr>
          <p:cNvPr id="10" name="TextBox 10"/>
          <p:cNvSpPr txBox="1"/>
          <p:nvPr/>
        </p:nvSpPr>
        <p:spPr>
          <a:xfrm>
            <a:off x="4804286" y="3272752"/>
            <a:ext cx="63656" cy="817969"/>
          </a:xfrm>
          <a:prstGeom prst="rect">
            <a:avLst/>
          </a:prstGeom>
        </p:spPr>
        <p:txBody>
          <a:bodyPr lIns="0" tIns="0" rIns="0" bIns="0" rtlCol="0" anchor="t">
            <a:spAutoFit/>
          </a:bodyPr>
          <a:lstStyle/>
          <a:p>
            <a:pPr algn="just">
              <a:lnSpc>
                <a:spcPts val="3359"/>
              </a:lnSpc>
            </a:pPr>
            <a:r>
              <a:rPr lang="en-US" sz="1403">
                <a:solidFill>
                  <a:srgbClr val="000000"/>
                </a:solidFill>
                <a:latin typeface="Arial"/>
                <a:ea typeface="Arial"/>
                <a:cs typeface="Arial"/>
                <a:sym typeface="Arial"/>
              </a:rPr>
              <a:t>• •</a:t>
            </a:r>
          </a:p>
        </p:txBody>
      </p:sp>
      <p:sp>
        <p:nvSpPr>
          <p:cNvPr id="11" name="TextBox 11"/>
          <p:cNvSpPr txBox="1"/>
          <p:nvPr/>
        </p:nvSpPr>
        <p:spPr>
          <a:xfrm>
            <a:off x="5089522" y="2555377"/>
            <a:ext cx="4064708" cy="1968427"/>
          </a:xfrm>
          <a:prstGeom prst="rect">
            <a:avLst/>
          </a:prstGeom>
        </p:spPr>
        <p:txBody>
          <a:bodyPr lIns="0" tIns="0" rIns="0" bIns="0" rtlCol="0" anchor="t">
            <a:spAutoFit/>
          </a:bodyPr>
          <a:lstStyle/>
          <a:p>
            <a:pPr algn="l">
              <a:lnSpc>
                <a:spcPts val="1680"/>
              </a:lnSpc>
            </a:pPr>
            <a:r>
              <a:rPr lang="en-US" sz="1403" b="1" spc="1">
                <a:solidFill>
                  <a:srgbClr val="FFFFFF"/>
                </a:solidFill>
                <a:latin typeface="29LT Bukra Medium"/>
                <a:ea typeface="29LT Bukra Medium"/>
                <a:cs typeface="29LT Bukra Medium"/>
                <a:sym typeface="29LT Bukra Medium"/>
              </a:rPr>
              <a:t>Very fast An additive regression model where non- linear trends are fit with yearly, weekly, and daily seasonality, plus holiday effects Robust to missing data &amp; shifts in trend, and handles outliers automatically. Easy procedure to tweak &amp; adjust forecast while adding domain knowledge or business insights.</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08497" y="-63503"/>
            <a:ext cx="4698997" cy="5270497"/>
          </a:xfrm>
          <a:custGeom>
            <a:avLst/>
            <a:gdLst/>
            <a:ahLst/>
            <a:cxnLst/>
            <a:rect l="l" t="t" r="r" b="b"/>
            <a:pathLst>
              <a:path w="4698997" h="5270497">
                <a:moveTo>
                  <a:pt x="0" y="0"/>
                </a:moveTo>
                <a:lnTo>
                  <a:pt x="4698997" y="0"/>
                </a:lnTo>
                <a:lnTo>
                  <a:pt x="4698997" y="5270497"/>
                </a:lnTo>
                <a:lnTo>
                  <a:pt x="0" y="5270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79248" y="3093720"/>
            <a:ext cx="4418076" cy="1632204"/>
          </a:xfrm>
          <a:custGeom>
            <a:avLst/>
            <a:gdLst/>
            <a:ahLst/>
            <a:cxnLst/>
            <a:rect l="l" t="t" r="r" b="b"/>
            <a:pathLst>
              <a:path w="4418076" h="1632204">
                <a:moveTo>
                  <a:pt x="0" y="0"/>
                </a:moveTo>
                <a:lnTo>
                  <a:pt x="4418076" y="0"/>
                </a:lnTo>
                <a:lnTo>
                  <a:pt x="4418076" y="1632204"/>
                </a:lnTo>
                <a:lnTo>
                  <a:pt x="0" y="1632204"/>
                </a:lnTo>
                <a:lnTo>
                  <a:pt x="0" y="0"/>
                </a:lnTo>
                <a:close/>
              </a:path>
            </a:pathLst>
          </a:custGeom>
          <a:blipFill>
            <a:blip r:embed="rId4"/>
            <a:stretch>
              <a:fillRect/>
            </a:stretch>
          </a:blipFill>
        </p:spPr>
        <p:txBody>
          <a:bodyPr/>
          <a:lstStyle/>
          <a:p>
            <a:endParaRPr lang="en-IN"/>
          </a:p>
        </p:txBody>
      </p:sp>
      <p:sp>
        <p:nvSpPr>
          <p:cNvPr id="4" name="Freeform 4"/>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5"/>
            <a:stretch>
              <a:fillRect/>
            </a:stretch>
          </a:blipFill>
        </p:spPr>
        <p:txBody>
          <a:bodyPr/>
          <a:lstStyle/>
          <a:p>
            <a:endParaRPr lang="en-IN"/>
          </a:p>
        </p:txBody>
      </p:sp>
      <p:sp>
        <p:nvSpPr>
          <p:cNvPr id="5" name="TextBox 5"/>
          <p:cNvSpPr txBox="1"/>
          <p:nvPr/>
        </p:nvSpPr>
        <p:spPr>
          <a:xfrm>
            <a:off x="91440" y="1326099"/>
            <a:ext cx="1161860" cy="362141"/>
          </a:xfrm>
          <a:prstGeom prst="rect">
            <a:avLst/>
          </a:prstGeom>
        </p:spPr>
        <p:txBody>
          <a:bodyPr lIns="0" tIns="0" rIns="0" bIns="0" rtlCol="0" anchor="t">
            <a:spAutoFit/>
          </a:bodyPr>
          <a:lstStyle/>
          <a:p>
            <a:pPr algn="l">
              <a:lnSpc>
                <a:spcPts val="2940"/>
              </a:lnSpc>
            </a:pPr>
            <a:r>
              <a:rPr lang="en-US" sz="2100">
                <a:solidFill>
                  <a:srgbClr val="FFFFFF"/>
                </a:solidFill>
                <a:latin typeface="Arial"/>
                <a:ea typeface="Arial"/>
                <a:cs typeface="Arial"/>
                <a:sym typeface="Arial"/>
              </a:rPr>
              <a:t>Company</a:t>
            </a:r>
          </a:p>
        </p:txBody>
      </p:sp>
      <p:sp>
        <p:nvSpPr>
          <p:cNvPr id="6" name="TextBox 6"/>
          <p:cNvSpPr txBox="1"/>
          <p:nvPr/>
        </p:nvSpPr>
        <p:spPr>
          <a:xfrm>
            <a:off x="4664078" y="1129027"/>
            <a:ext cx="1220295" cy="342900"/>
          </a:xfrm>
          <a:prstGeom prst="rect">
            <a:avLst/>
          </a:prstGeom>
        </p:spPr>
        <p:txBody>
          <a:bodyPr lIns="0" tIns="0" rIns="0" bIns="0" rtlCol="0" anchor="t">
            <a:spAutoFit/>
          </a:bodyPr>
          <a:lstStyle/>
          <a:p>
            <a:pPr algn="l">
              <a:lnSpc>
                <a:spcPts val="2158"/>
              </a:lnSpc>
            </a:pPr>
            <a:r>
              <a:rPr lang="en-US" sz="1800" b="1">
                <a:solidFill>
                  <a:srgbClr val="FFFFFF"/>
                </a:solidFill>
                <a:latin typeface="29LT Bukra Medium"/>
                <a:ea typeface="29LT Bukra Medium"/>
                <a:cs typeface="29LT Bukra Medium"/>
                <a:sym typeface="29LT Bukra Medium"/>
                <a:hlinkClick r:id="rId6" tooltip="https://colah.github.io/posts/2015-08-Understanding-LSTMs/"/>
              </a:rPr>
              <a:t>Quick Link: </a:t>
            </a:r>
          </a:p>
        </p:txBody>
      </p:sp>
      <p:sp>
        <p:nvSpPr>
          <p:cNvPr id="7" name="TextBox 7"/>
          <p:cNvSpPr txBox="1"/>
          <p:nvPr/>
        </p:nvSpPr>
        <p:spPr>
          <a:xfrm>
            <a:off x="2762374" y="1356741"/>
            <a:ext cx="6308236" cy="389506"/>
          </a:xfrm>
          <a:prstGeom prst="rect">
            <a:avLst/>
          </a:prstGeom>
        </p:spPr>
        <p:txBody>
          <a:bodyPr lIns="0" tIns="0" rIns="0" bIns="0" rtlCol="0" anchor="t">
            <a:spAutoFit/>
          </a:bodyPr>
          <a:lstStyle/>
          <a:p>
            <a:pPr algn="l">
              <a:lnSpc>
                <a:spcPts val="2158"/>
              </a:lnSpc>
            </a:pPr>
            <a:r>
              <a:rPr lang="en-US" sz="1800" b="1">
                <a:solidFill>
                  <a:srgbClr val="FFFFFF"/>
                </a:solidFill>
                <a:latin typeface="29LT Bukra Medium"/>
                <a:ea typeface="29LT Bukra Medium"/>
                <a:cs typeface="29LT Bukra Medium"/>
                <a:sym typeface="29LT Bukra Medium"/>
              </a:rPr>
              <a:t>Checks for Stati</a:t>
            </a:r>
            <a:r>
              <a:rPr lang="en-US" sz="1800" b="1">
                <a:solidFill>
                  <a:srgbClr val="FFFFFF"/>
                </a:solidFill>
                <a:latin typeface="29LT Bukra Medium"/>
                <a:ea typeface="29LT Bukra Medium"/>
                <a:cs typeface="29LT Bukra Medium"/>
                <a:sym typeface="29LT Bukra Medium"/>
                <a:hlinkClick r:id="rId6" tooltip="https://colah.github.io/posts/2015-08-Understanding-LSTMs/"/>
              </a:rPr>
              <a:t>o</a:t>
            </a:r>
            <a:r>
              <a:rPr lang="en-US" sz="1800" b="1">
                <a:solidFill>
                  <a:srgbClr val="F0EFEE"/>
                </a:solidFill>
                <a:latin typeface="29LT Bukra Medium"/>
                <a:ea typeface="29LT Bukra Medium"/>
                <a:cs typeface="29LT Bukra Medium"/>
                <a:sym typeface="29LT Bukra Medium"/>
                <a:hlinkClick r:id="rId6" tooltip="https://colah.github.io/posts/2015-08-Understanding-LSTMs/"/>
              </a:rPr>
              <a:t>h</a:t>
            </a:r>
            <a:r>
              <a:rPr lang="en-US" sz="1800" b="1">
                <a:solidFill>
                  <a:srgbClr val="FFFFFF"/>
                </a:solidFill>
                <a:latin typeface="29LT Bukra Medium"/>
                <a:ea typeface="29LT Bukra Medium"/>
                <a:cs typeface="29LT Bukra Medium"/>
                <a:sym typeface="29LT Bukra Medium"/>
                <a:hlinkClick r:id="rId6" tooltip="https://colah.github.io/posts/2015-08-Understanding-LSTMs/"/>
              </a:rPr>
              <a:t>n</a:t>
            </a:r>
            <a:r>
              <a:rPr lang="en-US" sz="1800" b="1">
                <a:solidFill>
                  <a:srgbClr val="F0EFEE"/>
                </a:solidFill>
                <a:latin typeface="29LT Bukra Medium"/>
                <a:ea typeface="29LT Bukra Medium"/>
                <a:cs typeface="29LT Bukra Medium"/>
                <a:sym typeface="29LT Bukra Medium"/>
                <a:hlinkClick r:id="rId6" tooltip="https://colah.github.io/posts/2015-08-Understanding-LSTMs/"/>
              </a:rPr>
              <a:t>t</a:t>
            </a:r>
            <a:r>
              <a:rPr lang="en-US" sz="1800" b="1">
                <a:solidFill>
                  <a:srgbClr val="FFFFFF"/>
                </a:solidFill>
                <a:latin typeface="29LT Bukra Medium"/>
                <a:ea typeface="29LT Bukra Medium"/>
                <a:cs typeface="29LT Bukra Medium"/>
                <a:sym typeface="29LT Bukra Medium"/>
                <a:hlinkClick r:id="rId6" tooltip="https://colah.github.io/posts/2015-08-Understanding-LSTMs/"/>
              </a:rPr>
              <a:t>a</a:t>
            </a:r>
            <a:r>
              <a:rPr lang="en-US" sz="1800" b="1">
                <a:solidFill>
                  <a:srgbClr val="F0EFEE"/>
                </a:solidFill>
                <a:latin typeface="29LT Bukra Medium"/>
                <a:ea typeface="29LT Bukra Medium"/>
                <a:cs typeface="29LT Bukra Medium"/>
                <a:sym typeface="29LT Bukra Medium"/>
                <a:hlinkClick r:id="rId6" tooltip="https://colah.github.io/posts/2015-08-Understanding-LSTMs/"/>
              </a:rPr>
              <a:t>t</a:t>
            </a:r>
            <a:r>
              <a:rPr lang="en-US" sz="1800" b="1">
                <a:solidFill>
                  <a:srgbClr val="FFFFFF"/>
                </a:solidFill>
                <a:latin typeface="29LT Bukra Medium"/>
                <a:ea typeface="29LT Bukra Medium"/>
                <a:cs typeface="29LT Bukra Medium"/>
                <a:sym typeface="29LT Bukra Medium"/>
                <a:hlinkClick r:id="rId6" tooltip="https://colah.github.io/posts/2015-08-Understanding-LSTMs/"/>
              </a:rPr>
              <a:t>r</a:t>
            </a:r>
            <a:r>
              <a:rPr lang="en-US" sz="1800" b="1">
                <a:solidFill>
                  <a:srgbClr val="F0EFEE"/>
                </a:solidFill>
                <a:latin typeface="29LT Bukra Medium"/>
                <a:ea typeface="29LT Bukra Medium"/>
                <a:cs typeface="29LT Bukra Medium"/>
                <a:sym typeface="29LT Bukra Medium"/>
                <a:hlinkClick r:id="rId6" tooltip="https://colah.github.io/posts/2015-08-Understanding-LSTMs/"/>
              </a:rPr>
              <a:t>p</a:t>
            </a:r>
            <a:r>
              <a:rPr lang="en-US" sz="1800" b="1">
                <a:solidFill>
                  <a:srgbClr val="FFFFFF"/>
                </a:solidFill>
                <a:latin typeface="29LT Bukra Medium"/>
                <a:ea typeface="29LT Bukra Medium"/>
                <a:cs typeface="29LT Bukra Medium"/>
                <a:sym typeface="29LT Bukra Medium"/>
                <a:hlinkClick r:id="rId6" tooltip="https://colah.github.io/posts/2015-08-Understanding-LSTMs/"/>
              </a:rPr>
              <a:t>it</a:t>
            </a:r>
            <a:r>
              <a:rPr lang="en-US" sz="1800" b="1">
                <a:solidFill>
                  <a:srgbClr val="F0EFEE"/>
                </a:solidFill>
                <a:latin typeface="29LT Bukra Medium"/>
                <a:ea typeface="29LT Bukra Medium"/>
                <a:cs typeface="29LT Bukra Medium"/>
                <a:sym typeface="29LT Bukra Medium"/>
                <a:hlinkClick r:id="rId6" tooltip="https://colah.github.io/posts/2015-08-Understanding-LSTMs/"/>
              </a:rPr>
              <a:t>s</a:t>
            </a:r>
            <a:r>
              <a:rPr lang="en-US" sz="1800" b="1">
                <a:solidFill>
                  <a:srgbClr val="FFFFFF"/>
                </a:solidFill>
                <a:latin typeface="29LT Bukra Medium"/>
                <a:ea typeface="29LT Bukra Medium"/>
                <a:cs typeface="29LT Bukra Medium"/>
                <a:sym typeface="29LT Bukra Medium"/>
                <a:hlinkClick r:id="rId6" tooltip="https://colah.github.io/posts/2015-08-Understanding-LSTMs/"/>
              </a:rPr>
              <a:t>y</a:t>
            </a:r>
            <a:r>
              <a:rPr lang="en-US" sz="1800" b="1">
                <a:solidFill>
                  <a:srgbClr val="F0EFEE"/>
                </a:solidFill>
                <a:latin typeface="29LT Bukra Medium"/>
                <a:ea typeface="29LT Bukra Medium"/>
                <a:cs typeface="29LT Bukra Medium"/>
                <a:sym typeface="29LT Bukra Medium"/>
                <a:hlinkClick r:id="rId6" tooltip="https://colah.github.io/posts/2015-08-Understanding-LSTMs/"/>
              </a:rPr>
              <a:t>://colah.github.io/posts/2015-08-</a:t>
            </a:r>
          </a:p>
        </p:txBody>
      </p:sp>
      <p:sp>
        <p:nvSpPr>
          <p:cNvPr id="8" name="TextBox 8"/>
          <p:cNvSpPr txBox="1"/>
          <p:nvPr/>
        </p:nvSpPr>
        <p:spPr>
          <a:xfrm>
            <a:off x="4664078" y="1677372"/>
            <a:ext cx="4262152" cy="1573673"/>
          </a:xfrm>
          <a:prstGeom prst="rect">
            <a:avLst/>
          </a:prstGeom>
        </p:spPr>
        <p:txBody>
          <a:bodyPr lIns="0" tIns="0" rIns="0" bIns="0" rtlCol="0" anchor="t">
            <a:spAutoFit/>
          </a:bodyPr>
          <a:lstStyle/>
          <a:p>
            <a:pPr algn="l">
              <a:lnSpc>
                <a:spcPts val="2161"/>
              </a:lnSpc>
            </a:pPr>
            <a:r>
              <a:rPr lang="en-US" sz="1802" b="1">
                <a:solidFill>
                  <a:srgbClr val="F0EFEE"/>
                </a:solidFill>
                <a:latin typeface="29LT Bukra Medium"/>
                <a:ea typeface="29LT Bukra Medium"/>
                <a:cs typeface="29LT Bukra Medium"/>
                <a:sym typeface="29LT Bukra Medium"/>
                <a:hlinkClick r:id="rId6" tooltip="https://colah.github.io/posts/2015-08-Understanding-LSTMs/"/>
              </a:rPr>
              <a:t>Understanding-LSTMs/</a:t>
            </a:r>
          </a:p>
          <a:p>
            <a:pPr algn="l">
              <a:lnSpc>
                <a:spcPts val="4500"/>
              </a:lnSpc>
            </a:pPr>
            <a:r>
              <a:rPr lang="en-US" sz="1800" b="1">
                <a:solidFill>
                  <a:srgbClr val="FFFFFF"/>
                </a:solidFill>
                <a:latin typeface="29LT Bukra Medium"/>
                <a:ea typeface="29LT Bukra Medium"/>
                <a:cs typeface="29LT Bukra Medium"/>
                <a:sym typeface="29LT Bukra Medium"/>
              </a:rPr>
              <a:t>Features:</a:t>
            </a:r>
          </a:p>
          <a:p>
            <a:pPr algn="l">
              <a:lnSpc>
                <a:spcPts val="3036"/>
              </a:lnSpc>
            </a:pPr>
            <a:r>
              <a:rPr lang="en-US" sz="1800" b="1">
                <a:solidFill>
                  <a:srgbClr val="FFFFFF"/>
                </a:solidFill>
                <a:latin typeface="29LT Bukra Medium"/>
                <a:ea typeface="29LT Bukra Medium"/>
                <a:cs typeface="29LT Bukra Medium"/>
                <a:sym typeface="29LT Bukra Medium"/>
              </a:rPr>
              <a:t>LSTM cell in place of standard neural </a:t>
            </a:r>
          </a:p>
          <a:p>
            <a:pPr algn="l">
              <a:lnSpc>
                <a:spcPts val="1288"/>
              </a:lnSpc>
            </a:pPr>
            <a:r>
              <a:rPr lang="en-US" sz="1800" b="1">
                <a:solidFill>
                  <a:srgbClr val="FFFFFF"/>
                </a:solidFill>
                <a:latin typeface="29LT Bukra Medium"/>
                <a:ea typeface="29LT Bukra Medium"/>
                <a:cs typeface="29LT Bukra Medium"/>
                <a:sym typeface="29LT Bukra Medium"/>
              </a:rPr>
              <a:t>network layers:</a:t>
            </a:r>
          </a:p>
        </p:txBody>
      </p:sp>
      <p:sp>
        <p:nvSpPr>
          <p:cNvPr id="9" name="TextBox 9"/>
          <p:cNvSpPr txBox="1"/>
          <p:nvPr/>
        </p:nvSpPr>
        <p:spPr>
          <a:xfrm>
            <a:off x="4804286" y="3420123"/>
            <a:ext cx="138808" cy="990905"/>
          </a:xfrm>
          <a:prstGeom prst="rect">
            <a:avLst/>
          </a:prstGeom>
        </p:spPr>
        <p:txBody>
          <a:bodyPr lIns="0" tIns="0" rIns="0" bIns="0" rtlCol="0" anchor="t">
            <a:spAutoFit/>
          </a:bodyPr>
          <a:lstStyle/>
          <a:p>
            <a:pPr algn="just">
              <a:lnSpc>
                <a:spcPts val="3509"/>
              </a:lnSpc>
            </a:pPr>
            <a:r>
              <a:rPr lang="en-US" sz="1403" b="1">
                <a:solidFill>
                  <a:srgbClr val="000000"/>
                </a:solidFill>
                <a:latin typeface="29LT Bukra Medium"/>
                <a:ea typeface="29LT Bukra Medium"/>
                <a:cs typeface="29LT Bukra Medium"/>
                <a:sym typeface="29LT Bukra Medium"/>
              </a:rPr>
              <a:t>1.</a:t>
            </a:r>
          </a:p>
          <a:p>
            <a:pPr algn="just">
              <a:lnSpc>
                <a:spcPts val="703"/>
              </a:lnSpc>
            </a:pPr>
            <a:r>
              <a:rPr lang="en-US" sz="1406" b="1">
                <a:solidFill>
                  <a:srgbClr val="000000"/>
                </a:solidFill>
                <a:latin typeface="29LT Bukra Medium"/>
                <a:ea typeface="29LT Bukra Medium"/>
                <a:cs typeface="29LT Bukra Medium"/>
                <a:sym typeface="29LT Bukra Medium"/>
              </a:rPr>
              <a:t>2.</a:t>
            </a:r>
          </a:p>
          <a:p>
            <a:pPr algn="just">
              <a:lnSpc>
                <a:spcPts val="2671"/>
              </a:lnSpc>
            </a:pPr>
            <a:r>
              <a:rPr lang="en-US" sz="1403" b="1">
                <a:solidFill>
                  <a:srgbClr val="000000"/>
                </a:solidFill>
                <a:latin typeface="29LT Bukra Medium"/>
                <a:ea typeface="29LT Bukra Medium"/>
                <a:cs typeface="29LT Bukra Medium"/>
                <a:sym typeface="29LT Bukra Medium"/>
              </a:rPr>
              <a:t>3.</a:t>
            </a:r>
          </a:p>
        </p:txBody>
      </p:sp>
      <p:sp>
        <p:nvSpPr>
          <p:cNvPr id="10" name="TextBox 10"/>
          <p:cNvSpPr txBox="1"/>
          <p:nvPr/>
        </p:nvSpPr>
        <p:spPr>
          <a:xfrm>
            <a:off x="5121526" y="3304413"/>
            <a:ext cx="1404861" cy="1120445"/>
          </a:xfrm>
          <a:prstGeom prst="rect">
            <a:avLst/>
          </a:prstGeom>
        </p:spPr>
        <p:txBody>
          <a:bodyPr lIns="0" tIns="0" rIns="0" bIns="0" rtlCol="0" anchor="t">
            <a:spAutoFit/>
          </a:bodyPr>
          <a:lstStyle/>
          <a:p>
            <a:pPr algn="l">
              <a:lnSpc>
                <a:spcPts val="4500"/>
              </a:lnSpc>
            </a:pPr>
            <a:r>
              <a:rPr lang="en-US" sz="1800" b="1">
                <a:solidFill>
                  <a:srgbClr val="FFFFFF"/>
                </a:solidFill>
                <a:latin typeface="29LT Bukra Medium"/>
                <a:ea typeface="29LT Bukra Medium"/>
                <a:cs typeface="29LT Bukra Medium"/>
                <a:sym typeface="29LT Bukra Medium"/>
              </a:rPr>
              <a:t>Input gate</a:t>
            </a:r>
          </a:p>
          <a:p>
            <a:pPr algn="l">
              <a:lnSpc>
                <a:spcPts val="901"/>
              </a:lnSpc>
            </a:pPr>
            <a:r>
              <a:rPr lang="en-US" sz="1802" b="1">
                <a:solidFill>
                  <a:srgbClr val="FFFFFF"/>
                </a:solidFill>
                <a:latin typeface="29LT Bukra Medium"/>
                <a:ea typeface="29LT Bukra Medium"/>
                <a:cs typeface="29LT Bukra Medium"/>
                <a:sym typeface="29LT Bukra Medium"/>
              </a:rPr>
              <a:t>Forget gate</a:t>
            </a:r>
          </a:p>
          <a:p>
            <a:pPr algn="l">
              <a:lnSpc>
                <a:spcPts val="3425"/>
              </a:lnSpc>
            </a:pPr>
            <a:r>
              <a:rPr lang="en-US" sz="1800" b="1">
                <a:solidFill>
                  <a:srgbClr val="FFFFFF"/>
                </a:solidFill>
                <a:latin typeface="29LT Bukra Medium"/>
                <a:ea typeface="29LT Bukra Medium"/>
                <a:cs typeface="29LT Bukra Medium"/>
                <a:sym typeface="29LT Bukra Medium"/>
              </a:rPr>
              <a:t>Output gate</a:t>
            </a:r>
          </a:p>
        </p:txBody>
      </p:sp>
      <p:sp>
        <p:nvSpPr>
          <p:cNvPr id="11" name="TextBox 11"/>
          <p:cNvSpPr txBox="1"/>
          <p:nvPr/>
        </p:nvSpPr>
        <p:spPr>
          <a:xfrm>
            <a:off x="1789176" y="2121665"/>
            <a:ext cx="1017870" cy="397032"/>
          </a:xfrm>
          <a:prstGeom prst="rect">
            <a:avLst/>
          </a:prstGeom>
        </p:spPr>
        <p:txBody>
          <a:bodyPr lIns="0" tIns="0" rIns="0" bIns="0" rtlCol="0" anchor="t">
            <a:spAutoFit/>
          </a:bodyPr>
          <a:lstStyle/>
          <a:p>
            <a:pPr algn="l">
              <a:lnSpc>
                <a:spcPts val="3359"/>
              </a:lnSpc>
            </a:pPr>
            <a:r>
              <a:rPr lang="en-US" sz="2400" b="1" dirty="0">
                <a:solidFill>
                  <a:srgbClr val="4A6F94"/>
                </a:solidFill>
                <a:latin typeface="Arial" panose="020B0604020202020204" pitchFamily="34" charset="0"/>
                <a:ea typeface="29LT Bukra Bold"/>
                <a:cs typeface="Arial" panose="020B0604020202020204" pitchFamily="34" charset="0"/>
                <a:sym typeface="29LT Bukra Bold"/>
              </a:rPr>
              <a:t>LSTMs</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304495" y="4698949"/>
            <a:ext cx="86363" cy="24910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81</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62631"/>
            <a:ext cx="4485608" cy="720838"/>
          </a:xfrm>
          <a:prstGeom prst="rect">
            <a:avLst/>
          </a:prstGeom>
        </p:spPr>
        <p:txBody>
          <a:bodyPr lIns="0" tIns="0" rIns="0" bIns="0" rtlCol="0" anchor="t">
            <a:spAutoFit/>
          </a:bodyPr>
          <a:lstStyle/>
          <a:p>
            <a:pPr algn="l">
              <a:lnSpc>
                <a:spcPts val="2904"/>
              </a:lnSpc>
            </a:pPr>
            <a:r>
              <a:rPr lang="en-US" sz="2400" b="1" spc="2" dirty="0">
                <a:solidFill>
                  <a:srgbClr val="FFFFFF"/>
                </a:solidFill>
                <a:latin typeface="Arial" panose="020B0604020202020204" pitchFamily="34" charset="0"/>
                <a:ea typeface="29LT Bukra Bold"/>
                <a:cs typeface="Arial" panose="020B0604020202020204" pitchFamily="34" charset="0"/>
                <a:sym typeface="29LT Bukra Bold"/>
              </a:rPr>
              <a:t>Dimensionality Reduction - Feature Engineering</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572000" y="1031748"/>
            <a:ext cx="4213860" cy="3334512"/>
          </a:xfrm>
          <a:custGeom>
            <a:avLst/>
            <a:gdLst/>
            <a:ahLst/>
            <a:cxnLst/>
            <a:rect l="l" t="t" r="r" b="b"/>
            <a:pathLst>
              <a:path w="4213860" h="3334512">
                <a:moveTo>
                  <a:pt x="0" y="0"/>
                </a:moveTo>
                <a:lnTo>
                  <a:pt x="4213860" y="0"/>
                </a:lnTo>
                <a:lnTo>
                  <a:pt x="4213860" y="3334512"/>
                </a:lnTo>
                <a:lnTo>
                  <a:pt x="0" y="3334512"/>
                </a:lnTo>
                <a:lnTo>
                  <a:pt x="0" y="0"/>
                </a:lnTo>
                <a:close/>
              </a:path>
            </a:pathLst>
          </a:custGeom>
          <a:blipFill>
            <a:blip r:embed="rId9"/>
            <a:stretch>
              <a:fillRect/>
            </a:stretch>
          </a:blipFill>
        </p:spPr>
        <p:txBody>
          <a:bodyPr/>
          <a:lstStyle/>
          <a:p>
            <a:endParaRPr lang="en-IN"/>
          </a:p>
        </p:txBody>
      </p:sp>
      <p:sp>
        <p:nvSpPr>
          <p:cNvPr id="8" name="Freeform 8"/>
          <p:cNvSpPr/>
          <p:nvPr/>
        </p:nvSpPr>
        <p:spPr>
          <a:xfrm>
            <a:off x="4552188" y="1011936"/>
            <a:ext cx="4253484" cy="3374136"/>
          </a:xfrm>
          <a:custGeom>
            <a:avLst/>
            <a:gdLst/>
            <a:ahLst/>
            <a:cxnLst/>
            <a:rect l="l" t="t" r="r" b="b"/>
            <a:pathLst>
              <a:path w="4253484" h="3374136">
                <a:moveTo>
                  <a:pt x="0" y="0"/>
                </a:moveTo>
                <a:lnTo>
                  <a:pt x="4253484" y="0"/>
                </a:lnTo>
                <a:lnTo>
                  <a:pt x="4253484" y="3374136"/>
                </a:lnTo>
                <a:lnTo>
                  <a:pt x="0" y="33741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293827" y="4645304"/>
            <a:ext cx="109357"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82</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371354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Dimensionality Reduction</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447751" y="3475358"/>
            <a:ext cx="122806" cy="424090"/>
          </a:xfrm>
          <a:prstGeom prst="rect">
            <a:avLst/>
          </a:prstGeom>
        </p:spPr>
        <p:txBody>
          <a:bodyPr lIns="0" tIns="0" rIns="0" bIns="0" rtlCol="0" anchor="t">
            <a:spAutoFit/>
          </a:bodyPr>
          <a:lstStyle/>
          <a:p>
            <a:pPr algn="l">
              <a:lnSpc>
                <a:spcPts val="1679"/>
              </a:lnSpc>
            </a:pPr>
            <a:r>
              <a:rPr lang="en-US" sz="1200" spc="6" dirty="0">
                <a:solidFill>
                  <a:srgbClr val="000000"/>
                </a:solidFill>
                <a:latin typeface="Aptos" panose="020B0004020202020204" pitchFamily="34" charset="0"/>
                <a:ea typeface="Heading Now 11-18"/>
                <a:cs typeface="Heading Now 11-18"/>
                <a:sym typeface="Heading Now 11-18"/>
              </a:rPr>
              <a:t>2.</a:t>
            </a:r>
          </a:p>
        </p:txBody>
      </p:sp>
      <p:sp>
        <p:nvSpPr>
          <p:cNvPr id="14" name="TextBox 14"/>
          <p:cNvSpPr txBox="1"/>
          <p:nvPr/>
        </p:nvSpPr>
        <p:spPr>
          <a:xfrm>
            <a:off x="295046" y="1256662"/>
            <a:ext cx="1281198" cy="331116"/>
          </a:xfrm>
          <a:prstGeom prst="rect">
            <a:avLst/>
          </a:prstGeom>
        </p:spPr>
        <p:txBody>
          <a:bodyPr lIns="0" tIns="0" rIns="0" bIns="0" rtlCol="0" anchor="t">
            <a:spAutoFit/>
          </a:bodyPr>
          <a:lstStyle/>
          <a:p>
            <a:pPr algn="l">
              <a:lnSpc>
                <a:spcPts val="3000"/>
              </a:lnSpc>
            </a:pPr>
            <a:r>
              <a:rPr lang="en-US" sz="1200" spc="1" dirty="0">
                <a:solidFill>
                  <a:srgbClr val="000000"/>
                </a:solidFill>
                <a:latin typeface="Aptos" panose="020B0004020202020204" pitchFamily="34" charset="0"/>
                <a:ea typeface="Heading Now 11-18"/>
                <a:cs typeface="Heading Now 11-18"/>
                <a:sym typeface="Heading Now 11-18"/>
              </a:rPr>
              <a:t>Two Techniques:</a:t>
            </a:r>
          </a:p>
        </p:txBody>
      </p:sp>
      <p:sp>
        <p:nvSpPr>
          <p:cNvPr id="15" name="TextBox 15"/>
          <p:cNvSpPr txBox="1"/>
          <p:nvPr/>
        </p:nvSpPr>
        <p:spPr>
          <a:xfrm>
            <a:off x="447751" y="1807083"/>
            <a:ext cx="82391" cy="715837"/>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1.</a:t>
            </a:r>
          </a:p>
        </p:txBody>
      </p:sp>
      <p:sp>
        <p:nvSpPr>
          <p:cNvPr id="16" name="TextBox 16"/>
          <p:cNvSpPr txBox="1"/>
          <p:nvPr/>
        </p:nvSpPr>
        <p:spPr>
          <a:xfrm>
            <a:off x="752551" y="1807083"/>
            <a:ext cx="1343692"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Feature Selection</a:t>
            </a:r>
          </a:p>
        </p:txBody>
      </p:sp>
      <p:sp>
        <p:nvSpPr>
          <p:cNvPr id="17" name="TextBox 17"/>
          <p:cNvSpPr txBox="1"/>
          <p:nvPr/>
        </p:nvSpPr>
        <p:spPr>
          <a:xfrm>
            <a:off x="1870558" y="2222754"/>
            <a:ext cx="42596" cy="266700"/>
          </a:xfrm>
          <a:prstGeom prst="rect">
            <a:avLst/>
          </a:prstGeom>
        </p:spPr>
        <p:txBody>
          <a:bodyPr lIns="0" tIns="0" rIns="0" bIns="0" rtlCol="0" anchor="t">
            <a:spAutoFit/>
          </a:bodyPr>
          <a:lstStyle/>
          <a:p>
            <a:pPr algn="l">
              <a:lnSpc>
                <a:spcPts val="1896"/>
              </a:lnSpc>
            </a:pPr>
            <a:r>
              <a:rPr lang="en-US" sz="1200" b="1">
                <a:solidFill>
                  <a:srgbClr val="000000"/>
                </a:solidFill>
                <a:latin typeface="29LT Bukra Medium"/>
                <a:ea typeface="29LT Bukra Medium"/>
                <a:cs typeface="29LT Bukra Medium"/>
                <a:sym typeface="29LT Bukra Medium"/>
              </a:rPr>
              <a:t> </a:t>
            </a:r>
          </a:p>
        </p:txBody>
      </p:sp>
      <p:sp>
        <p:nvSpPr>
          <p:cNvPr id="18" name="TextBox 18"/>
          <p:cNvSpPr txBox="1"/>
          <p:nvPr/>
        </p:nvSpPr>
        <p:spPr>
          <a:xfrm>
            <a:off x="752551" y="3399158"/>
            <a:ext cx="1393746" cy="273408"/>
          </a:xfrm>
          <a:prstGeom prst="rect">
            <a:avLst/>
          </a:prstGeom>
        </p:spPr>
        <p:txBody>
          <a:bodyPr lIns="0" tIns="0" rIns="0" bIns="0" rtlCol="0" anchor="t">
            <a:spAutoFit/>
          </a:bodyPr>
          <a:lstStyle/>
          <a:p>
            <a:pPr algn="l">
              <a:lnSpc>
                <a:spcPts val="2432"/>
              </a:lnSpc>
            </a:pPr>
            <a:r>
              <a:rPr lang="en-US" sz="1200" dirty="0">
                <a:solidFill>
                  <a:srgbClr val="000000"/>
                </a:solidFill>
                <a:latin typeface="Aptos" panose="020B0004020202020204" pitchFamily="34" charset="0"/>
                <a:ea typeface="Heading Now 11-18"/>
                <a:cs typeface="Heading Now 11-18"/>
                <a:sym typeface="Heading Now 11-18"/>
              </a:rPr>
              <a:t>Feature Extraction</a:t>
            </a:r>
          </a:p>
        </p:txBody>
      </p:sp>
      <p:sp>
        <p:nvSpPr>
          <p:cNvPr id="19" name="TextBox 19"/>
          <p:cNvSpPr txBox="1"/>
          <p:nvPr/>
        </p:nvSpPr>
        <p:spPr>
          <a:xfrm>
            <a:off x="1851108" y="3698758"/>
            <a:ext cx="42682" cy="324231"/>
          </a:xfrm>
          <a:prstGeom prst="rect">
            <a:avLst/>
          </a:prstGeom>
        </p:spPr>
        <p:txBody>
          <a:bodyPr lIns="0" tIns="0" rIns="0" bIns="0" rtlCol="0" anchor="t">
            <a:spAutoFit/>
          </a:bodyPr>
          <a:lstStyle/>
          <a:p>
            <a:pPr algn="l">
              <a:lnSpc>
                <a:spcPts val="2437"/>
              </a:lnSpc>
            </a:pPr>
            <a:r>
              <a:rPr lang="en-US" sz="1202" b="1">
                <a:solidFill>
                  <a:srgbClr val="000000"/>
                </a:solidFill>
                <a:latin typeface="29LT Bukra Medium"/>
                <a:ea typeface="29LT Bukra Medium"/>
                <a:cs typeface="29LT Bukra Medium"/>
                <a:sym typeface="29LT Bukra Medium"/>
              </a:rPr>
              <a:t> </a:t>
            </a:r>
          </a:p>
        </p:txBody>
      </p:sp>
      <p:sp>
        <p:nvSpPr>
          <p:cNvPr id="20" name="TextBox 20"/>
          <p:cNvSpPr txBox="1"/>
          <p:nvPr/>
        </p:nvSpPr>
        <p:spPr>
          <a:xfrm>
            <a:off x="904951" y="3156461"/>
            <a:ext cx="123111"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c.</a:t>
            </a:r>
          </a:p>
        </p:txBody>
      </p:sp>
      <p:sp>
        <p:nvSpPr>
          <p:cNvPr id="21" name="TextBox 21"/>
          <p:cNvSpPr txBox="1"/>
          <p:nvPr/>
        </p:nvSpPr>
        <p:spPr>
          <a:xfrm>
            <a:off x="904951" y="2241804"/>
            <a:ext cx="133998" cy="247650"/>
          </a:xfrm>
          <a:prstGeom prst="rect">
            <a:avLst/>
          </a:prstGeom>
        </p:spPr>
        <p:txBody>
          <a:bodyPr lIns="0" tIns="0" rIns="0" bIns="0" rtlCol="0" anchor="t">
            <a:spAutoFit/>
          </a:bodyPr>
          <a:lstStyle/>
          <a:p>
            <a:pPr algn="l">
              <a:lnSpc>
                <a:spcPts val="1679"/>
              </a:lnSpc>
            </a:pPr>
            <a:r>
              <a:rPr lang="en-US" sz="1200" b="1" spc="6">
                <a:solidFill>
                  <a:srgbClr val="000000"/>
                </a:solidFill>
                <a:latin typeface="29LT Bukra Medium"/>
                <a:ea typeface="29LT Bukra Medium"/>
                <a:cs typeface="29LT Bukra Medium"/>
                <a:sym typeface="29LT Bukra Medium"/>
              </a:rPr>
              <a:t>a.</a:t>
            </a:r>
          </a:p>
        </p:txBody>
      </p:sp>
      <p:sp>
        <p:nvSpPr>
          <p:cNvPr id="22" name="TextBox 22"/>
          <p:cNvSpPr txBox="1"/>
          <p:nvPr/>
        </p:nvSpPr>
        <p:spPr>
          <a:xfrm>
            <a:off x="904951" y="3977488"/>
            <a:ext cx="133998" cy="594360"/>
          </a:xfrm>
          <a:prstGeom prst="rect">
            <a:avLst/>
          </a:prstGeom>
        </p:spPr>
        <p:txBody>
          <a:bodyPr lIns="0" tIns="0" rIns="0" bIns="0" rtlCol="0" anchor="t">
            <a:spAutoFit/>
          </a:bodyPr>
          <a:lstStyle/>
          <a:p>
            <a:pPr algn="l">
              <a:lnSpc>
                <a:spcPts val="1439"/>
              </a:lnSpc>
            </a:pPr>
            <a:r>
              <a:rPr lang="en-US" sz="1200" b="1" spc="6">
                <a:solidFill>
                  <a:srgbClr val="000000"/>
                </a:solidFill>
                <a:latin typeface="29LT Bukra Medium"/>
                <a:ea typeface="29LT Bukra Medium"/>
                <a:cs typeface="29LT Bukra Medium"/>
                <a:sym typeface="29LT Bukra Medium"/>
              </a:rPr>
              <a:t>b. c. d.</a:t>
            </a:r>
          </a:p>
        </p:txBody>
      </p:sp>
      <p:sp>
        <p:nvSpPr>
          <p:cNvPr id="23" name="TextBox 23"/>
          <p:cNvSpPr txBox="1"/>
          <p:nvPr/>
        </p:nvSpPr>
        <p:spPr>
          <a:xfrm>
            <a:off x="2806436" y="3794008"/>
            <a:ext cx="42682" cy="228981"/>
          </a:xfrm>
          <a:prstGeom prst="rect">
            <a:avLst/>
          </a:prstGeom>
        </p:spPr>
        <p:txBody>
          <a:bodyPr lIns="0" tIns="0" rIns="0" bIns="0" rtlCol="0" anchor="t">
            <a:spAutoFit/>
          </a:bodyPr>
          <a:lstStyle/>
          <a:p>
            <a:pPr algn="l">
              <a:lnSpc>
                <a:spcPts val="1444"/>
              </a:lnSpc>
            </a:pPr>
            <a:r>
              <a:rPr lang="en-US" sz="1202" b="1">
                <a:solidFill>
                  <a:srgbClr val="000000"/>
                </a:solidFill>
                <a:latin typeface="29LT Bukra Medium"/>
                <a:ea typeface="29LT Bukra Medium"/>
                <a:cs typeface="29LT Bukra Medium"/>
                <a:sym typeface="29LT Bukra Medium"/>
              </a:rPr>
              <a:t> </a:t>
            </a:r>
          </a:p>
        </p:txBody>
      </p:sp>
      <p:sp>
        <p:nvSpPr>
          <p:cNvPr id="24" name="TextBox 24"/>
          <p:cNvSpPr txBox="1"/>
          <p:nvPr/>
        </p:nvSpPr>
        <p:spPr>
          <a:xfrm>
            <a:off x="1209751" y="3977488"/>
            <a:ext cx="2415664" cy="594360"/>
          </a:xfrm>
          <a:prstGeom prst="rect">
            <a:avLst/>
          </a:prstGeom>
        </p:spPr>
        <p:txBody>
          <a:bodyPr lIns="0" tIns="0" rIns="0" bIns="0" rtlCol="0" anchor="t">
            <a:spAutoFit/>
          </a:bodyPr>
          <a:lstStyle/>
          <a:p>
            <a:pPr algn="l">
              <a:lnSpc>
                <a:spcPts val="1441"/>
              </a:lnSpc>
            </a:pPr>
            <a:r>
              <a:rPr lang="en-US" sz="1200" b="1">
                <a:solidFill>
                  <a:srgbClr val="000000"/>
                </a:solidFill>
                <a:latin typeface="29LT Bukra Medium"/>
                <a:ea typeface="29LT Bukra Medium"/>
                <a:cs typeface="29LT Bukra Medium"/>
                <a:sym typeface="29LT Bukra Medium"/>
              </a:rPr>
              <a:t>Linear Discriminant Analysis Quadrant Discriminant Analysis Kernel PCA</a:t>
            </a:r>
          </a:p>
        </p:txBody>
      </p:sp>
      <p:sp>
        <p:nvSpPr>
          <p:cNvPr id="25" name="TextBox 25"/>
          <p:cNvSpPr txBox="1"/>
          <p:nvPr/>
        </p:nvSpPr>
        <p:spPr>
          <a:xfrm>
            <a:off x="1209751" y="2260854"/>
            <a:ext cx="1408976" cy="228600"/>
          </a:xfrm>
          <a:prstGeom prst="rect">
            <a:avLst/>
          </a:prstGeom>
        </p:spPr>
        <p:txBody>
          <a:bodyPr lIns="0" tIns="0" rIns="0" bIns="0" rtlCol="0" anchor="t">
            <a:spAutoFit/>
          </a:bodyPr>
          <a:lstStyle/>
          <a:p>
            <a:pPr algn="l">
              <a:lnSpc>
                <a:spcPts val="1438"/>
              </a:lnSpc>
            </a:pPr>
            <a:r>
              <a:rPr lang="en-US" sz="1200" b="1">
                <a:solidFill>
                  <a:srgbClr val="000000"/>
                </a:solidFill>
                <a:latin typeface="29LT Bukra Medium"/>
                <a:ea typeface="29LT Bukra Medium"/>
                <a:cs typeface="29LT Bukra Medium"/>
                <a:sym typeface="29LT Bukra Medium"/>
              </a:rPr>
              <a:t>Wrappermethods</a:t>
            </a:r>
          </a:p>
        </p:txBody>
      </p:sp>
      <p:sp>
        <p:nvSpPr>
          <p:cNvPr id="26" name="TextBox 26"/>
          <p:cNvSpPr txBox="1"/>
          <p:nvPr/>
        </p:nvSpPr>
        <p:spPr>
          <a:xfrm>
            <a:off x="1362199" y="2443734"/>
            <a:ext cx="99793" cy="411480"/>
          </a:xfrm>
          <a:prstGeom prst="rect">
            <a:avLst/>
          </a:prstGeom>
        </p:spPr>
        <p:txBody>
          <a:bodyPr lIns="0" tIns="0" rIns="0" bIns="0" rtlCol="0" anchor="t">
            <a:spAutoFit/>
          </a:bodyPr>
          <a:lstStyle/>
          <a:p>
            <a:pPr algn="l">
              <a:lnSpc>
                <a:spcPts val="1438"/>
              </a:lnSpc>
            </a:pPr>
            <a:r>
              <a:rPr lang="en-US" sz="1200" b="1" spc="1">
                <a:solidFill>
                  <a:srgbClr val="000000"/>
                </a:solidFill>
                <a:latin typeface="29LT Bukra Medium"/>
                <a:ea typeface="29LT Bukra Medium"/>
                <a:cs typeface="29LT Bukra Medium"/>
                <a:sym typeface="29LT Bukra Medium"/>
              </a:rPr>
              <a:t>i. ii.</a:t>
            </a:r>
          </a:p>
        </p:txBody>
      </p:sp>
      <p:sp>
        <p:nvSpPr>
          <p:cNvPr id="27" name="TextBox 27"/>
          <p:cNvSpPr txBox="1"/>
          <p:nvPr/>
        </p:nvSpPr>
        <p:spPr>
          <a:xfrm>
            <a:off x="1666999" y="2443734"/>
            <a:ext cx="2236280" cy="411480"/>
          </a:xfrm>
          <a:prstGeom prst="rect">
            <a:avLst/>
          </a:prstGeom>
        </p:spPr>
        <p:txBody>
          <a:bodyPr lIns="0" tIns="0" rIns="0" bIns="0" rtlCol="0" anchor="t">
            <a:spAutoFit/>
          </a:bodyPr>
          <a:lstStyle/>
          <a:p>
            <a:pPr algn="l">
              <a:lnSpc>
                <a:spcPts val="1438"/>
              </a:lnSpc>
            </a:pPr>
            <a:r>
              <a:rPr lang="en-US" sz="1200" b="1" spc="1">
                <a:solidFill>
                  <a:srgbClr val="000000"/>
                </a:solidFill>
                <a:latin typeface="29LT Bukra Medium"/>
                <a:ea typeface="29LT Bukra Medium"/>
                <a:cs typeface="29LT Bukra Medium"/>
                <a:sym typeface="29LT Bukra Medium"/>
              </a:rPr>
              <a:t>Recursive feature elimination Successive feature selection</a:t>
            </a:r>
          </a:p>
        </p:txBody>
      </p:sp>
      <p:sp>
        <p:nvSpPr>
          <p:cNvPr id="28" name="TextBox 28"/>
          <p:cNvSpPr txBox="1"/>
          <p:nvPr/>
        </p:nvSpPr>
        <p:spPr>
          <a:xfrm>
            <a:off x="1209751" y="2809199"/>
            <a:ext cx="2762621" cy="594884"/>
          </a:xfrm>
          <a:prstGeom prst="rect">
            <a:avLst/>
          </a:prstGeom>
        </p:spPr>
        <p:txBody>
          <a:bodyPr lIns="0" tIns="0" rIns="0" bIns="0" rtlCol="0" anchor="t">
            <a:spAutoFit/>
          </a:bodyPr>
          <a:lstStyle/>
          <a:p>
            <a:pPr algn="l">
              <a:lnSpc>
                <a:spcPts val="1441"/>
              </a:lnSpc>
            </a:pPr>
            <a:r>
              <a:rPr lang="en-US" sz="1202" b="1">
                <a:solidFill>
                  <a:srgbClr val="000000"/>
                </a:solidFill>
                <a:latin typeface="29LT Bukra Medium"/>
                <a:ea typeface="29LT Bukra Medium"/>
                <a:cs typeface="29LT Bukra Medium"/>
                <a:sym typeface="29LT Bukra Medium"/>
              </a:rPr>
              <a:t>Filtering methods: IG, Chi Square, Correlation Coefficient Embedded methods: Decision Trees</a:t>
            </a:r>
          </a:p>
        </p:txBody>
      </p:sp>
      <p:sp>
        <p:nvSpPr>
          <p:cNvPr id="29" name="TextBox 29"/>
          <p:cNvSpPr txBox="1"/>
          <p:nvPr/>
        </p:nvSpPr>
        <p:spPr>
          <a:xfrm>
            <a:off x="904951" y="2790149"/>
            <a:ext cx="134055" cy="248031"/>
          </a:xfrm>
          <a:prstGeom prst="rect">
            <a:avLst/>
          </a:prstGeom>
        </p:spPr>
        <p:txBody>
          <a:bodyPr lIns="0" tIns="0" rIns="0" bIns="0" rtlCol="0" anchor="t">
            <a:spAutoFit/>
          </a:bodyPr>
          <a:lstStyle/>
          <a:p>
            <a:pPr algn="l">
              <a:lnSpc>
                <a:spcPts val="1683"/>
              </a:lnSpc>
            </a:pPr>
            <a:r>
              <a:rPr lang="en-US" sz="1202" b="1" spc="4">
                <a:solidFill>
                  <a:srgbClr val="000000"/>
                </a:solidFill>
                <a:latin typeface="29LT Bukra Medium"/>
                <a:ea typeface="29LT Bukra Medium"/>
                <a:cs typeface="29LT Bukra Medium"/>
                <a:sym typeface="29LT Bukra Medium"/>
              </a:rPr>
              <a:t>b.</a:t>
            </a:r>
          </a:p>
        </p:txBody>
      </p:sp>
      <p:sp>
        <p:nvSpPr>
          <p:cNvPr id="30" name="TextBox 30"/>
          <p:cNvSpPr txBox="1"/>
          <p:nvPr/>
        </p:nvSpPr>
        <p:spPr>
          <a:xfrm>
            <a:off x="904951" y="3774958"/>
            <a:ext cx="134055" cy="248031"/>
          </a:xfrm>
          <a:prstGeom prst="rect">
            <a:avLst/>
          </a:prstGeom>
        </p:spPr>
        <p:txBody>
          <a:bodyPr lIns="0" tIns="0" rIns="0" bIns="0" rtlCol="0" anchor="t">
            <a:spAutoFit/>
          </a:bodyPr>
          <a:lstStyle/>
          <a:p>
            <a:pPr algn="just">
              <a:lnSpc>
                <a:spcPts val="1683"/>
              </a:lnSpc>
            </a:pPr>
            <a:r>
              <a:rPr lang="en-US" sz="1202" b="1" spc="4">
                <a:solidFill>
                  <a:srgbClr val="000000"/>
                </a:solidFill>
                <a:latin typeface="29LT Bukra Medium"/>
                <a:ea typeface="29LT Bukra Medium"/>
                <a:cs typeface="29LT Bukra Medium"/>
                <a:sym typeface="29LT Bukra Medium"/>
              </a:rPr>
              <a:t>a.</a:t>
            </a:r>
          </a:p>
        </p:txBody>
      </p:sp>
      <p:sp>
        <p:nvSpPr>
          <p:cNvPr id="31" name="TextBox 31"/>
          <p:cNvSpPr txBox="1"/>
          <p:nvPr/>
        </p:nvSpPr>
        <p:spPr>
          <a:xfrm>
            <a:off x="1209751" y="3774958"/>
            <a:ext cx="2293706"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Principal</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Component</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Analysis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666488" y="1194816"/>
            <a:ext cx="4020312" cy="3174492"/>
          </a:xfrm>
          <a:custGeom>
            <a:avLst/>
            <a:gdLst/>
            <a:ahLst/>
            <a:cxnLst/>
            <a:rect l="l" t="t" r="r" b="b"/>
            <a:pathLst>
              <a:path w="4020312" h="3174492">
                <a:moveTo>
                  <a:pt x="0" y="0"/>
                </a:moveTo>
                <a:lnTo>
                  <a:pt x="4020312" y="0"/>
                </a:lnTo>
                <a:lnTo>
                  <a:pt x="4020312" y="3174492"/>
                </a:lnTo>
                <a:lnTo>
                  <a:pt x="0" y="3174492"/>
                </a:lnTo>
                <a:lnTo>
                  <a:pt x="0" y="0"/>
                </a:lnTo>
                <a:close/>
              </a:path>
            </a:pathLst>
          </a:custGeom>
          <a:blipFill>
            <a:blip r:embed="rId9"/>
            <a:stretch>
              <a:fillRect/>
            </a:stretch>
          </a:blipFill>
        </p:spPr>
        <p:txBody>
          <a:bodyPr/>
          <a:lstStyle/>
          <a:p>
            <a:endParaRPr lang="en-IN"/>
          </a:p>
        </p:txBody>
      </p:sp>
      <p:sp>
        <p:nvSpPr>
          <p:cNvPr id="8" name="Freeform 8"/>
          <p:cNvSpPr/>
          <p:nvPr/>
        </p:nvSpPr>
        <p:spPr>
          <a:xfrm>
            <a:off x="4646676" y="1175004"/>
            <a:ext cx="4059936" cy="3214116"/>
          </a:xfrm>
          <a:custGeom>
            <a:avLst/>
            <a:gdLst/>
            <a:ahLst/>
            <a:cxnLst/>
            <a:rect l="l" t="t" r="r" b="b"/>
            <a:pathLst>
              <a:path w="4059936" h="3214116">
                <a:moveTo>
                  <a:pt x="0" y="0"/>
                </a:moveTo>
                <a:lnTo>
                  <a:pt x="4059936" y="0"/>
                </a:lnTo>
                <a:lnTo>
                  <a:pt x="4059936" y="3214116"/>
                </a:lnTo>
                <a:lnTo>
                  <a:pt x="0" y="32141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292303" y="4645304"/>
            <a:ext cx="110623"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83</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97469"/>
            <a:ext cx="3713540" cy="388311"/>
          </a:xfrm>
          <a:prstGeom prst="rect">
            <a:avLst/>
          </a:prstGeom>
        </p:spPr>
        <p:txBody>
          <a:bodyPr lIns="0" tIns="0" rIns="0" bIns="0" rtlCol="0" anchor="t">
            <a:spAutoFit/>
          </a:bodyPr>
          <a:lstStyle/>
          <a:p>
            <a:pPr algn="l">
              <a:lnSpc>
                <a:spcPts val="3448"/>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Dimensionality Reduction</a:t>
            </a:r>
          </a:p>
        </p:txBody>
      </p:sp>
      <p:sp>
        <p:nvSpPr>
          <p:cNvPr id="12" name="TextBox 12"/>
          <p:cNvSpPr txBox="1"/>
          <p:nvPr/>
        </p:nvSpPr>
        <p:spPr>
          <a:xfrm>
            <a:off x="1204722" y="733930"/>
            <a:ext cx="41500"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 </a:t>
            </a:r>
          </a:p>
        </p:txBody>
      </p:sp>
      <p:sp>
        <p:nvSpPr>
          <p:cNvPr id="13" name="TextBox 13"/>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4" name="TextBox 14"/>
          <p:cNvSpPr txBox="1"/>
          <p:nvPr/>
        </p:nvSpPr>
        <p:spPr>
          <a:xfrm>
            <a:off x="243840" y="1451229"/>
            <a:ext cx="64046"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5" name="TextBox 15"/>
          <p:cNvSpPr txBox="1"/>
          <p:nvPr/>
        </p:nvSpPr>
        <p:spPr>
          <a:xfrm>
            <a:off x="243840" y="2899286"/>
            <a:ext cx="64046"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6" name="TextBox 16"/>
          <p:cNvSpPr txBox="1"/>
          <p:nvPr/>
        </p:nvSpPr>
        <p:spPr>
          <a:xfrm>
            <a:off x="548640" y="867280"/>
            <a:ext cx="2321309" cy="206082"/>
          </a:xfrm>
          <a:prstGeom prst="rect">
            <a:avLst/>
          </a:prstGeom>
        </p:spPr>
        <p:txBody>
          <a:bodyPr lIns="0" tIns="0" rIns="0" bIns="0" rtlCol="0" anchor="t">
            <a:spAutoFit/>
          </a:bodyPr>
          <a:lstStyle/>
          <a:p>
            <a:pPr algn="l">
              <a:lnSpc>
                <a:spcPts val="1679"/>
              </a:lnSpc>
            </a:pPr>
            <a:r>
              <a:rPr lang="en-US" sz="1200" dirty="0" err="1">
                <a:solidFill>
                  <a:srgbClr val="000000"/>
                </a:solidFill>
                <a:latin typeface="Aptos" panose="020B0004020202020204" pitchFamily="34" charset="0"/>
                <a:ea typeface="Heading Now 11-18"/>
                <a:cs typeface="Heading Now 11-18"/>
                <a:sym typeface="Heading Now 11-18"/>
              </a:rPr>
              <a:t>PrincipalComponentAnalysis</a:t>
            </a:r>
            <a:endParaRPr lang="en-US" sz="1200" dirty="0">
              <a:solidFill>
                <a:srgbClr val="000000"/>
              </a:solidFill>
              <a:latin typeface="Aptos" panose="020B0004020202020204" pitchFamily="34" charset="0"/>
              <a:ea typeface="Heading Now 11-18"/>
              <a:cs typeface="Heading Now 11-18"/>
              <a:sym typeface="Heading Now 11-18"/>
            </a:endParaRPr>
          </a:p>
        </p:txBody>
      </p:sp>
      <p:sp>
        <p:nvSpPr>
          <p:cNvPr id="17" name="TextBox 17"/>
          <p:cNvSpPr txBox="1"/>
          <p:nvPr/>
        </p:nvSpPr>
        <p:spPr>
          <a:xfrm>
            <a:off x="548640" y="1432179"/>
            <a:ext cx="3699815" cy="1121540"/>
          </a:xfrm>
          <a:prstGeom prst="rect">
            <a:avLst/>
          </a:prstGeom>
        </p:spPr>
        <p:txBody>
          <a:bodyPr lIns="0" tIns="0" rIns="0" bIns="0" rtlCol="0" anchor="t">
            <a:spAutoFit/>
          </a:bodyPr>
          <a:lstStyle/>
          <a:p>
            <a:pPr algn="just">
              <a:lnSpc>
                <a:spcPts val="1705"/>
              </a:lnSpc>
            </a:pPr>
            <a:r>
              <a:rPr lang="en-US" sz="1200" b="1">
                <a:solidFill>
                  <a:srgbClr val="000000"/>
                </a:solidFill>
                <a:latin typeface="29LT Bukra Medium"/>
                <a:ea typeface="29LT Bukra Medium"/>
                <a:cs typeface="29LT Bukra Medium"/>
                <a:sym typeface="29LT Bukra Medium"/>
              </a:rPr>
              <a:t>Principal Component Analysis (PCA) is basically a dimensionality reduction algorithm, but it can also be useful as a tool for visualization, noise filtering, feature extraction &amp; engineering, and much more. </a:t>
            </a:r>
          </a:p>
        </p:txBody>
      </p:sp>
      <p:sp>
        <p:nvSpPr>
          <p:cNvPr id="18" name="TextBox 18"/>
          <p:cNvSpPr txBox="1"/>
          <p:nvPr/>
        </p:nvSpPr>
        <p:spPr>
          <a:xfrm>
            <a:off x="548640" y="2756411"/>
            <a:ext cx="3732305" cy="1029081"/>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PCA creates a visualization of data that </a:t>
            </a:r>
          </a:p>
          <a:p>
            <a:pPr algn="l">
              <a:lnSpc>
                <a:spcPts val="600"/>
              </a:lnSpc>
            </a:pPr>
            <a:r>
              <a:rPr lang="en-US" sz="1200" b="1">
                <a:solidFill>
                  <a:srgbClr val="000000"/>
                </a:solidFill>
                <a:latin typeface="29LT Bukra Medium"/>
                <a:ea typeface="29LT Bukra Medium"/>
                <a:cs typeface="29LT Bukra Medium"/>
                <a:sym typeface="29LT Bukra Medium"/>
              </a:rPr>
              <a:t>minimizes residual variance in the least squares </a:t>
            </a:r>
          </a:p>
          <a:p>
            <a:pPr algn="l">
              <a:lnSpc>
                <a:spcPts val="2790"/>
              </a:lnSpc>
            </a:pPr>
            <a:r>
              <a:rPr lang="en-US" sz="1200" b="1">
                <a:solidFill>
                  <a:srgbClr val="000000"/>
                </a:solidFill>
                <a:latin typeface="29LT Bukra Medium"/>
                <a:ea typeface="29LT Bukra Medium"/>
                <a:cs typeface="29LT Bukra Medium"/>
                <a:sym typeface="29LT Bukra Medium"/>
              </a:rPr>
              <a:t>sense and maximizes the variance of the </a:t>
            </a:r>
          </a:p>
          <a:p>
            <a:pPr algn="l">
              <a:lnSpc>
                <a:spcPts val="618"/>
              </a:lnSpc>
            </a:pPr>
            <a:r>
              <a:rPr lang="en-US" sz="1200" b="1">
                <a:solidFill>
                  <a:srgbClr val="000000"/>
                </a:solidFill>
                <a:latin typeface="29LT Bukra Medium"/>
                <a:ea typeface="29LT Bukra Medium"/>
                <a:cs typeface="29LT Bukra Medium"/>
                <a:sym typeface="29LT Bukra Medium"/>
              </a:rPr>
              <a:t>projection coordinates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grpSp>
        <p:nvGrpSpPr>
          <p:cNvPr id="7" name="Group 7"/>
          <p:cNvGrpSpPr>
            <a:grpSpLocks noChangeAspect="1"/>
          </p:cNvGrpSpPr>
          <p:nvPr/>
        </p:nvGrpSpPr>
        <p:grpSpPr>
          <a:xfrm>
            <a:off x="4517136" y="1057656"/>
            <a:ext cx="4367784" cy="1680972"/>
            <a:chOff x="0" y="0"/>
            <a:chExt cx="5823712" cy="2241296"/>
          </a:xfrm>
        </p:grpSpPr>
        <p:sp>
          <p:nvSpPr>
            <p:cNvPr id="8" name="Freeform 8"/>
            <p:cNvSpPr/>
            <p:nvPr/>
          </p:nvSpPr>
          <p:spPr>
            <a:xfrm>
              <a:off x="0" y="0"/>
              <a:ext cx="5823712" cy="2241296"/>
            </a:xfrm>
            <a:custGeom>
              <a:avLst/>
              <a:gdLst/>
              <a:ahLst/>
              <a:cxnLst/>
              <a:rect l="l" t="t" r="r" b="b"/>
              <a:pathLst>
                <a:path w="5823712" h="2241296">
                  <a:moveTo>
                    <a:pt x="0" y="0"/>
                  </a:moveTo>
                  <a:lnTo>
                    <a:pt x="0" y="2241296"/>
                  </a:lnTo>
                  <a:lnTo>
                    <a:pt x="5823712" y="2241296"/>
                  </a:lnTo>
                  <a:lnTo>
                    <a:pt x="5823712" y="0"/>
                  </a:lnTo>
                  <a:lnTo>
                    <a:pt x="0" y="0"/>
                  </a:lnTo>
                  <a:close/>
                </a:path>
              </a:pathLst>
            </a:custGeom>
            <a:blipFill>
              <a:blip r:embed="rId9"/>
              <a:stretch>
                <a:fillRect/>
              </a:stretch>
            </a:blipFill>
          </p:spPr>
          <p:txBody>
            <a:bodyPr/>
            <a:lstStyle/>
            <a:p>
              <a:endParaRPr lang="en-IN"/>
            </a:p>
          </p:txBody>
        </p:sp>
      </p:grpSp>
      <p:sp>
        <p:nvSpPr>
          <p:cNvPr id="9" name="Freeform 9"/>
          <p:cNvSpPr/>
          <p:nvPr/>
        </p:nvSpPr>
        <p:spPr>
          <a:xfrm>
            <a:off x="4497324" y="1037844"/>
            <a:ext cx="4407408" cy="1720596"/>
          </a:xfrm>
          <a:custGeom>
            <a:avLst/>
            <a:gdLst/>
            <a:ahLst/>
            <a:cxnLst/>
            <a:rect l="l" t="t" r="r" b="b"/>
            <a:pathLst>
              <a:path w="4407408" h="1720596">
                <a:moveTo>
                  <a:pt x="0" y="0"/>
                </a:moveTo>
                <a:lnTo>
                  <a:pt x="4407408" y="0"/>
                </a:lnTo>
                <a:lnTo>
                  <a:pt x="4407408" y="1720596"/>
                </a:lnTo>
                <a:lnTo>
                  <a:pt x="0" y="17205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10" name="Freeform 10"/>
          <p:cNvSpPr/>
          <p:nvPr/>
        </p:nvSpPr>
        <p:spPr>
          <a:xfrm>
            <a:off x="4517136" y="2994660"/>
            <a:ext cx="4367784" cy="1680972"/>
          </a:xfrm>
          <a:custGeom>
            <a:avLst/>
            <a:gdLst/>
            <a:ahLst/>
            <a:cxnLst/>
            <a:rect l="l" t="t" r="r" b="b"/>
            <a:pathLst>
              <a:path w="4367784" h="1680972">
                <a:moveTo>
                  <a:pt x="0" y="0"/>
                </a:moveTo>
                <a:lnTo>
                  <a:pt x="4367784" y="0"/>
                </a:lnTo>
                <a:lnTo>
                  <a:pt x="4367784" y="1680972"/>
                </a:lnTo>
                <a:lnTo>
                  <a:pt x="0" y="1680972"/>
                </a:lnTo>
                <a:lnTo>
                  <a:pt x="0" y="0"/>
                </a:lnTo>
                <a:close/>
              </a:path>
            </a:pathLst>
          </a:custGeom>
          <a:blipFill>
            <a:blip r:embed="rId12"/>
            <a:stretch>
              <a:fillRect/>
            </a:stretch>
          </a:blipFill>
        </p:spPr>
        <p:txBody>
          <a:bodyPr/>
          <a:lstStyle/>
          <a:p>
            <a:endParaRPr lang="en-IN"/>
          </a:p>
        </p:txBody>
      </p:sp>
      <p:sp>
        <p:nvSpPr>
          <p:cNvPr id="11" name="Freeform 11"/>
          <p:cNvSpPr/>
          <p:nvPr/>
        </p:nvSpPr>
        <p:spPr>
          <a:xfrm>
            <a:off x="4497324" y="2974848"/>
            <a:ext cx="4407408" cy="1720596"/>
          </a:xfrm>
          <a:custGeom>
            <a:avLst/>
            <a:gdLst/>
            <a:ahLst/>
            <a:cxnLst/>
            <a:rect l="l" t="t" r="r" b="b"/>
            <a:pathLst>
              <a:path w="4407408" h="1720596">
                <a:moveTo>
                  <a:pt x="0" y="0"/>
                </a:moveTo>
                <a:lnTo>
                  <a:pt x="4407408" y="0"/>
                </a:lnTo>
                <a:lnTo>
                  <a:pt x="4407408" y="1720596"/>
                </a:lnTo>
                <a:lnTo>
                  <a:pt x="0" y="1720596"/>
                </a:lnTo>
                <a:lnTo>
                  <a:pt x="0" y="0"/>
                </a:lnTo>
                <a:close/>
              </a:path>
            </a:pathLst>
          </a:custGeom>
          <a:blipFill>
            <a:blip r:embed="rId10">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12" name="TextBox 12"/>
          <p:cNvSpPr txBox="1"/>
          <p:nvPr/>
        </p:nvSpPr>
        <p:spPr>
          <a:xfrm>
            <a:off x="290779" y="4645304"/>
            <a:ext cx="114224"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84</a:t>
            </a:r>
          </a:p>
        </p:txBody>
      </p:sp>
      <p:sp>
        <p:nvSpPr>
          <p:cNvPr id="13" name="TextBox 13"/>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4" name="TextBox 14"/>
          <p:cNvSpPr txBox="1"/>
          <p:nvPr/>
        </p:nvSpPr>
        <p:spPr>
          <a:xfrm>
            <a:off x="259385" y="145094"/>
            <a:ext cx="371354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Dimensionality Reduction</a:t>
            </a:r>
          </a:p>
        </p:txBody>
      </p:sp>
      <p:sp>
        <p:nvSpPr>
          <p:cNvPr id="15" name="TextBox 15"/>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6" name="TextBox 16"/>
          <p:cNvSpPr txBox="1"/>
          <p:nvPr/>
        </p:nvSpPr>
        <p:spPr>
          <a:xfrm>
            <a:off x="126187" y="1169165"/>
            <a:ext cx="2162899"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Linear Discriminant Analysis</a:t>
            </a:r>
          </a:p>
        </p:txBody>
      </p:sp>
      <p:sp>
        <p:nvSpPr>
          <p:cNvPr id="17" name="TextBox 17"/>
          <p:cNvSpPr txBox="1"/>
          <p:nvPr/>
        </p:nvSpPr>
        <p:spPr>
          <a:xfrm>
            <a:off x="278587" y="1605029"/>
            <a:ext cx="64046" cy="331116"/>
          </a:xfrm>
          <a:prstGeom prst="rect">
            <a:avLst/>
          </a:prstGeom>
        </p:spPr>
        <p:txBody>
          <a:bodyPr lIns="0" tIns="0" rIns="0" bIns="0" rtlCol="0" anchor="t">
            <a:spAutoFit/>
          </a:bodyPr>
          <a:lstStyle/>
          <a:p>
            <a:pPr algn="l">
              <a:lnSpc>
                <a:spcPts val="3000"/>
              </a:lnSpc>
            </a:pPr>
            <a:r>
              <a:rPr lang="en-US" sz="1200" spc="960" dirty="0">
                <a:solidFill>
                  <a:srgbClr val="000000"/>
                </a:solidFill>
                <a:latin typeface="Aptos" panose="020B0004020202020204" pitchFamily="34" charset="0"/>
                <a:ea typeface="Heading Now 11-18"/>
                <a:cs typeface="Heading Now 11-18"/>
                <a:sym typeface="Heading Now 11-18"/>
              </a:rPr>
              <a:t>•</a:t>
            </a:r>
          </a:p>
        </p:txBody>
      </p:sp>
      <p:sp>
        <p:nvSpPr>
          <p:cNvPr id="18" name="TextBox 18"/>
          <p:cNvSpPr txBox="1"/>
          <p:nvPr/>
        </p:nvSpPr>
        <p:spPr>
          <a:xfrm>
            <a:off x="854812" y="1595504"/>
            <a:ext cx="42596" cy="381000"/>
          </a:xfrm>
          <a:prstGeom prst="rect">
            <a:avLst/>
          </a:prstGeom>
        </p:spPr>
        <p:txBody>
          <a:bodyPr lIns="0" tIns="0" rIns="0" bIns="0" rtlCol="0" anchor="t">
            <a:spAutoFit/>
          </a:bodyPr>
          <a:lstStyle/>
          <a:p>
            <a:pPr algn="l">
              <a:lnSpc>
                <a:spcPts val="3000"/>
              </a:lnSpc>
            </a:pPr>
            <a:r>
              <a:rPr lang="en-US" sz="1200" b="1" spc="960">
                <a:solidFill>
                  <a:srgbClr val="000000"/>
                </a:solidFill>
                <a:latin typeface="29LT Bukra Medium"/>
                <a:ea typeface="29LT Bukra Medium"/>
                <a:cs typeface="29LT Bukra Medium"/>
                <a:sym typeface="29LT Bukra Medium"/>
              </a:rPr>
              <a:t> </a:t>
            </a:r>
          </a:p>
        </p:txBody>
      </p:sp>
      <p:sp>
        <p:nvSpPr>
          <p:cNvPr id="19" name="TextBox 19"/>
          <p:cNvSpPr txBox="1"/>
          <p:nvPr/>
        </p:nvSpPr>
        <p:spPr>
          <a:xfrm>
            <a:off x="278587" y="2225545"/>
            <a:ext cx="64046" cy="715837"/>
          </a:xfrm>
          <a:prstGeom prst="rect">
            <a:avLst/>
          </a:prstGeom>
        </p:spPr>
        <p:txBody>
          <a:bodyPr lIns="0" tIns="0" rIns="0" bIns="0" rtlCol="0" anchor="t">
            <a:spAutoFit/>
          </a:bodyPr>
          <a:lstStyle/>
          <a:p>
            <a:pPr algn="just">
              <a:lnSpc>
                <a:spcPts val="3000"/>
              </a:lnSpc>
            </a:pPr>
            <a:r>
              <a:rPr lang="en-US" sz="1200" spc="960" dirty="0">
                <a:solidFill>
                  <a:srgbClr val="000000"/>
                </a:solidFill>
                <a:latin typeface="Aptos" panose="020B0004020202020204" pitchFamily="34" charset="0"/>
                <a:ea typeface="Heading Now 11-18"/>
                <a:cs typeface="Heading Now 11-18"/>
                <a:sym typeface="Heading Now 11-18"/>
              </a:rPr>
              <a:t>• •</a:t>
            </a:r>
          </a:p>
        </p:txBody>
      </p:sp>
      <p:sp>
        <p:nvSpPr>
          <p:cNvPr id="20" name="TextBox 20"/>
          <p:cNvSpPr txBox="1"/>
          <p:nvPr/>
        </p:nvSpPr>
        <p:spPr>
          <a:xfrm>
            <a:off x="854812" y="2216020"/>
            <a:ext cx="42596" cy="381000"/>
          </a:xfrm>
          <a:prstGeom prst="rect">
            <a:avLst/>
          </a:prstGeom>
        </p:spPr>
        <p:txBody>
          <a:bodyPr lIns="0" tIns="0" rIns="0" bIns="0" rtlCol="0" anchor="t">
            <a:spAutoFit/>
          </a:bodyPr>
          <a:lstStyle/>
          <a:p>
            <a:pPr algn="l">
              <a:lnSpc>
                <a:spcPts val="3000"/>
              </a:lnSpc>
            </a:pPr>
            <a:r>
              <a:rPr lang="en-US" sz="1200" b="1" spc="960">
                <a:solidFill>
                  <a:srgbClr val="000000"/>
                </a:solidFill>
                <a:latin typeface="29LT Bukra Medium"/>
                <a:ea typeface="29LT Bukra Medium"/>
                <a:cs typeface="29LT Bukra Medium"/>
                <a:sym typeface="29LT Bukra Medium"/>
              </a:rPr>
              <a:t> </a:t>
            </a:r>
          </a:p>
        </p:txBody>
      </p:sp>
      <p:sp>
        <p:nvSpPr>
          <p:cNvPr id="21" name="TextBox 21"/>
          <p:cNvSpPr txBox="1"/>
          <p:nvPr/>
        </p:nvSpPr>
        <p:spPr>
          <a:xfrm>
            <a:off x="1422806" y="2653408"/>
            <a:ext cx="42596" cy="381000"/>
          </a:xfrm>
          <a:prstGeom prst="rect">
            <a:avLst/>
          </a:prstGeom>
        </p:spPr>
        <p:txBody>
          <a:bodyPr lIns="0" tIns="0" rIns="0" bIns="0" rtlCol="0" anchor="t">
            <a:spAutoFit/>
          </a:bodyPr>
          <a:lstStyle/>
          <a:p>
            <a:pPr algn="l">
              <a:lnSpc>
                <a:spcPts val="3000"/>
              </a:lnSpc>
            </a:pPr>
            <a:r>
              <a:rPr lang="en-US" sz="1200" b="1" spc="960">
                <a:solidFill>
                  <a:srgbClr val="000000"/>
                </a:solidFill>
                <a:latin typeface="29LT Bukra Medium"/>
                <a:ea typeface="29LT Bukra Medium"/>
                <a:cs typeface="29LT Bukra Medium"/>
                <a:sym typeface="29LT Bukra Medium"/>
              </a:rPr>
              <a:t> </a:t>
            </a:r>
          </a:p>
        </p:txBody>
      </p:sp>
      <p:sp>
        <p:nvSpPr>
          <p:cNvPr id="22" name="TextBox 22"/>
          <p:cNvSpPr txBox="1"/>
          <p:nvPr/>
        </p:nvSpPr>
        <p:spPr>
          <a:xfrm>
            <a:off x="278587" y="3282058"/>
            <a:ext cx="64046" cy="331116"/>
          </a:xfrm>
          <a:prstGeom prst="rect">
            <a:avLst/>
          </a:prstGeom>
        </p:spPr>
        <p:txBody>
          <a:bodyPr lIns="0" tIns="0" rIns="0" bIns="0" rtlCol="0" anchor="t">
            <a:spAutoFit/>
          </a:bodyPr>
          <a:lstStyle/>
          <a:p>
            <a:pPr algn="l">
              <a:lnSpc>
                <a:spcPts val="3000"/>
              </a:lnSpc>
            </a:pPr>
            <a:r>
              <a:rPr lang="en-US" sz="1200" spc="960" dirty="0">
                <a:solidFill>
                  <a:srgbClr val="000000"/>
                </a:solidFill>
                <a:latin typeface="Aptos" panose="020B0004020202020204" pitchFamily="34" charset="0"/>
                <a:ea typeface="Heading Now 11-18"/>
                <a:cs typeface="Heading Now 11-18"/>
                <a:sym typeface="Heading Now 11-18"/>
              </a:rPr>
              <a:t>•</a:t>
            </a:r>
          </a:p>
        </p:txBody>
      </p:sp>
      <p:sp>
        <p:nvSpPr>
          <p:cNvPr id="23" name="TextBox 23"/>
          <p:cNvSpPr txBox="1"/>
          <p:nvPr/>
        </p:nvSpPr>
        <p:spPr>
          <a:xfrm>
            <a:off x="854812" y="3272533"/>
            <a:ext cx="42596" cy="381000"/>
          </a:xfrm>
          <a:prstGeom prst="rect">
            <a:avLst/>
          </a:prstGeom>
        </p:spPr>
        <p:txBody>
          <a:bodyPr lIns="0" tIns="0" rIns="0" bIns="0" rtlCol="0" anchor="t">
            <a:spAutoFit/>
          </a:bodyPr>
          <a:lstStyle/>
          <a:p>
            <a:pPr algn="l">
              <a:lnSpc>
                <a:spcPts val="3000"/>
              </a:lnSpc>
            </a:pPr>
            <a:r>
              <a:rPr lang="en-US" sz="1200" b="1" spc="960">
                <a:solidFill>
                  <a:srgbClr val="000000"/>
                </a:solidFill>
                <a:latin typeface="29LT Bukra Medium"/>
                <a:ea typeface="29LT Bukra Medium"/>
                <a:cs typeface="29LT Bukra Medium"/>
                <a:sym typeface="29LT Bukra Medium"/>
              </a:rPr>
              <a:t> </a:t>
            </a:r>
          </a:p>
        </p:txBody>
      </p:sp>
      <p:sp>
        <p:nvSpPr>
          <p:cNvPr id="24" name="TextBox 24"/>
          <p:cNvSpPr txBox="1"/>
          <p:nvPr/>
        </p:nvSpPr>
        <p:spPr>
          <a:xfrm>
            <a:off x="583387" y="1747904"/>
            <a:ext cx="3345551" cy="228600"/>
          </a:xfrm>
          <a:prstGeom prst="rect">
            <a:avLst/>
          </a:prstGeom>
        </p:spPr>
        <p:txBody>
          <a:bodyPr lIns="0" tIns="0" rIns="0" bIns="0" rtlCol="0" anchor="t">
            <a:spAutoFit/>
          </a:bodyPr>
          <a:lstStyle/>
          <a:p>
            <a:pPr algn="l">
              <a:lnSpc>
                <a:spcPts val="1442"/>
              </a:lnSpc>
            </a:pPr>
            <a:r>
              <a:rPr lang="en-US" sz="1200" b="1">
                <a:solidFill>
                  <a:srgbClr val="000000"/>
                </a:solidFill>
                <a:latin typeface="29LT Bukra Medium"/>
                <a:ea typeface="29LT Bukra Medium"/>
                <a:cs typeface="29LT Bukra Medium"/>
                <a:sym typeface="29LT Bukra Medium"/>
              </a:rPr>
              <a:t>LDAislikePCAbutitfocuses on maximizing </a:t>
            </a:r>
          </a:p>
        </p:txBody>
      </p:sp>
      <p:sp>
        <p:nvSpPr>
          <p:cNvPr id="25" name="TextBox 25"/>
          <p:cNvSpPr txBox="1"/>
          <p:nvPr/>
        </p:nvSpPr>
        <p:spPr>
          <a:xfrm>
            <a:off x="583387" y="1931032"/>
            <a:ext cx="3007604" cy="228600"/>
          </a:xfrm>
          <a:prstGeom prst="rect">
            <a:avLst/>
          </a:prstGeom>
        </p:spPr>
        <p:txBody>
          <a:bodyPr lIns="0" tIns="0" rIns="0" bIns="0" rtlCol="0" anchor="t">
            <a:spAutoFit/>
          </a:bodyPr>
          <a:lstStyle/>
          <a:p>
            <a:pPr algn="l">
              <a:lnSpc>
                <a:spcPts val="1442"/>
              </a:lnSpc>
            </a:pPr>
            <a:r>
              <a:rPr lang="en-US" sz="1200" b="1">
                <a:solidFill>
                  <a:srgbClr val="000000"/>
                </a:solidFill>
                <a:latin typeface="29LT Bukra Medium"/>
                <a:ea typeface="29LT Bukra Medium"/>
                <a:cs typeface="29LT Bukra Medium"/>
                <a:sym typeface="29LT Bukra Medium"/>
              </a:rPr>
              <a:t>separatibilityamongknown categories</a:t>
            </a:r>
          </a:p>
        </p:txBody>
      </p:sp>
      <p:sp>
        <p:nvSpPr>
          <p:cNvPr id="26" name="TextBox 26"/>
          <p:cNvSpPr txBox="1"/>
          <p:nvPr/>
        </p:nvSpPr>
        <p:spPr>
          <a:xfrm>
            <a:off x="583387" y="2216020"/>
            <a:ext cx="2256015"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LDAisasupervised</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algorithm</a:t>
            </a:r>
          </a:p>
        </p:txBody>
      </p:sp>
      <p:sp>
        <p:nvSpPr>
          <p:cNvPr id="27" name="TextBox 27"/>
          <p:cNvSpPr txBox="1"/>
          <p:nvPr/>
        </p:nvSpPr>
        <p:spPr>
          <a:xfrm>
            <a:off x="583387" y="2653408"/>
            <a:ext cx="3295812"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Maximisingdistancebetween classes and </a:t>
            </a:r>
          </a:p>
        </p:txBody>
      </p:sp>
      <p:sp>
        <p:nvSpPr>
          <p:cNvPr id="28" name="TextBox 28"/>
          <p:cNvSpPr txBox="1"/>
          <p:nvPr/>
        </p:nvSpPr>
        <p:spPr>
          <a:xfrm>
            <a:off x="583387" y="3272533"/>
            <a:ext cx="3542662" cy="381000"/>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LDAhassubstantiallylower variance. This can </a:t>
            </a:r>
          </a:p>
        </p:txBody>
      </p:sp>
      <p:sp>
        <p:nvSpPr>
          <p:cNvPr id="29" name="TextBox 29"/>
          <p:cNvSpPr txBox="1"/>
          <p:nvPr/>
        </p:nvSpPr>
        <p:spPr>
          <a:xfrm>
            <a:off x="583387" y="3684013"/>
            <a:ext cx="3043676" cy="335232"/>
          </a:xfrm>
          <a:prstGeom prst="rect">
            <a:avLst/>
          </a:prstGeom>
        </p:spPr>
        <p:txBody>
          <a:bodyPr lIns="0" tIns="0" rIns="0" bIns="0" rtlCol="0" anchor="t">
            <a:spAutoFit/>
          </a:bodyPr>
          <a:lstStyle/>
          <a:p>
            <a:pPr algn="l">
              <a:lnSpc>
                <a:spcPts val="600"/>
              </a:lnSpc>
            </a:pPr>
            <a:r>
              <a:rPr lang="en-US" sz="1200" b="1">
                <a:solidFill>
                  <a:srgbClr val="000000"/>
                </a:solidFill>
                <a:latin typeface="29LT Bukra Medium"/>
                <a:ea typeface="29LT Bukra Medium"/>
                <a:cs typeface="29LT Bukra Medium"/>
                <a:sym typeface="29LT Bukra Medium"/>
              </a:rPr>
              <a:t>potentiallyleadtoimproved prediction </a:t>
            </a:r>
          </a:p>
          <a:p>
            <a:pPr algn="l">
              <a:lnSpc>
                <a:spcPts val="2278"/>
              </a:lnSpc>
            </a:pPr>
            <a:r>
              <a:rPr lang="en-US" sz="1200" b="1">
                <a:solidFill>
                  <a:srgbClr val="000000"/>
                </a:solidFill>
                <a:latin typeface="29LT Bukra Medium"/>
                <a:ea typeface="29LT Bukra Medium"/>
                <a:cs typeface="29LT Bukra Medium"/>
                <a:sym typeface="29LT Bukra Medium"/>
              </a:rPr>
              <a:t>performance. </a:t>
            </a:r>
          </a:p>
        </p:txBody>
      </p:sp>
      <p:sp>
        <p:nvSpPr>
          <p:cNvPr id="30" name="TextBox 30"/>
          <p:cNvSpPr txBox="1"/>
          <p:nvPr/>
        </p:nvSpPr>
        <p:spPr>
          <a:xfrm>
            <a:off x="583387" y="2969343"/>
            <a:ext cx="3744754"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minimising</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spread/scatter</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within</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each</a:t>
            </a:r>
            <a:r>
              <a:rPr lang="en-US" sz="1202" b="1">
                <a:solidFill>
                  <a:srgbClr val="FFFFFF"/>
                </a:solidFill>
                <a:latin typeface="29LT Bukra Medium"/>
                <a:ea typeface="29LT Bukra Medium"/>
                <a:cs typeface="29LT Bukra Medium"/>
                <a:sym typeface="29LT Bukra Medium"/>
              </a:rPr>
              <a:t> </a:t>
            </a:r>
            <a:r>
              <a:rPr lang="en-US" sz="1202" b="1">
                <a:solidFill>
                  <a:srgbClr val="000000"/>
                </a:solidFill>
                <a:latin typeface="29LT Bukra Medium"/>
                <a:ea typeface="29LT Bukra Medium"/>
                <a:cs typeface="29LT Bukra Medium"/>
                <a:sym typeface="29LT Bukra Medium"/>
              </a:rPr>
              <a:t>category.</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572000" y="1235964"/>
            <a:ext cx="4114800" cy="3214116"/>
          </a:xfrm>
          <a:custGeom>
            <a:avLst/>
            <a:gdLst/>
            <a:ahLst/>
            <a:cxnLst/>
            <a:rect l="l" t="t" r="r" b="b"/>
            <a:pathLst>
              <a:path w="4114800" h="3214116">
                <a:moveTo>
                  <a:pt x="0" y="0"/>
                </a:moveTo>
                <a:lnTo>
                  <a:pt x="4114800" y="0"/>
                </a:lnTo>
                <a:lnTo>
                  <a:pt x="4114800" y="3214116"/>
                </a:lnTo>
                <a:lnTo>
                  <a:pt x="0" y="3214116"/>
                </a:lnTo>
                <a:lnTo>
                  <a:pt x="0" y="0"/>
                </a:lnTo>
                <a:close/>
              </a:path>
            </a:pathLst>
          </a:custGeom>
          <a:blipFill>
            <a:blip r:embed="rId9"/>
            <a:stretch>
              <a:fillRect/>
            </a:stretch>
          </a:blipFill>
        </p:spPr>
        <p:txBody>
          <a:bodyPr/>
          <a:lstStyle/>
          <a:p>
            <a:endParaRPr lang="en-IN"/>
          </a:p>
        </p:txBody>
      </p:sp>
      <p:sp>
        <p:nvSpPr>
          <p:cNvPr id="8" name="Freeform 8"/>
          <p:cNvSpPr/>
          <p:nvPr/>
        </p:nvSpPr>
        <p:spPr>
          <a:xfrm>
            <a:off x="4552188" y="1216152"/>
            <a:ext cx="4154424" cy="3253740"/>
          </a:xfrm>
          <a:custGeom>
            <a:avLst/>
            <a:gdLst/>
            <a:ahLst/>
            <a:cxnLst/>
            <a:rect l="l" t="t" r="r" b="b"/>
            <a:pathLst>
              <a:path w="4154424" h="3253740">
                <a:moveTo>
                  <a:pt x="0" y="0"/>
                </a:moveTo>
                <a:lnTo>
                  <a:pt x="4154424" y="0"/>
                </a:lnTo>
                <a:lnTo>
                  <a:pt x="4154424" y="3253740"/>
                </a:lnTo>
                <a:lnTo>
                  <a:pt x="0" y="325374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290779" y="4645304"/>
            <a:ext cx="114138"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85</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3713540"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Dimensionality Reduction</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300228" y="2631062"/>
            <a:ext cx="64046" cy="206082"/>
          </a:xfrm>
          <a:prstGeom prst="rect">
            <a:avLst/>
          </a:prstGeom>
        </p:spPr>
        <p:txBody>
          <a:bodyPr lIns="0" tIns="0" rIns="0" bIns="0" rtlCol="0" anchor="t">
            <a:spAutoFit/>
          </a:bodyPr>
          <a:lstStyle/>
          <a:p>
            <a:pPr algn="l">
              <a:lnSpc>
                <a:spcPts val="1679"/>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4" name="TextBox 14"/>
          <p:cNvSpPr txBox="1"/>
          <p:nvPr/>
        </p:nvSpPr>
        <p:spPr>
          <a:xfrm>
            <a:off x="147828" y="1113406"/>
            <a:ext cx="2484063"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Quadratic Discriminant Analysis</a:t>
            </a:r>
          </a:p>
        </p:txBody>
      </p:sp>
      <p:sp>
        <p:nvSpPr>
          <p:cNvPr id="15" name="TextBox 15"/>
          <p:cNvSpPr txBox="1"/>
          <p:nvPr/>
        </p:nvSpPr>
        <p:spPr>
          <a:xfrm>
            <a:off x="300228" y="1697355"/>
            <a:ext cx="64046" cy="331116"/>
          </a:xfrm>
          <a:prstGeom prst="rect">
            <a:avLst/>
          </a:prstGeom>
        </p:spPr>
        <p:txBody>
          <a:bodyPr lIns="0" tIns="0" rIns="0" bIns="0" rtlCol="0" anchor="t">
            <a:spAutoFit/>
          </a:bodyPr>
          <a:lstStyle/>
          <a:p>
            <a:pPr algn="l">
              <a:lnSpc>
                <a:spcPts val="3000"/>
              </a:lnSpc>
            </a:pPr>
            <a:r>
              <a:rPr lang="en-US" sz="1200" dirty="0">
                <a:solidFill>
                  <a:srgbClr val="000000"/>
                </a:solidFill>
                <a:latin typeface="Aptos" panose="020B0004020202020204" pitchFamily="34" charset="0"/>
                <a:ea typeface="Heading Now 11-18"/>
                <a:cs typeface="Heading Now 11-18"/>
                <a:sym typeface="Heading Now 11-18"/>
              </a:rPr>
              <a:t>•</a:t>
            </a:r>
          </a:p>
        </p:txBody>
      </p:sp>
      <p:sp>
        <p:nvSpPr>
          <p:cNvPr id="16" name="TextBox 16"/>
          <p:cNvSpPr txBox="1"/>
          <p:nvPr/>
        </p:nvSpPr>
        <p:spPr>
          <a:xfrm>
            <a:off x="605028" y="1811655"/>
            <a:ext cx="3774738" cy="473583"/>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QDA (Quadratic Discriminant Analysis) is used to find a non-linear boundary between classifiers.</a:t>
            </a:r>
          </a:p>
        </p:txBody>
      </p:sp>
      <p:sp>
        <p:nvSpPr>
          <p:cNvPr id="17" name="TextBox 17"/>
          <p:cNvSpPr txBox="1"/>
          <p:nvPr/>
        </p:nvSpPr>
        <p:spPr>
          <a:xfrm>
            <a:off x="605028" y="2488187"/>
            <a:ext cx="3752821" cy="812292"/>
          </a:xfrm>
          <a:prstGeom prst="rect">
            <a:avLst/>
          </a:prstGeom>
        </p:spPr>
        <p:txBody>
          <a:bodyPr lIns="0" tIns="0" rIns="0" bIns="0" rtlCol="0" anchor="t">
            <a:spAutoFit/>
          </a:bodyPr>
          <a:lstStyle/>
          <a:p>
            <a:pPr algn="l">
              <a:lnSpc>
                <a:spcPts val="3000"/>
              </a:lnSpc>
            </a:pPr>
            <a:r>
              <a:rPr lang="en-US" sz="1200" b="1">
                <a:solidFill>
                  <a:srgbClr val="000000"/>
                </a:solidFill>
                <a:latin typeface="29LT Bukra Medium"/>
                <a:ea typeface="29LT Bukra Medium"/>
                <a:cs typeface="29LT Bukra Medium"/>
                <a:sym typeface="29LT Bukra Medium"/>
              </a:rPr>
              <a:t>The more the classes are separable and the </a:t>
            </a:r>
          </a:p>
          <a:p>
            <a:pPr algn="l">
              <a:lnSpc>
                <a:spcPts val="600"/>
              </a:lnSpc>
            </a:pPr>
            <a:r>
              <a:rPr lang="en-US" sz="1200" b="1">
                <a:solidFill>
                  <a:srgbClr val="000000"/>
                </a:solidFill>
                <a:latin typeface="29LT Bukra Medium"/>
                <a:ea typeface="29LT Bukra Medium"/>
                <a:cs typeface="29LT Bukra Medium"/>
                <a:sym typeface="29LT Bukra Medium"/>
              </a:rPr>
              <a:t>more the distribution is normal, the better will be </a:t>
            </a:r>
          </a:p>
          <a:p>
            <a:pPr algn="l">
              <a:lnSpc>
                <a:spcPts val="2783"/>
              </a:lnSpc>
            </a:pPr>
            <a:r>
              <a:rPr lang="en-US" sz="1200" b="1">
                <a:solidFill>
                  <a:srgbClr val="000000"/>
                </a:solidFill>
                <a:latin typeface="29LT Bukra Medium"/>
                <a:ea typeface="29LT Bukra Medium"/>
                <a:cs typeface="29LT Bukra Medium"/>
                <a:sym typeface="29LT Bukra Medium"/>
              </a:rPr>
              <a:t>the classification result for LDA and QDA.</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stretch>
              <a:fillRect/>
            </a:stretch>
          </a:blipFill>
        </p:spPr>
        <p:txBody>
          <a:bodyPr/>
          <a:lstStyle/>
          <a:p>
            <a:endParaRPr lang="en-IN"/>
          </a:p>
        </p:txBody>
      </p:sp>
      <p:sp>
        <p:nvSpPr>
          <p:cNvPr id="5" name="Freeform 5"/>
          <p:cNvSpPr/>
          <p:nvPr/>
        </p:nvSpPr>
        <p:spPr>
          <a:xfrm>
            <a:off x="-63503" y="-63503"/>
            <a:ext cx="9270997" cy="5270497"/>
          </a:xfrm>
          <a:custGeom>
            <a:avLst/>
            <a:gdLst/>
            <a:ahLst/>
            <a:cxnLst/>
            <a:rect l="l" t="t" r="r" b="b"/>
            <a:pathLst>
              <a:path w="9270997" h="5270497">
                <a:moveTo>
                  <a:pt x="0" y="0"/>
                </a:moveTo>
                <a:lnTo>
                  <a:pt x="9270997" y="0"/>
                </a:lnTo>
                <a:lnTo>
                  <a:pt x="9270997" y="5270497"/>
                </a:lnTo>
                <a:lnTo>
                  <a:pt x="0" y="5270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6" name="Freeform 6"/>
          <p:cNvSpPr/>
          <p:nvPr/>
        </p:nvSpPr>
        <p:spPr>
          <a:xfrm>
            <a:off x="400812" y="2150364"/>
            <a:ext cx="551688" cy="551688"/>
          </a:xfrm>
          <a:custGeom>
            <a:avLst/>
            <a:gdLst/>
            <a:ahLst/>
            <a:cxnLst/>
            <a:rect l="l" t="t" r="r" b="b"/>
            <a:pathLst>
              <a:path w="551688" h="551688">
                <a:moveTo>
                  <a:pt x="0" y="0"/>
                </a:moveTo>
                <a:lnTo>
                  <a:pt x="551688" y="0"/>
                </a:lnTo>
                <a:lnTo>
                  <a:pt x="551688" y="551688"/>
                </a:lnTo>
                <a:lnTo>
                  <a:pt x="0" y="551688"/>
                </a:lnTo>
                <a:lnTo>
                  <a:pt x="0" y="0"/>
                </a:lnTo>
                <a:close/>
              </a:path>
            </a:pathLst>
          </a:custGeom>
          <a:blipFill>
            <a:blip r:embed="rId8"/>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98949"/>
            <a:ext cx="114767"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86</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400202" y="2727579"/>
            <a:ext cx="4976822" cy="397032"/>
          </a:xfrm>
          <a:prstGeom prst="rect">
            <a:avLst/>
          </a:prstGeom>
        </p:spPr>
        <p:txBody>
          <a:bodyPr lIns="0" tIns="0" rIns="0" bIns="0" rtlCol="0" anchor="t">
            <a:spAutoFit/>
          </a:bodyPr>
          <a:lstStyle/>
          <a:p>
            <a:pPr algn="l">
              <a:lnSpc>
                <a:spcPts val="3359"/>
              </a:lnSpc>
            </a:pPr>
            <a:r>
              <a:rPr lang="en-US" sz="2400" b="1" dirty="0">
                <a:solidFill>
                  <a:srgbClr val="FFFFFF"/>
                </a:solidFill>
                <a:latin typeface="Arial" panose="020B0604020202020204" pitchFamily="34" charset="0"/>
                <a:ea typeface="29LT Bukra Bold"/>
                <a:cs typeface="Arial" panose="020B0604020202020204" pitchFamily="34" charset="0"/>
                <a:sym typeface="29LT Bukra Bold"/>
              </a:rPr>
              <a:t>Hyperparameter Optimization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293827" y="4645304"/>
            <a:ext cx="106747"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87</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438165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Hyper Parameter Optimization</a:t>
            </a:r>
          </a:p>
        </p:txBody>
      </p:sp>
      <p:sp>
        <p:nvSpPr>
          <p:cNvPr id="10" name="TextBox 10"/>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1" name="TextBox 11"/>
          <p:cNvSpPr txBox="1"/>
          <p:nvPr/>
        </p:nvSpPr>
        <p:spPr>
          <a:xfrm>
            <a:off x="390754" y="1019051"/>
            <a:ext cx="8304933" cy="1152239"/>
          </a:xfrm>
          <a:prstGeom prst="rect">
            <a:avLst/>
          </a:prstGeom>
        </p:spPr>
        <p:txBody>
          <a:bodyPr lIns="0" tIns="0" rIns="0" bIns="0" rtlCol="0" anchor="t">
            <a:spAutoFit/>
          </a:bodyPr>
          <a:lstStyle/>
          <a:p>
            <a:pPr algn="l">
              <a:lnSpc>
                <a:spcPts val="2274"/>
              </a:lnSpc>
            </a:pPr>
            <a:r>
              <a:rPr lang="en-US" sz="1200" b="1" dirty="0">
                <a:solidFill>
                  <a:srgbClr val="000000"/>
                </a:solidFill>
                <a:latin typeface="29LT Bukra Medium"/>
                <a:ea typeface="29LT Bukra Medium"/>
                <a:cs typeface="29LT Bukra Medium"/>
                <a:sym typeface="29LT Bukra Medium"/>
              </a:rPr>
              <a:t>Machine Learning models are composed of two different types of parameters: -</a:t>
            </a:r>
            <a:r>
              <a:rPr lang="en-US" sz="1200" dirty="0">
                <a:solidFill>
                  <a:srgbClr val="000000"/>
                </a:solidFill>
                <a:latin typeface="Arial" panose="020B0604020202020204" pitchFamily="34" charset="0"/>
                <a:ea typeface="29LT Bukra"/>
                <a:cs typeface="Arial" panose="020B0604020202020204" pitchFamily="34" charset="0"/>
                <a:sym typeface="29LT Bukra"/>
              </a:rPr>
              <a:t>Hyperparameters</a:t>
            </a:r>
            <a:r>
              <a:rPr lang="en-US" sz="1200" b="1" dirty="0">
                <a:solidFill>
                  <a:srgbClr val="000000"/>
                </a:solidFill>
                <a:latin typeface="29LT Bukra Medium"/>
                <a:ea typeface="29LT Bukra Medium"/>
                <a:cs typeface="29LT Bukra Medium"/>
                <a:sym typeface="29LT Bukra Medium"/>
              </a:rPr>
              <a:t>= are all the parameters which can be arbitrarily set by the user before starting training (</a:t>
            </a:r>
            <a:r>
              <a:rPr lang="en-US" sz="1200" b="1" dirty="0" err="1">
                <a:solidFill>
                  <a:srgbClr val="000000"/>
                </a:solidFill>
                <a:latin typeface="29LT Bukra Medium"/>
                <a:ea typeface="29LT Bukra Medium"/>
                <a:cs typeface="29LT Bukra Medium"/>
                <a:sym typeface="29LT Bukra Medium"/>
              </a:rPr>
              <a:t>eg.</a:t>
            </a:r>
            <a:r>
              <a:rPr lang="en-US" sz="1200" b="1" dirty="0">
                <a:solidFill>
                  <a:srgbClr val="000000"/>
                </a:solidFill>
                <a:latin typeface="29LT Bukra Medium"/>
                <a:ea typeface="29LT Bukra Medium"/>
                <a:cs typeface="29LT Bukra Medium"/>
                <a:sym typeface="29LT Bukra Medium"/>
              </a:rPr>
              <a:t> number of estimators in Random Forest). -</a:t>
            </a:r>
            <a:r>
              <a:rPr lang="en-US" sz="1200" dirty="0">
                <a:solidFill>
                  <a:srgbClr val="000000"/>
                </a:solidFill>
                <a:latin typeface="Arial" panose="020B0604020202020204" pitchFamily="34" charset="0"/>
                <a:ea typeface="29LT Bukra"/>
                <a:cs typeface="Arial" panose="020B0604020202020204" pitchFamily="34" charset="0"/>
                <a:sym typeface="29LT Bukra"/>
              </a:rPr>
              <a:t>Model parameters =</a:t>
            </a:r>
            <a:r>
              <a:rPr lang="en-US" sz="1200" b="1" dirty="0">
                <a:solidFill>
                  <a:srgbClr val="000000"/>
                </a:solidFill>
                <a:latin typeface="29LT Bukra Medium"/>
                <a:ea typeface="29LT Bukra Medium"/>
                <a:cs typeface="29LT Bukra Medium"/>
                <a:sym typeface="29LT Bukra Medium"/>
              </a:rPr>
              <a:t>are instead learned during the model training (</a:t>
            </a:r>
            <a:r>
              <a:rPr lang="en-US" sz="1200" b="1" dirty="0" err="1">
                <a:solidFill>
                  <a:srgbClr val="000000"/>
                </a:solidFill>
                <a:latin typeface="29LT Bukra Medium"/>
                <a:ea typeface="29LT Bukra Medium"/>
                <a:cs typeface="29LT Bukra Medium"/>
                <a:sym typeface="29LT Bukra Medium"/>
              </a:rPr>
              <a:t>eg.</a:t>
            </a:r>
            <a:r>
              <a:rPr lang="en-US" sz="1200" b="1" dirty="0">
                <a:solidFill>
                  <a:srgbClr val="000000"/>
                </a:solidFill>
                <a:latin typeface="29LT Bukra Medium"/>
                <a:ea typeface="29LT Bukra Medium"/>
                <a:cs typeface="29LT Bukra Medium"/>
                <a:sym typeface="29LT Bukra Medium"/>
              </a:rPr>
              <a:t> weights in Neural Networks, Linear Regression).</a:t>
            </a:r>
          </a:p>
        </p:txBody>
      </p:sp>
      <p:sp>
        <p:nvSpPr>
          <p:cNvPr id="12" name="TextBox 12"/>
          <p:cNvSpPr txBox="1"/>
          <p:nvPr/>
        </p:nvSpPr>
        <p:spPr>
          <a:xfrm>
            <a:off x="390754" y="2940301"/>
            <a:ext cx="8218999" cy="584835"/>
          </a:xfrm>
          <a:prstGeom prst="rect">
            <a:avLst/>
          </a:prstGeom>
        </p:spPr>
        <p:txBody>
          <a:bodyPr lIns="0" tIns="0" rIns="0" bIns="0" rtlCol="0" anchor="t">
            <a:spAutoFit/>
          </a:bodyPr>
          <a:lstStyle/>
          <a:p>
            <a:pPr algn="l">
              <a:lnSpc>
                <a:spcPts val="2279"/>
              </a:lnSpc>
            </a:pPr>
            <a:r>
              <a:rPr lang="en-US" sz="1200" i="1">
                <a:solidFill>
                  <a:srgbClr val="000000"/>
                </a:solidFill>
                <a:latin typeface="Heading Now 11-18 Italics"/>
                <a:ea typeface="Heading Now 11-18 Italics"/>
                <a:cs typeface="Heading Now 11-18 Italics"/>
                <a:sym typeface="Heading Now 11-18 Italics"/>
              </a:rPr>
              <a:t>The model parameters define how to use input data to get the desired output and are learned at training time. Instead, Hyperparameters determine how our model is structured in the first place.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913376" y="1222248"/>
            <a:ext cx="4009644" cy="2802636"/>
          </a:xfrm>
          <a:custGeom>
            <a:avLst/>
            <a:gdLst/>
            <a:ahLst/>
            <a:cxnLst/>
            <a:rect l="l" t="t" r="r" b="b"/>
            <a:pathLst>
              <a:path w="4009644" h="2802636">
                <a:moveTo>
                  <a:pt x="0" y="0"/>
                </a:moveTo>
                <a:lnTo>
                  <a:pt x="4009644" y="0"/>
                </a:lnTo>
                <a:lnTo>
                  <a:pt x="4009644" y="2802636"/>
                </a:lnTo>
                <a:lnTo>
                  <a:pt x="0" y="2802636"/>
                </a:lnTo>
                <a:lnTo>
                  <a:pt x="0" y="0"/>
                </a:lnTo>
                <a:close/>
              </a:path>
            </a:pathLst>
          </a:custGeom>
          <a:blipFill>
            <a:blip r:embed="rId9"/>
            <a:stretch>
              <a:fillRect/>
            </a:stretch>
          </a:blipFill>
        </p:spPr>
        <p:txBody>
          <a:bodyPr/>
          <a:lstStyle/>
          <a:p>
            <a:endParaRPr lang="en-IN"/>
          </a:p>
        </p:txBody>
      </p:sp>
      <p:sp>
        <p:nvSpPr>
          <p:cNvPr id="8" name="Freeform 8"/>
          <p:cNvSpPr/>
          <p:nvPr/>
        </p:nvSpPr>
        <p:spPr>
          <a:xfrm>
            <a:off x="4893564" y="1202436"/>
            <a:ext cx="4049268" cy="2842260"/>
          </a:xfrm>
          <a:custGeom>
            <a:avLst/>
            <a:gdLst/>
            <a:ahLst/>
            <a:cxnLst/>
            <a:rect l="l" t="t" r="r" b="b"/>
            <a:pathLst>
              <a:path w="4049268" h="2842260">
                <a:moveTo>
                  <a:pt x="0" y="0"/>
                </a:moveTo>
                <a:lnTo>
                  <a:pt x="4049268" y="0"/>
                </a:lnTo>
                <a:lnTo>
                  <a:pt x="4049268" y="2842260"/>
                </a:lnTo>
                <a:lnTo>
                  <a:pt x="0" y="284226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TextBox 9"/>
          <p:cNvSpPr txBox="1"/>
          <p:nvPr/>
        </p:nvSpPr>
        <p:spPr>
          <a:xfrm>
            <a:off x="290779" y="4645304"/>
            <a:ext cx="114405"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88</a:t>
            </a:r>
          </a:p>
        </p:txBody>
      </p:sp>
      <p:sp>
        <p:nvSpPr>
          <p:cNvPr id="10" name="TextBox 10"/>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1" name="TextBox 11"/>
          <p:cNvSpPr txBox="1"/>
          <p:nvPr/>
        </p:nvSpPr>
        <p:spPr>
          <a:xfrm>
            <a:off x="259385" y="145094"/>
            <a:ext cx="438165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Hyper Parameter Optimization</a:t>
            </a:r>
          </a:p>
        </p:txBody>
      </p:sp>
      <p:sp>
        <p:nvSpPr>
          <p:cNvPr id="12" name="TextBox 12"/>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3" name="TextBox 13"/>
          <p:cNvSpPr txBox="1"/>
          <p:nvPr/>
        </p:nvSpPr>
        <p:spPr>
          <a:xfrm>
            <a:off x="329184" y="1582417"/>
            <a:ext cx="4437259" cy="2057905"/>
          </a:xfrm>
          <a:prstGeom prst="rect">
            <a:avLst/>
          </a:prstGeom>
        </p:spPr>
        <p:txBody>
          <a:bodyPr lIns="0" tIns="0" rIns="0" bIns="0" rtlCol="0" anchor="t">
            <a:spAutoFit/>
          </a:bodyPr>
          <a:lstStyle/>
          <a:p>
            <a:pPr algn="l">
              <a:lnSpc>
                <a:spcPts val="1439"/>
              </a:lnSpc>
            </a:pPr>
            <a:r>
              <a:rPr lang="en-US" sz="1200" b="1">
                <a:solidFill>
                  <a:srgbClr val="000000"/>
                </a:solidFill>
                <a:latin typeface="29LT Bukra Medium"/>
                <a:ea typeface="29LT Bukra Medium"/>
                <a:cs typeface="29LT Bukra Medium"/>
                <a:sym typeface="29LT Bukra Medium"/>
              </a:rPr>
              <a:t>Machine Learning models tuning is a type of optimization problem. We have a set of hyperparameters and we aim to find the right combination of their values which can help us to find either the minimum (eg. loss) or the maximum (eg. accuracy) of a function This can be particularly important when comparing how different Machine Learning models performs on a dataset. In fact, it would be unfair for example to compare an SVM model with the best Hyperparameters against a Random Forest model which has not been optimized.</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2714244" y="3326892"/>
            <a:ext cx="3715512" cy="1019556"/>
          </a:xfrm>
          <a:custGeom>
            <a:avLst/>
            <a:gdLst/>
            <a:ahLst/>
            <a:cxnLst/>
            <a:rect l="l" t="t" r="r" b="b"/>
            <a:pathLst>
              <a:path w="3715512" h="1019556">
                <a:moveTo>
                  <a:pt x="0" y="0"/>
                </a:moveTo>
                <a:lnTo>
                  <a:pt x="3715512" y="0"/>
                </a:lnTo>
                <a:lnTo>
                  <a:pt x="3715512" y="1019556"/>
                </a:lnTo>
                <a:lnTo>
                  <a:pt x="0" y="101955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45304"/>
            <a:ext cx="114319" cy="120867"/>
          </a:xfrm>
          <a:prstGeom prst="rect">
            <a:avLst/>
          </a:prstGeom>
        </p:spPr>
        <p:txBody>
          <a:bodyPr lIns="0" tIns="0" rIns="0" bIns="0" rtlCol="0" anchor="t">
            <a:spAutoFit/>
          </a:bodyPr>
          <a:lstStyle/>
          <a:p>
            <a:pPr algn="l">
              <a:lnSpc>
                <a:spcPts val="974"/>
              </a:lnSpc>
            </a:pPr>
            <a:r>
              <a:rPr lang="en-US" sz="696" spc="4" dirty="0">
                <a:solidFill>
                  <a:srgbClr val="FFFFFF"/>
                </a:solidFill>
                <a:latin typeface="Aptos" panose="020B0004020202020204" pitchFamily="34" charset="0"/>
                <a:ea typeface="Heading Now 11-18"/>
                <a:cs typeface="Heading Now 11-18"/>
                <a:sym typeface="Heading Now 11-18"/>
              </a:rPr>
              <a:t>89</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38165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Hyper Parameter Optimization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299618" y="1450972"/>
            <a:ext cx="8664826" cy="897682"/>
          </a:xfrm>
          <a:prstGeom prst="rect">
            <a:avLst/>
          </a:prstGeom>
        </p:spPr>
        <p:txBody>
          <a:bodyPr lIns="0" tIns="0" rIns="0" bIns="0" rtlCol="0" anchor="t">
            <a:spAutoFit/>
          </a:bodyPr>
          <a:lstStyle/>
          <a:p>
            <a:pPr algn="l">
              <a:lnSpc>
                <a:spcPts val="1439"/>
              </a:lnSpc>
            </a:pPr>
            <a:r>
              <a:rPr lang="en-US" sz="1200" b="1" dirty="0">
                <a:solidFill>
                  <a:srgbClr val="000000"/>
                </a:solidFill>
                <a:latin typeface="29LT Bukra Medium"/>
                <a:ea typeface="29LT Bukra Medium"/>
                <a:cs typeface="29LT Bukra Medium"/>
                <a:sym typeface="29LT Bukra Medium"/>
              </a:rPr>
              <a:t>The aim of hyperparameter optimization in machine learning is to find the hyperparameters of a given machine learning algorithm that return the best performance as measured on a validation set. f(x) -an objective score to minimize—such as RMSE or error rate—evaluated on the validation set; x* -is the set of hyperparameters that yields the lowest value of the score x -can take on any value in the domain X.</a:t>
            </a:r>
          </a:p>
          <a:p>
            <a:pPr algn="l">
              <a:lnSpc>
                <a:spcPts val="1439"/>
              </a:lnSpc>
            </a:pPr>
            <a:r>
              <a:rPr lang="en-US" sz="1200" spc="1" dirty="0">
                <a:solidFill>
                  <a:srgbClr val="000000"/>
                </a:solidFill>
                <a:latin typeface="Aptos" panose="020B0004020202020204" pitchFamily="34" charset="0"/>
                <a:ea typeface="Heading Now 11-18"/>
                <a:cs typeface="Heading Now 11-18"/>
                <a:sym typeface="Heading Now 11-18"/>
              </a:rPr>
              <a:t>In simple terms, we want to find the model hyperparameters that yield the best score on the validation set metric.</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160520" y="1441704"/>
            <a:ext cx="4707636" cy="2801112"/>
          </a:xfrm>
          <a:custGeom>
            <a:avLst/>
            <a:gdLst/>
            <a:ahLst/>
            <a:cxnLst/>
            <a:rect l="l" t="t" r="r" b="b"/>
            <a:pathLst>
              <a:path w="4707636" h="2801112">
                <a:moveTo>
                  <a:pt x="0" y="0"/>
                </a:moveTo>
                <a:lnTo>
                  <a:pt x="4707636" y="0"/>
                </a:lnTo>
                <a:lnTo>
                  <a:pt x="4707636" y="2801112"/>
                </a:lnTo>
                <a:lnTo>
                  <a:pt x="0" y="2801112"/>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0779" y="4645304"/>
            <a:ext cx="114138" cy="12086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90</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38165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Hyper Parameter Optimization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287122" y="1727025"/>
            <a:ext cx="3294097" cy="1758839"/>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Following are four common methods of hyperparameter optimization formachine learning in order of increasing efficiency:</a:t>
            </a:r>
          </a:p>
          <a:p>
            <a:pPr algn="l">
              <a:lnSpc>
                <a:spcPts val="3000"/>
              </a:lnSpc>
            </a:pPr>
            <a:r>
              <a:rPr lang="en-US" sz="1200" b="1">
                <a:solidFill>
                  <a:srgbClr val="000000"/>
                </a:solidFill>
                <a:latin typeface="29LT Bukra Medium"/>
                <a:ea typeface="29LT Bukra Medium"/>
                <a:cs typeface="29LT Bukra Medium"/>
                <a:sym typeface="29LT Bukra Medium"/>
              </a:rPr>
              <a:t>-Grid search</a:t>
            </a:r>
          </a:p>
          <a:p>
            <a:pPr algn="l">
              <a:lnSpc>
                <a:spcPts val="600"/>
              </a:lnSpc>
            </a:pPr>
            <a:r>
              <a:rPr lang="en-US" sz="1200" b="1">
                <a:solidFill>
                  <a:srgbClr val="000000"/>
                </a:solidFill>
                <a:latin typeface="29LT Bukra Medium"/>
                <a:ea typeface="29LT Bukra Medium"/>
                <a:cs typeface="29LT Bukra Medium"/>
                <a:sym typeface="29LT Bukra Medium"/>
              </a:rPr>
              <a:t>-</a:t>
            </a:r>
            <a:r>
              <a:rPr lang="en-US" sz="1200" b="1">
                <a:solidFill>
                  <a:srgbClr val="FFFFFF"/>
                </a:solidFill>
                <a:latin typeface="29LT Bukra Medium"/>
                <a:ea typeface="29LT Bukra Medium"/>
                <a:cs typeface="29LT Bukra Medium"/>
                <a:sym typeface="29LT Bukra Medium"/>
              </a:rPr>
              <a:t> </a:t>
            </a:r>
            <a:r>
              <a:rPr lang="en-US" sz="1200" b="1">
                <a:solidFill>
                  <a:srgbClr val="000000"/>
                </a:solidFill>
                <a:latin typeface="29LT Bukra Medium"/>
                <a:ea typeface="29LT Bukra Medium"/>
                <a:cs typeface="29LT Bukra Medium"/>
                <a:sym typeface="29LT Bukra Medium"/>
              </a:rPr>
              <a:t>Manual</a:t>
            </a:r>
          </a:p>
          <a:p>
            <a:pPr algn="l">
              <a:lnSpc>
                <a:spcPts val="2783"/>
              </a:lnSpc>
            </a:pPr>
            <a:r>
              <a:rPr lang="en-US" sz="1200" b="1">
                <a:solidFill>
                  <a:srgbClr val="000000"/>
                </a:solidFill>
                <a:latin typeface="29LT Bukra Medium"/>
                <a:ea typeface="29LT Bukra Medium"/>
                <a:cs typeface="29LT Bukra Medium"/>
                <a:sym typeface="29LT Bukra Medium"/>
              </a:rPr>
              <a:t>-Random search</a:t>
            </a:r>
          </a:p>
          <a:p>
            <a:pPr algn="l">
              <a:lnSpc>
                <a:spcPts val="624"/>
              </a:lnSpc>
            </a:pPr>
            <a:r>
              <a:rPr lang="en-US" sz="1200" b="1" spc="1">
                <a:solidFill>
                  <a:srgbClr val="000000"/>
                </a:solidFill>
                <a:latin typeface="29LT Bukra Medium"/>
                <a:ea typeface="29LT Bukra Medium"/>
                <a:cs typeface="29LT Bukra Medium"/>
                <a:sym typeface="29LT Bukra Medium"/>
              </a:rPr>
              <a:t>-Bayesian model-based optimization</a:t>
            </a:r>
          </a:p>
        </p:txBody>
      </p:sp>
      <p:sp>
        <p:nvSpPr>
          <p:cNvPr id="13" name="TextBox 13"/>
          <p:cNvSpPr txBox="1"/>
          <p:nvPr/>
        </p:nvSpPr>
        <p:spPr>
          <a:xfrm>
            <a:off x="287122" y="4384548"/>
            <a:ext cx="28289"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304495" y="4645304"/>
            <a:ext cx="86363" cy="24910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91</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438165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Hyper Parameter Optimization</a:t>
            </a:r>
          </a:p>
        </p:txBody>
      </p:sp>
      <p:sp>
        <p:nvSpPr>
          <p:cNvPr id="10" name="TextBox 10"/>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1" name="TextBox 11"/>
          <p:cNvSpPr txBox="1"/>
          <p:nvPr/>
        </p:nvSpPr>
        <p:spPr>
          <a:xfrm>
            <a:off x="335280" y="1278636"/>
            <a:ext cx="8638527" cy="1744067"/>
          </a:xfrm>
          <a:prstGeom prst="rect">
            <a:avLst/>
          </a:prstGeom>
        </p:spPr>
        <p:txBody>
          <a:bodyPr lIns="0" tIns="0" rIns="0" bIns="0" rtlCol="0" anchor="t">
            <a:spAutoFit/>
          </a:bodyPr>
          <a:lstStyle/>
          <a:p>
            <a:pPr algn="l">
              <a:lnSpc>
                <a:spcPts val="1654"/>
              </a:lnSpc>
            </a:pPr>
            <a:r>
              <a:rPr lang="en-US" sz="1200" b="1" dirty="0">
                <a:solidFill>
                  <a:srgbClr val="000000"/>
                </a:solidFill>
                <a:latin typeface="29LT Bukra Medium"/>
                <a:ea typeface="29LT Bukra Medium"/>
                <a:cs typeface="29LT Bukra Medium"/>
                <a:sym typeface="29LT Bukra Medium"/>
              </a:rPr>
              <a:t>Each time we try different hyperparameters, we have to train a model on the training data, make predictions on the validation data, and then calculate the validation metric. With a large number of hyperparameters and complex models such as ensembles or deep neural networks that can take days to train, this process quickly becomes intractable to do by </a:t>
            </a:r>
            <a:r>
              <a:rPr lang="en-US" sz="1200" b="1" dirty="0" err="1">
                <a:solidFill>
                  <a:srgbClr val="000000"/>
                </a:solidFill>
                <a:latin typeface="29LT Bukra Medium"/>
                <a:ea typeface="29LT Bukra Medium"/>
                <a:cs typeface="29LT Bukra Medium"/>
                <a:sym typeface="29LT Bukra Medium"/>
              </a:rPr>
              <a:t>hand!Grid</a:t>
            </a:r>
            <a:r>
              <a:rPr lang="en-US" sz="1200" b="1" dirty="0">
                <a:solidFill>
                  <a:srgbClr val="000000"/>
                </a:solidFill>
                <a:latin typeface="29LT Bukra Medium"/>
                <a:ea typeface="29LT Bukra Medium"/>
                <a:cs typeface="29LT Bukra Medium"/>
                <a:sym typeface="29LT Bukra Medium"/>
              </a:rPr>
              <a:t> search and random search are slightly better than manual tuning because we set up a grid of model hyperparameters and run the train-predict -evaluate cycle automatically in a loop while we do more productive things .</a:t>
            </a:r>
          </a:p>
          <a:p>
            <a:pPr algn="l">
              <a:lnSpc>
                <a:spcPts val="1654"/>
              </a:lnSpc>
            </a:pPr>
            <a:r>
              <a:rPr lang="en-US" sz="1200" spc="1" dirty="0">
                <a:solidFill>
                  <a:srgbClr val="000000"/>
                </a:solidFill>
                <a:latin typeface="Aptos" panose="020B0004020202020204" pitchFamily="34" charset="0"/>
                <a:ea typeface="Heading Now 11-18"/>
                <a:cs typeface="Heading Now 11-18"/>
                <a:sym typeface="Heading Now 11-18"/>
              </a:rPr>
              <a:t>Grid and random search are completely </a:t>
            </a:r>
            <a:r>
              <a:rPr lang="en-US" sz="1200" i="1" spc="1" dirty="0">
                <a:solidFill>
                  <a:srgbClr val="000000"/>
                </a:solidFill>
                <a:latin typeface="Heading Now 11-18 Italics"/>
                <a:ea typeface="Heading Now 11-18 Italics"/>
                <a:cs typeface="Heading Now 11-18 Italics"/>
                <a:sym typeface="Heading Now 11-18 Italics"/>
              </a:rPr>
              <a:t>uninformed </a:t>
            </a:r>
            <a:r>
              <a:rPr lang="en-US" sz="1200" spc="1" dirty="0">
                <a:solidFill>
                  <a:srgbClr val="000000"/>
                </a:solidFill>
                <a:latin typeface="Aptos" panose="020B0004020202020204" pitchFamily="34" charset="0"/>
                <a:ea typeface="Heading Now 11-18"/>
                <a:cs typeface="Heading Now 11-18"/>
                <a:sym typeface="Heading Now 11-18"/>
              </a:rPr>
              <a:t>by past evaluations, and as a result, often spend a </a:t>
            </a:r>
          </a:p>
          <a:p>
            <a:pPr algn="l">
              <a:lnSpc>
                <a:spcPts val="1654"/>
              </a:lnSpc>
            </a:pPr>
            <a:r>
              <a:rPr lang="en-US" sz="1200" b="1" dirty="0">
                <a:solidFill>
                  <a:srgbClr val="000000"/>
                </a:solidFill>
                <a:latin typeface="29LT Bukra Medium"/>
                <a:ea typeface="29LT Bukra Medium"/>
                <a:cs typeface="29LT Bukra Medium"/>
                <a:sym typeface="29LT Bukra Medium"/>
              </a:rPr>
              <a:t>significant amount of time evaluating “bad” hyperparameters.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Freeform 7"/>
          <p:cNvSpPr/>
          <p:nvPr/>
        </p:nvSpPr>
        <p:spPr>
          <a:xfrm>
            <a:off x="4799076" y="1231392"/>
            <a:ext cx="4180332" cy="2810256"/>
          </a:xfrm>
          <a:custGeom>
            <a:avLst/>
            <a:gdLst/>
            <a:ahLst/>
            <a:cxnLst/>
            <a:rect l="l" t="t" r="r" b="b"/>
            <a:pathLst>
              <a:path w="4180332" h="2810256">
                <a:moveTo>
                  <a:pt x="0" y="0"/>
                </a:moveTo>
                <a:lnTo>
                  <a:pt x="4180332" y="0"/>
                </a:lnTo>
                <a:lnTo>
                  <a:pt x="4180332" y="2810256"/>
                </a:lnTo>
                <a:lnTo>
                  <a:pt x="0" y="2810256"/>
                </a:lnTo>
                <a:lnTo>
                  <a:pt x="0" y="0"/>
                </a:lnTo>
                <a:close/>
              </a:path>
            </a:pathLst>
          </a:custGeom>
          <a:blipFill>
            <a:blip r:embed="rId9"/>
            <a:stretch>
              <a:fillRect/>
            </a:stretch>
          </a:blipFill>
        </p:spPr>
        <p:txBody>
          <a:bodyPr/>
          <a:lstStyle/>
          <a:p>
            <a:endParaRPr lang="en-IN"/>
          </a:p>
        </p:txBody>
      </p:sp>
      <p:sp>
        <p:nvSpPr>
          <p:cNvPr id="8" name="TextBox 8"/>
          <p:cNvSpPr txBox="1"/>
          <p:nvPr/>
        </p:nvSpPr>
        <p:spPr>
          <a:xfrm>
            <a:off x="293827" y="4645304"/>
            <a:ext cx="109357" cy="12086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92</a:t>
            </a:r>
          </a:p>
        </p:txBody>
      </p:sp>
      <p:sp>
        <p:nvSpPr>
          <p:cNvPr id="9" name="TextBox 9"/>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259385" y="145094"/>
            <a:ext cx="4381652"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Hyper Parameter Optimization</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2" name="TextBox 12"/>
          <p:cNvSpPr txBox="1"/>
          <p:nvPr/>
        </p:nvSpPr>
        <p:spPr>
          <a:xfrm>
            <a:off x="133807" y="1343149"/>
            <a:ext cx="4727019" cy="2423665"/>
          </a:xfrm>
          <a:prstGeom prst="rect">
            <a:avLst/>
          </a:prstGeom>
        </p:spPr>
        <p:txBody>
          <a:bodyPr lIns="0" tIns="0" rIns="0" bIns="0" rtlCol="0" anchor="t">
            <a:spAutoFit/>
          </a:bodyPr>
          <a:lstStyle/>
          <a:p>
            <a:pPr algn="l">
              <a:lnSpc>
                <a:spcPts val="1438"/>
              </a:lnSpc>
            </a:pPr>
            <a:r>
              <a:rPr lang="en-US" sz="1200" b="1">
                <a:solidFill>
                  <a:srgbClr val="000000"/>
                </a:solidFill>
                <a:latin typeface="29LT Bukra Medium"/>
                <a:ea typeface="29LT Bukra Medium"/>
                <a:cs typeface="29LT Bukra Medium"/>
                <a:sym typeface="29LT Bukra Medium"/>
              </a:rPr>
              <a:t>For example, if we have the following graph with a lower score being better, where does it make sense to concentrate our search? If you said below 200 estimators, then you already have the idea of Bayesian optimization! We want to focus on the most promising hyperparameters, and if we have a record of evaluations, then it makes sense to use this information for our next choice</a:t>
            </a:r>
          </a:p>
          <a:p>
            <a:pPr algn="l">
              <a:lnSpc>
                <a:spcPts val="1683"/>
              </a:lnSpc>
            </a:pPr>
            <a:r>
              <a:rPr lang="en-US" sz="1202" i="1">
                <a:solidFill>
                  <a:srgbClr val="000000"/>
                </a:solidFill>
                <a:latin typeface="Heading Now 11-18 Italics"/>
                <a:ea typeface="Heading Now 11-18 Italics"/>
                <a:cs typeface="Heading Now 11-18 Italics"/>
                <a:sym typeface="Heading Now 11-18 Italics"/>
              </a:rPr>
              <a:t>Random and grid search pay no attention to past results at </a:t>
            </a:r>
          </a:p>
          <a:p>
            <a:pPr algn="l">
              <a:lnSpc>
                <a:spcPts val="1439"/>
              </a:lnSpc>
            </a:pPr>
            <a:r>
              <a:rPr lang="en-US" sz="1200" i="1">
                <a:solidFill>
                  <a:srgbClr val="000000"/>
                </a:solidFill>
                <a:latin typeface="Heading Now 11-18 Italics"/>
                <a:ea typeface="Heading Now 11-18 Italics"/>
                <a:cs typeface="Heading Now 11-18 Italics"/>
                <a:sym typeface="Heading Now 11-18 Italics"/>
              </a:rPr>
              <a:t>alland wouldkeep searchingacross theentire rangeof the number of estimators even though it’s clear the optimal answer (probably) lies in a small region!</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505705" y="4599937"/>
            <a:ext cx="5550913" cy="427225"/>
          </a:xfrm>
          <a:custGeom>
            <a:avLst/>
            <a:gdLst/>
            <a:ahLst/>
            <a:cxnLst/>
            <a:rect l="l" t="t" r="r" b="b"/>
            <a:pathLst>
              <a:path w="5550913" h="427225">
                <a:moveTo>
                  <a:pt x="0" y="0"/>
                </a:moveTo>
                <a:lnTo>
                  <a:pt x="5550913" y="0"/>
                </a:lnTo>
                <a:lnTo>
                  <a:pt x="5550913" y="427225"/>
                </a:lnTo>
                <a:lnTo>
                  <a:pt x="0" y="4272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8010144" y="4693920"/>
            <a:ext cx="874776" cy="175260"/>
          </a:xfrm>
          <a:custGeom>
            <a:avLst/>
            <a:gdLst/>
            <a:ahLst/>
            <a:cxnLst/>
            <a:rect l="l" t="t" r="r" b="b"/>
            <a:pathLst>
              <a:path w="874776" h="175260">
                <a:moveTo>
                  <a:pt x="0" y="0"/>
                </a:moveTo>
                <a:lnTo>
                  <a:pt x="874776" y="0"/>
                </a:lnTo>
                <a:lnTo>
                  <a:pt x="874776" y="175260"/>
                </a:lnTo>
                <a:lnTo>
                  <a:pt x="0" y="175260"/>
                </a:lnTo>
                <a:lnTo>
                  <a:pt x="0" y="0"/>
                </a:lnTo>
                <a:close/>
              </a:path>
            </a:pathLst>
          </a:custGeom>
          <a:blipFill>
            <a:blip r:embed="rId6"/>
            <a:stretch>
              <a:fillRect/>
            </a:stretch>
          </a:blipFill>
        </p:spPr>
        <p:txBody>
          <a:bodyPr/>
          <a:lstStyle/>
          <a:p>
            <a:endParaRPr lang="en-IN"/>
          </a:p>
        </p:txBody>
      </p:sp>
      <p:sp>
        <p:nvSpPr>
          <p:cNvPr id="5" name="Freeform 5"/>
          <p:cNvSpPr/>
          <p:nvPr/>
        </p:nvSpPr>
        <p:spPr>
          <a:xfrm>
            <a:off x="4840224" y="452628"/>
            <a:ext cx="4213860" cy="4238244"/>
          </a:xfrm>
          <a:custGeom>
            <a:avLst/>
            <a:gdLst/>
            <a:ahLst/>
            <a:cxnLst/>
            <a:rect l="l" t="t" r="r" b="b"/>
            <a:pathLst>
              <a:path w="4213860" h="4238244">
                <a:moveTo>
                  <a:pt x="0" y="0"/>
                </a:moveTo>
                <a:lnTo>
                  <a:pt x="4213860" y="0"/>
                </a:lnTo>
                <a:lnTo>
                  <a:pt x="4213860" y="4238244"/>
                </a:lnTo>
                <a:lnTo>
                  <a:pt x="0" y="4238244"/>
                </a:lnTo>
                <a:lnTo>
                  <a:pt x="0" y="0"/>
                </a:lnTo>
                <a:close/>
              </a:path>
            </a:pathLst>
          </a:custGeom>
          <a:blipFill>
            <a:blip r:embed="rId7"/>
            <a:stretch>
              <a:fillRect/>
            </a:stretch>
          </a:blipFill>
        </p:spPr>
        <p:txBody>
          <a:bodyPr/>
          <a:lstStyle/>
          <a:p>
            <a:endParaRPr lang="en-IN"/>
          </a:p>
        </p:txBody>
      </p:sp>
      <p:sp>
        <p:nvSpPr>
          <p:cNvPr id="6" name="Freeform 6"/>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7" name="TextBox 7"/>
          <p:cNvSpPr txBox="1"/>
          <p:nvPr/>
        </p:nvSpPr>
        <p:spPr>
          <a:xfrm>
            <a:off x="292303" y="4645304"/>
            <a:ext cx="110623" cy="120867"/>
          </a:xfrm>
          <a:prstGeom prst="rect">
            <a:avLst/>
          </a:prstGeom>
        </p:spPr>
        <p:txBody>
          <a:bodyPr lIns="0" tIns="0" rIns="0" bIns="0" rtlCol="0" anchor="t">
            <a:spAutoFit/>
          </a:bodyPr>
          <a:lstStyle/>
          <a:p>
            <a:pPr algn="l">
              <a:lnSpc>
                <a:spcPts val="974"/>
              </a:lnSpc>
            </a:pPr>
            <a:r>
              <a:rPr lang="en-US" sz="696" spc="5" dirty="0">
                <a:solidFill>
                  <a:srgbClr val="FFFFFF"/>
                </a:solidFill>
                <a:latin typeface="Aptos" panose="020B0004020202020204" pitchFamily="34" charset="0"/>
                <a:ea typeface="Heading Now 11-18"/>
                <a:cs typeface="Heading Now 11-18"/>
                <a:sym typeface="Heading Now 11-18"/>
              </a:rPr>
              <a:t>93</a:t>
            </a:r>
          </a:p>
        </p:txBody>
      </p:sp>
      <p:sp>
        <p:nvSpPr>
          <p:cNvPr id="8" name="TextBox 8"/>
          <p:cNvSpPr txBox="1"/>
          <p:nvPr/>
        </p:nvSpPr>
        <p:spPr>
          <a:xfrm>
            <a:off x="3831593" y="4698644"/>
            <a:ext cx="1643977" cy="120867"/>
          </a:xfrm>
          <a:prstGeom prst="rect">
            <a:avLst/>
          </a:prstGeom>
        </p:spPr>
        <p:txBody>
          <a:bodyPr lIns="0" tIns="0" rIns="0" bIns="0" rtlCol="0" anchor="t">
            <a:spAutoFit/>
          </a:bodyPr>
          <a:lstStyle/>
          <a:p>
            <a:pPr algn="l">
              <a:lnSpc>
                <a:spcPts val="974"/>
              </a:lnSpc>
            </a:pPr>
            <a:r>
              <a:rPr lang="en-US" sz="696" spc="1" dirty="0">
                <a:solidFill>
                  <a:srgbClr val="7F7F7F"/>
                </a:solidFill>
                <a:latin typeface="Aptos" panose="020B0004020202020204" pitchFamily="34" charset="0"/>
                <a:ea typeface="Heading Now 11-18"/>
                <a:cs typeface="Heading Now 11-18"/>
                <a:sym typeface="Heading Now 11-18"/>
              </a:rPr>
              <a:t>Copyright © 2022 </a:t>
            </a:r>
            <a:r>
              <a:rPr lang="en-US" sz="696" spc="1" dirty="0" err="1">
                <a:solidFill>
                  <a:srgbClr val="7F7F7F"/>
                </a:solidFill>
                <a:latin typeface="Aptos" panose="020B0004020202020204" pitchFamily="34" charset="0"/>
                <a:ea typeface="Heading Now 11-18"/>
                <a:cs typeface="Heading Now 11-18"/>
                <a:sym typeface="Heading Now 11-18"/>
              </a:rPr>
              <a:t>TalentLabs</a:t>
            </a:r>
            <a:r>
              <a:rPr lang="en-US" sz="696" spc="1" dirty="0">
                <a:solidFill>
                  <a:srgbClr val="7F7F7F"/>
                </a:solidFill>
                <a:latin typeface="Aptos" panose="020B0004020202020204" pitchFamily="34" charset="0"/>
                <a:ea typeface="Heading Now 11-18"/>
                <a:cs typeface="Heading Now 11-18"/>
                <a:sym typeface="Heading Now 11-18"/>
              </a:rPr>
              <a:t> Limited</a:t>
            </a:r>
          </a:p>
        </p:txBody>
      </p:sp>
      <p:sp>
        <p:nvSpPr>
          <p:cNvPr id="9" name="TextBox 9"/>
          <p:cNvSpPr txBox="1"/>
          <p:nvPr/>
        </p:nvSpPr>
        <p:spPr>
          <a:xfrm>
            <a:off x="259385" y="145094"/>
            <a:ext cx="4662116" cy="340221"/>
          </a:xfrm>
          <a:prstGeom prst="rect">
            <a:avLst/>
          </a:prstGeom>
        </p:spPr>
        <p:txBody>
          <a:bodyPr lIns="0" tIns="0" rIns="0" bIns="0" rtlCol="0" anchor="t">
            <a:spAutoFit/>
          </a:bodyPr>
          <a:lstStyle/>
          <a:p>
            <a:pPr algn="l">
              <a:lnSpc>
                <a:spcPts val="2940"/>
              </a:lnSpc>
            </a:pPr>
            <a:r>
              <a:rPr lang="en-US" sz="2100" b="1" dirty="0">
                <a:solidFill>
                  <a:srgbClr val="000000"/>
                </a:solidFill>
                <a:latin typeface="Arial" panose="020B0604020202020204" pitchFamily="34" charset="0"/>
                <a:ea typeface="29LT Bukra Bold"/>
                <a:cs typeface="Arial" panose="020B0604020202020204" pitchFamily="34" charset="0"/>
                <a:sym typeface="29LT Bukra Bold"/>
              </a:rPr>
              <a:t>Random Forest Hyper Parameter</a:t>
            </a:r>
          </a:p>
        </p:txBody>
      </p:sp>
      <p:sp>
        <p:nvSpPr>
          <p:cNvPr id="10" name="TextBox 10"/>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000000"/>
                </a:solidFill>
                <a:latin typeface="Arial"/>
                <a:ea typeface="Arial"/>
                <a:cs typeface="Arial"/>
                <a:sym typeface="Arial"/>
              </a:rPr>
              <a:t>© zepanalytics.com</a:t>
            </a:r>
          </a:p>
        </p:txBody>
      </p:sp>
      <p:sp>
        <p:nvSpPr>
          <p:cNvPr id="11" name="TextBox 11"/>
          <p:cNvSpPr txBox="1"/>
          <p:nvPr/>
        </p:nvSpPr>
        <p:spPr>
          <a:xfrm>
            <a:off x="350520" y="1207513"/>
            <a:ext cx="3705520" cy="436017"/>
          </a:xfrm>
          <a:prstGeom prst="rect">
            <a:avLst/>
          </a:prstGeom>
        </p:spPr>
        <p:txBody>
          <a:bodyPr lIns="0" tIns="0" rIns="0" bIns="0" rtlCol="0" anchor="t">
            <a:spAutoFit/>
          </a:bodyPr>
          <a:lstStyle/>
          <a:p>
            <a:pPr algn="l">
              <a:lnSpc>
                <a:spcPts val="1704"/>
              </a:lnSpc>
            </a:pPr>
            <a:r>
              <a:rPr lang="en-US" sz="1200" b="1" dirty="0" err="1">
                <a:solidFill>
                  <a:srgbClr val="000000"/>
                </a:solidFill>
                <a:latin typeface="29LT Bukra Medium"/>
                <a:ea typeface="29LT Bukra Medium"/>
                <a:cs typeface="29LT Bukra Medium"/>
                <a:sym typeface="29LT Bukra Medium"/>
              </a:rPr>
              <a:t>max_depth</a:t>
            </a:r>
            <a:r>
              <a:rPr lang="en-US" sz="1200" b="1" dirty="0">
                <a:solidFill>
                  <a:srgbClr val="000000"/>
                </a:solidFill>
                <a:latin typeface="29LT Bukra Medium"/>
                <a:ea typeface="29LT Bukra Medium"/>
                <a:cs typeface="29LT Bukra Medium"/>
                <a:sym typeface="29LT Bukra Medium"/>
              </a:rPr>
              <a:t> </a:t>
            </a:r>
            <a:r>
              <a:rPr lang="en-US" sz="1200" dirty="0">
                <a:solidFill>
                  <a:srgbClr val="000000"/>
                </a:solidFill>
                <a:latin typeface="Arial" panose="020B0604020202020204" pitchFamily="34" charset="0"/>
                <a:ea typeface="29LT Bukra"/>
                <a:cs typeface="Arial" panose="020B0604020202020204" pitchFamily="34" charset="0"/>
                <a:sym typeface="29LT Bukra"/>
              </a:rPr>
              <a:t>→</a:t>
            </a:r>
            <a:r>
              <a:rPr lang="en-US" sz="1200" b="1" dirty="0">
                <a:solidFill>
                  <a:srgbClr val="000000"/>
                </a:solidFill>
                <a:latin typeface="29LT Bukra Medium"/>
                <a:ea typeface="29LT Bukra Medium"/>
                <a:cs typeface="29LT Bukra Medium"/>
                <a:sym typeface="29LT Bukra Medium"/>
              </a:rPr>
              <a:t>Longest path between root node and leaf node</a:t>
            </a:r>
          </a:p>
        </p:txBody>
      </p:sp>
      <p:sp>
        <p:nvSpPr>
          <p:cNvPr id="12" name="TextBox 12"/>
          <p:cNvSpPr txBox="1"/>
          <p:nvPr/>
        </p:nvSpPr>
        <p:spPr>
          <a:xfrm>
            <a:off x="350520" y="1884169"/>
            <a:ext cx="3786711" cy="1283685"/>
          </a:xfrm>
          <a:prstGeom prst="rect">
            <a:avLst/>
          </a:prstGeom>
        </p:spPr>
        <p:txBody>
          <a:bodyPr lIns="0" tIns="0" rIns="0" bIns="0" rtlCol="0" anchor="t">
            <a:spAutoFit/>
          </a:bodyPr>
          <a:lstStyle/>
          <a:p>
            <a:pPr algn="l">
              <a:lnSpc>
                <a:spcPts val="3000"/>
              </a:lnSpc>
            </a:pPr>
            <a:r>
              <a:rPr lang="en-US" sz="1200" b="1" dirty="0" err="1">
                <a:solidFill>
                  <a:srgbClr val="000000"/>
                </a:solidFill>
                <a:latin typeface="29LT Bukra Medium"/>
                <a:ea typeface="29LT Bukra Medium"/>
                <a:cs typeface="29LT Bukra Medium"/>
                <a:sym typeface="29LT Bukra Medium"/>
              </a:rPr>
              <a:t>min_sample_split</a:t>
            </a:r>
            <a:r>
              <a:rPr lang="en-US" sz="1200" b="1" dirty="0">
                <a:solidFill>
                  <a:srgbClr val="000000"/>
                </a:solidFill>
                <a:latin typeface="29LT Bukra Medium"/>
                <a:ea typeface="29LT Bukra Medium"/>
                <a:cs typeface="29LT Bukra Medium"/>
                <a:sym typeface="29LT Bukra Medium"/>
              </a:rPr>
              <a:t> </a:t>
            </a:r>
            <a:r>
              <a:rPr lang="en-US" sz="1200" dirty="0">
                <a:solidFill>
                  <a:srgbClr val="000000"/>
                </a:solidFill>
                <a:latin typeface="Arial" panose="020B0604020202020204" pitchFamily="34" charset="0"/>
                <a:ea typeface="29LT Bukra"/>
                <a:cs typeface="Arial" panose="020B0604020202020204" pitchFamily="34" charset="0"/>
                <a:sym typeface="29LT Bukra"/>
              </a:rPr>
              <a:t>→</a:t>
            </a:r>
            <a:r>
              <a:rPr lang="en-US" sz="1200" b="1" dirty="0">
                <a:solidFill>
                  <a:srgbClr val="000000"/>
                </a:solidFill>
                <a:latin typeface="29LT Bukra Medium"/>
                <a:ea typeface="29LT Bukra Medium"/>
                <a:cs typeface="29LT Bukra Medium"/>
                <a:sym typeface="29LT Bukra Medium"/>
              </a:rPr>
              <a:t>parameter that tells the </a:t>
            </a:r>
          </a:p>
          <a:p>
            <a:pPr algn="l">
              <a:lnSpc>
                <a:spcPts val="600"/>
              </a:lnSpc>
            </a:pPr>
            <a:r>
              <a:rPr lang="en-US" sz="1200" b="1" dirty="0">
                <a:solidFill>
                  <a:srgbClr val="000000"/>
                </a:solidFill>
                <a:latin typeface="29LT Bukra Medium"/>
                <a:ea typeface="29LT Bukra Medium"/>
                <a:cs typeface="29LT Bukra Medium"/>
                <a:sym typeface="29LT Bukra Medium"/>
              </a:rPr>
              <a:t>decision tree in a random forest the minimum </a:t>
            </a:r>
          </a:p>
          <a:p>
            <a:pPr algn="l">
              <a:lnSpc>
                <a:spcPts val="2783"/>
              </a:lnSpc>
            </a:pPr>
            <a:r>
              <a:rPr lang="en-US" sz="1200" b="1" spc="1" dirty="0">
                <a:solidFill>
                  <a:srgbClr val="000000"/>
                </a:solidFill>
                <a:latin typeface="29LT Bukra Medium"/>
                <a:ea typeface="29LT Bukra Medium"/>
                <a:cs typeface="29LT Bukra Medium"/>
                <a:sym typeface="29LT Bukra Medium"/>
              </a:rPr>
              <a:t>required no. of observations in any given node in </a:t>
            </a:r>
          </a:p>
          <a:p>
            <a:pPr algn="l">
              <a:lnSpc>
                <a:spcPts val="624"/>
              </a:lnSpc>
            </a:pPr>
            <a:r>
              <a:rPr lang="en-US" sz="1200" b="1" dirty="0">
                <a:solidFill>
                  <a:srgbClr val="000000"/>
                </a:solidFill>
                <a:latin typeface="29LT Bukra Medium"/>
                <a:ea typeface="29LT Bukra Medium"/>
                <a:cs typeface="29LT Bukra Medium"/>
                <a:sym typeface="29LT Bukra Medium"/>
              </a:rPr>
              <a:t>order to split it. Default value is 2.</a:t>
            </a:r>
          </a:p>
        </p:txBody>
      </p:sp>
      <p:sp>
        <p:nvSpPr>
          <p:cNvPr id="13" name="TextBox 13"/>
          <p:cNvSpPr txBox="1"/>
          <p:nvPr/>
        </p:nvSpPr>
        <p:spPr>
          <a:xfrm>
            <a:off x="350520" y="3115818"/>
            <a:ext cx="3884124" cy="873316"/>
          </a:xfrm>
          <a:prstGeom prst="rect">
            <a:avLst/>
          </a:prstGeom>
        </p:spPr>
        <p:txBody>
          <a:bodyPr lIns="0" tIns="0" rIns="0" bIns="0" rtlCol="0" anchor="t">
            <a:spAutoFit/>
          </a:bodyPr>
          <a:lstStyle/>
          <a:p>
            <a:pPr algn="l">
              <a:lnSpc>
                <a:spcPts val="3000"/>
              </a:lnSpc>
            </a:pPr>
            <a:r>
              <a:rPr lang="en-US" sz="1200" b="1" spc="1" dirty="0" err="1">
                <a:solidFill>
                  <a:srgbClr val="000000"/>
                </a:solidFill>
                <a:latin typeface="29LT Bukra Medium"/>
                <a:ea typeface="29LT Bukra Medium"/>
                <a:cs typeface="29LT Bukra Medium"/>
                <a:sym typeface="29LT Bukra Medium"/>
              </a:rPr>
              <a:t>max_terminal_nodes</a:t>
            </a:r>
            <a:r>
              <a:rPr lang="en-US" sz="1200" b="1" spc="1" dirty="0">
                <a:solidFill>
                  <a:srgbClr val="000000"/>
                </a:solidFill>
                <a:latin typeface="29LT Bukra Medium"/>
                <a:ea typeface="29LT Bukra Medium"/>
                <a:cs typeface="29LT Bukra Medium"/>
                <a:sym typeface="29LT Bukra Medium"/>
              </a:rPr>
              <a:t> </a:t>
            </a:r>
            <a:r>
              <a:rPr lang="en-US" sz="1200" spc="1" dirty="0">
                <a:solidFill>
                  <a:srgbClr val="000000"/>
                </a:solidFill>
                <a:latin typeface="Arial" panose="020B0604020202020204" pitchFamily="34" charset="0"/>
                <a:ea typeface="29LT Bukra"/>
                <a:cs typeface="Arial" panose="020B0604020202020204" pitchFamily="34" charset="0"/>
                <a:sym typeface="29LT Bukra"/>
              </a:rPr>
              <a:t>→</a:t>
            </a:r>
            <a:r>
              <a:rPr lang="en-US" sz="1200" b="1" spc="1" dirty="0">
                <a:solidFill>
                  <a:srgbClr val="000000"/>
                </a:solidFill>
                <a:latin typeface="29LT Bukra Medium"/>
                <a:ea typeface="29LT Bukra Medium"/>
                <a:cs typeface="29LT Bukra Medium"/>
                <a:sym typeface="29LT Bukra Medium"/>
              </a:rPr>
              <a:t>Condition on the splitting </a:t>
            </a:r>
          </a:p>
          <a:p>
            <a:pPr algn="l">
              <a:lnSpc>
                <a:spcPts val="600"/>
              </a:lnSpc>
            </a:pPr>
            <a:r>
              <a:rPr lang="en-US" sz="1200" b="1" dirty="0">
                <a:solidFill>
                  <a:srgbClr val="000000"/>
                </a:solidFill>
                <a:latin typeface="29LT Bukra Medium"/>
                <a:ea typeface="29LT Bukra Medium"/>
                <a:cs typeface="29LT Bukra Medium"/>
                <a:sym typeface="29LT Bukra Medium"/>
              </a:rPr>
              <a:t>the nodes in tree, and restricts growth of tree</a:t>
            </a:r>
          </a:p>
        </p:txBody>
      </p:sp>
      <p:sp>
        <p:nvSpPr>
          <p:cNvPr id="14" name="TextBox 14"/>
          <p:cNvSpPr txBox="1"/>
          <p:nvPr/>
        </p:nvSpPr>
        <p:spPr>
          <a:xfrm>
            <a:off x="4831718" y="3308861"/>
            <a:ext cx="867089"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tree in a RF.</a:t>
            </a:r>
          </a:p>
        </p:txBody>
      </p:sp>
      <p:sp>
        <p:nvSpPr>
          <p:cNvPr id="15" name="TextBox 15"/>
          <p:cNvSpPr txBox="1"/>
          <p:nvPr/>
        </p:nvSpPr>
        <p:spPr>
          <a:xfrm>
            <a:off x="4831718" y="1267330"/>
            <a:ext cx="1066524" cy="473583"/>
          </a:xfrm>
          <a:prstGeom prst="rect">
            <a:avLst/>
          </a:prstGeom>
        </p:spPr>
        <p:txBody>
          <a:bodyPr lIns="0" tIns="0" rIns="0" bIns="0" rtlCol="0" anchor="t">
            <a:spAutoFit/>
          </a:bodyPr>
          <a:lstStyle/>
          <a:p>
            <a:pPr algn="l">
              <a:lnSpc>
                <a:spcPts val="1704"/>
              </a:lnSpc>
            </a:pPr>
            <a:r>
              <a:rPr lang="en-US" sz="1200" b="1">
                <a:solidFill>
                  <a:srgbClr val="000000"/>
                </a:solidFill>
                <a:latin typeface="29LT Bukra Medium"/>
                <a:ea typeface="29LT Bukra Medium"/>
                <a:cs typeface="29LT Bukra Medium"/>
                <a:sym typeface="29LT Bukra Medium"/>
              </a:rPr>
              <a:t>n_estimators consider</a:t>
            </a:r>
          </a:p>
        </p:txBody>
      </p:sp>
      <p:sp>
        <p:nvSpPr>
          <p:cNvPr id="16" name="TextBox 16"/>
          <p:cNvSpPr txBox="1"/>
          <p:nvPr/>
        </p:nvSpPr>
        <p:spPr>
          <a:xfrm>
            <a:off x="6074026" y="1276855"/>
            <a:ext cx="2110521" cy="247650"/>
          </a:xfrm>
          <a:prstGeom prst="rect">
            <a:avLst/>
          </a:prstGeom>
        </p:spPr>
        <p:txBody>
          <a:bodyPr lIns="0" tIns="0" rIns="0" bIns="0" rtlCol="0" anchor="t">
            <a:spAutoFit/>
          </a:bodyPr>
          <a:lstStyle/>
          <a:p>
            <a:pPr algn="l">
              <a:lnSpc>
                <a:spcPts val="1679"/>
              </a:lnSpc>
            </a:pPr>
            <a:r>
              <a:rPr lang="en-US" sz="1200" b="1">
                <a:solidFill>
                  <a:srgbClr val="000000"/>
                </a:solidFill>
                <a:latin typeface="29LT Bukra Medium"/>
                <a:ea typeface="29LT Bukra Medium"/>
                <a:cs typeface="29LT Bukra Medium"/>
                <a:sym typeface="29LT Bukra Medium"/>
              </a:rPr>
              <a:t>Number of trees should we </a:t>
            </a:r>
          </a:p>
        </p:txBody>
      </p:sp>
      <p:sp>
        <p:nvSpPr>
          <p:cNvPr id="17" name="TextBox 17"/>
          <p:cNvSpPr txBox="1"/>
          <p:nvPr/>
        </p:nvSpPr>
        <p:spPr>
          <a:xfrm>
            <a:off x="5910882" y="2105235"/>
            <a:ext cx="197815" cy="219456"/>
          </a:xfrm>
          <a:prstGeom prst="rect">
            <a:avLst/>
          </a:prstGeom>
        </p:spPr>
        <p:txBody>
          <a:bodyPr lIns="0" tIns="0" rIns="0" bIns="0" rtlCol="0" anchor="t">
            <a:spAutoFit/>
          </a:bodyPr>
          <a:lstStyle/>
          <a:p>
            <a:pPr algn="l">
              <a:lnSpc>
                <a:spcPts val="1700"/>
              </a:lnSpc>
            </a:pPr>
            <a:r>
              <a:rPr lang="en-US" sz="1202">
                <a:solidFill>
                  <a:srgbClr val="000000"/>
                </a:solidFill>
                <a:latin typeface="IBM Plex Sans"/>
                <a:ea typeface="IBM Plex Sans"/>
                <a:cs typeface="IBM Plex Sans"/>
                <a:sym typeface="IBM Plex Sans"/>
              </a:rPr>
              <a:t> →</a:t>
            </a:r>
          </a:p>
        </p:txBody>
      </p:sp>
      <p:sp>
        <p:nvSpPr>
          <p:cNvPr id="18" name="TextBox 18"/>
          <p:cNvSpPr txBox="1"/>
          <p:nvPr/>
        </p:nvSpPr>
        <p:spPr>
          <a:xfrm>
            <a:off x="6524673" y="2067135"/>
            <a:ext cx="42682" cy="257556"/>
          </a:xfrm>
          <a:prstGeom prst="rect">
            <a:avLst/>
          </a:prstGeom>
        </p:spPr>
        <p:txBody>
          <a:bodyPr lIns="0" tIns="0" rIns="0" bIns="0" rtlCol="0" anchor="t">
            <a:spAutoFit/>
          </a:bodyPr>
          <a:lstStyle/>
          <a:p>
            <a:pPr algn="l">
              <a:lnSpc>
                <a:spcPts val="1700"/>
              </a:lnSpc>
            </a:pPr>
            <a:r>
              <a:rPr lang="en-US" sz="1202" b="1">
                <a:solidFill>
                  <a:srgbClr val="000000"/>
                </a:solidFill>
                <a:latin typeface="29LT Bukra Medium"/>
                <a:ea typeface="29LT Bukra Medium"/>
                <a:cs typeface="29LT Bukra Medium"/>
                <a:sym typeface="29LT Bukra Medium"/>
              </a:rPr>
              <a:t> </a:t>
            </a:r>
          </a:p>
        </p:txBody>
      </p:sp>
      <p:sp>
        <p:nvSpPr>
          <p:cNvPr id="19" name="TextBox 19"/>
          <p:cNvSpPr txBox="1"/>
          <p:nvPr/>
        </p:nvSpPr>
        <p:spPr>
          <a:xfrm>
            <a:off x="4831718" y="2293620"/>
            <a:ext cx="3629244" cy="462534"/>
          </a:xfrm>
          <a:prstGeom prst="rect">
            <a:avLst/>
          </a:prstGeom>
        </p:spPr>
        <p:txBody>
          <a:bodyPr lIns="0" tIns="0" rIns="0" bIns="0" rtlCol="0" anchor="t">
            <a:spAutoFit/>
          </a:bodyPr>
          <a:lstStyle/>
          <a:p>
            <a:pPr algn="l">
              <a:lnSpc>
                <a:spcPts val="1696"/>
              </a:lnSpc>
            </a:pPr>
            <a:r>
              <a:rPr lang="en-US" sz="1200" b="1">
                <a:solidFill>
                  <a:srgbClr val="000000"/>
                </a:solidFill>
                <a:latin typeface="29LT Bukra Medium"/>
                <a:ea typeface="29LT Bukra Medium"/>
                <a:cs typeface="29LT Bukra Medium"/>
                <a:sym typeface="29LT Bukra Medium"/>
              </a:rPr>
              <a:t>given to any individual tree. (Bootstrap sample fraction)</a:t>
            </a:r>
          </a:p>
        </p:txBody>
      </p:sp>
      <p:sp>
        <p:nvSpPr>
          <p:cNvPr id="20" name="TextBox 20"/>
          <p:cNvSpPr txBox="1"/>
          <p:nvPr/>
        </p:nvSpPr>
        <p:spPr>
          <a:xfrm>
            <a:off x="5878954" y="1322403"/>
            <a:ext cx="155448" cy="198406"/>
          </a:xfrm>
          <a:prstGeom prst="rect">
            <a:avLst/>
          </a:prstGeom>
        </p:spPr>
        <p:txBody>
          <a:bodyPr lIns="0" tIns="0" rIns="0" bIns="0" rtlCol="0" anchor="t">
            <a:spAutoFit/>
          </a:bodyPr>
          <a:lstStyle/>
          <a:p>
            <a:pPr algn="l">
              <a:lnSpc>
                <a:spcPts val="1679"/>
              </a:lnSpc>
            </a:pPr>
            <a:r>
              <a:rPr lang="en-US" sz="1200" spc="216">
                <a:solidFill>
                  <a:srgbClr val="000000"/>
                </a:solidFill>
                <a:latin typeface="IBM Plex Sans"/>
                <a:ea typeface="IBM Plex Sans"/>
                <a:cs typeface="IBM Plex Sans"/>
                <a:sym typeface="IBM Plex Sans"/>
              </a:rPr>
              <a:t>→</a:t>
            </a:r>
          </a:p>
        </p:txBody>
      </p:sp>
      <p:sp>
        <p:nvSpPr>
          <p:cNvPr id="21" name="TextBox 21"/>
          <p:cNvSpPr txBox="1"/>
          <p:nvPr/>
        </p:nvSpPr>
        <p:spPr>
          <a:xfrm>
            <a:off x="4831718" y="3091901"/>
            <a:ext cx="1121150"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max_features </a:t>
            </a:r>
          </a:p>
        </p:txBody>
      </p:sp>
      <p:sp>
        <p:nvSpPr>
          <p:cNvPr id="22" name="TextBox 22"/>
          <p:cNvSpPr txBox="1"/>
          <p:nvPr/>
        </p:nvSpPr>
        <p:spPr>
          <a:xfrm>
            <a:off x="4831718" y="2076660"/>
            <a:ext cx="1100747"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max_samples</a:t>
            </a:r>
          </a:p>
        </p:txBody>
      </p:sp>
      <p:sp>
        <p:nvSpPr>
          <p:cNvPr id="23" name="TextBox 23"/>
          <p:cNvSpPr txBox="1"/>
          <p:nvPr/>
        </p:nvSpPr>
        <p:spPr>
          <a:xfrm>
            <a:off x="6125842" y="3091901"/>
            <a:ext cx="2672515"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How many features to use in each </a:t>
            </a:r>
          </a:p>
        </p:txBody>
      </p:sp>
      <p:sp>
        <p:nvSpPr>
          <p:cNvPr id="24" name="TextBox 24"/>
          <p:cNvSpPr txBox="1"/>
          <p:nvPr/>
        </p:nvSpPr>
        <p:spPr>
          <a:xfrm>
            <a:off x="6145654" y="2076660"/>
            <a:ext cx="2675620" cy="248031"/>
          </a:xfrm>
          <a:prstGeom prst="rect">
            <a:avLst/>
          </a:prstGeom>
        </p:spPr>
        <p:txBody>
          <a:bodyPr lIns="0" tIns="0" rIns="0" bIns="0" rtlCol="0" anchor="t">
            <a:spAutoFit/>
          </a:bodyPr>
          <a:lstStyle/>
          <a:p>
            <a:pPr algn="l">
              <a:lnSpc>
                <a:spcPts val="1683"/>
              </a:lnSpc>
            </a:pPr>
            <a:r>
              <a:rPr lang="en-US" sz="1202" b="1">
                <a:solidFill>
                  <a:srgbClr val="000000"/>
                </a:solidFill>
                <a:latin typeface="29LT Bukra Medium"/>
                <a:ea typeface="29LT Bukra Medium"/>
                <a:cs typeface="29LT Bukra Medium"/>
                <a:sym typeface="29LT Bukra Medium"/>
              </a:rPr>
              <a:t>whatfractionoforiginaldataset is </a:t>
            </a:r>
          </a:p>
        </p:txBody>
      </p:sp>
      <p:sp>
        <p:nvSpPr>
          <p:cNvPr id="25" name="TextBox 25"/>
          <p:cNvSpPr txBox="1"/>
          <p:nvPr/>
        </p:nvSpPr>
        <p:spPr>
          <a:xfrm>
            <a:off x="5932294" y="3137459"/>
            <a:ext cx="155762" cy="198758"/>
          </a:xfrm>
          <a:prstGeom prst="rect">
            <a:avLst/>
          </a:prstGeom>
        </p:spPr>
        <p:txBody>
          <a:bodyPr lIns="0" tIns="0" rIns="0" bIns="0" rtlCol="0" anchor="t">
            <a:spAutoFit/>
          </a:bodyPr>
          <a:lstStyle/>
          <a:p>
            <a:pPr algn="l">
              <a:lnSpc>
                <a:spcPts val="1683"/>
              </a:lnSpc>
            </a:pPr>
            <a:r>
              <a:rPr lang="en-US" sz="1202" spc="216">
                <a:solidFill>
                  <a:srgbClr val="000000"/>
                </a:solidFill>
                <a:latin typeface="IBM Plex Sans"/>
                <a:ea typeface="IBM Plex Sans"/>
                <a:cs typeface="IBM Plex Sans"/>
                <a:sym typeface="IBM Plex Sans"/>
              </a:rPr>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4840224" y="452628"/>
            <a:ext cx="4213860" cy="4416552"/>
          </a:xfrm>
          <a:custGeom>
            <a:avLst/>
            <a:gdLst/>
            <a:ahLst/>
            <a:cxnLst/>
            <a:rect l="l" t="t" r="r" b="b"/>
            <a:pathLst>
              <a:path w="4213860" h="4416552">
                <a:moveTo>
                  <a:pt x="0" y="0"/>
                </a:moveTo>
                <a:lnTo>
                  <a:pt x="4213860" y="0"/>
                </a:lnTo>
                <a:lnTo>
                  <a:pt x="4213860" y="4416552"/>
                </a:lnTo>
                <a:lnTo>
                  <a:pt x="0" y="4416552"/>
                </a:lnTo>
                <a:lnTo>
                  <a:pt x="0" y="0"/>
                </a:lnTo>
                <a:close/>
              </a:path>
            </a:pathLst>
          </a:custGeom>
          <a:blipFill>
            <a:blip r:embed="rId4"/>
            <a:stretch>
              <a:fillRect/>
            </a:stretch>
          </a:blipFill>
        </p:spPr>
        <p:txBody>
          <a:bodyPr/>
          <a:lstStyle/>
          <a:p>
            <a:endParaRPr lang="en-IN"/>
          </a:p>
        </p:txBody>
      </p:sp>
      <p:sp>
        <p:nvSpPr>
          <p:cNvPr id="4" name="Freeform 4"/>
          <p:cNvSpPr/>
          <p:nvPr/>
        </p:nvSpPr>
        <p:spPr>
          <a:xfrm>
            <a:off x="0" y="0"/>
            <a:ext cx="9144000" cy="5143500"/>
          </a:xfrm>
          <a:custGeom>
            <a:avLst/>
            <a:gdLst/>
            <a:ahLst/>
            <a:cxnLst/>
            <a:rect l="l" t="t" r="r" b="b"/>
            <a:pathLst>
              <a:path w="9144000" h="5143500">
                <a:moveTo>
                  <a:pt x="0" y="0"/>
                </a:moveTo>
                <a:lnTo>
                  <a:pt x="9144000" y="0"/>
                </a:lnTo>
                <a:lnTo>
                  <a:pt x="9144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7397496" y="2715768"/>
            <a:ext cx="1746504" cy="1839468"/>
          </a:xfrm>
          <a:custGeom>
            <a:avLst/>
            <a:gdLst/>
            <a:ahLst/>
            <a:cxnLst/>
            <a:rect l="l" t="t" r="r" b="b"/>
            <a:pathLst>
              <a:path w="1746504" h="1839468">
                <a:moveTo>
                  <a:pt x="0" y="0"/>
                </a:moveTo>
                <a:lnTo>
                  <a:pt x="1746504" y="0"/>
                </a:lnTo>
                <a:lnTo>
                  <a:pt x="1746504" y="1839468"/>
                </a:lnTo>
                <a:lnTo>
                  <a:pt x="0" y="1839468"/>
                </a:lnTo>
                <a:lnTo>
                  <a:pt x="0" y="0"/>
                </a:lnTo>
                <a:close/>
              </a:path>
            </a:pathLst>
          </a:custGeom>
          <a:blipFill>
            <a:blip r:embed="rId7"/>
            <a:stretch>
              <a:fillRect/>
            </a:stretch>
          </a:blipFill>
        </p:spPr>
        <p:txBody>
          <a:bodyPr/>
          <a:lstStyle/>
          <a:p>
            <a:endParaRPr lang="en-IN"/>
          </a:p>
        </p:txBody>
      </p:sp>
      <p:sp>
        <p:nvSpPr>
          <p:cNvPr id="6" name="Freeform 6"/>
          <p:cNvSpPr/>
          <p:nvPr/>
        </p:nvSpPr>
        <p:spPr>
          <a:xfrm>
            <a:off x="254508" y="4687824"/>
            <a:ext cx="185928" cy="187452"/>
          </a:xfrm>
          <a:custGeom>
            <a:avLst/>
            <a:gdLst/>
            <a:ahLst/>
            <a:cxnLst/>
            <a:rect l="l" t="t" r="r" b="b"/>
            <a:pathLst>
              <a:path w="185928" h="187452">
                <a:moveTo>
                  <a:pt x="0" y="0"/>
                </a:moveTo>
                <a:lnTo>
                  <a:pt x="185928" y="0"/>
                </a:lnTo>
                <a:lnTo>
                  <a:pt x="185928" y="187452"/>
                </a:lnTo>
                <a:lnTo>
                  <a:pt x="0" y="187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8589264" y="102108"/>
            <a:ext cx="449580" cy="457200"/>
          </a:xfrm>
          <a:custGeom>
            <a:avLst/>
            <a:gdLst/>
            <a:ahLst/>
            <a:cxnLst/>
            <a:rect l="l" t="t" r="r" b="b"/>
            <a:pathLst>
              <a:path w="449580" h="457200">
                <a:moveTo>
                  <a:pt x="0" y="0"/>
                </a:moveTo>
                <a:lnTo>
                  <a:pt x="449580" y="0"/>
                </a:lnTo>
                <a:lnTo>
                  <a:pt x="449580" y="457200"/>
                </a:lnTo>
                <a:lnTo>
                  <a:pt x="0" y="457200"/>
                </a:lnTo>
                <a:lnTo>
                  <a:pt x="0" y="0"/>
                </a:lnTo>
                <a:close/>
              </a:path>
            </a:pathLst>
          </a:custGeom>
          <a:blipFill>
            <a:blip r:embed="rId8"/>
            <a:stretch>
              <a:fillRect/>
            </a:stretch>
          </a:blipFill>
        </p:spPr>
        <p:txBody>
          <a:bodyPr/>
          <a:lstStyle/>
          <a:p>
            <a:endParaRPr lang="en-IN"/>
          </a:p>
        </p:txBody>
      </p:sp>
      <p:sp>
        <p:nvSpPr>
          <p:cNvPr id="8" name="TextBox 8"/>
          <p:cNvSpPr txBox="1"/>
          <p:nvPr/>
        </p:nvSpPr>
        <p:spPr>
          <a:xfrm>
            <a:off x="320345" y="4657192"/>
            <a:ext cx="54845" cy="205184"/>
          </a:xfrm>
          <a:prstGeom prst="rect">
            <a:avLst/>
          </a:prstGeom>
        </p:spPr>
        <p:txBody>
          <a:bodyPr lIns="0" tIns="0" rIns="0" bIns="0" rtlCol="0" anchor="t">
            <a:spAutoFit/>
          </a:bodyPr>
          <a:lstStyle/>
          <a:p>
            <a:pPr algn="just">
              <a:lnSpc>
                <a:spcPts val="803"/>
              </a:lnSpc>
            </a:pPr>
            <a:r>
              <a:rPr lang="en-US" sz="671" dirty="0">
                <a:solidFill>
                  <a:srgbClr val="FFFFFF"/>
                </a:solidFill>
                <a:latin typeface="Aptos" panose="020B0004020202020204" pitchFamily="34" charset="0"/>
                <a:ea typeface="Heading Now 11-18"/>
                <a:cs typeface="Heading Now 11-18"/>
                <a:sym typeface="Heading Now 11-18"/>
              </a:rPr>
              <a:t>9 4</a:t>
            </a:r>
          </a:p>
        </p:txBody>
      </p:sp>
      <p:sp>
        <p:nvSpPr>
          <p:cNvPr id="9" name="TextBox 9"/>
          <p:cNvSpPr txBox="1"/>
          <p:nvPr/>
        </p:nvSpPr>
        <p:spPr>
          <a:xfrm>
            <a:off x="3793236" y="4698568"/>
            <a:ext cx="1588856" cy="110415"/>
          </a:xfrm>
          <a:prstGeom prst="rect">
            <a:avLst/>
          </a:prstGeom>
        </p:spPr>
        <p:txBody>
          <a:bodyPr lIns="0" tIns="0" rIns="0" bIns="0" rtlCol="0" anchor="t">
            <a:spAutoFit/>
          </a:bodyPr>
          <a:lstStyle/>
          <a:p>
            <a:pPr algn="l">
              <a:lnSpc>
                <a:spcPts val="940"/>
              </a:lnSpc>
            </a:pPr>
            <a:r>
              <a:rPr lang="en-US" sz="671" spc="1" dirty="0">
                <a:solidFill>
                  <a:srgbClr val="7F7F7F"/>
                </a:solidFill>
                <a:latin typeface="Aptos" panose="020B0004020202020204" pitchFamily="34" charset="0"/>
                <a:ea typeface="Heading Now 11-18"/>
                <a:cs typeface="Heading Now 11-18"/>
                <a:sym typeface="Heading Now 11-18"/>
              </a:rPr>
              <a:t>Copyright © 2022 </a:t>
            </a:r>
            <a:r>
              <a:rPr lang="en-US" sz="671" spc="1" dirty="0" err="1">
                <a:solidFill>
                  <a:srgbClr val="7F7F7F"/>
                </a:solidFill>
                <a:latin typeface="Aptos" panose="020B0004020202020204" pitchFamily="34" charset="0"/>
                <a:ea typeface="Heading Now 11-18"/>
                <a:cs typeface="Heading Now 11-18"/>
                <a:sym typeface="Heading Now 11-18"/>
              </a:rPr>
              <a:t>TalentLabs</a:t>
            </a:r>
            <a:r>
              <a:rPr lang="en-US" sz="671" spc="1" dirty="0">
                <a:solidFill>
                  <a:srgbClr val="7F7F7F"/>
                </a:solidFill>
                <a:latin typeface="Aptos" panose="020B0004020202020204" pitchFamily="34" charset="0"/>
                <a:ea typeface="Heading Now 11-18"/>
                <a:cs typeface="Heading Now 11-18"/>
                <a:sym typeface="Heading Now 11-18"/>
              </a:rPr>
              <a:t> Limited</a:t>
            </a:r>
          </a:p>
        </p:txBody>
      </p:sp>
      <p:sp>
        <p:nvSpPr>
          <p:cNvPr id="10" name="TextBox 10"/>
          <p:cNvSpPr txBox="1"/>
          <p:nvPr/>
        </p:nvSpPr>
        <p:spPr>
          <a:xfrm>
            <a:off x="3304670" y="2085337"/>
            <a:ext cx="2586342" cy="585994"/>
          </a:xfrm>
          <a:prstGeom prst="rect">
            <a:avLst/>
          </a:prstGeom>
        </p:spPr>
        <p:txBody>
          <a:bodyPr lIns="0" tIns="0" rIns="0" bIns="0" rtlCol="0" anchor="t">
            <a:spAutoFit/>
          </a:bodyPr>
          <a:lstStyle/>
          <a:p>
            <a:pPr algn="l">
              <a:lnSpc>
                <a:spcPts val="5040"/>
              </a:lnSpc>
            </a:pPr>
            <a:r>
              <a:rPr lang="en-US" sz="3600" b="1" dirty="0">
                <a:solidFill>
                  <a:srgbClr val="FFFFFF"/>
                </a:solidFill>
                <a:latin typeface="Arial" panose="020B0604020202020204" pitchFamily="34" charset="0"/>
                <a:ea typeface="29LT Bukra Bold"/>
                <a:cs typeface="Arial" panose="020B0604020202020204" pitchFamily="34" charset="0"/>
                <a:sym typeface="29LT Bukra Bold"/>
              </a:rPr>
              <a:t>Thank you</a:t>
            </a:r>
          </a:p>
        </p:txBody>
      </p:sp>
      <p:sp>
        <p:nvSpPr>
          <p:cNvPr id="11" name="TextBox 11"/>
          <p:cNvSpPr txBox="1"/>
          <p:nvPr/>
        </p:nvSpPr>
        <p:spPr>
          <a:xfrm>
            <a:off x="7499347" y="4793875"/>
            <a:ext cx="1578264" cy="258261"/>
          </a:xfrm>
          <a:prstGeom prst="rect">
            <a:avLst/>
          </a:prstGeom>
        </p:spPr>
        <p:txBody>
          <a:bodyPr lIns="0" tIns="0" rIns="0" bIns="0" rtlCol="0" anchor="t">
            <a:spAutoFit/>
          </a:bodyPr>
          <a:lstStyle/>
          <a:p>
            <a:pPr algn="l">
              <a:lnSpc>
                <a:spcPts val="1968"/>
              </a:lnSpc>
            </a:pPr>
            <a:r>
              <a:rPr lang="en-US" sz="1406">
                <a:solidFill>
                  <a:srgbClr val="FFFFFF"/>
                </a:solidFill>
                <a:latin typeface="Arial"/>
                <a:ea typeface="Arial"/>
                <a:cs typeface="Arial"/>
                <a:sym typeface="Arial"/>
              </a:rPr>
              <a:t>© zepanalytics.com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1344</TotalTime>
  <Words>8951</Words>
  <Application>Microsoft Office PowerPoint</Application>
  <PresentationFormat>On-screen Show (16:9)</PresentationFormat>
  <Paragraphs>1190</Paragraphs>
  <Slides>142</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142</vt:i4>
      </vt:variant>
    </vt:vector>
  </HeadingPairs>
  <TitlesOfParts>
    <vt:vector size="158" baseType="lpstr">
      <vt:lpstr>29LT Bukra Bold</vt:lpstr>
      <vt:lpstr>Heading Now 11-18 Italics</vt:lpstr>
      <vt:lpstr>Heading Now 11-18</vt:lpstr>
      <vt:lpstr>字由点字典黑 45J</vt:lpstr>
      <vt:lpstr>Montserrat</vt:lpstr>
      <vt:lpstr>Montserrat Bold</vt:lpstr>
      <vt:lpstr>Heading Now 31-38</vt:lpstr>
      <vt:lpstr>Cambria Math</vt:lpstr>
      <vt:lpstr>IBM Plex Sans</vt:lpstr>
      <vt:lpstr>Aptos</vt:lpstr>
      <vt:lpstr>IBM Plex Sans Bold</vt:lpstr>
      <vt:lpstr>29LT Bukra Medium</vt:lpstr>
      <vt:lpstr>Heading Now 31-38 Italics</vt:lpstr>
      <vt:lpstr>Arial</vt:lpstr>
      <vt:lpstr>Aptos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 Zep.pdf</dc:title>
  <dc:creator>Kumar, Alok (Cognizant)</dc:creator>
  <cp:lastModifiedBy>Kumar, Alok (Cognizant)</cp:lastModifiedBy>
  <cp:revision>14</cp:revision>
  <dcterms:created xsi:type="dcterms:W3CDTF">2006-08-16T00:00:00Z</dcterms:created>
  <dcterms:modified xsi:type="dcterms:W3CDTF">2025-09-18T19:12:45Z</dcterms:modified>
  <dc:identifier>DAGzRLKIkcw</dc:identifier>
</cp:coreProperties>
</file>