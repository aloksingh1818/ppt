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93E50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96E93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zepanalytics.com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7112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93E50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96E93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zepanalytics.com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7112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96E93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zepanalytics.com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7112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27" y="6251447"/>
            <a:ext cx="249936" cy="2484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2615" y="606199"/>
            <a:ext cx="5618988" cy="564560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22024" y="126492"/>
            <a:ext cx="449579" cy="4571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96E93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zepanalytics.com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7112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27" y="6251447"/>
            <a:ext cx="249936" cy="2484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2615" y="606199"/>
            <a:ext cx="5618988" cy="564560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22023" y="126492"/>
            <a:ext cx="449579" cy="4571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2548127"/>
            <a:ext cx="7222490" cy="2326005"/>
          </a:xfrm>
          <a:custGeom>
            <a:avLst/>
            <a:gdLst/>
            <a:ahLst/>
            <a:cxnLst/>
            <a:rect l="l" t="t" r="r" b="b"/>
            <a:pathLst>
              <a:path w="7222490" h="2326004">
                <a:moveTo>
                  <a:pt x="7222235" y="0"/>
                </a:moveTo>
                <a:lnTo>
                  <a:pt x="0" y="0"/>
                </a:lnTo>
                <a:lnTo>
                  <a:pt x="0" y="2325624"/>
                </a:lnTo>
                <a:lnTo>
                  <a:pt x="7222235" y="2325624"/>
                </a:lnTo>
                <a:lnTo>
                  <a:pt x="7222235" y="0"/>
                </a:lnTo>
                <a:close/>
              </a:path>
            </a:pathLst>
          </a:custGeom>
          <a:solidFill>
            <a:srgbClr val="00A0CC">
              <a:alpha val="84313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622023" y="126492"/>
            <a:ext cx="449579" cy="457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96E93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zepanalytics.com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7112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8327" y="6251447"/>
            <a:ext cx="249936" cy="2484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52615" y="606199"/>
            <a:ext cx="5618988" cy="564560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22023" y="126492"/>
            <a:ext cx="449579" cy="457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2943" y="324688"/>
            <a:ext cx="4126229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2943" y="1265301"/>
            <a:ext cx="8459470" cy="4537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93E50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0468482" y="6494601"/>
            <a:ext cx="1572895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96E93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zepanalytics.com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54787" y="6280581"/>
            <a:ext cx="228218" cy="186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7112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jp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www.python.org/downloads" TargetMode="External"/><Relationship Id="rId4" Type="http://schemas.openxmlformats.org/officeDocument/2006/relationships/hyperlink" Target="https://www.anaconda.com/download" TargetMode="External"/><Relationship Id="rId5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7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0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3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4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5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6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7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0192" y="6257544"/>
            <a:ext cx="1165859" cy="23469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327" y="6251447"/>
            <a:ext cx="249936" cy="24841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072507" y="6294196"/>
            <a:ext cx="2045970" cy="16002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dirty="0" sz="900">
                <a:solidFill>
                  <a:srgbClr val="7E7E7E"/>
                </a:solidFill>
                <a:latin typeface="Lucida Sans Unicode"/>
                <a:cs typeface="Lucida Sans Unicode"/>
              </a:rPr>
              <a:t>Copyright</a:t>
            </a:r>
            <a:r>
              <a:rPr dirty="0" sz="900" spc="25">
                <a:solidFill>
                  <a:srgbClr val="7E7E7E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75">
                <a:solidFill>
                  <a:srgbClr val="7E7E7E"/>
                </a:solidFill>
                <a:latin typeface="Lucida Sans Unicode"/>
                <a:cs typeface="Lucida Sans Unicode"/>
              </a:rPr>
              <a:t>©</a:t>
            </a:r>
            <a:r>
              <a:rPr dirty="0" sz="900">
                <a:solidFill>
                  <a:srgbClr val="7E7E7E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110">
                <a:solidFill>
                  <a:srgbClr val="7E7E7E"/>
                </a:solidFill>
                <a:latin typeface="Lucida Sans Unicode"/>
                <a:cs typeface="Lucida Sans Unicode"/>
              </a:rPr>
              <a:t>2021</a:t>
            </a:r>
            <a:r>
              <a:rPr dirty="0" sz="900" spc="-10">
                <a:solidFill>
                  <a:srgbClr val="7E7E7E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solidFill>
                  <a:srgbClr val="7E7E7E"/>
                </a:solidFill>
                <a:latin typeface="Lucida Sans Unicode"/>
                <a:cs typeface="Lucida Sans Unicode"/>
              </a:rPr>
              <a:t>TalentLabs</a:t>
            </a:r>
            <a:r>
              <a:rPr dirty="0" sz="900" spc="35">
                <a:solidFill>
                  <a:srgbClr val="7E7E7E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10">
                <a:solidFill>
                  <a:srgbClr val="7E7E7E"/>
                </a:solidFill>
                <a:latin typeface="Lucida Sans Unicode"/>
                <a:cs typeface="Lucida Sans Unicode"/>
              </a:rPr>
              <a:t>Limited</a:t>
            </a:r>
            <a:endParaRPr sz="900">
              <a:latin typeface="Lucida Sans Unicode"/>
              <a:cs typeface="Lucida Sans Unicode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596640" y="606199"/>
            <a:ext cx="8595360" cy="6252210"/>
            <a:chOff x="3596640" y="606199"/>
            <a:chExt cx="8595360" cy="625221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2616" y="606199"/>
              <a:ext cx="5618988" cy="564560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596640" y="5699759"/>
              <a:ext cx="8595360" cy="1158240"/>
            </a:xfrm>
            <a:custGeom>
              <a:avLst/>
              <a:gdLst/>
              <a:ahLst/>
              <a:cxnLst/>
              <a:rect l="l" t="t" r="r" b="b"/>
              <a:pathLst>
                <a:path w="8595360" h="1158240">
                  <a:moveTo>
                    <a:pt x="8595360" y="0"/>
                  </a:moveTo>
                  <a:lnTo>
                    <a:pt x="0" y="0"/>
                  </a:lnTo>
                  <a:lnTo>
                    <a:pt x="0" y="1158239"/>
                  </a:lnTo>
                  <a:lnTo>
                    <a:pt x="8595360" y="11582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44703" y="6293586"/>
            <a:ext cx="36830" cy="16002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dirty="0" sz="900" spc="-34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900">
              <a:latin typeface="Lucida Sans Unicode"/>
              <a:cs typeface="Lucida Sans Unicode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80192" y="6257544"/>
              <a:ext cx="1165859" cy="23469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898519" y="1565909"/>
            <a:ext cx="4395470" cy="122364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ts val="5615"/>
              </a:lnSpc>
              <a:spcBef>
                <a:spcPts val="100"/>
              </a:spcBef>
            </a:pPr>
            <a:r>
              <a:rPr dirty="0" sz="4800" spc="-465">
                <a:solidFill>
                  <a:srgbClr val="FFFFFF"/>
                </a:solidFill>
              </a:rPr>
              <a:t>PYTHON</a:t>
            </a:r>
            <a:endParaRPr sz="4800"/>
          </a:p>
          <a:p>
            <a:pPr algn="ctr">
              <a:lnSpc>
                <a:spcPts val="3815"/>
              </a:lnSpc>
            </a:pPr>
            <a:r>
              <a:rPr dirty="0" sz="3300" spc="-390">
                <a:solidFill>
                  <a:srgbClr val="FFFFFF"/>
                </a:solidFill>
              </a:rPr>
              <a:t>BEGINNER</a:t>
            </a:r>
            <a:r>
              <a:rPr dirty="0" sz="3300" spc="-400">
                <a:solidFill>
                  <a:srgbClr val="FFFFFF"/>
                </a:solidFill>
              </a:rPr>
              <a:t> </a:t>
            </a:r>
            <a:r>
              <a:rPr dirty="0" sz="3300" spc="-310">
                <a:solidFill>
                  <a:srgbClr val="FFFFFF"/>
                </a:solidFill>
              </a:rPr>
              <a:t>TO</a:t>
            </a:r>
            <a:r>
              <a:rPr dirty="0" sz="3300" spc="-400">
                <a:solidFill>
                  <a:srgbClr val="FFFFFF"/>
                </a:solidFill>
              </a:rPr>
              <a:t> </a:t>
            </a:r>
            <a:r>
              <a:rPr dirty="0" sz="3300" spc="-455">
                <a:solidFill>
                  <a:srgbClr val="FFFFFF"/>
                </a:solidFill>
              </a:rPr>
              <a:t>EXPERT</a:t>
            </a:r>
            <a:endParaRPr sz="3300"/>
          </a:p>
        </p:txBody>
      </p:sp>
      <p:grpSp>
        <p:nvGrpSpPr>
          <p:cNvPr id="13" name="object 13" descr=""/>
          <p:cNvGrpSpPr/>
          <p:nvPr/>
        </p:nvGrpSpPr>
        <p:grpSpPr>
          <a:xfrm>
            <a:off x="3233927" y="126492"/>
            <a:ext cx="8837930" cy="5676900"/>
            <a:chOff x="3233927" y="126492"/>
            <a:chExt cx="8837930" cy="5676900"/>
          </a:xfrm>
        </p:grpSpPr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22023" y="126492"/>
              <a:ext cx="449579" cy="45719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33927" y="3869436"/>
              <a:ext cx="5724144" cy="1933955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zepanalytics.com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496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>
                <a:solidFill>
                  <a:srgbClr val="FFFFFF"/>
                </a:solidFill>
              </a:rPr>
              <a:t>Agenda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27" y="6251447"/>
            <a:ext cx="249936" cy="24841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22023" y="126492"/>
            <a:ext cx="449579" cy="4571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79397" y="1837159"/>
            <a:ext cx="2649855" cy="147574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325"/>
              </a:spcBef>
              <a:buSzPct val="87500"/>
              <a:buFont typeface="Cambria Math"/>
              <a:buChar char="◗"/>
              <a:tabLst>
                <a:tab pos="329565" algn="l"/>
              </a:tabLst>
            </a:pPr>
            <a:r>
              <a:rPr dirty="0" sz="1600">
                <a:solidFill>
                  <a:srgbClr val="FFFFFF"/>
                </a:solidFill>
                <a:latin typeface="Lucida Sans Unicode"/>
                <a:cs typeface="Lucida Sans Unicode"/>
              </a:rPr>
              <a:t>Basics</a:t>
            </a:r>
            <a:r>
              <a:rPr dirty="0" sz="16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3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16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Lucida Sans Unicode"/>
                <a:cs typeface="Lucida Sans Unicode"/>
              </a:rPr>
              <a:t>Python</a:t>
            </a:r>
            <a:endParaRPr sz="1600">
              <a:latin typeface="Lucida Sans Unicode"/>
              <a:cs typeface="Lucida Sans Unicode"/>
            </a:endParaRPr>
          </a:p>
          <a:p>
            <a:pPr marL="469900">
              <a:lnSpc>
                <a:spcPct val="100000"/>
              </a:lnSpc>
              <a:spcBef>
                <a:spcPts val="200"/>
              </a:spcBef>
              <a:tabLst>
                <a:tab pos="786765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Installation</a:t>
            </a:r>
            <a:endParaRPr sz="1400">
              <a:latin typeface="Lucida Sans Unicode"/>
              <a:cs typeface="Lucida Sans Unicode"/>
            </a:endParaRPr>
          </a:p>
          <a:p>
            <a:pPr marL="469900">
              <a:lnSpc>
                <a:spcPct val="100000"/>
              </a:lnSpc>
              <a:spcBef>
                <a:spcPts val="170"/>
              </a:spcBef>
              <a:tabLst>
                <a:tab pos="786765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Variables</a:t>
            </a:r>
            <a:endParaRPr sz="1400">
              <a:latin typeface="Lucida Sans Unicode"/>
              <a:cs typeface="Lucida Sans Unicode"/>
            </a:endParaRPr>
          </a:p>
          <a:p>
            <a:pPr marL="469900">
              <a:lnSpc>
                <a:spcPct val="100000"/>
              </a:lnSpc>
              <a:spcBef>
                <a:spcPts val="165"/>
              </a:spcBef>
              <a:tabLst>
                <a:tab pos="786765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Keywords</a:t>
            </a:r>
            <a:endParaRPr sz="1400">
              <a:latin typeface="Lucida Sans Unicode"/>
              <a:cs typeface="Lucida Sans Unicode"/>
            </a:endParaRPr>
          </a:p>
          <a:p>
            <a:pPr marL="469900">
              <a:lnSpc>
                <a:spcPct val="100000"/>
              </a:lnSpc>
              <a:spcBef>
                <a:spcPts val="170"/>
              </a:spcBef>
              <a:tabLst>
                <a:tab pos="786765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 spc="60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14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types</a:t>
            </a:r>
            <a:endParaRPr sz="1400">
              <a:latin typeface="Lucida Sans Unicode"/>
              <a:cs typeface="Lucida Sans Unicode"/>
            </a:endParaRPr>
          </a:p>
          <a:p>
            <a:pPr marL="469900">
              <a:lnSpc>
                <a:spcPct val="100000"/>
              </a:lnSpc>
              <a:spcBef>
                <a:spcPts val="165"/>
              </a:spcBef>
              <a:tabLst>
                <a:tab pos="786765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Operators/Operands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79397" y="3667034"/>
            <a:ext cx="2631440" cy="124015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320"/>
              </a:spcBef>
              <a:buSzPct val="87500"/>
              <a:buFont typeface="Cambria Math"/>
              <a:buChar char="◗"/>
              <a:tabLst>
                <a:tab pos="329565" algn="l"/>
              </a:tabLst>
            </a:pPr>
            <a:r>
              <a:rPr dirty="0" sz="1600">
                <a:solidFill>
                  <a:srgbClr val="FFFFFF"/>
                </a:solidFill>
                <a:latin typeface="Lucida Sans Unicode"/>
                <a:cs typeface="Lucida Sans Unicode"/>
              </a:rPr>
              <a:t>Python</a:t>
            </a:r>
            <a:r>
              <a:rPr dirty="0" sz="16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60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16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Lucida Sans Unicode"/>
                <a:cs typeface="Lucida Sans Unicode"/>
              </a:rPr>
              <a:t>Structures</a:t>
            </a:r>
            <a:endParaRPr sz="1600">
              <a:latin typeface="Lucida Sans Unicode"/>
              <a:cs typeface="Lucida Sans Unicode"/>
            </a:endParaRPr>
          </a:p>
          <a:p>
            <a:pPr marL="469900">
              <a:lnSpc>
                <a:spcPct val="100000"/>
              </a:lnSpc>
              <a:spcBef>
                <a:spcPts val="200"/>
              </a:spcBef>
              <a:tabLst>
                <a:tab pos="786765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Sets</a:t>
            </a:r>
            <a:endParaRPr sz="1400">
              <a:latin typeface="Lucida Sans Unicode"/>
              <a:cs typeface="Lucida Sans Unicode"/>
            </a:endParaRPr>
          </a:p>
          <a:p>
            <a:pPr marL="469900">
              <a:lnSpc>
                <a:spcPct val="100000"/>
              </a:lnSpc>
              <a:spcBef>
                <a:spcPts val="165"/>
              </a:spcBef>
              <a:tabLst>
                <a:tab pos="786765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Lists</a:t>
            </a:r>
            <a:endParaRPr sz="1400">
              <a:latin typeface="Lucida Sans Unicode"/>
              <a:cs typeface="Lucida Sans Unicode"/>
            </a:endParaRPr>
          </a:p>
          <a:p>
            <a:pPr marL="469900">
              <a:lnSpc>
                <a:spcPct val="100000"/>
              </a:lnSpc>
              <a:spcBef>
                <a:spcPts val="170"/>
              </a:spcBef>
              <a:tabLst>
                <a:tab pos="786765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Dictionaries</a:t>
            </a:r>
            <a:endParaRPr sz="1400">
              <a:latin typeface="Lucida Sans Unicode"/>
              <a:cs typeface="Lucida Sans Unicode"/>
            </a:endParaRPr>
          </a:p>
          <a:p>
            <a:pPr marL="469900">
              <a:lnSpc>
                <a:spcPct val="100000"/>
              </a:lnSpc>
              <a:spcBef>
                <a:spcPts val="165"/>
              </a:spcBef>
              <a:tabLst>
                <a:tab pos="786765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Tuples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74996" y="1924964"/>
            <a:ext cx="2767965" cy="1739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900" marR="5080" indent="-330835">
              <a:lnSpc>
                <a:spcPct val="110000"/>
              </a:lnSpc>
              <a:spcBef>
                <a:spcPts val="100"/>
              </a:spcBef>
              <a:buFont typeface="Cambria Math"/>
              <a:buChar char="◗"/>
              <a:tabLst>
                <a:tab pos="342900" algn="l"/>
              </a:tabLst>
            </a:pPr>
            <a:r>
              <a:rPr dirty="0" sz="1600">
                <a:solidFill>
                  <a:srgbClr val="FFFFFF"/>
                </a:solidFill>
                <a:latin typeface="Lucida Sans Unicode"/>
                <a:cs typeface="Lucida Sans Unicode"/>
              </a:rPr>
              <a:t>Python</a:t>
            </a:r>
            <a:r>
              <a:rPr dirty="0" sz="16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50">
                <a:solidFill>
                  <a:srgbClr val="FFFFFF"/>
                </a:solidFill>
                <a:latin typeface="Lucida Sans Unicode"/>
                <a:cs typeface="Lucida Sans Unicode"/>
              </a:rPr>
              <a:t>Loops,</a:t>
            </a:r>
            <a:r>
              <a:rPr dirty="0" sz="16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Lucida Sans Unicode"/>
                <a:cs typeface="Lucida Sans Unicode"/>
              </a:rPr>
              <a:t>Functions, </a:t>
            </a:r>
            <a:r>
              <a:rPr dirty="0" sz="160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16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50">
                <a:solidFill>
                  <a:srgbClr val="FFFFFF"/>
                </a:solidFill>
                <a:latin typeface="Lucida Sans Unicode"/>
                <a:cs typeface="Lucida Sans Unicode"/>
              </a:rPr>
              <a:t>File</a:t>
            </a:r>
            <a:r>
              <a:rPr dirty="0" sz="16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Lucida Sans Unicode"/>
                <a:cs typeface="Lucida Sans Unicode"/>
              </a:rPr>
              <a:t>Handling</a:t>
            </a:r>
            <a:endParaRPr sz="1600">
              <a:latin typeface="Lucida Sans Unicode"/>
              <a:cs typeface="Lucida Sans Unicode"/>
            </a:endParaRPr>
          </a:p>
          <a:p>
            <a:pPr marL="483234">
              <a:lnSpc>
                <a:spcPct val="100000"/>
              </a:lnSpc>
              <a:spcBef>
                <a:spcPts val="200"/>
              </a:spcBef>
              <a:tabLst>
                <a:tab pos="800100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Loops</a:t>
            </a:r>
            <a:endParaRPr sz="1400">
              <a:latin typeface="Lucida Sans Unicode"/>
              <a:cs typeface="Lucida Sans Unicode"/>
            </a:endParaRPr>
          </a:p>
          <a:p>
            <a:pPr marL="483234">
              <a:lnSpc>
                <a:spcPct val="100000"/>
              </a:lnSpc>
              <a:spcBef>
                <a:spcPts val="165"/>
              </a:spcBef>
              <a:tabLst>
                <a:tab pos="800100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Functions</a:t>
            </a:r>
            <a:endParaRPr sz="1400">
              <a:latin typeface="Lucida Sans Unicode"/>
              <a:cs typeface="Lucida Sans Unicode"/>
            </a:endParaRPr>
          </a:p>
          <a:p>
            <a:pPr marL="483234">
              <a:lnSpc>
                <a:spcPct val="100000"/>
              </a:lnSpc>
              <a:spcBef>
                <a:spcPts val="170"/>
              </a:spcBef>
              <a:tabLst>
                <a:tab pos="800100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 spc="70">
                <a:solidFill>
                  <a:srgbClr val="FFFFFF"/>
                </a:solidFill>
                <a:latin typeface="Lucida Sans Unicode"/>
                <a:cs typeface="Lucida Sans Unicode"/>
              </a:rPr>
              <a:t>Lambda</a:t>
            </a:r>
            <a:r>
              <a:rPr dirty="0" sz="1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Functions</a:t>
            </a:r>
            <a:endParaRPr sz="1400">
              <a:latin typeface="Lucida Sans Unicode"/>
              <a:cs typeface="Lucida Sans Unicode"/>
            </a:endParaRPr>
          </a:p>
          <a:p>
            <a:pPr marL="483234">
              <a:lnSpc>
                <a:spcPct val="100000"/>
              </a:lnSpc>
              <a:spcBef>
                <a:spcPts val="170"/>
              </a:spcBef>
              <a:tabLst>
                <a:tab pos="800100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Map,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Reduce,</a:t>
            </a:r>
            <a:r>
              <a:rPr dirty="0" sz="14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1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Filter</a:t>
            </a:r>
            <a:endParaRPr sz="1400">
              <a:latin typeface="Lucida Sans Unicode"/>
              <a:cs typeface="Lucida Sans Unicode"/>
            </a:endParaRPr>
          </a:p>
          <a:p>
            <a:pPr marL="483234">
              <a:lnSpc>
                <a:spcPct val="100000"/>
              </a:lnSpc>
              <a:spcBef>
                <a:spcPts val="170"/>
              </a:spcBef>
              <a:tabLst>
                <a:tab pos="800100" algn="l"/>
              </a:tabLst>
            </a:pPr>
            <a:r>
              <a:rPr dirty="0" sz="1400" spc="-50">
                <a:solidFill>
                  <a:srgbClr val="FFFFFF"/>
                </a:solidFill>
                <a:latin typeface="Cambria Math"/>
                <a:cs typeface="Cambria Math"/>
              </a:rPr>
              <a:t>▹</a:t>
            </a:r>
            <a:r>
              <a:rPr dirty="0" sz="140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dirty="0" sz="1400" spc="-25">
                <a:solidFill>
                  <a:srgbClr val="FFFFFF"/>
                </a:solidFill>
                <a:latin typeface="Lucida Sans Unicode"/>
                <a:cs typeface="Lucida Sans Unicode"/>
              </a:rPr>
              <a:t>File</a:t>
            </a:r>
            <a:r>
              <a:rPr dirty="0" sz="14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Handling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174996" y="4022584"/>
            <a:ext cx="2056130" cy="56197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290"/>
              </a:spcBef>
              <a:buFont typeface="Cambria Math"/>
              <a:buChar char="◗"/>
              <a:tabLst>
                <a:tab pos="342900" algn="l"/>
              </a:tabLst>
            </a:pPr>
            <a:r>
              <a:rPr dirty="0" sz="1600">
                <a:solidFill>
                  <a:srgbClr val="FFFFFF"/>
                </a:solidFill>
                <a:latin typeface="Lucida Sans Unicode"/>
                <a:cs typeface="Lucida Sans Unicode"/>
              </a:rPr>
              <a:t>Python</a:t>
            </a:r>
            <a:r>
              <a:rPr dirty="0" sz="16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Lucida Sans Unicode"/>
                <a:cs typeface="Lucida Sans Unicode"/>
              </a:rPr>
              <a:t>Exception</a:t>
            </a:r>
            <a:endParaRPr sz="1600">
              <a:latin typeface="Lucida Sans Unicode"/>
              <a:cs typeface="Lucida Sans Unicode"/>
            </a:endParaRPr>
          </a:p>
          <a:p>
            <a:pPr marL="342900">
              <a:lnSpc>
                <a:spcPct val="100000"/>
              </a:lnSpc>
              <a:spcBef>
                <a:spcPts val="190"/>
              </a:spcBef>
            </a:pPr>
            <a:r>
              <a:rPr dirty="0" sz="1600" spc="-10">
                <a:solidFill>
                  <a:srgbClr val="FFFFFF"/>
                </a:solidFill>
                <a:latin typeface="Lucida Sans Unicode"/>
                <a:cs typeface="Lucida Sans Unicode"/>
              </a:rPr>
              <a:t>Handling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188711" y="5004561"/>
            <a:ext cx="25628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95"/>
              </a:spcBef>
              <a:buSzPct val="87500"/>
              <a:buFont typeface="Cambria Math"/>
              <a:buChar char="◗"/>
              <a:tabLst>
                <a:tab pos="329565" algn="l"/>
              </a:tabLst>
            </a:pPr>
            <a:r>
              <a:rPr dirty="0" sz="1600">
                <a:solidFill>
                  <a:srgbClr val="FFFFFF"/>
                </a:solidFill>
                <a:latin typeface="Lucida Sans Unicode"/>
                <a:cs typeface="Lucida Sans Unicode"/>
              </a:rPr>
              <a:t>Iterators</a:t>
            </a:r>
            <a:r>
              <a:rPr dirty="0" sz="16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16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Lucida Sans Unicode"/>
                <a:cs typeface="Lucida Sans Unicode"/>
              </a:rPr>
              <a:t>Generators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9144000" y="2007107"/>
            <a:ext cx="2702560" cy="2787650"/>
            <a:chOff x="9144000" y="2007107"/>
            <a:chExt cx="2702560" cy="2787650"/>
          </a:xfrm>
        </p:grpSpPr>
        <p:sp>
          <p:nvSpPr>
            <p:cNvPr id="12" name="object 12" descr=""/>
            <p:cNvSpPr/>
            <p:nvPr/>
          </p:nvSpPr>
          <p:spPr>
            <a:xfrm>
              <a:off x="9144000" y="2121407"/>
              <a:ext cx="2661285" cy="2673350"/>
            </a:xfrm>
            <a:custGeom>
              <a:avLst/>
              <a:gdLst/>
              <a:ahLst/>
              <a:cxnLst/>
              <a:rect l="l" t="t" r="r" b="b"/>
              <a:pathLst>
                <a:path w="2661284" h="2673350">
                  <a:moveTo>
                    <a:pt x="1539875" y="0"/>
                  </a:moveTo>
                  <a:lnTo>
                    <a:pt x="0" y="1546859"/>
                  </a:lnTo>
                  <a:lnTo>
                    <a:pt x="1121028" y="2673096"/>
                  </a:lnTo>
                  <a:lnTo>
                    <a:pt x="2660904" y="1125981"/>
                  </a:lnTo>
                  <a:lnTo>
                    <a:pt x="1539875" y="0"/>
                  </a:lnTo>
                  <a:close/>
                </a:path>
              </a:pathLst>
            </a:custGeom>
            <a:solidFill>
              <a:srgbClr val="D5D7E4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185148" y="2081783"/>
              <a:ext cx="2661285" cy="2673350"/>
            </a:xfrm>
            <a:custGeom>
              <a:avLst/>
              <a:gdLst/>
              <a:ahLst/>
              <a:cxnLst/>
              <a:rect l="l" t="t" r="r" b="b"/>
              <a:pathLst>
                <a:path w="2661284" h="2673350">
                  <a:moveTo>
                    <a:pt x="1540002" y="0"/>
                  </a:moveTo>
                  <a:lnTo>
                    <a:pt x="36956" y="1510029"/>
                  </a:lnTo>
                  <a:lnTo>
                    <a:pt x="0" y="1473073"/>
                  </a:lnTo>
                  <a:lnTo>
                    <a:pt x="0" y="1547114"/>
                  </a:lnTo>
                  <a:lnTo>
                    <a:pt x="1121028" y="2673096"/>
                  </a:lnTo>
                  <a:lnTo>
                    <a:pt x="2660904" y="1126236"/>
                  </a:lnTo>
                  <a:lnTo>
                    <a:pt x="2660904" y="1052067"/>
                  </a:lnTo>
                  <a:lnTo>
                    <a:pt x="2623947" y="1089152"/>
                  </a:lnTo>
                  <a:lnTo>
                    <a:pt x="1540002" y="0"/>
                  </a:lnTo>
                  <a:close/>
                </a:path>
              </a:pathLst>
            </a:custGeom>
            <a:solidFill>
              <a:srgbClr val="B0B4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185148" y="2007107"/>
              <a:ext cx="2661285" cy="2674620"/>
            </a:xfrm>
            <a:custGeom>
              <a:avLst/>
              <a:gdLst/>
              <a:ahLst/>
              <a:cxnLst/>
              <a:rect l="l" t="t" r="r" b="b"/>
              <a:pathLst>
                <a:path w="2661284" h="2674620">
                  <a:moveTo>
                    <a:pt x="1540002" y="0"/>
                  </a:moveTo>
                  <a:lnTo>
                    <a:pt x="0" y="1548002"/>
                  </a:lnTo>
                  <a:lnTo>
                    <a:pt x="1121028" y="2674619"/>
                  </a:lnTo>
                  <a:lnTo>
                    <a:pt x="2660904" y="1126870"/>
                  </a:lnTo>
                  <a:lnTo>
                    <a:pt x="1540002" y="0"/>
                  </a:lnTo>
                  <a:close/>
                </a:path>
              </a:pathLst>
            </a:custGeom>
            <a:solidFill>
              <a:srgbClr val="F9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593580" y="2260091"/>
              <a:ext cx="2010410" cy="1866900"/>
            </a:xfrm>
            <a:custGeom>
              <a:avLst/>
              <a:gdLst/>
              <a:ahLst/>
              <a:cxnLst/>
              <a:rect l="l" t="t" r="r" b="b"/>
              <a:pathLst>
                <a:path w="2010409" h="1866900">
                  <a:moveTo>
                    <a:pt x="739140" y="1768856"/>
                  </a:moveTo>
                  <a:lnTo>
                    <a:pt x="44577" y="1071372"/>
                  </a:lnTo>
                  <a:lnTo>
                    <a:pt x="0" y="1116076"/>
                  </a:lnTo>
                  <a:lnTo>
                    <a:pt x="694563" y="1813560"/>
                  </a:lnTo>
                  <a:lnTo>
                    <a:pt x="739140" y="1768856"/>
                  </a:lnTo>
                  <a:close/>
                </a:path>
                <a:path w="2010409" h="1866900">
                  <a:moveTo>
                    <a:pt x="937260" y="678942"/>
                  </a:moveTo>
                  <a:lnTo>
                    <a:pt x="686562" y="426720"/>
                  </a:lnTo>
                  <a:lnTo>
                    <a:pt x="435864" y="678942"/>
                  </a:lnTo>
                  <a:lnTo>
                    <a:pt x="686562" y="931164"/>
                  </a:lnTo>
                  <a:lnTo>
                    <a:pt x="937260" y="678942"/>
                  </a:lnTo>
                  <a:close/>
                </a:path>
                <a:path w="2010409" h="1866900">
                  <a:moveTo>
                    <a:pt x="938784" y="1822196"/>
                  </a:moveTo>
                  <a:lnTo>
                    <a:pt x="117729" y="998220"/>
                  </a:lnTo>
                  <a:lnTo>
                    <a:pt x="73152" y="1042924"/>
                  </a:lnTo>
                  <a:lnTo>
                    <a:pt x="894207" y="1866900"/>
                  </a:lnTo>
                  <a:lnTo>
                    <a:pt x="938784" y="1822196"/>
                  </a:lnTo>
                  <a:close/>
                </a:path>
                <a:path w="2010409" h="1866900">
                  <a:moveTo>
                    <a:pt x="1028700" y="1765681"/>
                  </a:moveTo>
                  <a:lnTo>
                    <a:pt x="192278" y="923544"/>
                  </a:lnTo>
                  <a:lnTo>
                    <a:pt x="147828" y="968375"/>
                  </a:lnTo>
                  <a:lnTo>
                    <a:pt x="984250" y="1810512"/>
                  </a:lnTo>
                  <a:lnTo>
                    <a:pt x="1028700" y="1765681"/>
                  </a:lnTo>
                  <a:close/>
                </a:path>
                <a:path w="2010409" h="1866900">
                  <a:moveTo>
                    <a:pt x="1229868" y="1687449"/>
                  </a:moveTo>
                  <a:lnTo>
                    <a:pt x="331470" y="783336"/>
                  </a:lnTo>
                  <a:lnTo>
                    <a:pt x="242316" y="872871"/>
                  </a:lnTo>
                  <a:lnTo>
                    <a:pt x="1140968" y="1776984"/>
                  </a:lnTo>
                  <a:lnTo>
                    <a:pt x="1229868" y="1687449"/>
                  </a:lnTo>
                  <a:close/>
                </a:path>
                <a:path w="2010409" h="1866900">
                  <a:moveTo>
                    <a:pt x="1261872" y="1003681"/>
                  </a:moveTo>
                  <a:lnTo>
                    <a:pt x="1011174" y="751332"/>
                  </a:lnTo>
                  <a:lnTo>
                    <a:pt x="760476" y="1003681"/>
                  </a:lnTo>
                  <a:lnTo>
                    <a:pt x="1011174" y="1255776"/>
                  </a:lnTo>
                  <a:lnTo>
                    <a:pt x="1261872" y="1003681"/>
                  </a:lnTo>
                  <a:close/>
                </a:path>
                <a:path w="2010409" h="1866900">
                  <a:moveTo>
                    <a:pt x="1584960" y="1329829"/>
                  </a:moveTo>
                  <a:lnTo>
                    <a:pt x="1334262" y="1077468"/>
                  </a:lnTo>
                  <a:lnTo>
                    <a:pt x="1083564" y="1329563"/>
                  </a:lnTo>
                  <a:lnTo>
                    <a:pt x="1334262" y="1581912"/>
                  </a:lnTo>
                  <a:lnTo>
                    <a:pt x="1584960" y="1329829"/>
                  </a:lnTo>
                  <a:close/>
                </a:path>
                <a:path w="2010409" h="1866900">
                  <a:moveTo>
                    <a:pt x="1723644" y="1191260"/>
                  </a:moveTo>
                  <a:lnTo>
                    <a:pt x="824738" y="288036"/>
                  </a:lnTo>
                  <a:lnTo>
                    <a:pt x="780288" y="332740"/>
                  </a:lnTo>
                  <a:lnTo>
                    <a:pt x="1679194" y="1235964"/>
                  </a:lnTo>
                  <a:lnTo>
                    <a:pt x="1723644" y="1191260"/>
                  </a:lnTo>
                  <a:close/>
                </a:path>
                <a:path w="2010409" h="1866900">
                  <a:moveTo>
                    <a:pt x="1796796" y="1116584"/>
                  </a:moveTo>
                  <a:lnTo>
                    <a:pt x="897890" y="213360"/>
                  </a:lnTo>
                  <a:lnTo>
                    <a:pt x="853440" y="258064"/>
                  </a:lnTo>
                  <a:lnTo>
                    <a:pt x="1752346" y="1161288"/>
                  </a:lnTo>
                  <a:lnTo>
                    <a:pt x="1796796" y="1116584"/>
                  </a:lnTo>
                  <a:close/>
                </a:path>
                <a:path w="2010409" h="1866900">
                  <a:moveTo>
                    <a:pt x="1869948" y="1043432"/>
                  </a:moveTo>
                  <a:lnTo>
                    <a:pt x="971042" y="140208"/>
                  </a:lnTo>
                  <a:lnTo>
                    <a:pt x="926592" y="184912"/>
                  </a:lnTo>
                  <a:lnTo>
                    <a:pt x="1825498" y="1088136"/>
                  </a:lnTo>
                  <a:lnTo>
                    <a:pt x="1869948" y="1043432"/>
                  </a:lnTo>
                  <a:close/>
                </a:path>
                <a:path w="2010409" h="1866900">
                  <a:moveTo>
                    <a:pt x="2010156" y="904113"/>
                  </a:moveTo>
                  <a:lnTo>
                    <a:pt x="1111631" y="0"/>
                  </a:lnTo>
                  <a:lnTo>
                    <a:pt x="1022604" y="89535"/>
                  </a:lnTo>
                  <a:lnTo>
                    <a:pt x="1921002" y="993648"/>
                  </a:lnTo>
                  <a:lnTo>
                    <a:pt x="2010156" y="904113"/>
                  </a:lnTo>
                  <a:close/>
                </a:path>
              </a:pathLst>
            </a:custGeom>
            <a:solidFill>
              <a:srgbClr val="E9E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345281" y="2659411"/>
              <a:ext cx="803910" cy="807720"/>
            </a:xfrm>
            <a:custGeom>
              <a:avLst/>
              <a:gdLst/>
              <a:ahLst/>
              <a:cxnLst/>
              <a:rect l="l" t="t" r="r" b="b"/>
              <a:pathLst>
                <a:path w="803909" h="807720">
                  <a:moveTo>
                    <a:pt x="401918" y="0"/>
                  </a:moveTo>
                  <a:lnTo>
                    <a:pt x="357815" y="2412"/>
                  </a:lnTo>
                  <a:lnTo>
                    <a:pt x="314145" y="9649"/>
                  </a:lnTo>
                  <a:lnTo>
                    <a:pt x="271338" y="21711"/>
                  </a:lnTo>
                  <a:lnTo>
                    <a:pt x="229826" y="38597"/>
                  </a:lnTo>
                  <a:lnTo>
                    <a:pt x="190038" y="60308"/>
                  </a:lnTo>
                  <a:lnTo>
                    <a:pt x="152405" y="86844"/>
                  </a:lnTo>
                  <a:lnTo>
                    <a:pt x="117359" y="118205"/>
                  </a:lnTo>
                  <a:lnTo>
                    <a:pt x="82561" y="158051"/>
                  </a:lnTo>
                  <a:lnTo>
                    <a:pt x="51192" y="205708"/>
                  </a:lnTo>
                  <a:lnTo>
                    <a:pt x="30328" y="248720"/>
                  </a:lnTo>
                  <a:lnTo>
                    <a:pt x="14842" y="293457"/>
                  </a:lnTo>
                  <a:lnTo>
                    <a:pt x="4732" y="339408"/>
                  </a:lnTo>
                  <a:lnTo>
                    <a:pt x="0" y="386063"/>
                  </a:lnTo>
                  <a:lnTo>
                    <a:pt x="520" y="424012"/>
                  </a:lnTo>
                  <a:lnTo>
                    <a:pt x="642" y="432910"/>
                  </a:lnTo>
                  <a:lnTo>
                    <a:pt x="6570" y="478742"/>
                  </a:lnTo>
                  <a:lnTo>
                    <a:pt x="18053" y="525142"/>
                  </a:lnTo>
                  <a:lnTo>
                    <a:pt x="34820" y="569504"/>
                  </a:lnTo>
                  <a:lnTo>
                    <a:pt x="56960" y="612017"/>
                  </a:lnTo>
                  <a:lnTo>
                    <a:pt x="84473" y="652170"/>
                  </a:lnTo>
                  <a:lnTo>
                    <a:pt x="117359" y="689451"/>
                  </a:lnTo>
                  <a:lnTo>
                    <a:pt x="152407" y="720811"/>
                  </a:lnTo>
                  <a:lnTo>
                    <a:pt x="190044" y="747347"/>
                  </a:lnTo>
                  <a:lnTo>
                    <a:pt x="229839" y="769058"/>
                  </a:lnTo>
                  <a:lnTo>
                    <a:pt x="271361" y="785945"/>
                  </a:lnTo>
                  <a:lnTo>
                    <a:pt x="314176" y="798007"/>
                  </a:lnTo>
                  <a:lnTo>
                    <a:pt x="357855" y="805244"/>
                  </a:lnTo>
                  <a:lnTo>
                    <a:pt x="401966" y="807656"/>
                  </a:lnTo>
                  <a:lnTo>
                    <a:pt x="446076" y="805244"/>
                  </a:lnTo>
                  <a:lnTo>
                    <a:pt x="489755" y="798007"/>
                  </a:lnTo>
                  <a:lnTo>
                    <a:pt x="532571" y="785945"/>
                  </a:lnTo>
                  <a:lnTo>
                    <a:pt x="574092" y="769058"/>
                  </a:lnTo>
                  <a:lnTo>
                    <a:pt x="613887" y="747347"/>
                  </a:lnTo>
                  <a:lnTo>
                    <a:pt x="631354" y="735032"/>
                  </a:lnTo>
                  <a:lnTo>
                    <a:pt x="378727" y="735032"/>
                  </a:lnTo>
                  <a:lnTo>
                    <a:pt x="332783" y="728590"/>
                  </a:lnTo>
                  <a:lnTo>
                    <a:pt x="287954" y="715705"/>
                  </a:lnTo>
                  <a:lnTo>
                    <a:pt x="244977" y="696378"/>
                  </a:lnTo>
                  <a:lnTo>
                    <a:pt x="204588" y="670609"/>
                  </a:lnTo>
                  <a:lnTo>
                    <a:pt x="167524" y="638397"/>
                  </a:lnTo>
                  <a:lnTo>
                    <a:pt x="136455" y="602478"/>
                  </a:lnTo>
                  <a:lnTo>
                    <a:pt x="111352" y="563457"/>
                  </a:lnTo>
                  <a:lnTo>
                    <a:pt x="92218" y="521992"/>
                  </a:lnTo>
                  <a:lnTo>
                    <a:pt x="79052" y="478742"/>
                  </a:lnTo>
                  <a:lnTo>
                    <a:pt x="71940" y="434869"/>
                  </a:lnTo>
                  <a:lnTo>
                    <a:pt x="70648" y="389937"/>
                  </a:lnTo>
                  <a:lnTo>
                    <a:pt x="70637" y="389526"/>
                  </a:lnTo>
                  <a:lnTo>
                    <a:pt x="75363" y="345124"/>
                  </a:lnTo>
                  <a:lnTo>
                    <a:pt x="75389" y="344879"/>
                  </a:lnTo>
                  <a:lnTo>
                    <a:pt x="86117" y="301085"/>
                  </a:lnTo>
                  <a:lnTo>
                    <a:pt x="102480" y="260798"/>
                  </a:lnTo>
                  <a:lnTo>
                    <a:pt x="121677" y="224821"/>
                  </a:lnTo>
                  <a:lnTo>
                    <a:pt x="167524" y="167608"/>
                  </a:lnTo>
                  <a:lnTo>
                    <a:pt x="204682" y="135459"/>
                  </a:lnTo>
                  <a:lnTo>
                    <a:pt x="245147" y="109740"/>
                  </a:lnTo>
                  <a:lnTo>
                    <a:pt x="288181" y="90451"/>
                  </a:lnTo>
                  <a:lnTo>
                    <a:pt x="333048" y="77591"/>
                  </a:lnTo>
                  <a:lnTo>
                    <a:pt x="379010" y="71161"/>
                  </a:lnTo>
                  <a:lnTo>
                    <a:pt x="629247" y="71161"/>
                  </a:lnTo>
                  <a:lnTo>
                    <a:pt x="613847" y="60308"/>
                  </a:lnTo>
                  <a:lnTo>
                    <a:pt x="574042" y="38597"/>
                  </a:lnTo>
                  <a:lnTo>
                    <a:pt x="532516" y="21711"/>
                  </a:lnTo>
                  <a:lnTo>
                    <a:pt x="489699" y="9649"/>
                  </a:lnTo>
                  <a:lnTo>
                    <a:pt x="446023" y="2412"/>
                  </a:lnTo>
                  <a:lnTo>
                    <a:pt x="401918" y="0"/>
                  </a:lnTo>
                  <a:close/>
                </a:path>
                <a:path w="803909" h="807720">
                  <a:moveTo>
                    <a:pt x="629247" y="71161"/>
                  </a:moveTo>
                  <a:lnTo>
                    <a:pt x="425332" y="71161"/>
                  </a:lnTo>
                  <a:lnTo>
                    <a:pt x="471275" y="77591"/>
                  </a:lnTo>
                  <a:lnTo>
                    <a:pt x="516104" y="90451"/>
                  </a:lnTo>
                  <a:lnTo>
                    <a:pt x="559082" y="109740"/>
                  </a:lnTo>
                  <a:lnTo>
                    <a:pt x="599471" y="135459"/>
                  </a:lnTo>
                  <a:lnTo>
                    <a:pt x="636535" y="167608"/>
                  </a:lnTo>
                  <a:lnTo>
                    <a:pt x="682302" y="224821"/>
                  </a:lnTo>
                  <a:lnTo>
                    <a:pt x="701418" y="260798"/>
                  </a:lnTo>
                  <a:lnTo>
                    <a:pt x="717688" y="301085"/>
                  </a:lnTo>
                  <a:lnTo>
                    <a:pt x="728403" y="344879"/>
                  </a:lnTo>
                  <a:lnTo>
                    <a:pt x="728463" y="345124"/>
                  </a:lnTo>
                  <a:lnTo>
                    <a:pt x="733217" y="389526"/>
                  </a:lnTo>
                  <a:lnTo>
                    <a:pt x="733261" y="389937"/>
                  </a:lnTo>
                  <a:lnTo>
                    <a:pt x="732134" y="432910"/>
                  </a:lnTo>
                  <a:lnTo>
                    <a:pt x="732083" y="434869"/>
                  </a:lnTo>
                  <a:lnTo>
                    <a:pt x="725011" y="478742"/>
                  </a:lnTo>
                  <a:lnTo>
                    <a:pt x="724927" y="479266"/>
                  </a:lnTo>
                  <a:lnTo>
                    <a:pt x="711794" y="522472"/>
                  </a:lnTo>
                  <a:lnTo>
                    <a:pt x="692685" y="563832"/>
                  </a:lnTo>
                  <a:lnTo>
                    <a:pt x="667598" y="602692"/>
                  </a:lnTo>
                  <a:lnTo>
                    <a:pt x="636535" y="638397"/>
                  </a:lnTo>
                  <a:lnTo>
                    <a:pt x="599376" y="670609"/>
                  </a:lnTo>
                  <a:lnTo>
                    <a:pt x="558912" y="696378"/>
                  </a:lnTo>
                  <a:lnTo>
                    <a:pt x="515878" y="715705"/>
                  </a:lnTo>
                  <a:lnTo>
                    <a:pt x="471011" y="728590"/>
                  </a:lnTo>
                  <a:lnTo>
                    <a:pt x="425048" y="735032"/>
                  </a:lnTo>
                  <a:lnTo>
                    <a:pt x="631354" y="735032"/>
                  </a:lnTo>
                  <a:lnTo>
                    <a:pt x="686573" y="689451"/>
                  </a:lnTo>
                  <a:lnTo>
                    <a:pt x="720397" y="650928"/>
                  </a:lnTo>
                  <a:lnTo>
                    <a:pt x="748508" y="609370"/>
                  </a:lnTo>
                  <a:lnTo>
                    <a:pt x="770907" y="565339"/>
                  </a:lnTo>
                  <a:lnTo>
                    <a:pt x="787592" y="519394"/>
                  </a:lnTo>
                  <a:lnTo>
                    <a:pt x="798562" y="472099"/>
                  </a:lnTo>
                  <a:lnTo>
                    <a:pt x="803818" y="424012"/>
                  </a:lnTo>
                  <a:lnTo>
                    <a:pt x="803494" y="389937"/>
                  </a:lnTo>
                  <a:lnTo>
                    <a:pt x="803458" y="386063"/>
                  </a:lnTo>
                  <a:lnTo>
                    <a:pt x="803359" y="375696"/>
                  </a:lnTo>
                  <a:lnTo>
                    <a:pt x="797184" y="327711"/>
                  </a:lnTo>
                  <a:lnTo>
                    <a:pt x="785293" y="280619"/>
                  </a:lnTo>
                  <a:lnTo>
                    <a:pt x="767684" y="234981"/>
                  </a:lnTo>
                  <a:lnTo>
                    <a:pt x="744358" y="191357"/>
                  </a:lnTo>
                  <a:lnTo>
                    <a:pt x="716656" y="151971"/>
                  </a:lnTo>
                  <a:lnTo>
                    <a:pt x="686573" y="118205"/>
                  </a:lnTo>
                  <a:lnTo>
                    <a:pt x="651501" y="86844"/>
                  </a:lnTo>
                  <a:lnTo>
                    <a:pt x="629247" y="71161"/>
                  </a:lnTo>
                  <a:close/>
                </a:path>
              </a:pathLst>
            </a:custGeom>
            <a:solidFill>
              <a:srgbClr val="B0B4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390632" y="2506979"/>
              <a:ext cx="697865" cy="469265"/>
            </a:xfrm>
            <a:custGeom>
              <a:avLst/>
              <a:gdLst/>
              <a:ahLst/>
              <a:cxnLst/>
              <a:rect l="l" t="t" r="r" b="b"/>
              <a:pathLst>
                <a:path w="697865" h="469264">
                  <a:moveTo>
                    <a:pt x="202438" y="0"/>
                  </a:moveTo>
                  <a:lnTo>
                    <a:pt x="45212" y="152273"/>
                  </a:lnTo>
                  <a:lnTo>
                    <a:pt x="0" y="340487"/>
                  </a:lnTo>
                  <a:lnTo>
                    <a:pt x="41275" y="455041"/>
                  </a:lnTo>
                  <a:lnTo>
                    <a:pt x="57562" y="414754"/>
                  </a:lnTo>
                  <a:lnTo>
                    <a:pt x="76708" y="378777"/>
                  </a:lnTo>
                  <a:lnTo>
                    <a:pt x="122427" y="321564"/>
                  </a:lnTo>
                  <a:lnTo>
                    <a:pt x="159448" y="289415"/>
                  </a:lnTo>
                  <a:lnTo>
                    <a:pt x="199778" y="263696"/>
                  </a:lnTo>
                  <a:lnTo>
                    <a:pt x="242685" y="244406"/>
                  </a:lnTo>
                  <a:lnTo>
                    <a:pt x="287434" y="231547"/>
                  </a:lnTo>
                  <a:lnTo>
                    <a:pt x="333293" y="225117"/>
                  </a:lnTo>
                  <a:lnTo>
                    <a:pt x="379528" y="225117"/>
                  </a:lnTo>
                  <a:lnTo>
                    <a:pt x="425406" y="231547"/>
                  </a:lnTo>
                  <a:lnTo>
                    <a:pt x="470193" y="244406"/>
                  </a:lnTo>
                  <a:lnTo>
                    <a:pt x="513156" y="263696"/>
                  </a:lnTo>
                  <a:lnTo>
                    <a:pt x="553561" y="289415"/>
                  </a:lnTo>
                  <a:lnTo>
                    <a:pt x="590676" y="321564"/>
                  </a:lnTo>
                  <a:lnTo>
                    <a:pt x="636317" y="378777"/>
                  </a:lnTo>
                  <a:lnTo>
                    <a:pt x="655381" y="414754"/>
                  </a:lnTo>
                  <a:lnTo>
                    <a:pt x="671576" y="455041"/>
                  </a:lnTo>
                  <a:lnTo>
                    <a:pt x="685345" y="468927"/>
                  </a:lnTo>
                  <a:lnTo>
                    <a:pt x="693531" y="447262"/>
                  </a:lnTo>
                  <a:lnTo>
                    <a:pt x="697311" y="401641"/>
                  </a:lnTo>
                  <a:lnTo>
                    <a:pt x="697865" y="343662"/>
                  </a:lnTo>
                  <a:lnTo>
                    <a:pt x="697069" y="296350"/>
                  </a:lnTo>
                  <a:lnTo>
                    <a:pt x="695690" y="254920"/>
                  </a:lnTo>
                  <a:lnTo>
                    <a:pt x="693801" y="214375"/>
                  </a:lnTo>
                  <a:lnTo>
                    <a:pt x="495046" y="8890"/>
                  </a:lnTo>
                  <a:lnTo>
                    <a:pt x="202438" y="0"/>
                  </a:lnTo>
                  <a:close/>
                </a:path>
              </a:pathLst>
            </a:custGeom>
            <a:solidFill>
              <a:srgbClr val="A0A4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0344912" y="2848355"/>
              <a:ext cx="803275" cy="213360"/>
            </a:xfrm>
            <a:custGeom>
              <a:avLst/>
              <a:gdLst/>
              <a:ahLst/>
              <a:cxnLst/>
              <a:rect l="l" t="t" r="r" b="b"/>
              <a:pathLst>
                <a:path w="803275" h="213360">
                  <a:moveTo>
                    <a:pt x="60960" y="179197"/>
                  </a:moveTo>
                  <a:lnTo>
                    <a:pt x="127" y="0"/>
                  </a:lnTo>
                  <a:lnTo>
                    <a:pt x="0" y="213360"/>
                  </a:lnTo>
                  <a:lnTo>
                    <a:pt x="60960" y="179197"/>
                  </a:lnTo>
                  <a:close/>
                </a:path>
                <a:path w="803275" h="213360">
                  <a:moveTo>
                    <a:pt x="803148" y="0"/>
                  </a:moveTo>
                  <a:lnTo>
                    <a:pt x="749808" y="106172"/>
                  </a:lnTo>
                  <a:lnTo>
                    <a:pt x="803148" y="213360"/>
                  </a:lnTo>
                  <a:lnTo>
                    <a:pt x="803148" y="0"/>
                  </a:lnTo>
                  <a:close/>
                </a:path>
              </a:pathLst>
            </a:custGeom>
            <a:solidFill>
              <a:srgbClr val="B0B4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416539" y="2619755"/>
              <a:ext cx="669290" cy="672465"/>
            </a:xfrm>
            <a:custGeom>
              <a:avLst/>
              <a:gdLst/>
              <a:ahLst/>
              <a:cxnLst/>
              <a:rect l="l" t="t" r="r" b="b"/>
              <a:pathLst>
                <a:path w="669290" h="672464">
                  <a:moveTo>
                    <a:pt x="334517" y="0"/>
                  </a:moveTo>
                  <a:lnTo>
                    <a:pt x="285077" y="3644"/>
                  </a:lnTo>
                  <a:lnTo>
                    <a:pt x="237891" y="14231"/>
                  </a:lnTo>
                  <a:lnTo>
                    <a:pt x="193478" y="31239"/>
                  </a:lnTo>
                  <a:lnTo>
                    <a:pt x="152353" y="54149"/>
                  </a:lnTo>
                  <a:lnTo>
                    <a:pt x="115035" y="82440"/>
                  </a:lnTo>
                  <a:lnTo>
                    <a:pt x="82039" y="115591"/>
                  </a:lnTo>
                  <a:lnTo>
                    <a:pt x="53883" y="153082"/>
                  </a:lnTo>
                  <a:lnTo>
                    <a:pt x="31085" y="194394"/>
                  </a:lnTo>
                  <a:lnTo>
                    <a:pt x="14160" y="239004"/>
                  </a:lnTo>
                  <a:lnTo>
                    <a:pt x="3626" y="286394"/>
                  </a:lnTo>
                  <a:lnTo>
                    <a:pt x="0" y="336042"/>
                  </a:lnTo>
                  <a:lnTo>
                    <a:pt x="3626" y="385689"/>
                  </a:lnTo>
                  <a:lnTo>
                    <a:pt x="14160" y="433079"/>
                  </a:lnTo>
                  <a:lnTo>
                    <a:pt x="31085" y="477689"/>
                  </a:lnTo>
                  <a:lnTo>
                    <a:pt x="53883" y="519001"/>
                  </a:lnTo>
                  <a:lnTo>
                    <a:pt x="82039" y="556492"/>
                  </a:lnTo>
                  <a:lnTo>
                    <a:pt x="115035" y="589643"/>
                  </a:lnTo>
                  <a:lnTo>
                    <a:pt x="152353" y="617934"/>
                  </a:lnTo>
                  <a:lnTo>
                    <a:pt x="193478" y="640844"/>
                  </a:lnTo>
                  <a:lnTo>
                    <a:pt x="237891" y="657852"/>
                  </a:lnTo>
                  <a:lnTo>
                    <a:pt x="285077" y="668439"/>
                  </a:lnTo>
                  <a:lnTo>
                    <a:pt x="334517" y="672084"/>
                  </a:lnTo>
                  <a:lnTo>
                    <a:pt x="383958" y="668439"/>
                  </a:lnTo>
                  <a:lnTo>
                    <a:pt x="431144" y="657852"/>
                  </a:lnTo>
                  <a:lnTo>
                    <a:pt x="475557" y="640844"/>
                  </a:lnTo>
                  <a:lnTo>
                    <a:pt x="516682" y="617934"/>
                  </a:lnTo>
                  <a:lnTo>
                    <a:pt x="554000" y="589643"/>
                  </a:lnTo>
                  <a:lnTo>
                    <a:pt x="586996" y="556492"/>
                  </a:lnTo>
                  <a:lnTo>
                    <a:pt x="615152" y="519001"/>
                  </a:lnTo>
                  <a:lnTo>
                    <a:pt x="637950" y="477689"/>
                  </a:lnTo>
                  <a:lnTo>
                    <a:pt x="654875" y="433079"/>
                  </a:lnTo>
                  <a:lnTo>
                    <a:pt x="665409" y="385689"/>
                  </a:lnTo>
                  <a:lnTo>
                    <a:pt x="669035" y="336042"/>
                  </a:lnTo>
                  <a:lnTo>
                    <a:pt x="665409" y="286394"/>
                  </a:lnTo>
                  <a:lnTo>
                    <a:pt x="654875" y="239004"/>
                  </a:lnTo>
                  <a:lnTo>
                    <a:pt x="637950" y="194394"/>
                  </a:lnTo>
                  <a:lnTo>
                    <a:pt x="615152" y="153082"/>
                  </a:lnTo>
                  <a:lnTo>
                    <a:pt x="586996" y="115591"/>
                  </a:lnTo>
                  <a:lnTo>
                    <a:pt x="554000" y="82440"/>
                  </a:lnTo>
                  <a:lnTo>
                    <a:pt x="516682" y="54149"/>
                  </a:lnTo>
                  <a:lnTo>
                    <a:pt x="475557" y="31239"/>
                  </a:lnTo>
                  <a:lnTo>
                    <a:pt x="431144" y="14231"/>
                  </a:lnTo>
                  <a:lnTo>
                    <a:pt x="383958" y="3644"/>
                  </a:lnTo>
                  <a:lnTo>
                    <a:pt x="334517" y="0"/>
                  </a:lnTo>
                  <a:close/>
                </a:path>
              </a:pathLst>
            </a:custGeom>
            <a:solidFill>
              <a:srgbClr val="3D7DFF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375391" y="2977895"/>
              <a:ext cx="732155" cy="455295"/>
            </a:xfrm>
            <a:custGeom>
              <a:avLst/>
              <a:gdLst/>
              <a:ahLst/>
              <a:cxnLst/>
              <a:rect l="l" t="t" r="r" b="b"/>
              <a:pathLst>
                <a:path w="732154" h="455295">
                  <a:moveTo>
                    <a:pt x="730884" y="0"/>
                  </a:moveTo>
                  <a:lnTo>
                    <a:pt x="705284" y="53748"/>
                  </a:lnTo>
                  <a:lnTo>
                    <a:pt x="676317" y="101086"/>
                  </a:lnTo>
                  <a:lnTo>
                    <a:pt x="644383" y="141618"/>
                  </a:lnTo>
                  <a:lnTo>
                    <a:pt x="609878" y="174953"/>
                  </a:lnTo>
                  <a:lnTo>
                    <a:pt x="573201" y="200697"/>
                  </a:lnTo>
                  <a:lnTo>
                    <a:pt x="534748" y="218456"/>
                  </a:lnTo>
                  <a:lnTo>
                    <a:pt x="494918" y="227837"/>
                  </a:lnTo>
                  <a:lnTo>
                    <a:pt x="427988" y="236627"/>
                  </a:lnTo>
                  <a:lnTo>
                    <a:pt x="366473" y="241611"/>
                  </a:lnTo>
                  <a:lnTo>
                    <a:pt x="310612" y="242390"/>
                  </a:lnTo>
                  <a:lnTo>
                    <a:pt x="260643" y="238563"/>
                  </a:lnTo>
                  <a:lnTo>
                    <a:pt x="216803" y="229731"/>
                  </a:lnTo>
                  <a:lnTo>
                    <a:pt x="179331" y="215494"/>
                  </a:lnTo>
                  <a:lnTo>
                    <a:pt x="98228" y="142142"/>
                  </a:lnTo>
                  <a:lnTo>
                    <a:pt x="50244" y="77485"/>
                  </a:lnTo>
                  <a:lnTo>
                    <a:pt x="14285" y="22949"/>
                  </a:lnTo>
                  <a:lnTo>
                    <a:pt x="126" y="0"/>
                  </a:lnTo>
                  <a:lnTo>
                    <a:pt x="0" y="120395"/>
                  </a:lnTo>
                  <a:lnTo>
                    <a:pt x="14065" y="175220"/>
                  </a:lnTo>
                  <a:lnTo>
                    <a:pt x="73850" y="294481"/>
                  </a:lnTo>
                  <a:lnTo>
                    <a:pt x="205739" y="410360"/>
                  </a:lnTo>
                  <a:lnTo>
                    <a:pt x="436117" y="455040"/>
                  </a:lnTo>
                  <a:lnTo>
                    <a:pt x="489829" y="449212"/>
                  </a:lnTo>
                  <a:lnTo>
                    <a:pt x="536834" y="432807"/>
                  </a:lnTo>
                  <a:lnTo>
                    <a:pt x="577555" y="407442"/>
                  </a:lnTo>
                  <a:lnTo>
                    <a:pt x="612410" y="374737"/>
                  </a:lnTo>
                  <a:lnTo>
                    <a:pt x="641820" y="336309"/>
                  </a:lnTo>
                  <a:lnTo>
                    <a:pt x="666207" y="293778"/>
                  </a:lnTo>
                  <a:lnTo>
                    <a:pt x="685990" y="248761"/>
                  </a:lnTo>
                  <a:lnTo>
                    <a:pt x="701590" y="202877"/>
                  </a:lnTo>
                  <a:lnTo>
                    <a:pt x="713427" y="157745"/>
                  </a:lnTo>
                  <a:lnTo>
                    <a:pt x="721921" y="114982"/>
                  </a:lnTo>
                  <a:lnTo>
                    <a:pt x="727494" y="76208"/>
                  </a:lnTo>
                  <a:lnTo>
                    <a:pt x="731555" y="17098"/>
                  </a:lnTo>
                  <a:lnTo>
                    <a:pt x="730884" y="0"/>
                  </a:lnTo>
                  <a:close/>
                </a:path>
              </a:pathLst>
            </a:custGeom>
            <a:solidFill>
              <a:srgbClr val="B0B4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344911" y="2455163"/>
              <a:ext cx="805180" cy="809625"/>
            </a:xfrm>
            <a:custGeom>
              <a:avLst/>
              <a:gdLst/>
              <a:ahLst/>
              <a:cxnLst/>
              <a:rect l="l" t="t" r="r" b="b"/>
              <a:pathLst>
                <a:path w="805179" h="809625">
                  <a:moveTo>
                    <a:pt x="402335" y="0"/>
                  </a:moveTo>
                  <a:lnTo>
                    <a:pt x="358225" y="2418"/>
                  </a:lnTo>
                  <a:lnTo>
                    <a:pt x="314546" y="9672"/>
                  </a:lnTo>
                  <a:lnTo>
                    <a:pt x="271730" y="21763"/>
                  </a:lnTo>
                  <a:lnTo>
                    <a:pt x="230209" y="38690"/>
                  </a:lnTo>
                  <a:lnTo>
                    <a:pt x="190414" y="60454"/>
                  </a:lnTo>
                  <a:lnTo>
                    <a:pt x="152777" y="87054"/>
                  </a:lnTo>
                  <a:lnTo>
                    <a:pt x="117728" y="118490"/>
                  </a:lnTo>
                  <a:lnTo>
                    <a:pt x="86494" y="153758"/>
                  </a:lnTo>
                  <a:lnTo>
                    <a:pt x="60065" y="191618"/>
                  </a:lnTo>
                  <a:lnTo>
                    <a:pt x="38442" y="231639"/>
                  </a:lnTo>
                  <a:lnTo>
                    <a:pt x="21623" y="273388"/>
                  </a:lnTo>
                  <a:lnTo>
                    <a:pt x="9610" y="316434"/>
                  </a:lnTo>
                  <a:lnTo>
                    <a:pt x="2402" y="360343"/>
                  </a:lnTo>
                  <a:lnTo>
                    <a:pt x="0" y="404685"/>
                  </a:lnTo>
                  <a:lnTo>
                    <a:pt x="2402" y="449027"/>
                  </a:lnTo>
                  <a:lnTo>
                    <a:pt x="9610" y="492936"/>
                  </a:lnTo>
                  <a:lnTo>
                    <a:pt x="21623" y="535982"/>
                  </a:lnTo>
                  <a:lnTo>
                    <a:pt x="38442" y="577731"/>
                  </a:lnTo>
                  <a:lnTo>
                    <a:pt x="60065" y="617752"/>
                  </a:lnTo>
                  <a:lnTo>
                    <a:pt x="86494" y="655612"/>
                  </a:lnTo>
                  <a:lnTo>
                    <a:pt x="117728" y="690880"/>
                  </a:lnTo>
                  <a:lnTo>
                    <a:pt x="152807" y="722289"/>
                  </a:lnTo>
                  <a:lnTo>
                    <a:pt x="190475" y="748863"/>
                  </a:lnTo>
                  <a:lnTo>
                    <a:pt x="230299" y="770602"/>
                  </a:lnTo>
                  <a:lnTo>
                    <a:pt x="271848" y="787507"/>
                  </a:lnTo>
                  <a:lnTo>
                    <a:pt x="314697" y="799579"/>
                  </a:lnTo>
                  <a:lnTo>
                    <a:pt x="358305" y="806819"/>
                  </a:lnTo>
                  <a:lnTo>
                    <a:pt x="402335" y="809228"/>
                  </a:lnTo>
                  <a:lnTo>
                    <a:pt x="446446" y="806819"/>
                  </a:lnTo>
                  <a:lnTo>
                    <a:pt x="490125" y="799579"/>
                  </a:lnTo>
                  <a:lnTo>
                    <a:pt x="532941" y="787507"/>
                  </a:lnTo>
                  <a:lnTo>
                    <a:pt x="574462" y="770602"/>
                  </a:lnTo>
                  <a:lnTo>
                    <a:pt x="614257" y="748863"/>
                  </a:lnTo>
                  <a:lnTo>
                    <a:pt x="630609" y="737317"/>
                  </a:lnTo>
                  <a:lnTo>
                    <a:pt x="379359" y="737317"/>
                  </a:lnTo>
                  <a:lnTo>
                    <a:pt x="333385" y="730869"/>
                  </a:lnTo>
                  <a:lnTo>
                    <a:pt x="288502" y="717971"/>
                  </a:lnTo>
                  <a:lnTo>
                    <a:pt x="245447" y="698625"/>
                  </a:lnTo>
                  <a:lnTo>
                    <a:pt x="204957" y="672831"/>
                  </a:lnTo>
                  <a:lnTo>
                    <a:pt x="167766" y="640588"/>
                  </a:lnTo>
                  <a:lnTo>
                    <a:pt x="135721" y="603195"/>
                  </a:lnTo>
                  <a:lnTo>
                    <a:pt x="110100" y="562510"/>
                  </a:lnTo>
                  <a:lnTo>
                    <a:pt x="90898" y="519265"/>
                  </a:lnTo>
                  <a:lnTo>
                    <a:pt x="78110" y="474190"/>
                  </a:lnTo>
                  <a:lnTo>
                    <a:pt x="71732" y="428018"/>
                  </a:lnTo>
                  <a:lnTo>
                    <a:pt x="71758" y="381479"/>
                  </a:lnTo>
                  <a:lnTo>
                    <a:pt x="78183" y="335307"/>
                  </a:lnTo>
                  <a:lnTo>
                    <a:pt x="91001" y="290232"/>
                  </a:lnTo>
                  <a:lnTo>
                    <a:pt x="110208" y="246987"/>
                  </a:lnTo>
                  <a:lnTo>
                    <a:pt x="135798" y="206302"/>
                  </a:lnTo>
                  <a:lnTo>
                    <a:pt x="167766" y="168910"/>
                  </a:lnTo>
                  <a:lnTo>
                    <a:pt x="204771" y="136723"/>
                  </a:lnTo>
                  <a:lnTo>
                    <a:pt x="245107" y="110964"/>
                  </a:lnTo>
                  <a:lnTo>
                    <a:pt x="288047" y="91635"/>
                  </a:lnTo>
                  <a:lnTo>
                    <a:pt x="332865" y="78740"/>
                  </a:lnTo>
                  <a:lnTo>
                    <a:pt x="332688" y="78740"/>
                  </a:lnTo>
                  <a:lnTo>
                    <a:pt x="378859" y="72283"/>
                  </a:lnTo>
                  <a:lnTo>
                    <a:pt x="630994" y="72283"/>
                  </a:lnTo>
                  <a:lnTo>
                    <a:pt x="614257" y="60454"/>
                  </a:lnTo>
                  <a:lnTo>
                    <a:pt x="574462" y="38690"/>
                  </a:lnTo>
                  <a:lnTo>
                    <a:pt x="532941" y="21763"/>
                  </a:lnTo>
                  <a:lnTo>
                    <a:pt x="490125" y="9672"/>
                  </a:lnTo>
                  <a:lnTo>
                    <a:pt x="446446" y="2418"/>
                  </a:lnTo>
                  <a:lnTo>
                    <a:pt x="402335" y="0"/>
                  </a:lnTo>
                  <a:close/>
                </a:path>
                <a:path w="805179" h="809625">
                  <a:moveTo>
                    <a:pt x="630994" y="72283"/>
                  </a:moveTo>
                  <a:lnTo>
                    <a:pt x="425312" y="72283"/>
                  </a:lnTo>
                  <a:lnTo>
                    <a:pt x="471286" y="78740"/>
                  </a:lnTo>
                  <a:lnTo>
                    <a:pt x="516169" y="91635"/>
                  </a:lnTo>
                  <a:lnTo>
                    <a:pt x="559224" y="110964"/>
                  </a:lnTo>
                  <a:lnTo>
                    <a:pt x="599714" y="136723"/>
                  </a:lnTo>
                  <a:lnTo>
                    <a:pt x="636904" y="168910"/>
                  </a:lnTo>
                  <a:lnTo>
                    <a:pt x="669093" y="206302"/>
                  </a:lnTo>
                  <a:lnTo>
                    <a:pt x="694803" y="246987"/>
                  </a:lnTo>
                  <a:lnTo>
                    <a:pt x="714048" y="290232"/>
                  </a:lnTo>
                  <a:lnTo>
                    <a:pt x="726841" y="335307"/>
                  </a:lnTo>
                  <a:lnTo>
                    <a:pt x="733196" y="381479"/>
                  </a:lnTo>
                  <a:lnTo>
                    <a:pt x="733128" y="428018"/>
                  </a:lnTo>
                  <a:lnTo>
                    <a:pt x="726649" y="474190"/>
                  </a:lnTo>
                  <a:lnTo>
                    <a:pt x="713773" y="519265"/>
                  </a:lnTo>
                  <a:lnTo>
                    <a:pt x="694515" y="562510"/>
                  </a:lnTo>
                  <a:lnTo>
                    <a:pt x="668887" y="603195"/>
                  </a:lnTo>
                  <a:lnTo>
                    <a:pt x="636904" y="640588"/>
                  </a:lnTo>
                  <a:lnTo>
                    <a:pt x="599840" y="672831"/>
                  </a:lnTo>
                  <a:lnTo>
                    <a:pt x="559451" y="698625"/>
                  </a:lnTo>
                  <a:lnTo>
                    <a:pt x="516471" y="717971"/>
                  </a:lnTo>
                  <a:lnTo>
                    <a:pt x="471639" y="730869"/>
                  </a:lnTo>
                  <a:lnTo>
                    <a:pt x="425689" y="737317"/>
                  </a:lnTo>
                  <a:lnTo>
                    <a:pt x="630609" y="737317"/>
                  </a:lnTo>
                  <a:lnTo>
                    <a:pt x="686942" y="690880"/>
                  </a:lnTo>
                  <a:lnTo>
                    <a:pt x="718177" y="655612"/>
                  </a:lnTo>
                  <a:lnTo>
                    <a:pt x="744606" y="617752"/>
                  </a:lnTo>
                  <a:lnTo>
                    <a:pt x="766229" y="577731"/>
                  </a:lnTo>
                  <a:lnTo>
                    <a:pt x="783048" y="535982"/>
                  </a:lnTo>
                  <a:lnTo>
                    <a:pt x="795061" y="492936"/>
                  </a:lnTo>
                  <a:lnTo>
                    <a:pt x="802269" y="449027"/>
                  </a:lnTo>
                  <a:lnTo>
                    <a:pt x="804671" y="404685"/>
                  </a:lnTo>
                  <a:lnTo>
                    <a:pt x="802269" y="360343"/>
                  </a:lnTo>
                  <a:lnTo>
                    <a:pt x="795061" y="316434"/>
                  </a:lnTo>
                  <a:lnTo>
                    <a:pt x="783048" y="273388"/>
                  </a:lnTo>
                  <a:lnTo>
                    <a:pt x="766229" y="231639"/>
                  </a:lnTo>
                  <a:lnTo>
                    <a:pt x="744606" y="191618"/>
                  </a:lnTo>
                  <a:lnTo>
                    <a:pt x="718177" y="153758"/>
                  </a:lnTo>
                  <a:lnTo>
                    <a:pt x="686942" y="118490"/>
                  </a:lnTo>
                  <a:lnTo>
                    <a:pt x="651894" y="87054"/>
                  </a:lnTo>
                  <a:lnTo>
                    <a:pt x="630994" y="72283"/>
                  </a:lnTo>
                  <a:close/>
                </a:path>
              </a:pathLst>
            </a:custGeom>
            <a:solidFill>
              <a:srgbClr val="D5D7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8264" y="3732402"/>
              <a:ext cx="152356" cy="230378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0282427" y="3182111"/>
              <a:ext cx="220979" cy="222885"/>
            </a:xfrm>
            <a:custGeom>
              <a:avLst/>
              <a:gdLst/>
              <a:ahLst/>
              <a:cxnLst/>
              <a:rect l="l" t="t" r="r" b="b"/>
              <a:pathLst>
                <a:path w="220979" h="222885">
                  <a:moveTo>
                    <a:pt x="168910" y="0"/>
                  </a:moveTo>
                  <a:lnTo>
                    <a:pt x="0" y="169925"/>
                  </a:lnTo>
                  <a:lnTo>
                    <a:pt x="52070" y="222503"/>
                  </a:lnTo>
                  <a:lnTo>
                    <a:pt x="220979" y="52450"/>
                  </a:lnTo>
                  <a:lnTo>
                    <a:pt x="168910" y="0"/>
                  </a:lnTo>
                  <a:close/>
                </a:path>
              </a:pathLst>
            </a:custGeom>
            <a:solidFill>
              <a:srgbClr val="B0B4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334244" y="3233927"/>
              <a:ext cx="169545" cy="276225"/>
            </a:xfrm>
            <a:custGeom>
              <a:avLst/>
              <a:gdLst/>
              <a:ahLst/>
              <a:cxnLst/>
              <a:rect l="l" t="t" r="r" b="b"/>
              <a:pathLst>
                <a:path w="169545" h="276225">
                  <a:moveTo>
                    <a:pt x="169163" y="0"/>
                  </a:moveTo>
                  <a:lnTo>
                    <a:pt x="0" y="170687"/>
                  </a:lnTo>
                  <a:lnTo>
                    <a:pt x="0" y="275844"/>
                  </a:lnTo>
                  <a:lnTo>
                    <a:pt x="169163" y="105410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A0A4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857231" y="3304444"/>
              <a:ext cx="512445" cy="656590"/>
            </a:xfrm>
            <a:custGeom>
              <a:avLst/>
              <a:gdLst/>
              <a:ahLst/>
              <a:cxnLst/>
              <a:rect l="l" t="t" r="r" b="b"/>
              <a:pathLst>
                <a:path w="512445" h="656589">
                  <a:moveTo>
                    <a:pt x="439816" y="0"/>
                  </a:moveTo>
                  <a:lnTo>
                    <a:pt x="430031" y="373"/>
                  </a:lnTo>
                  <a:lnTo>
                    <a:pt x="420497" y="5175"/>
                  </a:lnTo>
                  <a:lnTo>
                    <a:pt x="0" y="427323"/>
                  </a:lnTo>
                  <a:lnTo>
                    <a:pt x="76708" y="656431"/>
                  </a:lnTo>
                  <a:lnTo>
                    <a:pt x="500330" y="230659"/>
                  </a:lnTo>
                  <a:lnTo>
                    <a:pt x="506650" y="216947"/>
                  </a:lnTo>
                  <a:lnTo>
                    <a:pt x="510661" y="198282"/>
                  </a:lnTo>
                  <a:lnTo>
                    <a:pt x="512064" y="174974"/>
                  </a:lnTo>
                  <a:lnTo>
                    <a:pt x="507255" y="126728"/>
                  </a:lnTo>
                  <a:lnTo>
                    <a:pt x="496268" y="82375"/>
                  </a:lnTo>
                  <a:lnTo>
                    <a:pt x="479684" y="43618"/>
                  </a:lnTo>
                  <a:lnTo>
                    <a:pt x="458089" y="12160"/>
                  </a:lnTo>
                  <a:lnTo>
                    <a:pt x="439816" y="0"/>
                  </a:lnTo>
                  <a:close/>
                </a:path>
              </a:pathLst>
            </a:custGeom>
            <a:solidFill>
              <a:srgbClr val="496E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18264" y="3732402"/>
              <a:ext cx="152356" cy="230378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27" y="6251447"/>
            <a:ext cx="249936" cy="248411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6452615" y="126492"/>
            <a:ext cx="5619115" cy="6125845"/>
            <a:chOff x="6452615" y="126492"/>
            <a:chExt cx="5619115" cy="612584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2615" y="606199"/>
              <a:ext cx="5618988" cy="564560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22023" y="126492"/>
              <a:ext cx="449579" cy="4571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5"/>
              <a:t>Introduction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32943" y="1325727"/>
            <a:ext cx="8280400" cy="405193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581025" indent="-316865">
              <a:lnSpc>
                <a:spcPct val="100000"/>
              </a:lnSpc>
              <a:spcBef>
                <a:spcPts val="265"/>
              </a:spcBef>
              <a:buFont typeface="Times New Roman"/>
              <a:buChar char="●"/>
              <a:tabLst>
                <a:tab pos="581025" algn="l"/>
              </a:tabLst>
            </a:pPr>
            <a:r>
              <a:rPr dirty="0" sz="1400" spc="10">
                <a:latin typeface="Lucida Sans Unicode"/>
                <a:cs typeface="Lucida Sans Unicode"/>
              </a:rPr>
              <a:t>Open</a:t>
            </a:r>
            <a:r>
              <a:rPr dirty="0" sz="1400" spc="130">
                <a:latin typeface="Lucida Sans Unicode"/>
                <a:cs typeface="Lucida Sans Unicode"/>
              </a:rPr>
              <a:t> </a:t>
            </a:r>
            <a:r>
              <a:rPr dirty="0" sz="1400" spc="10">
                <a:latin typeface="Lucida Sans Unicode"/>
                <a:cs typeface="Lucida Sans Unicode"/>
              </a:rPr>
              <a:t>Source</a:t>
            </a:r>
            <a:r>
              <a:rPr dirty="0" sz="1400" spc="140">
                <a:latin typeface="Lucida Sans Unicode"/>
                <a:cs typeface="Lucida Sans Unicode"/>
              </a:rPr>
              <a:t> </a:t>
            </a:r>
            <a:r>
              <a:rPr dirty="0" sz="1400" spc="10">
                <a:latin typeface="Lucida Sans Unicode"/>
                <a:cs typeface="Lucida Sans Unicode"/>
              </a:rPr>
              <a:t>general</a:t>
            </a:r>
            <a:r>
              <a:rPr dirty="0" sz="1400" spc="170">
                <a:latin typeface="Lucida Sans Unicode"/>
                <a:cs typeface="Lucida Sans Unicode"/>
              </a:rPr>
              <a:t> </a:t>
            </a:r>
            <a:r>
              <a:rPr dirty="0" sz="1400" spc="10">
                <a:latin typeface="Lucida Sans Unicode"/>
                <a:cs typeface="Lucida Sans Unicode"/>
              </a:rPr>
              <a:t>purpose</a:t>
            </a:r>
            <a:r>
              <a:rPr dirty="0" sz="1400" spc="140">
                <a:latin typeface="Lucida Sans Unicode"/>
                <a:cs typeface="Lucida Sans Unicode"/>
              </a:rPr>
              <a:t> </a:t>
            </a:r>
            <a:r>
              <a:rPr dirty="0" sz="1400" spc="10">
                <a:latin typeface="Lucida Sans Unicode"/>
                <a:cs typeface="Lucida Sans Unicode"/>
              </a:rPr>
              <a:t>programming</a:t>
            </a:r>
            <a:r>
              <a:rPr dirty="0" sz="1400" spc="135">
                <a:latin typeface="Lucida Sans Unicode"/>
                <a:cs typeface="Lucida Sans Unicode"/>
              </a:rPr>
              <a:t> </a:t>
            </a:r>
            <a:r>
              <a:rPr dirty="0" sz="1400" spc="50">
                <a:latin typeface="Lucida Sans Unicode"/>
                <a:cs typeface="Lucida Sans Unicode"/>
              </a:rPr>
              <a:t>language</a:t>
            </a:r>
            <a:endParaRPr sz="1400">
              <a:latin typeface="Lucida Sans Unicode"/>
              <a:cs typeface="Lucida Sans Unicode"/>
            </a:endParaRPr>
          </a:p>
          <a:p>
            <a:pPr marL="581025" indent="-316865">
              <a:lnSpc>
                <a:spcPct val="100000"/>
              </a:lnSpc>
              <a:spcBef>
                <a:spcPts val="170"/>
              </a:spcBef>
              <a:buFont typeface="Times New Roman"/>
              <a:buChar char="●"/>
              <a:tabLst>
                <a:tab pos="581025" algn="l"/>
              </a:tabLst>
            </a:pPr>
            <a:r>
              <a:rPr dirty="0" sz="1400">
                <a:latin typeface="Lucida Sans Unicode"/>
                <a:cs typeface="Lucida Sans Unicode"/>
              </a:rPr>
              <a:t>Object</a:t>
            </a:r>
            <a:r>
              <a:rPr dirty="0" sz="1400" spc="114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Oriented</a:t>
            </a:r>
            <a:endParaRPr sz="1400">
              <a:latin typeface="Lucida Sans Unicode"/>
              <a:cs typeface="Lucida Sans Unicode"/>
            </a:endParaRPr>
          </a:p>
          <a:p>
            <a:pPr marL="581025" indent="-316865">
              <a:lnSpc>
                <a:spcPct val="100000"/>
              </a:lnSpc>
              <a:spcBef>
                <a:spcPts val="165"/>
              </a:spcBef>
              <a:buFont typeface="Times New Roman"/>
              <a:buChar char="●"/>
              <a:tabLst>
                <a:tab pos="581025" algn="l"/>
              </a:tabLst>
            </a:pPr>
            <a:r>
              <a:rPr dirty="0" sz="1400">
                <a:latin typeface="Lucida Sans Unicode"/>
                <a:cs typeface="Lucida Sans Unicode"/>
              </a:rPr>
              <a:t>Programming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 spc="80">
                <a:latin typeface="Lucida Sans Unicode"/>
                <a:cs typeface="Lucida Sans Unicode"/>
              </a:rPr>
              <a:t>as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well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80">
                <a:latin typeface="Lucida Sans Unicode"/>
                <a:cs typeface="Lucida Sans Unicode"/>
              </a:rPr>
              <a:t>as</a:t>
            </a:r>
            <a:r>
              <a:rPr dirty="0" sz="1400" spc="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scripting</a:t>
            </a:r>
            <a:r>
              <a:rPr dirty="0" sz="1400" spc="30">
                <a:latin typeface="Lucida Sans Unicode"/>
                <a:cs typeface="Lucida Sans Unicode"/>
              </a:rPr>
              <a:t> </a:t>
            </a:r>
            <a:r>
              <a:rPr dirty="0" sz="1400" spc="50">
                <a:latin typeface="Lucida Sans Unicode"/>
                <a:cs typeface="Lucida Sans Unicode"/>
              </a:rPr>
              <a:t>language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210"/>
              </a:spcBef>
              <a:buFont typeface="Times New Roman"/>
              <a:buChar char="●"/>
            </a:pPr>
            <a:endParaRPr sz="1400">
              <a:latin typeface="Lucida Sans Unicode"/>
              <a:cs typeface="Lucida Sans Unicode"/>
            </a:endParaRPr>
          </a:p>
          <a:p>
            <a:pPr marL="123825">
              <a:lnSpc>
                <a:spcPct val="100000"/>
              </a:lnSpc>
            </a:pPr>
            <a:r>
              <a:rPr dirty="0" sz="1400">
                <a:latin typeface="Lucida Sans Unicode"/>
                <a:cs typeface="Lucida Sans Unicode"/>
              </a:rPr>
              <a:t>“Python</a:t>
            </a:r>
            <a:r>
              <a:rPr dirty="0" sz="1400" spc="30">
                <a:latin typeface="Lucida Sans Unicode"/>
                <a:cs typeface="Lucida Sans Unicode"/>
              </a:rPr>
              <a:t> </a:t>
            </a:r>
            <a:r>
              <a:rPr dirty="0" sz="1400" spc="-45">
                <a:latin typeface="Lucida Sans Unicode"/>
                <a:cs typeface="Lucida Sans Unicode"/>
              </a:rPr>
              <a:t>is</a:t>
            </a:r>
            <a:r>
              <a:rPr dirty="0" sz="1400" spc="40">
                <a:latin typeface="Lucida Sans Unicode"/>
                <a:cs typeface="Lucida Sans Unicode"/>
              </a:rPr>
              <a:t> </a:t>
            </a:r>
            <a:r>
              <a:rPr dirty="0" sz="1400" spc="170">
                <a:latin typeface="Lucida Sans Unicode"/>
                <a:cs typeface="Lucida Sans Unicode"/>
              </a:rPr>
              <a:t>a</a:t>
            </a:r>
            <a:r>
              <a:rPr dirty="0" sz="1400" spc="6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general-purpose</a:t>
            </a:r>
            <a:r>
              <a:rPr dirty="0" sz="1400" spc="7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programming</a:t>
            </a:r>
            <a:r>
              <a:rPr dirty="0" sz="1400" spc="55">
                <a:latin typeface="Lucida Sans Unicode"/>
                <a:cs typeface="Lucida Sans Unicode"/>
              </a:rPr>
              <a:t> </a:t>
            </a:r>
            <a:r>
              <a:rPr dirty="0" sz="1400" spc="60">
                <a:latin typeface="Lucida Sans Unicode"/>
                <a:cs typeface="Lucida Sans Unicode"/>
              </a:rPr>
              <a:t>language</a:t>
            </a:r>
            <a:r>
              <a:rPr dirty="0" sz="1400" spc="7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that</a:t>
            </a:r>
            <a:r>
              <a:rPr dirty="0" sz="1400" spc="45">
                <a:latin typeface="Lucida Sans Unicode"/>
                <a:cs typeface="Lucida Sans Unicode"/>
              </a:rPr>
              <a:t> </a:t>
            </a:r>
            <a:r>
              <a:rPr dirty="0" sz="1400" spc="-30">
                <a:latin typeface="Lucida Sans Unicode"/>
                <a:cs typeface="Lucida Sans Unicode"/>
              </a:rPr>
              <a:t>is</a:t>
            </a:r>
            <a:r>
              <a:rPr dirty="0" sz="1400" spc="5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often</a:t>
            </a:r>
            <a:r>
              <a:rPr dirty="0" sz="1400" spc="3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applied</a:t>
            </a:r>
            <a:r>
              <a:rPr dirty="0" sz="1400" spc="60">
                <a:latin typeface="Lucida Sans Unicode"/>
                <a:cs typeface="Lucida Sans Unicode"/>
              </a:rPr>
              <a:t> </a:t>
            </a:r>
            <a:r>
              <a:rPr dirty="0" sz="1400" spc="-20">
                <a:latin typeface="Lucida Sans Unicode"/>
                <a:cs typeface="Lucida Sans Unicode"/>
              </a:rPr>
              <a:t>in</a:t>
            </a:r>
            <a:r>
              <a:rPr dirty="0" sz="1400" spc="6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scripting</a:t>
            </a:r>
            <a:r>
              <a:rPr dirty="0" sz="1400" spc="5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roles”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800" spc="-10">
                <a:latin typeface="Arial Black"/>
                <a:cs typeface="Arial Black"/>
              </a:rPr>
              <a:t>Features</a:t>
            </a:r>
            <a:endParaRPr sz="2800">
              <a:latin typeface="Arial Black"/>
              <a:cs typeface="Arial Black"/>
            </a:endParaRPr>
          </a:p>
          <a:p>
            <a:pPr lvl="1" marL="667385" indent="-317500">
              <a:lnSpc>
                <a:spcPts val="1595"/>
              </a:lnSpc>
              <a:spcBef>
                <a:spcPts val="3140"/>
              </a:spcBef>
              <a:buFont typeface="Cambria Math"/>
              <a:buChar char="◗"/>
              <a:tabLst>
                <a:tab pos="667385" algn="l"/>
              </a:tabLst>
            </a:pPr>
            <a:r>
              <a:rPr dirty="0" sz="1400">
                <a:latin typeface="Lucida Sans Unicode"/>
                <a:cs typeface="Lucida Sans Unicode"/>
              </a:rPr>
              <a:t>Easy to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learn</a:t>
            </a:r>
            <a:r>
              <a:rPr dirty="0" sz="1400" spc="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&amp;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-25">
                <a:latin typeface="Lucida Sans Unicode"/>
                <a:cs typeface="Lucida Sans Unicode"/>
              </a:rPr>
              <a:t>use</a:t>
            </a:r>
            <a:endParaRPr sz="1400">
              <a:latin typeface="Lucida Sans Unicode"/>
              <a:cs typeface="Lucida Sans Unicode"/>
            </a:endParaRPr>
          </a:p>
          <a:p>
            <a:pPr lvl="1" marL="667385" indent="-317500">
              <a:lnSpc>
                <a:spcPts val="1515"/>
              </a:lnSpc>
              <a:buFont typeface="Cambria Math"/>
              <a:buChar char="◗"/>
              <a:tabLst>
                <a:tab pos="667385" algn="l"/>
              </a:tabLst>
            </a:pPr>
            <a:r>
              <a:rPr dirty="0" sz="1400">
                <a:latin typeface="Lucida Sans Unicode"/>
                <a:cs typeface="Lucida Sans Unicode"/>
              </a:rPr>
              <a:t>Interpreted</a:t>
            </a:r>
            <a:r>
              <a:rPr dirty="0" sz="1400" spc="90">
                <a:latin typeface="Lucida Sans Unicode"/>
                <a:cs typeface="Lucida Sans Unicode"/>
              </a:rPr>
              <a:t> </a:t>
            </a:r>
            <a:r>
              <a:rPr dirty="0" sz="1400" spc="50">
                <a:latin typeface="Lucida Sans Unicode"/>
                <a:cs typeface="Lucida Sans Unicode"/>
              </a:rPr>
              <a:t>language</a:t>
            </a:r>
            <a:endParaRPr sz="1400">
              <a:latin typeface="Lucida Sans Unicode"/>
              <a:cs typeface="Lucida Sans Unicode"/>
            </a:endParaRPr>
          </a:p>
          <a:p>
            <a:pPr lvl="1" marL="667385" indent="-317500">
              <a:lnSpc>
                <a:spcPts val="1515"/>
              </a:lnSpc>
              <a:buFont typeface="Cambria Math"/>
              <a:buChar char="◗"/>
              <a:tabLst>
                <a:tab pos="667385" algn="l"/>
              </a:tabLst>
            </a:pPr>
            <a:r>
              <a:rPr dirty="0" sz="1400">
                <a:latin typeface="Lucida Sans Unicode"/>
                <a:cs typeface="Lucida Sans Unicode"/>
              </a:rPr>
              <a:t>Open</a:t>
            </a:r>
            <a:r>
              <a:rPr dirty="0" sz="1400" spc="12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Source</a:t>
            </a:r>
            <a:endParaRPr sz="1400">
              <a:latin typeface="Lucida Sans Unicode"/>
              <a:cs typeface="Lucida Sans Unicode"/>
            </a:endParaRPr>
          </a:p>
          <a:p>
            <a:pPr lvl="1" marL="667385" indent="-317500">
              <a:lnSpc>
                <a:spcPts val="1510"/>
              </a:lnSpc>
              <a:buFont typeface="Cambria Math"/>
              <a:buChar char="◗"/>
              <a:tabLst>
                <a:tab pos="667385" algn="l"/>
              </a:tabLst>
            </a:pPr>
            <a:r>
              <a:rPr dirty="0" sz="1400">
                <a:latin typeface="Lucida Sans Unicode"/>
                <a:cs typeface="Lucida Sans Unicode"/>
              </a:rPr>
              <a:t>Large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Standard</a:t>
            </a:r>
            <a:r>
              <a:rPr dirty="0" sz="140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Library</a:t>
            </a:r>
            <a:endParaRPr sz="1400">
              <a:latin typeface="Lucida Sans Unicode"/>
              <a:cs typeface="Lucida Sans Unicode"/>
            </a:endParaRPr>
          </a:p>
          <a:p>
            <a:pPr lvl="1" marL="667385" indent="-317500">
              <a:lnSpc>
                <a:spcPts val="1510"/>
              </a:lnSpc>
              <a:buFont typeface="Cambria Math"/>
              <a:buChar char="◗"/>
              <a:tabLst>
                <a:tab pos="667385" algn="l"/>
              </a:tabLst>
            </a:pPr>
            <a:r>
              <a:rPr dirty="0" sz="1400" spc="10">
                <a:latin typeface="Lucida Sans Unicode"/>
                <a:cs typeface="Lucida Sans Unicode"/>
              </a:rPr>
              <a:t>Large</a:t>
            </a:r>
            <a:r>
              <a:rPr dirty="0" sz="1400" spc="105">
                <a:latin typeface="Lucida Sans Unicode"/>
                <a:cs typeface="Lucida Sans Unicode"/>
              </a:rPr>
              <a:t> </a:t>
            </a:r>
            <a:r>
              <a:rPr dirty="0" sz="1400" spc="10">
                <a:latin typeface="Lucida Sans Unicode"/>
                <a:cs typeface="Lucida Sans Unicode"/>
              </a:rPr>
              <a:t>Community</a:t>
            </a:r>
            <a:r>
              <a:rPr dirty="0" sz="1400" spc="4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Support</a:t>
            </a:r>
            <a:endParaRPr sz="1400">
              <a:latin typeface="Lucida Sans Unicode"/>
              <a:cs typeface="Lucida Sans Unicode"/>
            </a:endParaRPr>
          </a:p>
          <a:p>
            <a:pPr lvl="1" marL="667385" indent="-317500">
              <a:lnSpc>
                <a:spcPts val="1510"/>
              </a:lnSpc>
              <a:buFont typeface="Cambria Math"/>
              <a:buChar char="◗"/>
              <a:tabLst>
                <a:tab pos="667385" algn="l"/>
              </a:tabLst>
            </a:pPr>
            <a:r>
              <a:rPr dirty="0" sz="1400" spc="-10">
                <a:latin typeface="Lucida Sans Unicode"/>
                <a:cs typeface="Lucida Sans Unicode"/>
              </a:rPr>
              <a:t>Extensible</a:t>
            </a:r>
            <a:endParaRPr sz="1400">
              <a:latin typeface="Lucida Sans Unicode"/>
              <a:cs typeface="Lucida Sans Unicode"/>
            </a:endParaRPr>
          </a:p>
          <a:p>
            <a:pPr lvl="1" marL="667385" indent="-317500">
              <a:lnSpc>
                <a:spcPts val="1595"/>
              </a:lnSpc>
              <a:buFont typeface="Cambria Math"/>
              <a:buChar char="◗"/>
              <a:tabLst>
                <a:tab pos="667385" algn="l"/>
              </a:tabLst>
            </a:pPr>
            <a:r>
              <a:rPr dirty="0" sz="1400" spc="-10">
                <a:latin typeface="Lucida Sans Unicode"/>
                <a:cs typeface="Lucida Sans Unicode"/>
              </a:rPr>
              <a:t>Cross-</a:t>
            </a:r>
            <a:r>
              <a:rPr dirty="0" sz="1400">
                <a:latin typeface="Lucida Sans Unicode"/>
                <a:cs typeface="Lucida Sans Unicode"/>
              </a:rPr>
              <a:t>platform</a:t>
            </a:r>
            <a:r>
              <a:rPr dirty="0" sz="1400" spc="120">
                <a:latin typeface="Lucida Sans Unicode"/>
                <a:cs typeface="Lucida Sans Unicode"/>
              </a:rPr>
              <a:t> </a:t>
            </a:r>
            <a:r>
              <a:rPr dirty="0" sz="1400" spc="50">
                <a:latin typeface="Lucida Sans Unicode"/>
                <a:cs typeface="Lucida Sans Unicode"/>
              </a:rPr>
              <a:t>language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18447" y="2688335"/>
            <a:ext cx="2927604" cy="3139440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1893" y="424942"/>
            <a:ext cx="19970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85"/>
              <a:t>PYTHON</a:t>
            </a:r>
            <a:r>
              <a:rPr dirty="0" spc="-305"/>
              <a:t> </a:t>
            </a:r>
            <a:r>
              <a:rPr dirty="0" spc="-25"/>
              <a:t>vs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1893" y="766317"/>
            <a:ext cx="63055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50">
                <a:latin typeface="Arial Black"/>
                <a:cs typeface="Arial Black"/>
              </a:rPr>
              <a:t>OTHER</a:t>
            </a:r>
            <a:r>
              <a:rPr dirty="0" sz="2800" spc="-300">
                <a:latin typeface="Arial Black"/>
                <a:cs typeface="Arial Black"/>
              </a:rPr>
              <a:t> </a:t>
            </a:r>
            <a:r>
              <a:rPr dirty="0" sz="2800" spc="-220">
                <a:latin typeface="Arial Black"/>
                <a:cs typeface="Arial Black"/>
              </a:rPr>
              <a:t>PROGRAMMING</a:t>
            </a:r>
            <a:r>
              <a:rPr dirty="0" sz="2800" spc="-275">
                <a:latin typeface="Arial Black"/>
                <a:cs typeface="Arial Black"/>
              </a:rPr>
              <a:t> </a:t>
            </a:r>
            <a:r>
              <a:rPr dirty="0" sz="2800" spc="-315">
                <a:latin typeface="Arial Black"/>
                <a:cs typeface="Arial Black"/>
              </a:rPr>
              <a:t>LANGUAGES</a:t>
            </a:r>
            <a:endParaRPr sz="2800">
              <a:latin typeface="Arial Black"/>
              <a:cs typeface="Arial Black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753614" y="2293366"/>
            <a:ext cx="6327140" cy="2842895"/>
            <a:chOff x="2753614" y="2293366"/>
            <a:chExt cx="6327140" cy="2842895"/>
          </a:xfrm>
        </p:grpSpPr>
        <p:sp>
          <p:nvSpPr>
            <p:cNvPr id="5" name="object 5" descr=""/>
            <p:cNvSpPr/>
            <p:nvPr/>
          </p:nvSpPr>
          <p:spPr>
            <a:xfrm>
              <a:off x="2759964" y="2299716"/>
              <a:ext cx="5050790" cy="623570"/>
            </a:xfrm>
            <a:custGeom>
              <a:avLst/>
              <a:gdLst/>
              <a:ahLst/>
              <a:cxnLst/>
              <a:rect l="l" t="t" r="r" b="b"/>
              <a:pathLst>
                <a:path w="5050790" h="623569">
                  <a:moveTo>
                    <a:pt x="4988179" y="0"/>
                  </a:moveTo>
                  <a:lnTo>
                    <a:pt x="62356" y="0"/>
                  </a:lnTo>
                  <a:lnTo>
                    <a:pt x="38094" y="4903"/>
                  </a:lnTo>
                  <a:lnTo>
                    <a:pt x="18272" y="18272"/>
                  </a:lnTo>
                  <a:lnTo>
                    <a:pt x="4903" y="38094"/>
                  </a:lnTo>
                  <a:lnTo>
                    <a:pt x="0" y="62357"/>
                  </a:lnTo>
                  <a:lnTo>
                    <a:pt x="0" y="560959"/>
                  </a:lnTo>
                  <a:lnTo>
                    <a:pt x="4903" y="585221"/>
                  </a:lnTo>
                  <a:lnTo>
                    <a:pt x="18272" y="605043"/>
                  </a:lnTo>
                  <a:lnTo>
                    <a:pt x="38094" y="618412"/>
                  </a:lnTo>
                  <a:lnTo>
                    <a:pt x="62356" y="623316"/>
                  </a:lnTo>
                  <a:lnTo>
                    <a:pt x="4988179" y="623316"/>
                  </a:lnTo>
                  <a:lnTo>
                    <a:pt x="5012441" y="618412"/>
                  </a:lnTo>
                  <a:lnTo>
                    <a:pt x="5032263" y="605043"/>
                  </a:lnTo>
                  <a:lnTo>
                    <a:pt x="5045632" y="585221"/>
                  </a:lnTo>
                  <a:lnTo>
                    <a:pt x="5050536" y="560959"/>
                  </a:lnTo>
                  <a:lnTo>
                    <a:pt x="5050536" y="62357"/>
                  </a:lnTo>
                  <a:lnTo>
                    <a:pt x="5045632" y="38094"/>
                  </a:lnTo>
                  <a:lnTo>
                    <a:pt x="5032263" y="18272"/>
                  </a:lnTo>
                  <a:lnTo>
                    <a:pt x="5012441" y="4903"/>
                  </a:lnTo>
                  <a:lnTo>
                    <a:pt x="498817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759964" y="2299716"/>
              <a:ext cx="5050790" cy="623570"/>
            </a:xfrm>
            <a:custGeom>
              <a:avLst/>
              <a:gdLst/>
              <a:ahLst/>
              <a:cxnLst/>
              <a:rect l="l" t="t" r="r" b="b"/>
              <a:pathLst>
                <a:path w="5050790" h="623569">
                  <a:moveTo>
                    <a:pt x="0" y="62357"/>
                  </a:moveTo>
                  <a:lnTo>
                    <a:pt x="4903" y="38094"/>
                  </a:lnTo>
                  <a:lnTo>
                    <a:pt x="18272" y="18272"/>
                  </a:lnTo>
                  <a:lnTo>
                    <a:pt x="38094" y="4903"/>
                  </a:lnTo>
                  <a:lnTo>
                    <a:pt x="62356" y="0"/>
                  </a:lnTo>
                  <a:lnTo>
                    <a:pt x="4988179" y="0"/>
                  </a:lnTo>
                  <a:lnTo>
                    <a:pt x="5012441" y="4903"/>
                  </a:lnTo>
                  <a:lnTo>
                    <a:pt x="5032263" y="18272"/>
                  </a:lnTo>
                  <a:lnTo>
                    <a:pt x="5045632" y="38094"/>
                  </a:lnTo>
                  <a:lnTo>
                    <a:pt x="5050536" y="62357"/>
                  </a:lnTo>
                  <a:lnTo>
                    <a:pt x="5050536" y="560959"/>
                  </a:lnTo>
                  <a:lnTo>
                    <a:pt x="5045632" y="585221"/>
                  </a:lnTo>
                  <a:lnTo>
                    <a:pt x="5032263" y="605043"/>
                  </a:lnTo>
                  <a:lnTo>
                    <a:pt x="5012441" y="618412"/>
                  </a:lnTo>
                  <a:lnTo>
                    <a:pt x="4988179" y="623316"/>
                  </a:lnTo>
                  <a:lnTo>
                    <a:pt x="62356" y="623316"/>
                  </a:lnTo>
                  <a:lnTo>
                    <a:pt x="38094" y="618412"/>
                  </a:lnTo>
                  <a:lnTo>
                    <a:pt x="18272" y="605043"/>
                  </a:lnTo>
                  <a:lnTo>
                    <a:pt x="4903" y="585221"/>
                  </a:lnTo>
                  <a:lnTo>
                    <a:pt x="0" y="560959"/>
                  </a:lnTo>
                  <a:lnTo>
                    <a:pt x="0" y="6235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183636" y="3035808"/>
              <a:ext cx="5050790" cy="622300"/>
            </a:xfrm>
            <a:custGeom>
              <a:avLst/>
              <a:gdLst/>
              <a:ahLst/>
              <a:cxnLst/>
              <a:rect l="l" t="t" r="r" b="b"/>
              <a:pathLst>
                <a:path w="5050790" h="622300">
                  <a:moveTo>
                    <a:pt x="4988306" y="0"/>
                  </a:moveTo>
                  <a:lnTo>
                    <a:pt x="62230" y="0"/>
                  </a:lnTo>
                  <a:lnTo>
                    <a:pt x="37986" y="4883"/>
                  </a:lnTo>
                  <a:lnTo>
                    <a:pt x="18208" y="18208"/>
                  </a:lnTo>
                  <a:lnTo>
                    <a:pt x="4883" y="37986"/>
                  </a:lnTo>
                  <a:lnTo>
                    <a:pt x="0" y="62229"/>
                  </a:lnTo>
                  <a:lnTo>
                    <a:pt x="0" y="559562"/>
                  </a:lnTo>
                  <a:lnTo>
                    <a:pt x="4883" y="583805"/>
                  </a:lnTo>
                  <a:lnTo>
                    <a:pt x="18208" y="603583"/>
                  </a:lnTo>
                  <a:lnTo>
                    <a:pt x="37986" y="616908"/>
                  </a:lnTo>
                  <a:lnTo>
                    <a:pt x="62230" y="621791"/>
                  </a:lnTo>
                  <a:lnTo>
                    <a:pt x="4988306" y="621791"/>
                  </a:lnTo>
                  <a:lnTo>
                    <a:pt x="5012549" y="616908"/>
                  </a:lnTo>
                  <a:lnTo>
                    <a:pt x="5032327" y="603583"/>
                  </a:lnTo>
                  <a:lnTo>
                    <a:pt x="5045652" y="583805"/>
                  </a:lnTo>
                  <a:lnTo>
                    <a:pt x="5050536" y="559562"/>
                  </a:lnTo>
                  <a:lnTo>
                    <a:pt x="5050536" y="62229"/>
                  </a:lnTo>
                  <a:lnTo>
                    <a:pt x="5045652" y="37986"/>
                  </a:lnTo>
                  <a:lnTo>
                    <a:pt x="5032327" y="18208"/>
                  </a:lnTo>
                  <a:lnTo>
                    <a:pt x="5012549" y="4883"/>
                  </a:lnTo>
                  <a:lnTo>
                    <a:pt x="498830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183636" y="3035808"/>
              <a:ext cx="5050790" cy="622300"/>
            </a:xfrm>
            <a:custGeom>
              <a:avLst/>
              <a:gdLst/>
              <a:ahLst/>
              <a:cxnLst/>
              <a:rect l="l" t="t" r="r" b="b"/>
              <a:pathLst>
                <a:path w="5050790" h="622300">
                  <a:moveTo>
                    <a:pt x="0" y="62229"/>
                  </a:moveTo>
                  <a:lnTo>
                    <a:pt x="4883" y="37986"/>
                  </a:lnTo>
                  <a:lnTo>
                    <a:pt x="18208" y="18208"/>
                  </a:lnTo>
                  <a:lnTo>
                    <a:pt x="37986" y="4883"/>
                  </a:lnTo>
                  <a:lnTo>
                    <a:pt x="62230" y="0"/>
                  </a:lnTo>
                  <a:lnTo>
                    <a:pt x="4988306" y="0"/>
                  </a:lnTo>
                  <a:lnTo>
                    <a:pt x="5012549" y="4883"/>
                  </a:lnTo>
                  <a:lnTo>
                    <a:pt x="5032327" y="18208"/>
                  </a:lnTo>
                  <a:lnTo>
                    <a:pt x="5045652" y="37986"/>
                  </a:lnTo>
                  <a:lnTo>
                    <a:pt x="5050536" y="62229"/>
                  </a:lnTo>
                  <a:lnTo>
                    <a:pt x="5050536" y="559562"/>
                  </a:lnTo>
                  <a:lnTo>
                    <a:pt x="5045652" y="583805"/>
                  </a:lnTo>
                  <a:lnTo>
                    <a:pt x="5032327" y="603583"/>
                  </a:lnTo>
                  <a:lnTo>
                    <a:pt x="5012549" y="616908"/>
                  </a:lnTo>
                  <a:lnTo>
                    <a:pt x="4988306" y="621791"/>
                  </a:lnTo>
                  <a:lnTo>
                    <a:pt x="62230" y="621791"/>
                  </a:lnTo>
                  <a:lnTo>
                    <a:pt x="37986" y="616908"/>
                  </a:lnTo>
                  <a:lnTo>
                    <a:pt x="18208" y="603583"/>
                  </a:lnTo>
                  <a:lnTo>
                    <a:pt x="4883" y="583805"/>
                  </a:lnTo>
                  <a:lnTo>
                    <a:pt x="0" y="559562"/>
                  </a:lnTo>
                  <a:lnTo>
                    <a:pt x="0" y="6222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599688" y="3771900"/>
              <a:ext cx="5052060" cy="622300"/>
            </a:xfrm>
            <a:custGeom>
              <a:avLst/>
              <a:gdLst/>
              <a:ahLst/>
              <a:cxnLst/>
              <a:rect l="l" t="t" r="r" b="b"/>
              <a:pathLst>
                <a:path w="5052059" h="622300">
                  <a:moveTo>
                    <a:pt x="4989830" y="0"/>
                  </a:moveTo>
                  <a:lnTo>
                    <a:pt x="62229" y="0"/>
                  </a:lnTo>
                  <a:lnTo>
                    <a:pt x="37986" y="4883"/>
                  </a:lnTo>
                  <a:lnTo>
                    <a:pt x="18208" y="18208"/>
                  </a:lnTo>
                  <a:lnTo>
                    <a:pt x="4883" y="37986"/>
                  </a:lnTo>
                  <a:lnTo>
                    <a:pt x="0" y="62230"/>
                  </a:lnTo>
                  <a:lnTo>
                    <a:pt x="0" y="559562"/>
                  </a:lnTo>
                  <a:lnTo>
                    <a:pt x="4883" y="583805"/>
                  </a:lnTo>
                  <a:lnTo>
                    <a:pt x="18208" y="603583"/>
                  </a:lnTo>
                  <a:lnTo>
                    <a:pt x="37986" y="616908"/>
                  </a:lnTo>
                  <a:lnTo>
                    <a:pt x="62229" y="621792"/>
                  </a:lnTo>
                  <a:lnTo>
                    <a:pt x="4989830" y="621792"/>
                  </a:lnTo>
                  <a:lnTo>
                    <a:pt x="5014073" y="616908"/>
                  </a:lnTo>
                  <a:lnTo>
                    <a:pt x="5033851" y="603583"/>
                  </a:lnTo>
                  <a:lnTo>
                    <a:pt x="5047176" y="583805"/>
                  </a:lnTo>
                  <a:lnTo>
                    <a:pt x="5052060" y="559562"/>
                  </a:lnTo>
                  <a:lnTo>
                    <a:pt x="5052060" y="62230"/>
                  </a:lnTo>
                  <a:lnTo>
                    <a:pt x="5047176" y="37986"/>
                  </a:lnTo>
                  <a:lnTo>
                    <a:pt x="5033851" y="18208"/>
                  </a:lnTo>
                  <a:lnTo>
                    <a:pt x="5014073" y="4883"/>
                  </a:lnTo>
                  <a:lnTo>
                    <a:pt x="498983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599688" y="3771900"/>
              <a:ext cx="5052060" cy="622300"/>
            </a:xfrm>
            <a:custGeom>
              <a:avLst/>
              <a:gdLst/>
              <a:ahLst/>
              <a:cxnLst/>
              <a:rect l="l" t="t" r="r" b="b"/>
              <a:pathLst>
                <a:path w="5052059" h="622300">
                  <a:moveTo>
                    <a:pt x="0" y="62230"/>
                  </a:moveTo>
                  <a:lnTo>
                    <a:pt x="4883" y="37986"/>
                  </a:lnTo>
                  <a:lnTo>
                    <a:pt x="18208" y="18208"/>
                  </a:lnTo>
                  <a:lnTo>
                    <a:pt x="37986" y="4883"/>
                  </a:lnTo>
                  <a:lnTo>
                    <a:pt x="62229" y="0"/>
                  </a:lnTo>
                  <a:lnTo>
                    <a:pt x="4989830" y="0"/>
                  </a:lnTo>
                  <a:lnTo>
                    <a:pt x="5014073" y="4883"/>
                  </a:lnTo>
                  <a:lnTo>
                    <a:pt x="5033851" y="18208"/>
                  </a:lnTo>
                  <a:lnTo>
                    <a:pt x="5047176" y="37986"/>
                  </a:lnTo>
                  <a:lnTo>
                    <a:pt x="5052060" y="62230"/>
                  </a:lnTo>
                  <a:lnTo>
                    <a:pt x="5052060" y="559562"/>
                  </a:lnTo>
                  <a:lnTo>
                    <a:pt x="5047176" y="583805"/>
                  </a:lnTo>
                  <a:lnTo>
                    <a:pt x="5033851" y="603583"/>
                  </a:lnTo>
                  <a:lnTo>
                    <a:pt x="5014073" y="616908"/>
                  </a:lnTo>
                  <a:lnTo>
                    <a:pt x="4989830" y="621792"/>
                  </a:lnTo>
                  <a:lnTo>
                    <a:pt x="62229" y="621792"/>
                  </a:lnTo>
                  <a:lnTo>
                    <a:pt x="37986" y="616908"/>
                  </a:lnTo>
                  <a:lnTo>
                    <a:pt x="18208" y="603583"/>
                  </a:lnTo>
                  <a:lnTo>
                    <a:pt x="4883" y="583805"/>
                  </a:lnTo>
                  <a:lnTo>
                    <a:pt x="0" y="559562"/>
                  </a:lnTo>
                  <a:lnTo>
                    <a:pt x="0" y="62230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23360" y="4506467"/>
              <a:ext cx="5050790" cy="623570"/>
            </a:xfrm>
            <a:custGeom>
              <a:avLst/>
              <a:gdLst/>
              <a:ahLst/>
              <a:cxnLst/>
              <a:rect l="l" t="t" r="r" b="b"/>
              <a:pathLst>
                <a:path w="5050790" h="623570">
                  <a:moveTo>
                    <a:pt x="4988179" y="0"/>
                  </a:moveTo>
                  <a:lnTo>
                    <a:pt x="62356" y="0"/>
                  </a:lnTo>
                  <a:lnTo>
                    <a:pt x="38094" y="4903"/>
                  </a:lnTo>
                  <a:lnTo>
                    <a:pt x="18272" y="18272"/>
                  </a:lnTo>
                  <a:lnTo>
                    <a:pt x="4903" y="38094"/>
                  </a:lnTo>
                  <a:lnTo>
                    <a:pt x="0" y="62356"/>
                  </a:lnTo>
                  <a:lnTo>
                    <a:pt x="0" y="560958"/>
                  </a:lnTo>
                  <a:lnTo>
                    <a:pt x="4903" y="585221"/>
                  </a:lnTo>
                  <a:lnTo>
                    <a:pt x="18272" y="605043"/>
                  </a:lnTo>
                  <a:lnTo>
                    <a:pt x="38094" y="618412"/>
                  </a:lnTo>
                  <a:lnTo>
                    <a:pt x="62356" y="623315"/>
                  </a:lnTo>
                  <a:lnTo>
                    <a:pt x="4988179" y="623315"/>
                  </a:lnTo>
                  <a:lnTo>
                    <a:pt x="5012441" y="618412"/>
                  </a:lnTo>
                  <a:lnTo>
                    <a:pt x="5032263" y="605043"/>
                  </a:lnTo>
                  <a:lnTo>
                    <a:pt x="5045632" y="585221"/>
                  </a:lnTo>
                  <a:lnTo>
                    <a:pt x="5050536" y="560958"/>
                  </a:lnTo>
                  <a:lnTo>
                    <a:pt x="5050536" y="62356"/>
                  </a:lnTo>
                  <a:lnTo>
                    <a:pt x="5045632" y="38094"/>
                  </a:lnTo>
                  <a:lnTo>
                    <a:pt x="5032263" y="18272"/>
                  </a:lnTo>
                  <a:lnTo>
                    <a:pt x="5012441" y="4903"/>
                  </a:lnTo>
                  <a:lnTo>
                    <a:pt x="4988179" y="0"/>
                  </a:lnTo>
                  <a:close/>
                </a:path>
              </a:pathLst>
            </a:custGeom>
            <a:solidFill>
              <a:srgbClr val="58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023360" y="4506467"/>
              <a:ext cx="5050790" cy="623570"/>
            </a:xfrm>
            <a:custGeom>
              <a:avLst/>
              <a:gdLst/>
              <a:ahLst/>
              <a:cxnLst/>
              <a:rect l="l" t="t" r="r" b="b"/>
              <a:pathLst>
                <a:path w="5050790" h="623570">
                  <a:moveTo>
                    <a:pt x="0" y="62356"/>
                  </a:moveTo>
                  <a:lnTo>
                    <a:pt x="4903" y="38094"/>
                  </a:lnTo>
                  <a:lnTo>
                    <a:pt x="18272" y="18272"/>
                  </a:lnTo>
                  <a:lnTo>
                    <a:pt x="38094" y="4903"/>
                  </a:lnTo>
                  <a:lnTo>
                    <a:pt x="62356" y="0"/>
                  </a:lnTo>
                  <a:lnTo>
                    <a:pt x="4988179" y="0"/>
                  </a:lnTo>
                  <a:lnTo>
                    <a:pt x="5012441" y="4903"/>
                  </a:lnTo>
                  <a:lnTo>
                    <a:pt x="5032263" y="18272"/>
                  </a:lnTo>
                  <a:lnTo>
                    <a:pt x="5045632" y="38094"/>
                  </a:lnTo>
                  <a:lnTo>
                    <a:pt x="5050536" y="62356"/>
                  </a:lnTo>
                  <a:lnTo>
                    <a:pt x="5050536" y="560958"/>
                  </a:lnTo>
                  <a:lnTo>
                    <a:pt x="5045632" y="585221"/>
                  </a:lnTo>
                  <a:lnTo>
                    <a:pt x="5032263" y="605043"/>
                  </a:lnTo>
                  <a:lnTo>
                    <a:pt x="5012441" y="618412"/>
                  </a:lnTo>
                  <a:lnTo>
                    <a:pt x="4988179" y="623315"/>
                  </a:lnTo>
                  <a:lnTo>
                    <a:pt x="62356" y="623315"/>
                  </a:lnTo>
                  <a:lnTo>
                    <a:pt x="38094" y="618412"/>
                  </a:lnTo>
                  <a:lnTo>
                    <a:pt x="18272" y="605043"/>
                  </a:lnTo>
                  <a:lnTo>
                    <a:pt x="4903" y="585221"/>
                  </a:lnTo>
                  <a:lnTo>
                    <a:pt x="0" y="560958"/>
                  </a:lnTo>
                  <a:lnTo>
                    <a:pt x="0" y="62356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886201" y="2416301"/>
            <a:ext cx="2652395" cy="2538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2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USER-FRIENDLY</a:t>
            </a:r>
            <a:endParaRPr sz="2000">
              <a:latin typeface="Calibri"/>
              <a:cs typeface="Calibri"/>
            </a:endParaRPr>
          </a:p>
          <a:p>
            <a:pPr marL="852805" marR="5080" indent="-417195">
              <a:lnSpc>
                <a:spcPct val="241400"/>
              </a:lnSpc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APPLICATIONS STABILITY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000">
              <a:latin typeface="Calibri"/>
              <a:cs typeface="Calibri"/>
            </a:endParaRPr>
          </a:p>
          <a:p>
            <a:pPr marL="1275715">
              <a:lnSpc>
                <a:spcPct val="100000"/>
              </a:lnSpc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SPEED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517892" y="2770632"/>
            <a:ext cx="1140460" cy="1888489"/>
            <a:chOff x="7517892" y="2770632"/>
            <a:chExt cx="1140460" cy="1888489"/>
          </a:xfrm>
        </p:grpSpPr>
        <p:sp>
          <p:nvSpPr>
            <p:cNvPr id="15" name="object 15" descr=""/>
            <p:cNvSpPr/>
            <p:nvPr/>
          </p:nvSpPr>
          <p:spPr>
            <a:xfrm>
              <a:off x="7523988" y="2776728"/>
              <a:ext cx="287020" cy="405765"/>
            </a:xfrm>
            <a:custGeom>
              <a:avLst/>
              <a:gdLst/>
              <a:ahLst/>
              <a:cxnLst/>
              <a:rect l="l" t="t" r="r" b="b"/>
              <a:pathLst>
                <a:path w="287020" h="405764">
                  <a:moveTo>
                    <a:pt x="221995" y="0"/>
                  </a:moveTo>
                  <a:lnTo>
                    <a:pt x="64515" y="0"/>
                  </a:lnTo>
                  <a:lnTo>
                    <a:pt x="64515" y="276479"/>
                  </a:lnTo>
                  <a:lnTo>
                    <a:pt x="0" y="276479"/>
                  </a:lnTo>
                  <a:lnTo>
                    <a:pt x="143255" y="405384"/>
                  </a:lnTo>
                  <a:lnTo>
                    <a:pt x="286511" y="276479"/>
                  </a:lnTo>
                  <a:lnTo>
                    <a:pt x="221995" y="276479"/>
                  </a:lnTo>
                  <a:lnTo>
                    <a:pt x="221995" y="0"/>
                  </a:lnTo>
                  <a:close/>
                </a:path>
              </a:pathLst>
            </a:custGeom>
            <a:solidFill>
              <a:srgbClr val="F7D4CA">
                <a:alpha val="8941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523988" y="2776728"/>
              <a:ext cx="287020" cy="405765"/>
            </a:xfrm>
            <a:custGeom>
              <a:avLst/>
              <a:gdLst/>
              <a:ahLst/>
              <a:cxnLst/>
              <a:rect l="l" t="t" r="r" b="b"/>
              <a:pathLst>
                <a:path w="287020" h="405764">
                  <a:moveTo>
                    <a:pt x="0" y="276479"/>
                  </a:moveTo>
                  <a:lnTo>
                    <a:pt x="64515" y="276479"/>
                  </a:lnTo>
                  <a:lnTo>
                    <a:pt x="64515" y="0"/>
                  </a:lnTo>
                  <a:lnTo>
                    <a:pt x="221995" y="0"/>
                  </a:lnTo>
                  <a:lnTo>
                    <a:pt x="221995" y="276479"/>
                  </a:lnTo>
                  <a:lnTo>
                    <a:pt x="286511" y="276479"/>
                  </a:lnTo>
                  <a:lnTo>
                    <a:pt x="143255" y="405384"/>
                  </a:lnTo>
                  <a:lnTo>
                    <a:pt x="0" y="276479"/>
                  </a:lnTo>
                  <a:close/>
                </a:path>
              </a:pathLst>
            </a:custGeom>
            <a:ln w="12192">
              <a:solidFill>
                <a:srgbClr val="F7D4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947660" y="3512820"/>
              <a:ext cx="287020" cy="403860"/>
            </a:xfrm>
            <a:custGeom>
              <a:avLst/>
              <a:gdLst/>
              <a:ahLst/>
              <a:cxnLst/>
              <a:rect l="l" t="t" r="r" b="b"/>
              <a:pathLst>
                <a:path w="287020" h="403860">
                  <a:moveTo>
                    <a:pt x="221996" y="0"/>
                  </a:moveTo>
                  <a:lnTo>
                    <a:pt x="64516" y="0"/>
                  </a:lnTo>
                  <a:lnTo>
                    <a:pt x="64516" y="274954"/>
                  </a:lnTo>
                  <a:lnTo>
                    <a:pt x="0" y="274954"/>
                  </a:lnTo>
                  <a:lnTo>
                    <a:pt x="143256" y="403859"/>
                  </a:lnTo>
                  <a:lnTo>
                    <a:pt x="286512" y="274954"/>
                  </a:lnTo>
                  <a:lnTo>
                    <a:pt x="221996" y="274954"/>
                  </a:lnTo>
                  <a:lnTo>
                    <a:pt x="221996" y="0"/>
                  </a:lnTo>
                  <a:close/>
                </a:path>
              </a:pathLst>
            </a:custGeom>
            <a:solidFill>
              <a:srgbClr val="DFDFDF">
                <a:alpha val="8941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947660" y="3512820"/>
              <a:ext cx="287020" cy="403860"/>
            </a:xfrm>
            <a:custGeom>
              <a:avLst/>
              <a:gdLst/>
              <a:ahLst/>
              <a:cxnLst/>
              <a:rect l="l" t="t" r="r" b="b"/>
              <a:pathLst>
                <a:path w="287020" h="403860">
                  <a:moveTo>
                    <a:pt x="0" y="274954"/>
                  </a:moveTo>
                  <a:lnTo>
                    <a:pt x="64516" y="274954"/>
                  </a:lnTo>
                  <a:lnTo>
                    <a:pt x="64516" y="0"/>
                  </a:lnTo>
                  <a:lnTo>
                    <a:pt x="221996" y="0"/>
                  </a:lnTo>
                  <a:lnTo>
                    <a:pt x="221996" y="274954"/>
                  </a:lnTo>
                  <a:lnTo>
                    <a:pt x="286512" y="274954"/>
                  </a:lnTo>
                  <a:lnTo>
                    <a:pt x="143256" y="403859"/>
                  </a:lnTo>
                  <a:lnTo>
                    <a:pt x="0" y="274954"/>
                  </a:lnTo>
                  <a:close/>
                </a:path>
              </a:pathLst>
            </a:custGeom>
            <a:ln w="12192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363712" y="4248912"/>
              <a:ext cx="288290" cy="403860"/>
            </a:xfrm>
            <a:custGeom>
              <a:avLst/>
              <a:gdLst/>
              <a:ahLst/>
              <a:cxnLst/>
              <a:rect l="l" t="t" r="r" b="b"/>
              <a:pathLst>
                <a:path w="288290" h="403860">
                  <a:moveTo>
                    <a:pt x="223266" y="0"/>
                  </a:moveTo>
                  <a:lnTo>
                    <a:pt x="64770" y="0"/>
                  </a:lnTo>
                  <a:lnTo>
                    <a:pt x="64770" y="274193"/>
                  </a:lnTo>
                  <a:lnTo>
                    <a:pt x="0" y="274193"/>
                  </a:lnTo>
                  <a:lnTo>
                    <a:pt x="144018" y="403860"/>
                  </a:lnTo>
                  <a:lnTo>
                    <a:pt x="288036" y="274193"/>
                  </a:lnTo>
                  <a:lnTo>
                    <a:pt x="223266" y="274193"/>
                  </a:lnTo>
                  <a:lnTo>
                    <a:pt x="223266" y="0"/>
                  </a:lnTo>
                  <a:close/>
                </a:path>
              </a:pathLst>
            </a:custGeom>
            <a:solidFill>
              <a:srgbClr val="FFE8C9">
                <a:alpha val="8941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363712" y="4248912"/>
              <a:ext cx="288290" cy="403860"/>
            </a:xfrm>
            <a:custGeom>
              <a:avLst/>
              <a:gdLst/>
              <a:ahLst/>
              <a:cxnLst/>
              <a:rect l="l" t="t" r="r" b="b"/>
              <a:pathLst>
                <a:path w="288290" h="403860">
                  <a:moveTo>
                    <a:pt x="0" y="274193"/>
                  </a:moveTo>
                  <a:lnTo>
                    <a:pt x="64770" y="274193"/>
                  </a:lnTo>
                  <a:lnTo>
                    <a:pt x="64770" y="0"/>
                  </a:lnTo>
                  <a:lnTo>
                    <a:pt x="223266" y="0"/>
                  </a:lnTo>
                  <a:lnTo>
                    <a:pt x="223266" y="274193"/>
                  </a:lnTo>
                  <a:lnTo>
                    <a:pt x="288036" y="274193"/>
                  </a:lnTo>
                  <a:lnTo>
                    <a:pt x="144018" y="403860"/>
                  </a:lnTo>
                  <a:lnTo>
                    <a:pt x="0" y="274193"/>
                  </a:lnTo>
                  <a:close/>
                </a:path>
              </a:pathLst>
            </a:custGeom>
            <a:ln w="12192">
              <a:solidFill>
                <a:srgbClr val="FFE8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0" y="2548127"/>
            <a:ext cx="7222490" cy="2326005"/>
          </a:xfrm>
          <a:prstGeom prst="rect">
            <a:avLst/>
          </a:prstGeom>
        </p:spPr>
        <p:txBody>
          <a:bodyPr wrap="square" lIns="0" tIns="685800" rIns="0" bIns="0" rtlCol="0" vert="horz">
            <a:spAutoFit/>
          </a:bodyPr>
          <a:lstStyle/>
          <a:p>
            <a:pPr marL="1085850">
              <a:lnSpc>
                <a:spcPct val="100000"/>
              </a:lnSpc>
              <a:spcBef>
                <a:spcPts val="5400"/>
              </a:spcBef>
              <a:tabLst>
                <a:tab pos="1619250" algn="l"/>
              </a:tabLst>
            </a:pPr>
            <a:r>
              <a:rPr dirty="0" sz="4800" spc="-1515">
                <a:solidFill>
                  <a:srgbClr val="FFFFFF"/>
                </a:solidFill>
                <a:latin typeface="Lucida Sans Unicode"/>
                <a:cs typeface="Lucida Sans Unicode"/>
              </a:rPr>
              <a:t>1.</a:t>
            </a:r>
            <a:r>
              <a:rPr dirty="0" sz="4800">
                <a:solidFill>
                  <a:srgbClr val="FFFFFF"/>
                </a:solidFill>
                <a:latin typeface="Lucida Sans Unicode"/>
                <a:cs typeface="Lucida Sans Unicode"/>
              </a:rPr>
              <a:t>	Basics</a:t>
            </a:r>
            <a:r>
              <a:rPr dirty="0" sz="48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48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-10">
                <a:solidFill>
                  <a:srgbClr val="FFFFFF"/>
                </a:solidFill>
                <a:latin typeface="Lucida Sans Unicode"/>
                <a:cs typeface="Lucida Sans Unicode"/>
              </a:rPr>
              <a:t>Python</a:t>
            </a:r>
            <a:endParaRPr sz="4800">
              <a:latin typeface="Lucida Sans Unicode"/>
              <a:cs typeface="Lucida Sans Unicode"/>
            </a:endParaRPr>
          </a:p>
          <a:p>
            <a:pPr algn="ctr" marR="241935">
              <a:lnSpc>
                <a:spcPct val="100000"/>
              </a:lnSpc>
              <a:spcBef>
                <a:spcPts val="2830"/>
              </a:spcBef>
            </a:pPr>
            <a:r>
              <a:rPr dirty="0" sz="2000" spc="-85">
                <a:solidFill>
                  <a:srgbClr val="FFFFFF"/>
                </a:solidFill>
                <a:latin typeface="Lucida Sans Unicode"/>
                <a:cs typeface="Lucida Sans Unicode"/>
              </a:rPr>
              <a:t>Let’s</a:t>
            </a:r>
            <a:r>
              <a:rPr dirty="0" sz="20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start</a:t>
            </a:r>
            <a:r>
              <a:rPr dirty="0" sz="20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0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Lucida Sans Unicode"/>
                <a:cs typeface="Lucida Sans Unicode"/>
              </a:rPr>
              <a:t>first</a:t>
            </a:r>
            <a:r>
              <a:rPr dirty="0" sz="20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chapter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15" y="2894076"/>
            <a:ext cx="518159" cy="51816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45643" y="319618"/>
            <a:ext cx="11682730" cy="63874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2800" spc="60">
                <a:latin typeface="Arial Black"/>
                <a:cs typeface="Arial Black"/>
              </a:rPr>
              <a:t>Why</a:t>
            </a:r>
            <a:r>
              <a:rPr dirty="0" sz="2800" spc="-325">
                <a:latin typeface="Arial Black"/>
                <a:cs typeface="Arial Black"/>
              </a:rPr>
              <a:t> </a:t>
            </a:r>
            <a:r>
              <a:rPr dirty="0" sz="2800" spc="-10">
                <a:latin typeface="Arial Black"/>
                <a:cs typeface="Arial Black"/>
              </a:rPr>
              <a:t>Spark?</a:t>
            </a: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2800">
              <a:latin typeface="Arial Black"/>
              <a:cs typeface="Arial Black"/>
            </a:endParaRPr>
          </a:p>
          <a:p>
            <a:pPr marL="391795">
              <a:lnSpc>
                <a:spcPct val="100000"/>
              </a:lnSpc>
            </a:pPr>
            <a:r>
              <a:rPr dirty="0" sz="1400">
                <a:latin typeface="Lucida Sans Unicode"/>
                <a:cs typeface="Lucida Sans Unicode"/>
              </a:rPr>
              <a:t>In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the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-20">
                <a:latin typeface="Lucida Sans Unicode"/>
                <a:cs typeface="Lucida Sans Unicode"/>
              </a:rPr>
              <a:t>industry,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there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is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 spc="170">
                <a:latin typeface="Lucida Sans Unicode"/>
                <a:cs typeface="Lucida Sans Unicode"/>
              </a:rPr>
              <a:t>a</a:t>
            </a:r>
            <a:r>
              <a:rPr dirty="0" sz="140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need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 spc="-30">
                <a:latin typeface="Lucida Sans Unicode"/>
                <a:cs typeface="Lucida Sans Unicode"/>
              </a:rPr>
              <a:t>for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170">
                <a:latin typeface="Lucida Sans Unicode"/>
                <a:cs typeface="Lucida Sans Unicode"/>
              </a:rPr>
              <a:t>a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general-purpose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cluster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45">
                <a:latin typeface="Lucida Sans Unicode"/>
                <a:cs typeface="Lucida Sans Unicode"/>
              </a:rPr>
              <a:t>computing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tool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-25">
                <a:latin typeface="Lucida Sans Unicode"/>
                <a:cs typeface="Lucida Sans Unicode"/>
              </a:rPr>
              <a:t>as: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50">
                <a:latin typeface="Lucida Sans Unicode"/>
                <a:cs typeface="Lucida Sans Unicode"/>
              </a:rPr>
              <a:t>Hadoop</a:t>
            </a:r>
            <a:r>
              <a:rPr dirty="0" sz="1400" spc="-15">
                <a:latin typeface="Lucida Sans Unicode"/>
                <a:cs typeface="Lucida Sans Unicode"/>
              </a:rPr>
              <a:t> </a:t>
            </a:r>
            <a:r>
              <a:rPr dirty="0" sz="1400" spc="50">
                <a:latin typeface="Lucida Sans Unicode"/>
                <a:cs typeface="Lucida Sans Unicode"/>
              </a:rPr>
              <a:t>Map-</a:t>
            </a:r>
            <a:r>
              <a:rPr dirty="0" sz="1400" spc="55">
                <a:latin typeface="Lucida Sans Unicode"/>
                <a:cs typeface="Lucida Sans Unicode"/>
              </a:rPr>
              <a:t>Reduce</a:t>
            </a:r>
            <a:r>
              <a:rPr dirty="0" sz="1400" spc="-55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55">
                <a:latin typeface="Lucida Sans Unicode"/>
                <a:cs typeface="Lucida Sans Unicode"/>
              </a:rPr>
              <a:t> </a:t>
            </a:r>
            <a:r>
              <a:rPr dirty="0" sz="1400" spc="75">
                <a:latin typeface="Lucida Sans Unicode"/>
                <a:cs typeface="Lucida Sans Unicode"/>
              </a:rPr>
              <a:t>batch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processing.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Storm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S4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stream</a:t>
            </a:r>
            <a:r>
              <a:rPr dirty="0" sz="1400" spc="-5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processing.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5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Impala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75">
                <a:latin typeface="Lucida Sans Unicode"/>
                <a:cs typeface="Lucida Sans Unicode"/>
              </a:rPr>
              <a:t>Tez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 spc="105">
                <a:latin typeface="Lucida Sans Unicode"/>
                <a:cs typeface="Lucida Sans Unicode"/>
              </a:rPr>
              <a:t>can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interactive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>
                <a:latin typeface="Lucida Sans Unicode"/>
                <a:cs typeface="Lucida Sans Unicode"/>
              </a:rPr>
              <a:t>Neo4j</a:t>
            </a:r>
            <a:r>
              <a:rPr dirty="0" sz="1400" spc="-45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Giraph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graph</a:t>
            </a:r>
            <a:r>
              <a:rPr dirty="0" sz="1400" spc="-10">
                <a:latin typeface="Lucida Sans Unicode"/>
                <a:cs typeface="Lucida Sans Unicode"/>
              </a:rPr>
              <a:t> processing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80645">
              <a:lnSpc>
                <a:spcPct val="100000"/>
              </a:lnSpc>
            </a:pPr>
            <a:r>
              <a:rPr dirty="0" sz="900" spc="-50">
                <a:solidFill>
                  <a:srgbClr val="FFFFFF"/>
                </a:solidFill>
                <a:latin typeface="Lucida Sans Unicode"/>
                <a:cs typeface="Lucida Sans Unicode"/>
              </a:rPr>
              <a:t>5</a:t>
            </a:r>
            <a:endParaRPr sz="900">
              <a:latin typeface="Lucida Sans Unicode"/>
              <a:cs typeface="Lucida Sans Unicode"/>
            </a:endParaRPr>
          </a:p>
          <a:p>
            <a:pPr algn="r">
              <a:lnSpc>
                <a:spcPct val="100000"/>
              </a:lnSpc>
              <a:spcBef>
                <a:spcPts val="430"/>
              </a:spcBef>
            </a:pPr>
            <a:r>
              <a:rPr dirty="0" sz="1400">
                <a:solidFill>
                  <a:srgbClr val="496E93"/>
                </a:solidFill>
                <a:latin typeface="Arial MT"/>
                <a:cs typeface="Arial MT"/>
              </a:rPr>
              <a:t>©</a:t>
            </a:r>
            <a:r>
              <a:rPr dirty="0" sz="1400" spc="-15">
                <a:solidFill>
                  <a:srgbClr val="496E93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96E93"/>
                </a:solidFill>
                <a:latin typeface="Arial MT"/>
                <a:cs typeface="Arial MT"/>
              </a:rPr>
              <a:t>zepanalytics.com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50"/>
              <a:t>5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zepanalytics.com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0"/>
              <a:t>Installation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1183360"/>
            <a:ext cx="4307205" cy="183324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Install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Python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on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your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machine.</a:t>
            </a:r>
            <a:endParaRPr sz="1400">
              <a:latin typeface="Lucida Sans Unicode"/>
              <a:cs typeface="Lucida Sans Unicode"/>
            </a:endParaRPr>
          </a:p>
          <a:p>
            <a:pPr marL="469265" indent="-316865">
              <a:lnSpc>
                <a:spcPct val="100000"/>
              </a:lnSpc>
              <a:spcBef>
                <a:spcPts val="770"/>
              </a:spcBef>
              <a:buClr>
                <a:srgbClr val="00B5DD"/>
              </a:buClr>
              <a:buChar char="-"/>
              <a:tabLst>
                <a:tab pos="469265" algn="l"/>
              </a:tabLst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You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10">
                <a:solidFill>
                  <a:srgbClr val="393E50"/>
                </a:solidFill>
                <a:latin typeface="Lucida Sans Unicode"/>
                <a:cs typeface="Lucida Sans Unicode"/>
              </a:rPr>
              <a:t>can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download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from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official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website</a:t>
            </a:r>
            <a:endParaRPr sz="1400">
              <a:latin typeface="Lucida Sans Unicode"/>
              <a:cs typeface="Lucida Sans Unicode"/>
            </a:endParaRPr>
          </a:p>
          <a:p>
            <a:pPr marL="469265" indent="-316865">
              <a:lnSpc>
                <a:spcPct val="100000"/>
              </a:lnSpc>
              <a:spcBef>
                <a:spcPts val="170"/>
              </a:spcBef>
              <a:buClr>
                <a:srgbClr val="00B5DD"/>
              </a:buClr>
              <a:buFont typeface="Lucida Sans Unicode"/>
              <a:buChar char="-"/>
              <a:tabLst>
                <a:tab pos="469265" algn="l"/>
              </a:tabLst>
            </a:pPr>
            <a:r>
              <a:rPr dirty="0" u="sng" sz="1400" spc="-10" i="1">
                <a:solidFill>
                  <a:srgbClr val="EFEEED"/>
                </a:solidFill>
                <a:uFill>
                  <a:solidFill>
                    <a:srgbClr val="EFEEED"/>
                  </a:solidFill>
                </a:uFill>
                <a:latin typeface="Verdana"/>
                <a:cs typeface="Verdana"/>
                <a:hlinkClick r:id="rId3"/>
              </a:rPr>
              <a:t>https://www.python.org/downloads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10"/>
              </a:spcBef>
              <a:buClr>
                <a:srgbClr val="00B5DD"/>
              </a:buClr>
              <a:buFont typeface="Lucida Sans Unicode"/>
              <a:buChar char="-"/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Install</a:t>
            </a:r>
            <a:r>
              <a:rPr dirty="0" sz="1400" spc="-8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5">
                <a:solidFill>
                  <a:srgbClr val="393E50"/>
                </a:solidFill>
                <a:latin typeface="Lucida Sans Unicode"/>
                <a:cs typeface="Lucida Sans Unicode"/>
              </a:rPr>
              <a:t>Anaconda</a:t>
            </a:r>
            <a:endParaRPr sz="1400">
              <a:latin typeface="Lucida Sans Unicode"/>
              <a:cs typeface="Lucida Sans Unicode"/>
            </a:endParaRPr>
          </a:p>
          <a:p>
            <a:pPr marL="469265" indent="-316865">
              <a:lnSpc>
                <a:spcPct val="100000"/>
              </a:lnSpc>
              <a:spcBef>
                <a:spcPts val="910"/>
              </a:spcBef>
              <a:buClr>
                <a:srgbClr val="00B5DD"/>
              </a:buClr>
              <a:buFont typeface="Lucida Sans Unicode"/>
              <a:buChar char="-"/>
              <a:tabLst>
                <a:tab pos="469265" algn="l"/>
              </a:tabLst>
            </a:pPr>
            <a:r>
              <a:rPr dirty="0" u="sng" sz="1400" spc="-10" i="1">
                <a:solidFill>
                  <a:srgbClr val="EFEEED"/>
                </a:solidFill>
                <a:uFill>
                  <a:solidFill>
                    <a:srgbClr val="EFEEED"/>
                  </a:solidFill>
                </a:uFill>
                <a:latin typeface="Verdana"/>
                <a:cs typeface="Verdana"/>
                <a:hlinkClick r:id="rId4"/>
              </a:rPr>
              <a:t>https://www.anaconda.com/download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7427" y="3514344"/>
            <a:ext cx="3381755" cy="486155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5"/>
              <a:t>Variables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1360119"/>
            <a:ext cx="7341870" cy="19138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595"/>
              </a:lnSpc>
              <a:spcBef>
                <a:spcPts val="105"/>
              </a:spcBef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You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10">
                <a:solidFill>
                  <a:srgbClr val="393E50"/>
                </a:solidFill>
                <a:latin typeface="Lucida Sans Unicode"/>
                <a:cs typeface="Lucida Sans Unicode"/>
              </a:rPr>
              <a:t>can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consider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variable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be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temporary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storage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0">
                <a:solidFill>
                  <a:srgbClr val="393E50"/>
                </a:solidFill>
                <a:latin typeface="Lucida Sans Unicode"/>
                <a:cs typeface="Lucida Sans Unicode"/>
              </a:rPr>
              <a:t>space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where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you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10">
                <a:solidFill>
                  <a:srgbClr val="393E50"/>
                </a:solidFill>
                <a:latin typeface="Lucida Sans Unicode"/>
                <a:cs typeface="Lucida Sans Unicode"/>
              </a:rPr>
              <a:t>can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keep</a:t>
            </a: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ts val="1595"/>
              </a:lnSpc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changing</a:t>
            </a:r>
            <a:r>
              <a:rPr dirty="0" sz="1400" spc="3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values.</a:t>
            </a: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Assigning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values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variable:</a:t>
            </a:r>
            <a:endParaRPr sz="1400">
              <a:latin typeface="Lucida Sans Unicode"/>
              <a:cs typeface="Lucida Sans Unicode"/>
            </a:endParaRPr>
          </a:p>
          <a:p>
            <a:pPr marL="239395" indent="-188595">
              <a:lnSpc>
                <a:spcPct val="100000"/>
              </a:lnSpc>
              <a:spcBef>
                <a:spcPts val="825"/>
              </a:spcBef>
              <a:buClr>
                <a:srgbClr val="000000"/>
              </a:buClr>
              <a:buChar char="•"/>
              <a:tabLst>
                <a:tab pos="239395" algn="l"/>
              </a:tabLst>
            </a:pP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assign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values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variable</a:t>
            </a:r>
            <a:r>
              <a:rPr dirty="0" sz="1400" spc="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Python,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we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will</a:t>
            </a:r>
            <a:r>
              <a:rPr dirty="0" sz="1400" spc="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use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assignment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(=)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operator.</a:t>
            </a:r>
            <a:endParaRPr sz="1400">
              <a:latin typeface="Lucida Sans Unicode"/>
              <a:cs typeface="Lucida Sans Unicode"/>
            </a:endParaRPr>
          </a:p>
          <a:p>
            <a:pPr marL="469900">
              <a:lnSpc>
                <a:spcPct val="100000"/>
              </a:lnSpc>
              <a:spcBef>
                <a:spcPts val="815"/>
              </a:spcBef>
            </a:pPr>
            <a:r>
              <a:rPr dirty="0" sz="1500" spc="175" b="1" i="1">
                <a:solidFill>
                  <a:srgbClr val="393E50"/>
                </a:solidFill>
                <a:latin typeface="Arial"/>
                <a:cs typeface="Arial"/>
              </a:rPr>
              <a:t>a</a:t>
            </a:r>
            <a:r>
              <a:rPr dirty="0" sz="1500" spc="-70" b="1" i="1">
                <a:solidFill>
                  <a:srgbClr val="393E50"/>
                </a:solidFill>
                <a:latin typeface="Arial"/>
                <a:cs typeface="Arial"/>
              </a:rPr>
              <a:t> </a:t>
            </a:r>
            <a:r>
              <a:rPr dirty="0" sz="1500" spc="165" b="1" i="1">
                <a:solidFill>
                  <a:srgbClr val="393E50"/>
                </a:solidFill>
                <a:latin typeface="Arial"/>
                <a:cs typeface="Arial"/>
              </a:rPr>
              <a:t>=</a:t>
            </a:r>
            <a:r>
              <a:rPr dirty="0" sz="1500" spc="-60" b="1" i="1">
                <a:solidFill>
                  <a:srgbClr val="393E50"/>
                </a:solidFill>
                <a:latin typeface="Arial"/>
                <a:cs typeface="Arial"/>
              </a:rPr>
              <a:t> </a:t>
            </a:r>
            <a:r>
              <a:rPr dirty="0" sz="1500" spc="-45" b="1" i="1">
                <a:solidFill>
                  <a:srgbClr val="393E50"/>
                </a:solidFill>
                <a:latin typeface="Arial"/>
                <a:cs typeface="Arial"/>
              </a:rPr>
              <a:t>10,</a:t>
            </a:r>
            <a:r>
              <a:rPr dirty="0" sz="1500" spc="-70" b="1" i="1">
                <a:solidFill>
                  <a:srgbClr val="393E50"/>
                </a:solidFill>
                <a:latin typeface="Arial"/>
                <a:cs typeface="Arial"/>
              </a:rPr>
              <a:t> </a:t>
            </a:r>
            <a:r>
              <a:rPr dirty="0" sz="1500" spc="175" b="1" i="1">
                <a:solidFill>
                  <a:srgbClr val="393E50"/>
                </a:solidFill>
                <a:latin typeface="Arial"/>
                <a:cs typeface="Arial"/>
              </a:rPr>
              <a:t>a</a:t>
            </a:r>
            <a:r>
              <a:rPr dirty="0" sz="1500" spc="-75" b="1" i="1">
                <a:solidFill>
                  <a:srgbClr val="393E50"/>
                </a:solidFill>
                <a:latin typeface="Arial"/>
                <a:cs typeface="Arial"/>
              </a:rPr>
              <a:t> </a:t>
            </a:r>
            <a:r>
              <a:rPr dirty="0" sz="1500" spc="165" b="1" i="1">
                <a:solidFill>
                  <a:srgbClr val="393E50"/>
                </a:solidFill>
                <a:latin typeface="Arial"/>
                <a:cs typeface="Arial"/>
              </a:rPr>
              <a:t>=</a:t>
            </a:r>
            <a:r>
              <a:rPr dirty="0" sz="1500" spc="-55" b="1" i="1">
                <a:solidFill>
                  <a:srgbClr val="393E50"/>
                </a:solidFill>
                <a:latin typeface="Arial"/>
                <a:cs typeface="Arial"/>
              </a:rPr>
              <a:t> </a:t>
            </a:r>
            <a:r>
              <a:rPr dirty="0" sz="1500" spc="90" b="1" i="1">
                <a:solidFill>
                  <a:srgbClr val="393E50"/>
                </a:solidFill>
                <a:latin typeface="Arial"/>
                <a:cs typeface="Arial"/>
              </a:rPr>
              <a:t>“Welcome</a:t>
            </a:r>
            <a:r>
              <a:rPr dirty="0" sz="1500" spc="-85" b="1" i="1">
                <a:solidFill>
                  <a:srgbClr val="393E50"/>
                </a:solidFill>
                <a:latin typeface="Arial"/>
                <a:cs typeface="Arial"/>
              </a:rPr>
              <a:t> </a:t>
            </a:r>
            <a:r>
              <a:rPr dirty="0" sz="1500" spc="70" b="1" i="1">
                <a:solidFill>
                  <a:srgbClr val="393E50"/>
                </a:solidFill>
                <a:latin typeface="Arial"/>
                <a:cs typeface="Arial"/>
              </a:rPr>
              <a:t>to</a:t>
            </a:r>
            <a:r>
              <a:rPr dirty="0" sz="1500" spc="-60" b="1" i="1">
                <a:solidFill>
                  <a:srgbClr val="393E50"/>
                </a:solidFill>
                <a:latin typeface="Arial"/>
                <a:cs typeface="Arial"/>
              </a:rPr>
              <a:t> </a:t>
            </a:r>
            <a:r>
              <a:rPr dirty="0" sz="1500" spc="90" b="1" i="1">
                <a:solidFill>
                  <a:srgbClr val="393E50"/>
                </a:solidFill>
                <a:latin typeface="Arial"/>
                <a:cs typeface="Arial"/>
              </a:rPr>
              <a:t>the</a:t>
            </a:r>
            <a:r>
              <a:rPr dirty="0" sz="1500" spc="-55" b="1" i="1">
                <a:solidFill>
                  <a:srgbClr val="393E50"/>
                </a:solidFill>
                <a:latin typeface="Arial"/>
                <a:cs typeface="Arial"/>
              </a:rPr>
              <a:t> </a:t>
            </a:r>
            <a:r>
              <a:rPr dirty="0" sz="1500" spc="45" b="1" i="1">
                <a:solidFill>
                  <a:srgbClr val="393E50"/>
                </a:solidFill>
                <a:latin typeface="Arial"/>
                <a:cs typeface="Arial"/>
              </a:rPr>
              <a:t>class”</a:t>
            </a:r>
            <a:endParaRPr sz="1500">
              <a:latin typeface="Arial"/>
              <a:cs typeface="Arial"/>
            </a:endParaRPr>
          </a:p>
          <a:p>
            <a:pPr marL="238760" indent="-187960">
              <a:lnSpc>
                <a:spcPts val="1595"/>
              </a:lnSpc>
              <a:spcBef>
                <a:spcPts val="840"/>
              </a:spcBef>
              <a:buClr>
                <a:srgbClr val="000000"/>
              </a:buClr>
              <a:buChar char="•"/>
              <a:tabLst>
                <a:tab pos="238760" algn="l"/>
              </a:tabLst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No </a:t>
            </a: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need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declare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 </a:t>
            </a: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datatype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 variables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done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other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programming</a:t>
            </a:r>
            <a:endParaRPr sz="1400">
              <a:latin typeface="Lucida Sans Unicode"/>
              <a:cs typeface="Lucida Sans Unicode"/>
            </a:endParaRPr>
          </a:p>
          <a:p>
            <a:pPr marL="241300">
              <a:lnSpc>
                <a:spcPts val="1595"/>
              </a:lnSpc>
            </a:pP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languages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943" y="324688"/>
            <a:ext cx="184086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0"/>
              <a:t>Keywords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71043" y="1581352"/>
            <a:ext cx="6962775" cy="15817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2565" indent="-189865">
              <a:lnSpc>
                <a:spcPts val="1600"/>
              </a:lnSpc>
              <a:spcBef>
                <a:spcPts val="105"/>
              </a:spcBef>
              <a:buFont typeface="Times New Roman"/>
              <a:buChar char="●"/>
              <a:tabLst>
                <a:tab pos="202565" algn="l"/>
              </a:tabLst>
            </a:pP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Special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reserved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words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which </a:t>
            </a:r>
            <a:r>
              <a:rPr dirty="0" sz="1400" spc="55">
                <a:solidFill>
                  <a:srgbClr val="393E50"/>
                </a:solidFill>
                <a:latin typeface="Lucida Sans Unicode"/>
                <a:cs typeface="Lucida Sans Unicode"/>
              </a:rPr>
              <a:t>convey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special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5">
                <a:solidFill>
                  <a:srgbClr val="393E50"/>
                </a:solidFill>
                <a:latin typeface="Lucida Sans Unicode"/>
                <a:cs typeface="Lucida Sans Unicode"/>
              </a:rPr>
              <a:t>meaning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 interpreter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or</a:t>
            </a:r>
            <a:endParaRPr sz="1400">
              <a:latin typeface="Lucida Sans Unicode"/>
              <a:cs typeface="Lucida Sans Unicode"/>
            </a:endParaRPr>
          </a:p>
          <a:p>
            <a:pPr marL="203200">
              <a:lnSpc>
                <a:spcPts val="1600"/>
              </a:lnSpc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compiler.</a:t>
            </a:r>
            <a:endParaRPr sz="1400">
              <a:latin typeface="Lucida Sans Unicode"/>
              <a:cs typeface="Lucida Sans Unicode"/>
            </a:endParaRPr>
          </a:p>
          <a:p>
            <a:pPr marL="202565" indent="-189865">
              <a:lnSpc>
                <a:spcPct val="100000"/>
              </a:lnSpc>
              <a:spcBef>
                <a:spcPts val="830"/>
              </a:spcBef>
              <a:buFont typeface="Times New Roman"/>
              <a:buChar char="●"/>
              <a:tabLst>
                <a:tab pos="20256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It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can’t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be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used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as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variable.</a:t>
            </a:r>
            <a:endParaRPr sz="1400">
              <a:latin typeface="Lucida Sans Unicode"/>
              <a:cs typeface="Lucida Sans Unicode"/>
            </a:endParaRPr>
          </a:p>
          <a:p>
            <a:pPr marL="202565" indent="-189865">
              <a:lnSpc>
                <a:spcPct val="100000"/>
              </a:lnSpc>
              <a:spcBef>
                <a:spcPts val="840"/>
              </a:spcBef>
              <a:buFont typeface="Times New Roman"/>
              <a:buChar char="●"/>
              <a:tabLst>
                <a:tab pos="2025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Few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 example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keywords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are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as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follows:</a:t>
            </a:r>
            <a:endParaRPr sz="1400">
              <a:latin typeface="Lucida Sans Unicode"/>
              <a:cs typeface="Lucida Sans Unicode"/>
            </a:endParaRPr>
          </a:p>
          <a:p>
            <a:pPr lvl="1" marL="889000" indent="-317500">
              <a:lnSpc>
                <a:spcPts val="1595"/>
              </a:lnSpc>
              <a:spcBef>
                <a:spcPts val="825"/>
              </a:spcBef>
              <a:buFont typeface="Times New Roman"/>
              <a:buChar char="○"/>
              <a:tabLst>
                <a:tab pos="889000" algn="l"/>
              </a:tabLst>
            </a:pP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def,</a:t>
            </a:r>
            <a:r>
              <a:rPr dirty="0" sz="1400" spc="-6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else,</a:t>
            </a:r>
            <a:r>
              <a:rPr dirty="0" sz="1400" spc="-7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20">
                <a:solidFill>
                  <a:srgbClr val="393E50"/>
                </a:solidFill>
                <a:latin typeface="Lucida Sans Unicode"/>
                <a:cs typeface="Lucida Sans Unicode"/>
              </a:rPr>
              <a:t>if,</a:t>
            </a: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class,</a:t>
            </a: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continue,</a:t>
            </a: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break,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finally,</a:t>
            </a: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from,</a:t>
            </a: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return,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lambda,</a:t>
            </a: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except,</a:t>
            </a:r>
            <a:endParaRPr sz="1400">
              <a:latin typeface="Lucida Sans Unicode"/>
              <a:cs typeface="Lucida Sans Unicode"/>
            </a:endParaRPr>
          </a:p>
          <a:p>
            <a:pPr marL="889000">
              <a:lnSpc>
                <a:spcPts val="1595"/>
              </a:lnSpc>
            </a:pP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import,</a:t>
            </a: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None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92251" y="126492"/>
            <a:ext cx="11579860" cy="6125845"/>
            <a:chOff x="492251" y="126492"/>
            <a:chExt cx="11579860" cy="612584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447" y="2688336"/>
              <a:ext cx="2927604" cy="313944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251" y="2766059"/>
              <a:ext cx="6466332" cy="313944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2943" y="324688"/>
            <a:ext cx="20777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5"/>
              <a:t>Data</a:t>
            </a:r>
            <a:r>
              <a:rPr dirty="0" spc="-315"/>
              <a:t> </a:t>
            </a:r>
            <a:r>
              <a:rPr dirty="0" spc="-100"/>
              <a:t>Types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2891" y="1376121"/>
            <a:ext cx="5250180" cy="85471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919"/>
              </a:spcBef>
              <a:buFont typeface="Times New Roman"/>
              <a:buChar char="●"/>
              <a:tabLst>
                <a:tab pos="152400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Variables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hold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values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different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5">
                <a:solidFill>
                  <a:srgbClr val="393E50"/>
                </a:solidFill>
                <a:latin typeface="Lucida Sans Unicode"/>
                <a:cs typeface="Lucida Sans Unicode"/>
              </a:rPr>
              <a:t>data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types.</a:t>
            </a:r>
            <a:endParaRPr sz="1400">
              <a:latin typeface="Lucida Sans Unicode"/>
              <a:cs typeface="Lucida Sans Unicode"/>
            </a:endParaRPr>
          </a:p>
          <a:p>
            <a:pPr marL="151765" indent="-139065">
              <a:lnSpc>
                <a:spcPts val="1595"/>
              </a:lnSpc>
              <a:spcBef>
                <a:spcPts val="830"/>
              </a:spcBef>
              <a:buFont typeface="Times New Roman"/>
              <a:buChar char="●"/>
              <a:tabLst>
                <a:tab pos="1517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With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help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type()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you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10">
                <a:solidFill>
                  <a:srgbClr val="393E50"/>
                </a:solidFill>
                <a:latin typeface="Lucida Sans Unicode"/>
                <a:cs typeface="Lucida Sans Unicode"/>
              </a:rPr>
              <a:t>can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check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the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type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endParaRPr sz="1400">
              <a:latin typeface="Lucida Sans Unicode"/>
              <a:cs typeface="Lucida Sans Unicode"/>
            </a:endParaRPr>
          </a:p>
          <a:p>
            <a:pPr marL="152400">
              <a:lnSpc>
                <a:spcPts val="1595"/>
              </a:lnSpc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variable</a:t>
            </a:r>
            <a:r>
              <a:rPr dirty="0" sz="1400" spc="26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used.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90"/>
              <a:t>Operators</a:t>
            </a:r>
            <a:r>
              <a:rPr dirty="0" spc="-310"/>
              <a:t> </a:t>
            </a:r>
            <a:r>
              <a:rPr dirty="0" spc="-275"/>
              <a:t>&amp;</a:t>
            </a:r>
            <a:r>
              <a:rPr dirty="0" spc="-320"/>
              <a:t> </a:t>
            </a:r>
            <a:r>
              <a:rPr dirty="0" spc="-25"/>
              <a:t>Operands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1527809"/>
            <a:ext cx="6369050" cy="221805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41300" marR="485140" indent="-190500">
              <a:lnSpc>
                <a:spcPts val="1510"/>
              </a:lnSpc>
              <a:spcBef>
                <a:spcPts val="295"/>
              </a:spcBef>
              <a:buFont typeface="Times New Roman"/>
              <a:buChar char="●"/>
              <a:tabLst>
                <a:tab pos="241300" algn="l"/>
              </a:tabLst>
            </a:pP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Operators</a:t>
            </a:r>
            <a:r>
              <a:rPr dirty="0" sz="1400" spc="1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are</a:t>
            </a:r>
            <a:r>
              <a:rPr dirty="0" sz="1400" spc="1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special</a:t>
            </a:r>
            <a:r>
              <a:rPr dirty="0" sz="1400" spc="9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symbols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that</a:t>
            </a:r>
            <a:r>
              <a:rPr dirty="0" sz="1400" spc="9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represent</a:t>
            </a:r>
            <a:r>
              <a:rPr dirty="0" sz="1400" spc="10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computations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like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addition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multiplication.</a:t>
            </a:r>
            <a:endParaRPr sz="1400">
              <a:latin typeface="Lucida Sans Unicode"/>
              <a:cs typeface="Lucida Sans Unicode"/>
            </a:endParaRPr>
          </a:p>
          <a:p>
            <a:pPr marL="240665" indent="-189865">
              <a:lnSpc>
                <a:spcPct val="100000"/>
              </a:lnSpc>
              <a:spcBef>
                <a:spcPts val="810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operators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applied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are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called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operands.</a:t>
            </a:r>
            <a:endParaRPr sz="1400">
              <a:latin typeface="Lucida Sans Unicode"/>
              <a:cs typeface="Lucida Sans Unicode"/>
            </a:endParaRPr>
          </a:p>
          <a:p>
            <a:pPr marL="240665" indent="-189865">
              <a:lnSpc>
                <a:spcPct val="100000"/>
              </a:lnSpc>
              <a:spcBef>
                <a:spcPts val="825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Operator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85">
                <a:solidFill>
                  <a:srgbClr val="393E50"/>
                </a:solidFill>
                <a:latin typeface="Lucida Sans Unicode"/>
                <a:cs typeface="Lucida Sans Unicode"/>
              </a:rPr>
              <a:t>: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95">
                <a:solidFill>
                  <a:srgbClr val="393E50"/>
                </a:solidFill>
                <a:latin typeface="Lucida Sans Unicode"/>
                <a:cs typeface="Lucida Sans Unicode"/>
              </a:rPr>
              <a:t>-</a:t>
            </a:r>
            <a:r>
              <a:rPr dirty="0" sz="1400" spc="-204">
                <a:solidFill>
                  <a:srgbClr val="393E50"/>
                </a:solidFill>
                <a:latin typeface="Lucida Sans Unicode"/>
                <a:cs typeface="Lucida Sans Unicode"/>
              </a:rPr>
              <a:t>,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0">
                <a:solidFill>
                  <a:srgbClr val="393E50"/>
                </a:solidFill>
                <a:latin typeface="Lucida Sans Unicode"/>
                <a:cs typeface="Lucida Sans Unicode"/>
              </a:rPr>
              <a:t>+,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/,*,**</a:t>
            </a: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400" spc="-75">
                <a:solidFill>
                  <a:srgbClr val="393E50"/>
                </a:solidFill>
                <a:latin typeface="Lucida Sans Unicode"/>
                <a:cs typeface="Lucida Sans Unicode"/>
              </a:rPr>
              <a:t>20+32,</a:t>
            </a:r>
            <a:r>
              <a:rPr dirty="0" sz="1400" spc="2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hour-</a:t>
            </a:r>
            <a:r>
              <a:rPr dirty="0" sz="1400" spc="-340">
                <a:solidFill>
                  <a:srgbClr val="393E50"/>
                </a:solidFill>
                <a:latin typeface="Lucida Sans Unicode"/>
                <a:cs typeface="Lucida Sans Unicode"/>
              </a:rPr>
              <a:t>1,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hour*60+minute</a:t>
            </a:r>
            <a:r>
              <a:rPr dirty="0" sz="1400" spc="-9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5**2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12700" marR="5080">
              <a:lnSpc>
                <a:spcPts val="1510"/>
              </a:lnSpc>
            </a:pPr>
            <a:r>
              <a:rPr dirty="0" sz="1400" spc="-90">
                <a:solidFill>
                  <a:srgbClr val="393E50"/>
                </a:solidFill>
                <a:latin typeface="Lucida Sans Unicode"/>
                <a:cs typeface="Lucida Sans Unicode"/>
              </a:rPr>
              <a:t>-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Order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Precedence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85">
                <a:solidFill>
                  <a:srgbClr val="393E50"/>
                </a:solidFill>
                <a:latin typeface="Lucida Sans Unicode"/>
                <a:cs typeface="Lucida Sans Unicode"/>
              </a:rPr>
              <a:t>: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PEMD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(Parenthesis,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Exponentiation,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Multiplication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Operators)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2548127"/>
              <a:ext cx="7222490" cy="2326005"/>
            </a:xfrm>
            <a:custGeom>
              <a:avLst/>
              <a:gdLst/>
              <a:ahLst/>
              <a:cxnLst/>
              <a:rect l="l" t="t" r="r" b="b"/>
              <a:pathLst>
                <a:path w="7222490" h="2326004">
                  <a:moveTo>
                    <a:pt x="7222235" y="0"/>
                  </a:moveTo>
                  <a:lnTo>
                    <a:pt x="0" y="0"/>
                  </a:lnTo>
                  <a:lnTo>
                    <a:pt x="0" y="2325624"/>
                  </a:lnTo>
                  <a:lnTo>
                    <a:pt x="7222235" y="2325624"/>
                  </a:lnTo>
                  <a:lnTo>
                    <a:pt x="7222235" y="0"/>
                  </a:lnTo>
                  <a:close/>
                </a:path>
              </a:pathLst>
            </a:custGeom>
            <a:solidFill>
              <a:srgbClr val="00A0CC">
                <a:alpha val="84313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22023" y="126492"/>
              <a:ext cx="449579" cy="4571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86002" y="2635707"/>
            <a:ext cx="421195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4800" spc="-665">
                <a:solidFill>
                  <a:srgbClr val="FFFFFF"/>
                </a:solidFill>
                <a:latin typeface="Lucida Sans Unicode"/>
                <a:cs typeface="Lucida Sans Unicode"/>
              </a:rPr>
              <a:t>2.</a:t>
            </a:r>
            <a:r>
              <a:rPr dirty="0" sz="48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-20">
                <a:solidFill>
                  <a:srgbClr val="FFFFFF"/>
                </a:solidFill>
                <a:latin typeface="Lucida Sans Unicode"/>
                <a:cs typeface="Lucida Sans Unicode"/>
              </a:rPr>
              <a:t>Python</a:t>
            </a:r>
            <a:r>
              <a:rPr dirty="0" sz="4800" spc="-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150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endParaRPr sz="48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6002" y="3221482"/>
            <a:ext cx="4818380" cy="1421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4800" spc="-10">
                <a:solidFill>
                  <a:srgbClr val="FFFFFF"/>
                </a:solidFill>
                <a:latin typeface="Lucida Sans Unicode"/>
                <a:cs typeface="Lucida Sans Unicode"/>
              </a:rPr>
              <a:t>Structure</a:t>
            </a:r>
            <a:endParaRPr sz="4800">
              <a:latin typeface="Lucida Sans Unicode"/>
              <a:cs typeface="Lucida Sans Unicode"/>
            </a:endParaRPr>
          </a:p>
          <a:p>
            <a:pPr marL="479425">
              <a:lnSpc>
                <a:spcPct val="100000"/>
              </a:lnSpc>
              <a:spcBef>
                <a:spcPts val="2825"/>
              </a:spcBef>
            </a:pPr>
            <a:r>
              <a:rPr dirty="0" sz="2000" spc="-85">
                <a:solidFill>
                  <a:srgbClr val="FFFFFF"/>
                </a:solidFill>
                <a:latin typeface="Lucida Sans Unicode"/>
                <a:cs typeface="Lucida Sans Unicode"/>
              </a:rPr>
              <a:t>Let’s</a:t>
            </a:r>
            <a:r>
              <a:rPr dirty="0" sz="20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start</a:t>
            </a:r>
            <a:r>
              <a:rPr dirty="0" sz="20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0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Lucida Sans Unicode"/>
                <a:cs typeface="Lucida Sans Unicode"/>
              </a:rPr>
              <a:t>second</a:t>
            </a:r>
            <a:r>
              <a:rPr dirty="0" sz="20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chapter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4215" y="2894076"/>
            <a:ext cx="518159" cy="51816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45643" y="319618"/>
            <a:ext cx="11682730" cy="63874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2800" spc="60">
                <a:latin typeface="Arial Black"/>
                <a:cs typeface="Arial Black"/>
              </a:rPr>
              <a:t>Why</a:t>
            </a:r>
            <a:r>
              <a:rPr dirty="0" sz="2800" spc="-325">
                <a:latin typeface="Arial Black"/>
                <a:cs typeface="Arial Black"/>
              </a:rPr>
              <a:t> </a:t>
            </a:r>
            <a:r>
              <a:rPr dirty="0" sz="2800" spc="-10">
                <a:latin typeface="Arial Black"/>
                <a:cs typeface="Arial Black"/>
              </a:rPr>
              <a:t>Spark?</a:t>
            </a: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2800">
              <a:latin typeface="Arial Black"/>
              <a:cs typeface="Arial Black"/>
            </a:endParaRPr>
          </a:p>
          <a:p>
            <a:pPr marL="391795">
              <a:lnSpc>
                <a:spcPct val="100000"/>
              </a:lnSpc>
            </a:pPr>
            <a:r>
              <a:rPr dirty="0" sz="1400">
                <a:latin typeface="Lucida Sans Unicode"/>
                <a:cs typeface="Lucida Sans Unicode"/>
              </a:rPr>
              <a:t>In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the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-20">
                <a:latin typeface="Lucida Sans Unicode"/>
                <a:cs typeface="Lucida Sans Unicode"/>
              </a:rPr>
              <a:t>industry,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there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is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 spc="170">
                <a:latin typeface="Lucida Sans Unicode"/>
                <a:cs typeface="Lucida Sans Unicode"/>
              </a:rPr>
              <a:t>a</a:t>
            </a:r>
            <a:r>
              <a:rPr dirty="0" sz="140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need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 spc="-30">
                <a:latin typeface="Lucida Sans Unicode"/>
                <a:cs typeface="Lucida Sans Unicode"/>
              </a:rPr>
              <a:t>for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170">
                <a:latin typeface="Lucida Sans Unicode"/>
                <a:cs typeface="Lucida Sans Unicode"/>
              </a:rPr>
              <a:t>a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general-purpose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cluster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45">
                <a:latin typeface="Lucida Sans Unicode"/>
                <a:cs typeface="Lucida Sans Unicode"/>
              </a:rPr>
              <a:t>computing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tool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-25">
                <a:latin typeface="Lucida Sans Unicode"/>
                <a:cs typeface="Lucida Sans Unicode"/>
              </a:rPr>
              <a:t>as: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50">
                <a:latin typeface="Lucida Sans Unicode"/>
                <a:cs typeface="Lucida Sans Unicode"/>
              </a:rPr>
              <a:t>Hadoop</a:t>
            </a:r>
            <a:r>
              <a:rPr dirty="0" sz="1400" spc="-15">
                <a:latin typeface="Lucida Sans Unicode"/>
                <a:cs typeface="Lucida Sans Unicode"/>
              </a:rPr>
              <a:t> </a:t>
            </a:r>
            <a:r>
              <a:rPr dirty="0" sz="1400" spc="50">
                <a:latin typeface="Lucida Sans Unicode"/>
                <a:cs typeface="Lucida Sans Unicode"/>
              </a:rPr>
              <a:t>Map-</a:t>
            </a:r>
            <a:r>
              <a:rPr dirty="0" sz="1400" spc="55">
                <a:latin typeface="Lucida Sans Unicode"/>
                <a:cs typeface="Lucida Sans Unicode"/>
              </a:rPr>
              <a:t>Reduce</a:t>
            </a:r>
            <a:r>
              <a:rPr dirty="0" sz="1400" spc="-55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55">
                <a:latin typeface="Lucida Sans Unicode"/>
                <a:cs typeface="Lucida Sans Unicode"/>
              </a:rPr>
              <a:t> </a:t>
            </a:r>
            <a:r>
              <a:rPr dirty="0" sz="1400" spc="75">
                <a:latin typeface="Lucida Sans Unicode"/>
                <a:cs typeface="Lucida Sans Unicode"/>
              </a:rPr>
              <a:t>batch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processing.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Storm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S4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stream</a:t>
            </a:r>
            <a:r>
              <a:rPr dirty="0" sz="1400" spc="-5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processing.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5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Impala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75">
                <a:latin typeface="Lucida Sans Unicode"/>
                <a:cs typeface="Lucida Sans Unicode"/>
              </a:rPr>
              <a:t>Tez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 spc="105">
                <a:latin typeface="Lucida Sans Unicode"/>
                <a:cs typeface="Lucida Sans Unicode"/>
              </a:rPr>
              <a:t>can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interactive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>
                <a:latin typeface="Lucida Sans Unicode"/>
                <a:cs typeface="Lucida Sans Unicode"/>
              </a:rPr>
              <a:t>Neo4j</a:t>
            </a:r>
            <a:r>
              <a:rPr dirty="0" sz="1400" spc="-45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Giraph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graph</a:t>
            </a:r>
            <a:r>
              <a:rPr dirty="0" sz="1400" spc="-10">
                <a:latin typeface="Lucida Sans Unicode"/>
                <a:cs typeface="Lucida Sans Unicode"/>
              </a:rPr>
              <a:t> processing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80645">
              <a:lnSpc>
                <a:spcPct val="100000"/>
              </a:lnSpc>
            </a:pPr>
            <a:r>
              <a:rPr dirty="0" sz="900" spc="-315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endParaRPr sz="900">
              <a:latin typeface="Lucida Sans Unicode"/>
              <a:cs typeface="Lucida Sans Unicode"/>
            </a:endParaRPr>
          </a:p>
          <a:p>
            <a:pPr algn="r">
              <a:lnSpc>
                <a:spcPct val="100000"/>
              </a:lnSpc>
              <a:spcBef>
                <a:spcPts val="430"/>
              </a:spcBef>
            </a:pPr>
            <a:r>
              <a:rPr dirty="0" sz="1400">
                <a:solidFill>
                  <a:srgbClr val="496E93"/>
                </a:solidFill>
                <a:latin typeface="Arial MT"/>
                <a:cs typeface="Arial MT"/>
              </a:rPr>
              <a:t>©</a:t>
            </a:r>
            <a:r>
              <a:rPr dirty="0" sz="1400" spc="-15">
                <a:solidFill>
                  <a:srgbClr val="496E93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96E93"/>
                </a:solidFill>
                <a:latin typeface="Arial MT"/>
                <a:cs typeface="Arial MT"/>
              </a:rPr>
              <a:t>zepanalytics.com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315"/>
              <a:t>11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zepanalytics.com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943" y="324688"/>
            <a:ext cx="84074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4"/>
              <a:t>Lists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57200" y="1423263"/>
            <a:ext cx="7073900" cy="257683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227965" indent="-189865">
              <a:lnSpc>
                <a:spcPct val="100000"/>
              </a:lnSpc>
              <a:spcBef>
                <a:spcPts val="925"/>
              </a:spcBef>
              <a:buFont typeface="Times New Roman"/>
              <a:buChar char="●"/>
              <a:tabLst>
                <a:tab pos="227965" algn="l"/>
              </a:tabLst>
            </a:pPr>
            <a:r>
              <a:rPr dirty="0" sz="1400" spc="-75">
                <a:solidFill>
                  <a:srgbClr val="393E50"/>
                </a:solidFill>
                <a:latin typeface="Lucida Sans Unicode"/>
                <a:cs typeface="Lucida Sans Unicode"/>
              </a:rPr>
              <a:t>List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sequence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values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any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type.</a:t>
            </a:r>
            <a:endParaRPr sz="1400">
              <a:latin typeface="Lucida Sans Unicode"/>
              <a:cs typeface="Lucida Sans Unicode"/>
            </a:endParaRPr>
          </a:p>
          <a:p>
            <a:pPr marL="227965" marR="2794635" indent="-189865">
              <a:lnSpc>
                <a:spcPct val="149300"/>
              </a:lnSpc>
              <a:buFont typeface="Times New Roman"/>
              <a:buChar char="●"/>
              <a:tabLst>
                <a:tab pos="457200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Values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lists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are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called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as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elements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or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items.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	</a:t>
            </a:r>
            <a:r>
              <a:rPr dirty="0" sz="1400" spc="-165">
                <a:solidFill>
                  <a:srgbClr val="393E50"/>
                </a:solidFill>
                <a:latin typeface="Lucida Sans Unicode"/>
                <a:cs typeface="Lucida Sans Unicode"/>
              </a:rPr>
              <a:t>[10,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10">
                <a:solidFill>
                  <a:srgbClr val="393E50"/>
                </a:solidFill>
                <a:latin typeface="Lucida Sans Unicode"/>
                <a:cs typeface="Lucida Sans Unicode"/>
              </a:rPr>
              <a:t>20,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‘Class’]</a:t>
            </a:r>
            <a:endParaRPr sz="1400">
              <a:latin typeface="Lucida Sans Unicode"/>
              <a:cs typeface="Lucida Sans Unicode"/>
            </a:endParaRPr>
          </a:p>
          <a:p>
            <a:pPr marL="227965" indent="-189865">
              <a:lnSpc>
                <a:spcPct val="100000"/>
              </a:lnSpc>
              <a:spcBef>
                <a:spcPts val="840"/>
              </a:spcBef>
              <a:buFont typeface="Times New Roman"/>
              <a:buChar char="●"/>
              <a:tabLst>
                <a:tab pos="2279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list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within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another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list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nested.</a:t>
            </a:r>
            <a:endParaRPr sz="1400">
              <a:latin typeface="Lucida Sans Unicode"/>
              <a:cs typeface="Lucida Sans Unicode"/>
            </a:endParaRPr>
          </a:p>
          <a:p>
            <a:pPr marL="227965" indent="-189865">
              <a:lnSpc>
                <a:spcPct val="100000"/>
              </a:lnSpc>
              <a:spcBef>
                <a:spcPts val="830"/>
              </a:spcBef>
              <a:buFont typeface="Times New Roman"/>
              <a:buChar char="●"/>
              <a:tabLst>
                <a:tab pos="227965" algn="l"/>
              </a:tabLst>
            </a:pPr>
            <a:r>
              <a:rPr dirty="0" sz="1400" spc="-65">
                <a:solidFill>
                  <a:srgbClr val="393E50"/>
                </a:solidFill>
                <a:latin typeface="Lucida Sans Unicode"/>
                <a:cs typeface="Lucida Sans Unicode"/>
              </a:rPr>
              <a:t>Lists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are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mutable.</a:t>
            </a:r>
            <a:endParaRPr sz="1400">
              <a:latin typeface="Lucida Sans Unicode"/>
              <a:cs typeface="Lucida Sans Unicode"/>
            </a:endParaRPr>
          </a:p>
          <a:p>
            <a:pPr marL="227965" indent="-189865">
              <a:lnSpc>
                <a:spcPct val="100000"/>
              </a:lnSpc>
              <a:spcBef>
                <a:spcPts val="830"/>
              </a:spcBef>
              <a:buFont typeface="Times New Roman"/>
              <a:buChar char="●"/>
              <a:tabLst>
                <a:tab pos="22796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It</a:t>
            </a:r>
            <a:r>
              <a:rPr dirty="0" sz="1400" spc="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has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variable</a:t>
            </a: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length.</a:t>
            </a:r>
            <a:endParaRPr sz="1400">
              <a:latin typeface="Lucida Sans Unicode"/>
              <a:cs typeface="Lucida Sans Unicode"/>
            </a:endParaRPr>
          </a:p>
          <a:p>
            <a:pPr marL="227965" indent="-189865">
              <a:lnSpc>
                <a:spcPct val="100000"/>
              </a:lnSpc>
              <a:spcBef>
                <a:spcPts val="840"/>
              </a:spcBef>
              <a:buFont typeface="Times New Roman"/>
              <a:buChar char="●"/>
              <a:tabLst>
                <a:tab pos="22796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Lists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are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0">
                <a:solidFill>
                  <a:srgbClr val="393E50"/>
                </a:solidFill>
                <a:latin typeface="Lucida Sans Unicode"/>
                <a:cs typeface="Lucida Sans Unicode"/>
              </a:rPr>
              <a:t>accessed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similarly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like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arrays.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First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element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will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be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stored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at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0</a:t>
            </a:r>
            <a:r>
              <a:rPr dirty="0" baseline="24691" sz="1350">
                <a:solidFill>
                  <a:srgbClr val="393E50"/>
                </a:solidFill>
                <a:latin typeface="Lucida Sans Unicode"/>
                <a:cs typeface="Lucida Sans Unicode"/>
              </a:rPr>
              <a:t>th</a:t>
            </a:r>
            <a:r>
              <a:rPr dirty="0" baseline="24691" sz="1350" spc="232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index.</a:t>
            </a:r>
            <a:endParaRPr sz="1400">
              <a:latin typeface="Lucida Sans Unicode"/>
              <a:cs typeface="Lucida Sans Unicode"/>
            </a:endParaRPr>
          </a:p>
          <a:p>
            <a:pPr marL="227965" indent="-189865">
              <a:lnSpc>
                <a:spcPct val="100000"/>
              </a:lnSpc>
              <a:spcBef>
                <a:spcPts val="825"/>
              </a:spcBef>
              <a:buFont typeface="Times New Roman"/>
              <a:buChar char="●"/>
              <a:tabLst>
                <a:tab pos="22796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Let’s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discuss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used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lists.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943" y="324688"/>
            <a:ext cx="12388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4"/>
              <a:t>Tuples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82600" y="1845157"/>
            <a:ext cx="9152255" cy="162052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930"/>
              </a:spcBef>
              <a:buFont typeface="Times New Roman"/>
              <a:buChar char="●"/>
              <a:tabLst>
                <a:tab pos="202565" algn="l"/>
              </a:tabLst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Tuples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are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similar 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like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5">
                <a:solidFill>
                  <a:srgbClr val="393E50"/>
                </a:solidFill>
                <a:latin typeface="Lucida Sans Unicode"/>
                <a:cs typeface="Lucida Sans Unicode"/>
              </a:rPr>
              <a:t>lists,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having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sequence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values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any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type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enclosed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within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parentheses.</a:t>
            </a:r>
            <a:endParaRPr sz="1400">
              <a:latin typeface="Lucida Sans Unicode"/>
              <a:cs typeface="Lucida Sans Unicode"/>
            </a:endParaRPr>
          </a:p>
          <a:p>
            <a:pPr marL="202565" indent="-189865">
              <a:lnSpc>
                <a:spcPct val="100000"/>
              </a:lnSpc>
              <a:spcBef>
                <a:spcPts val="830"/>
              </a:spcBef>
              <a:buFont typeface="Times New Roman"/>
              <a:buChar char="●"/>
              <a:tabLst>
                <a:tab pos="202565" algn="l"/>
              </a:tabLst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Tuples</a:t>
            </a: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are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immutable.</a:t>
            </a:r>
            <a:endParaRPr sz="1400">
              <a:latin typeface="Lucida Sans Unicode"/>
              <a:cs typeface="Lucida Sans Unicode"/>
            </a:endParaRPr>
          </a:p>
          <a:p>
            <a:pPr marL="202565" indent="-189865">
              <a:lnSpc>
                <a:spcPct val="100000"/>
              </a:lnSpc>
              <a:spcBef>
                <a:spcPts val="825"/>
              </a:spcBef>
              <a:buFont typeface="Times New Roman"/>
              <a:buChar char="●"/>
              <a:tabLst>
                <a:tab pos="20256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It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has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fixed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length.</a:t>
            </a:r>
            <a:endParaRPr sz="1400">
              <a:latin typeface="Lucida Sans Unicode"/>
              <a:cs typeface="Lucida Sans Unicode"/>
            </a:endParaRPr>
          </a:p>
          <a:p>
            <a:pPr marL="202565" indent="-189865">
              <a:lnSpc>
                <a:spcPct val="100000"/>
              </a:lnSpc>
              <a:spcBef>
                <a:spcPts val="840"/>
              </a:spcBef>
              <a:buFont typeface="Times New Roman"/>
              <a:buChar char="●"/>
              <a:tabLst>
                <a:tab pos="202565" algn="l"/>
              </a:tabLst>
            </a:pP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tup_1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75">
                <a:solidFill>
                  <a:srgbClr val="393E50"/>
                </a:solidFill>
                <a:latin typeface="Lucida Sans Unicode"/>
                <a:cs typeface="Lucida Sans Unicode"/>
              </a:rPr>
              <a:t>=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(‘a’, </a:t>
            </a:r>
            <a:r>
              <a:rPr dirty="0" sz="1400" spc="-340">
                <a:solidFill>
                  <a:srgbClr val="393E50"/>
                </a:solidFill>
                <a:latin typeface="Lucida Sans Unicode"/>
                <a:cs typeface="Lucida Sans Unicode"/>
              </a:rPr>
              <a:t>1,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5">
                <a:solidFill>
                  <a:srgbClr val="393E50"/>
                </a:solidFill>
                <a:latin typeface="Lucida Sans Unicode"/>
                <a:cs typeface="Lucida Sans Unicode"/>
              </a:rPr>
              <a:t>‘df’,</a:t>
            </a: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‘b’)</a:t>
            </a:r>
            <a:endParaRPr sz="1400">
              <a:latin typeface="Lucida Sans Unicode"/>
              <a:cs typeface="Lucida Sans Unicode"/>
            </a:endParaRPr>
          </a:p>
          <a:p>
            <a:pPr marL="202565" indent="-189865">
              <a:lnSpc>
                <a:spcPct val="100000"/>
              </a:lnSpc>
              <a:spcBef>
                <a:spcPts val="830"/>
              </a:spcBef>
              <a:buFont typeface="Times New Roman"/>
              <a:buChar char="●"/>
              <a:tabLst>
                <a:tab pos="20256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Let’s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discuss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about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functions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tuples.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27" y="6251447"/>
            <a:ext cx="249936" cy="248411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54480" y="126492"/>
            <a:ext cx="10517505" cy="6125845"/>
            <a:chOff x="1554480" y="126492"/>
            <a:chExt cx="10517505" cy="612584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2615" y="606199"/>
              <a:ext cx="5618988" cy="564560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22023" y="126492"/>
              <a:ext cx="449579" cy="4571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275832" y="1854708"/>
              <a:ext cx="4737100" cy="4154804"/>
            </a:xfrm>
            <a:custGeom>
              <a:avLst/>
              <a:gdLst/>
              <a:ahLst/>
              <a:cxnLst/>
              <a:rect l="l" t="t" r="r" b="b"/>
              <a:pathLst>
                <a:path w="4737100" h="4154804">
                  <a:moveTo>
                    <a:pt x="4736592" y="0"/>
                  </a:moveTo>
                  <a:lnTo>
                    <a:pt x="737996" y="0"/>
                  </a:lnTo>
                  <a:lnTo>
                    <a:pt x="689478" y="1569"/>
                  </a:lnTo>
                  <a:lnTo>
                    <a:pt x="641796" y="6214"/>
                  </a:lnTo>
                  <a:lnTo>
                    <a:pt x="595049" y="13837"/>
                  </a:lnTo>
                  <a:lnTo>
                    <a:pt x="549334" y="24341"/>
                  </a:lnTo>
                  <a:lnTo>
                    <a:pt x="504748" y="37627"/>
                  </a:lnTo>
                  <a:lnTo>
                    <a:pt x="461389" y="53599"/>
                  </a:lnTo>
                  <a:lnTo>
                    <a:pt x="419354" y="72160"/>
                  </a:lnTo>
                  <a:lnTo>
                    <a:pt x="378739" y="93213"/>
                  </a:lnTo>
                  <a:lnTo>
                    <a:pt x="339643" y="116659"/>
                  </a:lnTo>
                  <a:lnTo>
                    <a:pt x="302163" y="142402"/>
                  </a:lnTo>
                  <a:lnTo>
                    <a:pt x="266396" y="170345"/>
                  </a:lnTo>
                  <a:lnTo>
                    <a:pt x="232439" y="200389"/>
                  </a:lnTo>
                  <a:lnTo>
                    <a:pt x="200389" y="232439"/>
                  </a:lnTo>
                  <a:lnTo>
                    <a:pt x="170345" y="266396"/>
                  </a:lnTo>
                  <a:lnTo>
                    <a:pt x="142402" y="302163"/>
                  </a:lnTo>
                  <a:lnTo>
                    <a:pt x="116659" y="339643"/>
                  </a:lnTo>
                  <a:lnTo>
                    <a:pt x="93213" y="378739"/>
                  </a:lnTo>
                  <a:lnTo>
                    <a:pt x="72160" y="419354"/>
                  </a:lnTo>
                  <a:lnTo>
                    <a:pt x="53599" y="461389"/>
                  </a:lnTo>
                  <a:lnTo>
                    <a:pt x="37627" y="504748"/>
                  </a:lnTo>
                  <a:lnTo>
                    <a:pt x="24341" y="549334"/>
                  </a:lnTo>
                  <a:lnTo>
                    <a:pt x="13837" y="595049"/>
                  </a:lnTo>
                  <a:lnTo>
                    <a:pt x="6214" y="641796"/>
                  </a:lnTo>
                  <a:lnTo>
                    <a:pt x="1569" y="689478"/>
                  </a:lnTo>
                  <a:lnTo>
                    <a:pt x="0" y="737996"/>
                  </a:lnTo>
                  <a:lnTo>
                    <a:pt x="0" y="4154424"/>
                  </a:lnTo>
                  <a:lnTo>
                    <a:pt x="3998594" y="4154424"/>
                  </a:lnTo>
                  <a:lnTo>
                    <a:pt x="4047113" y="4152854"/>
                  </a:lnTo>
                  <a:lnTo>
                    <a:pt x="4094795" y="4148209"/>
                  </a:lnTo>
                  <a:lnTo>
                    <a:pt x="4141542" y="4140587"/>
                  </a:lnTo>
                  <a:lnTo>
                    <a:pt x="4187257" y="4130085"/>
                  </a:lnTo>
                  <a:lnTo>
                    <a:pt x="4231843" y="4116800"/>
                  </a:lnTo>
                  <a:lnTo>
                    <a:pt x="4275202" y="4100829"/>
                  </a:lnTo>
                  <a:lnTo>
                    <a:pt x="4317237" y="4082269"/>
                  </a:lnTo>
                  <a:lnTo>
                    <a:pt x="4357852" y="4061218"/>
                  </a:lnTo>
                  <a:lnTo>
                    <a:pt x="4396948" y="4037773"/>
                  </a:lnTo>
                  <a:lnTo>
                    <a:pt x="4434428" y="4012032"/>
                  </a:lnTo>
                  <a:lnTo>
                    <a:pt x="4470195" y="3984091"/>
                  </a:lnTo>
                  <a:lnTo>
                    <a:pt x="4504152" y="3954048"/>
                  </a:lnTo>
                  <a:lnTo>
                    <a:pt x="4536202" y="3921999"/>
                  </a:lnTo>
                  <a:lnTo>
                    <a:pt x="4566246" y="3888043"/>
                  </a:lnTo>
                  <a:lnTo>
                    <a:pt x="4594189" y="3852276"/>
                  </a:lnTo>
                  <a:lnTo>
                    <a:pt x="4619932" y="3814797"/>
                  </a:lnTo>
                  <a:lnTo>
                    <a:pt x="4643378" y="3775701"/>
                  </a:lnTo>
                  <a:lnTo>
                    <a:pt x="4664431" y="3735086"/>
                  </a:lnTo>
                  <a:lnTo>
                    <a:pt x="4682992" y="3693050"/>
                  </a:lnTo>
                  <a:lnTo>
                    <a:pt x="4698964" y="3649689"/>
                  </a:lnTo>
                  <a:lnTo>
                    <a:pt x="4712250" y="3605102"/>
                  </a:lnTo>
                  <a:lnTo>
                    <a:pt x="4722754" y="3559385"/>
                  </a:lnTo>
                  <a:lnTo>
                    <a:pt x="4730377" y="3512635"/>
                  </a:lnTo>
                  <a:lnTo>
                    <a:pt x="4735022" y="3464950"/>
                  </a:lnTo>
                  <a:lnTo>
                    <a:pt x="4736592" y="3416427"/>
                  </a:lnTo>
                  <a:lnTo>
                    <a:pt x="4736592" y="0"/>
                  </a:lnTo>
                  <a:close/>
                </a:path>
              </a:pathLst>
            </a:custGeom>
            <a:solidFill>
              <a:srgbClr val="007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54480" y="1871471"/>
              <a:ext cx="4721860" cy="4121150"/>
            </a:xfrm>
            <a:custGeom>
              <a:avLst/>
              <a:gdLst/>
              <a:ahLst/>
              <a:cxnLst/>
              <a:rect l="l" t="t" r="r" b="b"/>
              <a:pathLst>
                <a:path w="4721860" h="4121150">
                  <a:moveTo>
                    <a:pt x="3989324" y="0"/>
                  </a:moveTo>
                  <a:lnTo>
                    <a:pt x="0" y="0"/>
                  </a:lnTo>
                  <a:lnTo>
                    <a:pt x="0" y="3388867"/>
                  </a:lnTo>
                  <a:lnTo>
                    <a:pt x="1557" y="3436998"/>
                  </a:lnTo>
                  <a:lnTo>
                    <a:pt x="6164" y="3484296"/>
                  </a:lnTo>
                  <a:lnTo>
                    <a:pt x="13726" y="3530668"/>
                  </a:lnTo>
                  <a:lnTo>
                    <a:pt x="24144" y="3576015"/>
                  </a:lnTo>
                  <a:lnTo>
                    <a:pt x="37323" y="3620242"/>
                  </a:lnTo>
                  <a:lnTo>
                    <a:pt x="53167" y="3663251"/>
                  </a:lnTo>
                  <a:lnTo>
                    <a:pt x="71578" y="3704947"/>
                  </a:lnTo>
                  <a:lnTo>
                    <a:pt x="92460" y="3745233"/>
                  </a:lnTo>
                  <a:lnTo>
                    <a:pt x="115717" y="3784013"/>
                  </a:lnTo>
                  <a:lnTo>
                    <a:pt x="141252" y="3821190"/>
                  </a:lnTo>
                  <a:lnTo>
                    <a:pt x="168969" y="3856667"/>
                  </a:lnTo>
                  <a:lnTo>
                    <a:pt x="198770" y="3890349"/>
                  </a:lnTo>
                  <a:lnTo>
                    <a:pt x="230561" y="3922138"/>
                  </a:lnTo>
                  <a:lnTo>
                    <a:pt x="264243" y="3951939"/>
                  </a:lnTo>
                  <a:lnTo>
                    <a:pt x="299722" y="3979654"/>
                  </a:lnTo>
                  <a:lnTo>
                    <a:pt x="336899" y="4005188"/>
                  </a:lnTo>
                  <a:lnTo>
                    <a:pt x="375678" y="4028443"/>
                  </a:lnTo>
                  <a:lnTo>
                    <a:pt x="415964" y="4049324"/>
                  </a:lnTo>
                  <a:lnTo>
                    <a:pt x="457660" y="4067733"/>
                  </a:lnTo>
                  <a:lnTo>
                    <a:pt x="500668" y="4083575"/>
                  </a:lnTo>
                  <a:lnTo>
                    <a:pt x="544893" y="4096753"/>
                  </a:lnTo>
                  <a:lnTo>
                    <a:pt x="590238" y="4107171"/>
                  </a:lnTo>
                  <a:lnTo>
                    <a:pt x="636606" y="4114731"/>
                  </a:lnTo>
                  <a:lnTo>
                    <a:pt x="683902" y="4119338"/>
                  </a:lnTo>
                  <a:lnTo>
                    <a:pt x="732027" y="4120896"/>
                  </a:lnTo>
                  <a:lnTo>
                    <a:pt x="4721352" y="4120896"/>
                  </a:lnTo>
                  <a:lnTo>
                    <a:pt x="4721352" y="732027"/>
                  </a:lnTo>
                  <a:lnTo>
                    <a:pt x="4719794" y="683902"/>
                  </a:lnTo>
                  <a:lnTo>
                    <a:pt x="4715187" y="636606"/>
                  </a:lnTo>
                  <a:lnTo>
                    <a:pt x="4707625" y="590238"/>
                  </a:lnTo>
                  <a:lnTo>
                    <a:pt x="4697207" y="544893"/>
                  </a:lnTo>
                  <a:lnTo>
                    <a:pt x="4684028" y="500668"/>
                  </a:lnTo>
                  <a:lnTo>
                    <a:pt x="4668184" y="457660"/>
                  </a:lnTo>
                  <a:lnTo>
                    <a:pt x="4649773" y="415964"/>
                  </a:lnTo>
                  <a:lnTo>
                    <a:pt x="4628891" y="375678"/>
                  </a:lnTo>
                  <a:lnTo>
                    <a:pt x="4605634" y="336899"/>
                  </a:lnTo>
                  <a:lnTo>
                    <a:pt x="4580099" y="299722"/>
                  </a:lnTo>
                  <a:lnTo>
                    <a:pt x="4552382" y="264243"/>
                  </a:lnTo>
                  <a:lnTo>
                    <a:pt x="4522581" y="230561"/>
                  </a:lnTo>
                  <a:lnTo>
                    <a:pt x="4490790" y="198770"/>
                  </a:lnTo>
                  <a:lnTo>
                    <a:pt x="4457108" y="168969"/>
                  </a:lnTo>
                  <a:lnTo>
                    <a:pt x="4421629" y="141252"/>
                  </a:lnTo>
                  <a:lnTo>
                    <a:pt x="4384452" y="115717"/>
                  </a:lnTo>
                  <a:lnTo>
                    <a:pt x="4345673" y="92460"/>
                  </a:lnTo>
                  <a:lnTo>
                    <a:pt x="4305387" y="71578"/>
                  </a:lnTo>
                  <a:lnTo>
                    <a:pt x="4263691" y="53167"/>
                  </a:lnTo>
                  <a:lnTo>
                    <a:pt x="4220683" y="37323"/>
                  </a:lnTo>
                  <a:lnTo>
                    <a:pt x="4176458" y="24144"/>
                  </a:lnTo>
                  <a:lnTo>
                    <a:pt x="4131113" y="13726"/>
                  </a:lnTo>
                  <a:lnTo>
                    <a:pt x="4084745" y="6164"/>
                  </a:lnTo>
                  <a:lnTo>
                    <a:pt x="4037449" y="1557"/>
                  </a:lnTo>
                  <a:lnTo>
                    <a:pt x="3989324" y="0"/>
                  </a:lnTo>
                  <a:close/>
                </a:path>
              </a:pathLst>
            </a:custGeom>
            <a:solidFill>
              <a:srgbClr val="00B5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29"/>
              <a:t>List</a:t>
            </a:r>
            <a:r>
              <a:rPr dirty="0" spc="-340"/>
              <a:t> </a:t>
            </a:r>
            <a:r>
              <a:rPr dirty="0" spc="-75"/>
              <a:t>vs</a:t>
            </a:r>
            <a:r>
              <a:rPr dirty="0" spc="-350"/>
              <a:t> </a:t>
            </a:r>
            <a:r>
              <a:rPr dirty="0" spc="-110"/>
              <a:t>Tuples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773173" y="2661259"/>
            <a:ext cx="4158615" cy="223456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350"/>
              </a:spcBef>
              <a:buAutoNum type="arabicPeriod"/>
              <a:tabLst>
                <a:tab pos="329565" algn="l"/>
              </a:tabLst>
            </a:pPr>
            <a:r>
              <a:rPr dirty="0" sz="1400">
                <a:latin typeface="Lucida Sans Unicode"/>
                <a:cs typeface="Lucida Sans Unicode"/>
              </a:rPr>
              <a:t>Items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surrounded</a:t>
            </a:r>
            <a:r>
              <a:rPr dirty="0" sz="1400" spc="6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in</a:t>
            </a:r>
            <a:r>
              <a:rPr dirty="0" sz="1400" spc="80">
                <a:latin typeface="Lucida Sans Unicode"/>
                <a:cs typeface="Lucida Sans Unicode"/>
              </a:rPr>
              <a:t> </a:t>
            </a:r>
            <a:r>
              <a:rPr dirty="0" sz="1400" spc="50">
                <a:latin typeface="Lucida Sans Unicode"/>
                <a:cs typeface="Lucida Sans Unicode"/>
              </a:rPr>
              <a:t>square</a:t>
            </a:r>
            <a:r>
              <a:rPr dirty="0" sz="1400" spc="6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brackets</a:t>
            </a:r>
            <a:r>
              <a:rPr dirty="0" sz="1400" spc="35">
                <a:latin typeface="Lucida Sans Unicode"/>
                <a:cs typeface="Lucida Sans Unicode"/>
              </a:rPr>
              <a:t> </a:t>
            </a:r>
            <a:r>
              <a:rPr dirty="0" sz="1400" spc="105">
                <a:latin typeface="Lucida Sans Unicode"/>
                <a:cs typeface="Lucida Sans Unicode"/>
              </a:rPr>
              <a:t>[]</a:t>
            </a:r>
            <a:endParaRPr sz="1400">
              <a:latin typeface="Lucida Sans Unicode"/>
              <a:cs typeface="Lucida Sans Unicode"/>
            </a:endParaRPr>
          </a:p>
          <a:p>
            <a:pPr marL="329565" indent="-31686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329565" algn="l"/>
              </a:tabLst>
            </a:pPr>
            <a:r>
              <a:rPr dirty="0" sz="1400" spc="-40">
                <a:latin typeface="Lucida Sans Unicode"/>
                <a:cs typeface="Lucida Sans Unicode"/>
              </a:rPr>
              <a:t>Lists</a:t>
            </a:r>
            <a:r>
              <a:rPr dirty="0" sz="1400" spc="-10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are</a:t>
            </a:r>
            <a:r>
              <a:rPr dirty="0" sz="1400" spc="-75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mutable</a:t>
            </a:r>
            <a:r>
              <a:rPr dirty="0" sz="1400" spc="-9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in</a:t>
            </a:r>
            <a:r>
              <a:rPr dirty="0" sz="1400" spc="-5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nature</a:t>
            </a:r>
            <a:endParaRPr sz="1400">
              <a:latin typeface="Lucida Sans Unicode"/>
              <a:cs typeface="Lucida Sans Unicode"/>
            </a:endParaRPr>
          </a:p>
          <a:p>
            <a:pPr marL="329565" marR="5080" indent="-317500">
              <a:lnSpc>
                <a:spcPct val="114999"/>
              </a:lnSpc>
              <a:buAutoNum type="arabicPeriod"/>
              <a:tabLst>
                <a:tab pos="329565" algn="l"/>
              </a:tabLst>
            </a:pPr>
            <a:r>
              <a:rPr dirty="0" sz="1400">
                <a:latin typeface="Lucida Sans Unicode"/>
                <a:cs typeface="Lucida Sans Unicode"/>
              </a:rPr>
              <a:t>There</a:t>
            </a:r>
            <a:r>
              <a:rPr dirty="0" sz="1400" spc="-3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are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more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than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40</a:t>
            </a:r>
            <a:r>
              <a:rPr dirty="0" sz="1400" spc="-15">
                <a:latin typeface="Lucida Sans Unicode"/>
                <a:cs typeface="Lucida Sans Unicode"/>
              </a:rPr>
              <a:t> </a:t>
            </a:r>
            <a:r>
              <a:rPr dirty="0" sz="1400" spc="60">
                <a:latin typeface="Lucida Sans Unicode"/>
                <a:cs typeface="Lucida Sans Unicode"/>
              </a:rPr>
              <a:t>available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 spc="35">
                <a:latin typeface="Lucida Sans Unicode"/>
                <a:cs typeface="Lucida Sans Unicode"/>
              </a:rPr>
              <a:t>methods </a:t>
            </a:r>
            <a:r>
              <a:rPr dirty="0" sz="1400">
                <a:latin typeface="Lucida Sans Unicode"/>
                <a:cs typeface="Lucida Sans Unicode"/>
              </a:rPr>
              <a:t>in</a:t>
            </a:r>
            <a:r>
              <a:rPr dirty="0" sz="1400" spc="-11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Lists.</a:t>
            </a:r>
            <a:endParaRPr sz="1400">
              <a:latin typeface="Lucida Sans Unicode"/>
              <a:cs typeface="Lucida Sans Unicode"/>
            </a:endParaRPr>
          </a:p>
          <a:p>
            <a:pPr marL="329565" indent="-316865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329565" algn="l"/>
              </a:tabLst>
            </a:pPr>
            <a:r>
              <a:rPr dirty="0" sz="1400" spc="-55">
                <a:latin typeface="Lucida Sans Unicode"/>
                <a:cs typeface="Lucida Sans Unicode"/>
              </a:rPr>
              <a:t>If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content</a:t>
            </a:r>
            <a:r>
              <a:rPr dirty="0" sz="1400" spc="-3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is not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 spc="-55">
                <a:latin typeface="Lucida Sans Unicode"/>
                <a:cs typeface="Lucida Sans Unicode"/>
              </a:rPr>
              <a:t>fixed,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 spc="80">
                <a:latin typeface="Lucida Sans Unicode"/>
                <a:cs typeface="Lucida Sans Unicode"/>
              </a:rPr>
              <a:t>and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keeps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 spc="-25">
                <a:latin typeface="Lucida Sans Unicode"/>
                <a:cs typeface="Lucida Sans Unicode"/>
              </a:rPr>
              <a:t>on</a:t>
            </a:r>
            <a:endParaRPr sz="1400">
              <a:latin typeface="Lucida Sans Unicode"/>
              <a:cs typeface="Lucida Sans Unicode"/>
            </a:endParaRPr>
          </a:p>
          <a:p>
            <a:pPr marL="329565">
              <a:lnSpc>
                <a:spcPct val="100000"/>
              </a:lnSpc>
              <a:spcBef>
                <a:spcPts val="254"/>
              </a:spcBef>
            </a:pPr>
            <a:r>
              <a:rPr dirty="0" sz="1400" spc="55">
                <a:latin typeface="Lucida Sans Unicode"/>
                <a:cs typeface="Lucida Sans Unicode"/>
              </a:rPr>
              <a:t>changing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then</a:t>
            </a:r>
            <a:r>
              <a:rPr dirty="0" sz="1400" spc="-30">
                <a:latin typeface="Lucida Sans Unicode"/>
                <a:cs typeface="Lucida Sans Unicode"/>
              </a:rPr>
              <a:t> </a:t>
            </a:r>
            <a:r>
              <a:rPr dirty="0" sz="1400" spc="80">
                <a:latin typeface="Lucida Sans Unicode"/>
                <a:cs typeface="Lucida Sans Unicode"/>
              </a:rPr>
              <a:t>we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should</a:t>
            </a:r>
            <a:r>
              <a:rPr dirty="0" sz="1400" spc="-1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go</a:t>
            </a:r>
            <a:r>
              <a:rPr dirty="0" sz="1400" spc="-15">
                <a:latin typeface="Lucida Sans Unicode"/>
                <a:cs typeface="Lucida Sans Unicode"/>
              </a:rPr>
              <a:t> </a:t>
            </a:r>
            <a:r>
              <a:rPr dirty="0" sz="1400" spc="-30">
                <a:latin typeface="Lucida Sans Unicode"/>
                <a:cs typeface="Lucida Sans Unicode"/>
              </a:rPr>
              <a:t>for</a:t>
            </a:r>
            <a:r>
              <a:rPr dirty="0" sz="140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lists.</a:t>
            </a:r>
            <a:endParaRPr sz="1400">
              <a:latin typeface="Lucida Sans Unicode"/>
              <a:cs typeface="Lucida Sans Unicode"/>
            </a:endParaRPr>
          </a:p>
          <a:p>
            <a:pPr marL="329565" marR="89535" indent="-317500">
              <a:lnSpc>
                <a:spcPct val="114999"/>
              </a:lnSpc>
              <a:buAutoNum type="arabicPeriod" startAt="5"/>
              <a:tabLst>
                <a:tab pos="329565" algn="l"/>
              </a:tabLst>
            </a:pPr>
            <a:r>
              <a:rPr dirty="0" sz="1400" spc="-50">
                <a:latin typeface="Lucida Sans Unicode"/>
                <a:cs typeface="Lucida Sans Unicode"/>
              </a:rPr>
              <a:t>List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objects</a:t>
            </a:r>
            <a:r>
              <a:rPr dirty="0" sz="1400" spc="-30">
                <a:latin typeface="Lucida Sans Unicode"/>
                <a:cs typeface="Lucida Sans Unicode"/>
              </a:rPr>
              <a:t> </a:t>
            </a:r>
            <a:r>
              <a:rPr dirty="0" sz="1400" spc="60">
                <a:latin typeface="Lucida Sans Unicode"/>
                <a:cs typeface="Lucida Sans Unicode"/>
              </a:rPr>
              <a:t>cannot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 spc="80">
                <a:latin typeface="Lucida Sans Unicode"/>
                <a:cs typeface="Lucida Sans Unicode"/>
              </a:rPr>
              <a:t>be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used</a:t>
            </a:r>
            <a:r>
              <a:rPr dirty="0" sz="1400" spc="-15">
                <a:latin typeface="Lucida Sans Unicode"/>
                <a:cs typeface="Lucida Sans Unicode"/>
              </a:rPr>
              <a:t> </a:t>
            </a:r>
            <a:r>
              <a:rPr dirty="0" sz="1400" spc="95">
                <a:latin typeface="Lucida Sans Unicode"/>
                <a:cs typeface="Lucida Sans Unicode"/>
              </a:rPr>
              <a:t>as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keys</a:t>
            </a:r>
            <a:r>
              <a:rPr dirty="0" sz="1400" spc="-25">
                <a:latin typeface="Lucida Sans Unicode"/>
                <a:cs typeface="Lucida Sans Unicode"/>
              </a:rPr>
              <a:t> for </a:t>
            </a:r>
            <a:r>
              <a:rPr dirty="0" sz="1400">
                <a:latin typeface="Lucida Sans Unicode"/>
                <a:cs typeface="Lucida Sans Unicode"/>
              </a:rPr>
              <a:t>dictionaries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80">
                <a:latin typeface="Lucida Sans Unicode"/>
                <a:cs typeface="Lucida Sans Unicode"/>
              </a:rPr>
              <a:t>because</a:t>
            </a:r>
            <a:r>
              <a:rPr dirty="0" sz="1400" spc="-1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keys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should</a:t>
            </a:r>
            <a:r>
              <a:rPr dirty="0" sz="1400" spc="30">
                <a:latin typeface="Lucida Sans Unicode"/>
                <a:cs typeface="Lucida Sans Unicode"/>
              </a:rPr>
              <a:t> </a:t>
            </a:r>
            <a:r>
              <a:rPr dirty="0" sz="1400" spc="75">
                <a:latin typeface="Lucida Sans Unicode"/>
                <a:cs typeface="Lucida Sans Unicode"/>
              </a:rPr>
              <a:t>be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 spc="-20">
                <a:latin typeface="Lucida Sans Unicode"/>
                <a:cs typeface="Lucida Sans Unicode"/>
              </a:rPr>
              <a:t>Hash </a:t>
            </a:r>
            <a:r>
              <a:rPr dirty="0" sz="1400" spc="50">
                <a:latin typeface="Lucida Sans Unicode"/>
                <a:cs typeface="Lucida Sans Unicode"/>
              </a:rPr>
              <a:t>table</a:t>
            </a:r>
            <a:r>
              <a:rPr dirty="0" sz="1400" spc="-70">
                <a:latin typeface="Lucida Sans Unicode"/>
                <a:cs typeface="Lucida Sans Unicode"/>
              </a:rPr>
              <a:t> </a:t>
            </a:r>
            <a:r>
              <a:rPr dirty="0" sz="1400" spc="80">
                <a:latin typeface="Lucida Sans Unicode"/>
                <a:cs typeface="Lucida Sans Unicode"/>
              </a:rPr>
              <a:t>and</a:t>
            </a:r>
            <a:r>
              <a:rPr dirty="0" sz="1400" spc="-5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immutable.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627368" y="2696311"/>
            <a:ext cx="4152265" cy="223456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350"/>
              </a:spcBef>
              <a:buAutoNum type="arabicPeriod"/>
              <a:tabLst>
                <a:tab pos="329565" algn="l"/>
              </a:tabLst>
            </a:pPr>
            <a:r>
              <a:rPr dirty="0" sz="1400">
                <a:latin typeface="Lucida Sans Unicode"/>
                <a:cs typeface="Lucida Sans Unicode"/>
              </a:rPr>
              <a:t>Items</a:t>
            </a:r>
            <a:r>
              <a:rPr dirty="0" sz="1400" spc="3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surrounded</a:t>
            </a:r>
            <a:r>
              <a:rPr dirty="0" sz="1400" spc="7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in</a:t>
            </a:r>
            <a:r>
              <a:rPr dirty="0" sz="1400" spc="9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round</a:t>
            </a:r>
            <a:r>
              <a:rPr dirty="0" sz="1400" spc="9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brackets</a:t>
            </a:r>
            <a:r>
              <a:rPr dirty="0" sz="1400" spc="65">
                <a:latin typeface="Lucida Sans Unicode"/>
                <a:cs typeface="Lucida Sans Unicode"/>
              </a:rPr>
              <a:t> </a:t>
            </a:r>
            <a:r>
              <a:rPr dirty="0" sz="1400" spc="155">
                <a:latin typeface="Lucida Sans Unicode"/>
                <a:cs typeface="Lucida Sans Unicode"/>
              </a:rPr>
              <a:t>()</a:t>
            </a:r>
            <a:endParaRPr sz="1400">
              <a:latin typeface="Lucida Sans Unicode"/>
              <a:cs typeface="Lucida Sans Unicode"/>
            </a:endParaRPr>
          </a:p>
          <a:p>
            <a:pPr marL="329565" indent="-31686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329565" algn="l"/>
              </a:tabLst>
            </a:pPr>
            <a:r>
              <a:rPr dirty="0" sz="1400">
                <a:latin typeface="Lucida Sans Unicode"/>
                <a:cs typeface="Lucida Sans Unicode"/>
              </a:rPr>
              <a:t>Tuples</a:t>
            </a:r>
            <a:r>
              <a:rPr dirty="0" sz="1400" spc="-8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are</a:t>
            </a:r>
            <a:r>
              <a:rPr dirty="0" sz="1400" spc="-75">
                <a:latin typeface="Lucida Sans Unicode"/>
                <a:cs typeface="Lucida Sans Unicode"/>
              </a:rPr>
              <a:t> </a:t>
            </a:r>
            <a:r>
              <a:rPr dirty="0" sz="1400" spc="50">
                <a:latin typeface="Lucida Sans Unicode"/>
                <a:cs typeface="Lucida Sans Unicode"/>
              </a:rPr>
              <a:t>immutable</a:t>
            </a:r>
            <a:r>
              <a:rPr dirty="0" sz="1400" spc="-9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in</a:t>
            </a:r>
            <a:r>
              <a:rPr dirty="0" sz="1400" spc="-6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nature</a:t>
            </a:r>
            <a:endParaRPr sz="1400">
              <a:latin typeface="Lucida Sans Unicode"/>
              <a:cs typeface="Lucida Sans Unicode"/>
            </a:endParaRPr>
          </a:p>
          <a:p>
            <a:pPr marL="329565" marR="5080" indent="-317500">
              <a:lnSpc>
                <a:spcPct val="114999"/>
              </a:lnSpc>
              <a:spcBef>
                <a:spcPts val="5"/>
              </a:spcBef>
              <a:buAutoNum type="arabicPeriod"/>
              <a:tabLst>
                <a:tab pos="329565" algn="l"/>
              </a:tabLst>
            </a:pPr>
            <a:r>
              <a:rPr dirty="0" sz="1400">
                <a:latin typeface="Lucida Sans Unicode"/>
                <a:cs typeface="Lucida Sans Unicode"/>
              </a:rPr>
              <a:t>There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are</a:t>
            </a:r>
            <a:r>
              <a:rPr dirty="0" sz="1400">
                <a:latin typeface="Lucida Sans Unicode"/>
                <a:cs typeface="Lucida Sans Unicode"/>
              </a:rPr>
              <a:t> almost </a:t>
            </a:r>
            <a:r>
              <a:rPr dirty="0" sz="1400" spc="-50">
                <a:latin typeface="Lucida Sans Unicode"/>
                <a:cs typeface="Lucida Sans Unicode"/>
              </a:rPr>
              <a:t>30-</a:t>
            </a:r>
            <a:r>
              <a:rPr dirty="0" sz="1400" spc="-45">
                <a:latin typeface="Lucida Sans Unicode"/>
                <a:cs typeface="Lucida Sans Unicode"/>
              </a:rPr>
              <a:t>35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 spc="60">
                <a:latin typeface="Lucida Sans Unicode"/>
                <a:cs typeface="Lucida Sans Unicode"/>
              </a:rPr>
              <a:t>available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35">
                <a:latin typeface="Lucida Sans Unicode"/>
                <a:cs typeface="Lucida Sans Unicode"/>
              </a:rPr>
              <a:t>methods </a:t>
            </a:r>
            <a:r>
              <a:rPr dirty="0" sz="1400">
                <a:latin typeface="Lucida Sans Unicode"/>
                <a:cs typeface="Lucida Sans Unicode"/>
              </a:rPr>
              <a:t>in</a:t>
            </a:r>
            <a:r>
              <a:rPr dirty="0" sz="1400" spc="-11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Tuples.</a:t>
            </a:r>
            <a:endParaRPr sz="1400">
              <a:latin typeface="Lucida Sans Unicode"/>
              <a:cs typeface="Lucida Sans Unicode"/>
            </a:endParaRPr>
          </a:p>
          <a:p>
            <a:pPr marL="329565" marR="58419" indent="-317500">
              <a:lnSpc>
                <a:spcPct val="114999"/>
              </a:lnSpc>
              <a:buAutoNum type="arabicPeriod"/>
              <a:tabLst>
                <a:tab pos="329565" algn="l"/>
              </a:tabLst>
            </a:pPr>
            <a:r>
              <a:rPr dirty="0" sz="1400" spc="-55">
                <a:latin typeface="Lucida Sans Unicode"/>
                <a:cs typeface="Lucida Sans Unicode"/>
              </a:rPr>
              <a:t>If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content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is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 spc="-55">
                <a:latin typeface="Lucida Sans Unicode"/>
                <a:cs typeface="Lucida Sans Unicode"/>
              </a:rPr>
              <a:t>fixed,</a:t>
            </a:r>
            <a:r>
              <a:rPr dirty="0" sz="1400">
                <a:latin typeface="Lucida Sans Unicode"/>
                <a:cs typeface="Lucida Sans Unicode"/>
              </a:rPr>
              <a:t> </a:t>
            </a:r>
            <a:r>
              <a:rPr dirty="0" sz="1400" spc="80">
                <a:latin typeface="Lucida Sans Unicode"/>
                <a:cs typeface="Lucida Sans Unicode"/>
              </a:rPr>
              <a:t>and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never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changes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-20">
                <a:latin typeface="Lucida Sans Unicode"/>
                <a:cs typeface="Lucida Sans Unicode"/>
              </a:rPr>
              <a:t>then </a:t>
            </a:r>
            <a:r>
              <a:rPr dirty="0" sz="1400" spc="80">
                <a:latin typeface="Lucida Sans Unicode"/>
                <a:cs typeface="Lucida Sans Unicode"/>
              </a:rPr>
              <a:t>we</a:t>
            </a:r>
            <a:r>
              <a:rPr dirty="0" sz="1400" spc="-3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should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go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30">
                <a:latin typeface="Lucida Sans Unicode"/>
                <a:cs typeface="Lucida Sans Unicode"/>
              </a:rPr>
              <a:t>for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Tuples.</a:t>
            </a:r>
            <a:endParaRPr sz="1400">
              <a:latin typeface="Lucida Sans Unicode"/>
              <a:cs typeface="Lucida Sans Unicode"/>
            </a:endParaRPr>
          </a:p>
          <a:p>
            <a:pPr marL="329565" indent="-31686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329565" algn="l"/>
              </a:tabLst>
            </a:pPr>
            <a:r>
              <a:rPr dirty="0" sz="1400">
                <a:latin typeface="Lucida Sans Unicode"/>
                <a:cs typeface="Lucida Sans Unicode"/>
              </a:rPr>
              <a:t>Tuple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objects</a:t>
            </a:r>
            <a:r>
              <a:rPr dirty="0" sz="1400" spc="-30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80">
                <a:latin typeface="Lucida Sans Unicode"/>
                <a:cs typeface="Lucida Sans Unicode"/>
              </a:rPr>
              <a:t>be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used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95">
                <a:latin typeface="Lucida Sans Unicode"/>
                <a:cs typeface="Lucida Sans Unicode"/>
              </a:rPr>
              <a:t>as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keys</a:t>
            </a:r>
            <a:r>
              <a:rPr dirty="0" sz="1400" spc="-25">
                <a:latin typeface="Lucida Sans Unicode"/>
                <a:cs typeface="Lucida Sans Unicode"/>
              </a:rPr>
              <a:t> for</a:t>
            </a:r>
            <a:endParaRPr sz="1400">
              <a:latin typeface="Lucida Sans Unicode"/>
              <a:cs typeface="Lucida Sans Unicode"/>
            </a:endParaRPr>
          </a:p>
          <a:p>
            <a:pPr marL="32956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Lucida Sans Unicode"/>
                <a:cs typeface="Lucida Sans Unicode"/>
              </a:rPr>
              <a:t>dictionaries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85">
                <a:latin typeface="Lucida Sans Unicode"/>
                <a:cs typeface="Lucida Sans Unicode"/>
              </a:rPr>
              <a:t>because</a:t>
            </a:r>
            <a:r>
              <a:rPr dirty="0" sz="1400" spc="-1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keys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should</a:t>
            </a:r>
            <a:r>
              <a:rPr dirty="0" sz="1400" spc="25">
                <a:latin typeface="Lucida Sans Unicode"/>
                <a:cs typeface="Lucida Sans Unicode"/>
              </a:rPr>
              <a:t> </a:t>
            </a:r>
            <a:r>
              <a:rPr dirty="0" sz="1400" spc="80">
                <a:latin typeface="Lucida Sans Unicode"/>
                <a:cs typeface="Lucida Sans Unicode"/>
              </a:rPr>
              <a:t>be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-20">
                <a:latin typeface="Lucida Sans Unicode"/>
                <a:cs typeface="Lucida Sans Unicode"/>
              </a:rPr>
              <a:t>Hash</a:t>
            </a:r>
            <a:endParaRPr sz="1400">
              <a:latin typeface="Lucida Sans Unicode"/>
              <a:cs typeface="Lucida Sans Unicode"/>
            </a:endParaRPr>
          </a:p>
          <a:p>
            <a:pPr marL="329565">
              <a:lnSpc>
                <a:spcPct val="100000"/>
              </a:lnSpc>
              <a:spcBef>
                <a:spcPts val="254"/>
              </a:spcBef>
            </a:pPr>
            <a:r>
              <a:rPr dirty="0" sz="1400" spc="50">
                <a:latin typeface="Lucida Sans Unicode"/>
                <a:cs typeface="Lucida Sans Unicode"/>
              </a:rPr>
              <a:t>table</a:t>
            </a:r>
            <a:r>
              <a:rPr dirty="0" sz="1400" spc="-70">
                <a:latin typeface="Lucida Sans Unicode"/>
                <a:cs typeface="Lucida Sans Unicode"/>
              </a:rPr>
              <a:t> </a:t>
            </a:r>
            <a:r>
              <a:rPr dirty="0" sz="1400" spc="80">
                <a:latin typeface="Lucida Sans Unicode"/>
                <a:cs typeface="Lucida Sans Unicode"/>
              </a:rPr>
              <a:t>and</a:t>
            </a:r>
            <a:r>
              <a:rPr dirty="0" sz="1400" spc="-5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immutable.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381883" y="1312290"/>
            <a:ext cx="4235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65">
                <a:latin typeface="Lucida Sans Unicode"/>
                <a:cs typeface="Lucida Sans Unicode"/>
              </a:rPr>
              <a:t>List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209136" y="1312290"/>
            <a:ext cx="7188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Lucida Sans Unicode"/>
                <a:cs typeface="Lucida Sans Unicode"/>
              </a:rPr>
              <a:t>Tuple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943" y="324688"/>
            <a:ext cx="80581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70"/>
              <a:t>Sets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1845157"/>
            <a:ext cx="5088890" cy="162052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240665" indent="-189865">
              <a:lnSpc>
                <a:spcPct val="100000"/>
              </a:lnSpc>
              <a:spcBef>
                <a:spcPts val="930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Unordered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collection of items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known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as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set.</a:t>
            </a:r>
            <a:endParaRPr sz="1400">
              <a:latin typeface="Lucida Sans Unicode"/>
              <a:cs typeface="Lucida Sans Unicode"/>
            </a:endParaRPr>
          </a:p>
          <a:p>
            <a:pPr marL="12700" marR="1882139" indent="227965">
              <a:lnSpc>
                <a:spcPct val="149300"/>
              </a:lnSpc>
              <a:buFont typeface="Times New Roman"/>
              <a:buChar char="●"/>
              <a:tabLst>
                <a:tab pos="2406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Items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set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10">
                <a:solidFill>
                  <a:srgbClr val="393E50"/>
                </a:solidFill>
                <a:latin typeface="Lucida Sans Unicode"/>
                <a:cs typeface="Lucida Sans Unicode"/>
              </a:rPr>
              <a:t>can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not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be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duplicate.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Colors</a:t>
            </a: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75">
                <a:solidFill>
                  <a:srgbClr val="393E50"/>
                </a:solidFill>
                <a:latin typeface="Lucida Sans Unicode"/>
                <a:cs typeface="Lucida Sans Unicode"/>
              </a:rPr>
              <a:t>=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25">
                <a:solidFill>
                  <a:srgbClr val="393E50"/>
                </a:solidFill>
                <a:latin typeface="Lucida Sans Unicode"/>
                <a:cs typeface="Lucida Sans Unicode"/>
              </a:rPr>
              <a:t>{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75">
                <a:solidFill>
                  <a:srgbClr val="393E50"/>
                </a:solidFill>
                <a:latin typeface="Lucida Sans Unicode"/>
                <a:cs typeface="Lucida Sans Unicode"/>
              </a:rPr>
              <a:t>‘red’,</a:t>
            </a: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‘blue’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4">
                <a:solidFill>
                  <a:srgbClr val="393E50"/>
                </a:solidFill>
                <a:latin typeface="Lucida Sans Unicode"/>
                <a:cs typeface="Lucida Sans Unicode"/>
              </a:rPr>
              <a:t>,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‘green’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}</a:t>
            </a:r>
            <a:endParaRPr sz="1400">
              <a:latin typeface="Lucida Sans Unicode"/>
              <a:cs typeface="Lucida Sans Unicode"/>
            </a:endParaRPr>
          </a:p>
          <a:p>
            <a:pPr marL="239395" indent="-188595">
              <a:lnSpc>
                <a:spcPct val="100000"/>
              </a:lnSpc>
              <a:spcBef>
                <a:spcPts val="840"/>
              </a:spcBef>
              <a:buChar char="-"/>
              <a:tabLst>
                <a:tab pos="23939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Let’s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see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how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use,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Union,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Intersection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methods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in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set.</a:t>
            </a:r>
            <a:endParaRPr sz="1400">
              <a:latin typeface="Lucida Sans Unicode"/>
              <a:cs typeface="Lucida Sans Unicode"/>
            </a:endParaRPr>
          </a:p>
          <a:p>
            <a:pPr marL="239395" indent="-188595">
              <a:lnSpc>
                <a:spcPct val="100000"/>
              </a:lnSpc>
              <a:spcBef>
                <a:spcPts val="825"/>
              </a:spcBef>
              <a:buChar char="-"/>
              <a:tabLst>
                <a:tab pos="23939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Let’s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discuss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about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other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functions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Sets.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5"/>
              <a:t>Dictionary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1845157"/>
            <a:ext cx="8390255" cy="225933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240665" indent="-189865">
              <a:lnSpc>
                <a:spcPct val="100000"/>
              </a:lnSpc>
              <a:spcBef>
                <a:spcPts val="930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Unordered</a:t>
            </a:r>
            <a:r>
              <a:rPr dirty="0" sz="1400" spc="8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collection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data.</a:t>
            </a:r>
            <a:endParaRPr sz="1400">
              <a:latin typeface="Lucida Sans Unicode"/>
              <a:cs typeface="Lucida Sans Unicode"/>
            </a:endParaRPr>
          </a:p>
          <a:p>
            <a:pPr marL="240665" indent="-189865">
              <a:lnSpc>
                <a:spcPct val="100000"/>
              </a:lnSpc>
              <a:spcBef>
                <a:spcPts val="830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Data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dictionary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stored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as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key:value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pair.</a:t>
            </a:r>
            <a:endParaRPr sz="1400">
              <a:latin typeface="Lucida Sans Unicode"/>
              <a:cs typeface="Lucida Sans Unicode"/>
            </a:endParaRPr>
          </a:p>
          <a:p>
            <a:pPr marL="240665" indent="-189865">
              <a:lnSpc>
                <a:spcPct val="100000"/>
              </a:lnSpc>
              <a:spcBef>
                <a:spcPts val="825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Key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should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not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be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mutable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5">
                <a:solidFill>
                  <a:srgbClr val="393E50"/>
                </a:solidFill>
                <a:latin typeface="Lucida Sans Unicode"/>
                <a:cs typeface="Lucida Sans Unicode"/>
              </a:rPr>
              <a:t>can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be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any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type.</a:t>
            </a:r>
            <a:endParaRPr sz="1400">
              <a:latin typeface="Lucida Sans Unicode"/>
              <a:cs typeface="Lucida Sans Unicode"/>
            </a:endParaRPr>
          </a:p>
          <a:p>
            <a:pPr marL="12700" marR="4686935" indent="227965">
              <a:lnSpc>
                <a:spcPct val="149300"/>
              </a:lnSpc>
              <a:spcBef>
                <a:spcPts val="10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Dict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75">
                <a:solidFill>
                  <a:srgbClr val="393E50"/>
                </a:solidFill>
                <a:latin typeface="Lucida Sans Unicode"/>
                <a:cs typeface="Lucida Sans Unicode"/>
              </a:rPr>
              <a:t>=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25">
                <a:solidFill>
                  <a:srgbClr val="393E50"/>
                </a:solidFill>
                <a:latin typeface="Lucida Sans Unicode"/>
                <a:cs typeface="Lucida Sans Unicode"/>
              </a:rPr>
              <a:t>{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“name”: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“begindatum”,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90">
                <a:solidFill>
                  <a:srgbClr val="393E50"/>
                </a:solidFill>
                <a:latin typeface="Lucida Sans Unicode"/>
                <a:cs typeface="Lucida Sans Unicode"/>
              </a:rPr>
              <a:t>‘age’:10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} 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Keys: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0">
                <a:solidFill>
                  <a:srgbClr val="393E50"/>
                </a:solidFill>
                <a:latin typeface="Lucida Sans Unicode"/>
                <a:cs typeface="Lucida Sans Unicode"/>
              </a:rPr>
              <a:t>name</a:t>
            </a:r>
            <a:r>
              <a:rPr dirty="0" sz="1400" spc="-6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5">
                <a:solidFill>
                  <a:srgbClr val="393E50"/>
                </a:solidFill>
                <a:latin typeface="Lucida Sans Unicode"/>
                <a:cs typeface="Lucida Sans Unicode"/>
              </a:rPr>
              <a:t>age</a:t>
            </a: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Values: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begindatum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85">
                <a:solidFill>
                  <a:srgbClr val="393E50"/>
                </a:solidFill>
                <a:latin typeface="Lucida Sans Unicode"/>
                <a:cs typeface="Lucida Sans Unicode"/>
              </a:rPr>
              <a:t>10</a:t>
            </a:r>
            <a:endParaRPr sz="1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840"/>
              </a:spcBef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-</a:t>
            </a:r>
            <a:r>
              <a:rPr dirty="0" sz="1400" spc="3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Let’s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see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how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0">
                <a:solidFill>
                  <a:srgbClr val="393E50"/>
                </a:solidFill>
                <a:latin typeface="Lucida Sans Unicode"/>
                <a:cs typeface="Lucida Sans Unicode"/>
              </a:rPr>
              <a:t>access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keys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values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dictionary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along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with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different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functions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used.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2548127"/>
              <a:ext cx="7222490" cy="2326005"/>
            </a:xfrm>
            <a:custGeom>
              <a:avLst/>
              <a:gdLst/>
              <a:ahLst/>
              <a:cxnLst/>
              <a:rect l="l" t="t" r="r" b="b"/>
              <a:pathLst>
                <a:path w="7222490" h="2326004">
                  <a:moveTo>
                    <a:pt x="7222235" y="0"/>
                  </a:moveTo>
                  <a:lnTo>
                    <a:pt x="0" y="0"/>
                  </a:lnTo>
                  <a:lnTo>
                    <a:pt x="0" y="2325624"/>
                  </a:lnTo>
                  <a:lnTo>
                    <a:pt x="7222235" y="2325624"/>
                  </a:lnTo>
                  <a:lnTo>
                    <a:pt x="7222235" y="0"/>
                  </a:lnTo>
                  <a:close/>
                </a:path>
              </a:pathLst>
            </a:custGeom>
            <a:solidFill>
              <a:srgbClr val="00A0CC">
                <a:alpha val="84313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22023" y="126492"/>
              <a:ext cx="449579" cy="4571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87323" y="2382723"/>
            <a:ext cx="458025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640">
                <a:solidFill>
                  <a:srgbClr val="FFFFFF"/>
                </a:solidFill>
                <a:latin typeface="Lucida Sans Unicode"/>
                <a:cs typeface="Lucida Sans Unicode"/>
              </a:rPr>
              <a:t>3.</a:t>
            </a:r>
            <a:r>
              <a:rPr dirty="0" sz="48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-20">
                <a:solidFill>
                  <a:srgbClr val="FFFFFF"/>
                </a:solidFill>
                <a:latin typeface="Lucida Sans Unicode"/>
                <a:cs typeface="Lucida Sans Unicode"/>
              </a:rPr>
              <a:t>Python</a:t>
            </a:r>
            <a:r>
              <a:rPr dirty="0" sz="4800" spc="-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-200">
                <a:solidFill>
                  <a:srgbClr val="FFFFFF"/>
                </a:solidFill>
                <a:latin typeface="Lucida Sans Unicode"/>
                <a:cs typeface="Lucida Sans Unicode"/>
              </a:rPr>
              <a:t>Loops,</a:t>
            </a:r>
            <a:endParaRPr sz="48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7323" y="2968497"/>
            <a:ext cx="449008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5">
                <a:solidFill>
                  <a:srgbClr val="FFFFFF"/>
                </a:solidFill>
                <a:latin typeface="Lucida Sans Unicode"/>
                <a:cs typeface="Lucida Sans Unicode"/>
              </a:rPr>
              <a:t>Functions</a:t>
            </a:r>
            <a:r>
              <a:rPr dirty="0" sz="480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4800" spc="-2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-204">
                <a:solidFill>
                  <a:srgbClr val="FFFFFF"/>
                </a:solidFill>
                <a:latin typeface="Lucida Sans Unicode"/>
                <a:cs typeface="Lucida Sans Unicode"/>
              </a:rPr>
              <a:t>File</a:t>
            </a:r>
            <a:endParaRPr sz="48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7323" y="3240577"/>
            <a:ext cx="3987800" cy="1506855"/>
          </a:xfrm>
          <a:prstGeom prst="rect">
            <a:avLst/>
          </a:prstGeom>
        </p:spPr>
        <p:txBody>
          <a:bodyPr wrap="square" lIns="0" tIns="325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65"/>
              </a:spcBef>
            </a:pPr>
            <a:r>
              <a:rPr dirty="0" sz="4800" spc="-10">
                <a:solidFill>
                  <a:srgbClr val="FFFFFF"/>
                </a:solidFill>
                <a:latin typeface="Lucida Sans Unicode"/>
                <a:cs typeface="Lucida Sans Unicode"/>
              </a:rPr>
              <a:t>Handling</a:t>
            </a:r>
            <a:endParaRPr sz="4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2000" spc="-85">
                <a:solidFill>
                  <a:srgbClr val="FFFFFF"/>
                </a:solidFill>
                <a:latin typeface="Lucida Sans Unicode"/>
                <a:cs typeface="Lucida Sans Unicode"/>
              </a:rPr>
              <a:t>Let’s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start</a:t>
            </a:r>
            <a:r>
              <a:rPr dirty="0" sz="20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20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0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Lucida Sans Unicode"/>
                <a:cs typeface="Lucida Sans Unicode"/>
              </a:rPr>
              <a:t>third</a:t>
            </a:r>
            <a:r>
              <a:rPr dirty="0" sz="20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chapter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4215" y="2894076"/>
            <a:ext cx="518159" cy="51816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45643" y="319618"/>
            <a:ext cx="11682730" cy="63874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2800" spc="60">
                <a:latin typeface="Arial Black"/>
                <a:cs typeface="Arial Black"/>
              </a:rPr>
              <a:t>Why</a:t>
            </a:r>
            <a:r>
              <a:rPr dirty="0" sz="2800" spc="-325">
                <a:latin typeface="Arial Black"/>
                <a:cs typeface="Arial Black"/>
              </a:rPr>
              <a:t> </a:t>
            </a:r>
            <a:r>
              <a:rPr dirty="0" sz="2800" spc="-10">
                <a:latin typeface="Arial Black"/>
                <a:cs typeface="Arial Black"/>
              </a:rPr>
              <a:t>Spark?</a:t>
            </a: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2800">
              <a:latin typeface="Arial Black"/>
              <a:cs typeface="Arial Black"/>
            </a:endParaRPr>
          </a:p>
          <a:p>
            <a:pPr marL="391795">
              <a:lnSpc>
                <a:spcPct val="100000"/>
              </a:lnSpc>
            </a:pPr>
            <a:r>
              <a:rPr dirty="0" sz="1400">
                <a:latin typeface="Lucida Sans Unicode"/>
                <a:cs typeface="Lucida Sans Unicode"/>
              </a:rPr>
              <a:t>In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the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-20">
                <a:latin typeface="Lucida Sans Unicode"/>
                <a:cs typeface="Lucida Sans Unicode"/>
              </a:rPr>
              <a:t>industry,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there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is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 spc="170">
                <a:latin typeface="Lucida Sans Unicode"/>
                <a:cs typeface="Lucida Sans Unicode"/>
              </a:rPr>
              <a:t>a</a:t>
            </a:r>
            <a:r>
              <a:rPr dirty="0" sz="140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need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 spc="-30">
                <a:latin typeface="Lucida Sans Unicode"/>
                <a:cs typeface="Lucida Sans Unicode"/>
              </a:rPr>
              <a:t>for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170">
                <a:latin typeface="Lucida Sans Unicode"/>
                <a:cs typeface="Lucida Sans Unicode"/>
              </a:rPr>
              <a:t>a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general-purpose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cluster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45">
                <a:latin typeface="Lucida Sans Unicode"/>
                <a:cs typeface="Lucida Sans Unicode"/>
              </a:rPr>
              <a:t>computing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tool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-25">
                <a:latin typeface="Lucida Sans Unicode"/>
                <a:cs typeface="Lucida Sans Unicode"/>
              </a:rPr>
              <a:t>as: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50">
                <a:latin typeface="Lucida Sans Unicode"/>
                <a:cs typeface="Lucida Sans Unicode"/>
              </a:rPr>
              <a:t>Hadoop</a:t>
            </a:r>
            <a:r>
              <a:rPr dirty="0" sz="1400" spc="-15">
                <a:latin typeface="Lucida Sans Unicode"/>
                <a:cs typeface="Lucida Sans Unicode"/>
              </a:rPr>
              <a:t> </a:t>
            </a:r>
            <a:r>
              <a:rPr dirty="0" sz="1400" spc="50">
                <a:latin typeface="Lucida Sans Unicode"/>
                <a:cs typeface="Lucida Sans Unicode"/>
              </a:rPr>
              <a:t>Map-</a:t>
            </a:r>
            <a:r>
              <a:rPr dirty="0" sz="1400" spc="55">
                <a:latin typeface="Lucida Sans Unicode"/>
                <a:cs typeface="Lucida Sans Unicode"/>
              </a:rPr>
              <a:t>Reduce</a:t>
            </a:r>
            <a:r>
              <a:rPr dirty="0" sz="1400" spc="-55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55">
                <a:latin typeface="Lucida Sans Unicode"/>
                <a:cs typeface="Lucida Sans Unicode"/>
              </a:rPr>
              <a:t> </a:t>
            </a:r>
            <a:r>
              <a:rPr dirty="0" sz="1400" spc="75">
                <a:latin typeface="Lucida Sans Unicode"/>
                <a:cs typeface="Lucida Sans Unicode"/>
              </a:rPr>
              <a:t>batch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processing.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Storm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S4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stream</a:t>
            </a:r>
            <a:r>
              <a:rPr dirty="0" sz="1400" spc="-5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processing.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5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Impala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75">
                <a:latin typeface="Lucida Sans Unicode"/>
                <a:cs typeface="Lucida Sans Unicode"/>
              </a:rPr>
              <a:t>Tez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 spc="105">
                <a:latin typeface="Lucida Sans Unicode"/>
                <a:cs typeface="Lucida Sans Unicode"/>
              </a:rPr>
              <a:t>can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interactive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>
                <a:latin typeface="Lucida Sans Unicode"/>
                <a:cs typeface="Lucida Sans Unicode"/>
              </a:rPr>
              <a:t>Neo4j</a:t>
            </a:r>
            <a:r>
              <a:rPr dirty="0" sz="1400" spc="-45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Giraph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graph</a:t>
            </a:r>
            <a:r>
              <a:rPr dirty="0" sz="1400" spc="-10">
                <a:latin typeface="Lucida Sans Unicode"/>
                <a:cs typeface="Lucida Sans Unicode"/>
              </a:rPr>
              <a:t> processing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66675">
              <a:lnSpc>
                <a:spcPct val="100000"/>
              </a:lnSpc>
            </a:pPr>
            <a:r>
              <a:rPr dirty="0" sz="900" spc="-25">
                <a:solidFill>
                  <a:srgbClr val="FFFFFF"/>
                </a:solidFill>
                <a:latin typeface="Lucida Sans Unicode"/>
                <a:cs typeface="Lucida Sans Unicode"/>
              </a:rPr>
              <a:t>17</a:t>
            </a:r>
            <a:endParaRPr sz="900">
              <a:latin typeface="Lucida Sans Unicode"/>
              <a:cs typeface="Lucida Sans Unicode"/>
            </a:endParaRPr>
          </a:p>
          <a:p>
            <a:pPr algn="r">
              <a:lnSpc>
                <a:spcPct val="100000"/>
              </a:lnSpc>
              <a:spcBef>
                <a:spcPts val="430"/>
              </a:spcBef>
            </a:pPr>
            <a:r>
              <a:rPr dirty="0" sz="1400">
                <a:solidFill>
                  <a:srgbClr val="496E93"/>
                </a:solidFill>
                <a:latin typeface="Arial MT"/>
                <a:cs typeface="Arial MT"/>
              </a:rPr>
              <a:t>©</a:t>
            </a:r>
            <a:r>
              <a:rPr dirty="0" sz="1400" spc="-15">
                <a:solidFill>
                  <a:srgbClr val="496E93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96E93"/>
                </a:solidFill>
                <a:latin typeface="Arial MT"/>
                <a:cs typeface="Arial MT"/>
              </a:rPr>
              <a:t>zepanalytics.com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74599" y="6280886"/>
            <a:ext cx="187960" cy="18542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z="900" spc="-25">
                <a:solidFill>
                  <a:srgbClr val="FFFFFF"/>
                </a:solidFill>
                <a:latin typeface="Lucida Sans Unicode"/>
                <a:cs typeface="Lucida Sans Unicode"/>
              </a:rPr>
              <a:t>17</a:t>
            </a:fld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zepanalytics.com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943" y="324688"/>
            <a:ext cx="108521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60"/>
              <a:t>Loops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20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89584" y="1567662"/>
            <a:ext cx="5889625" cy="353441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240665" indent="-189865">
              <a:lnSpc>
                <a:spcPct val="100000"/>
              </a:lnSpc>
              <a:spcBef>
                <a:spcPts val="925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For</a:t>
            </a:r>
            <a:r>
              <a:rPr dirty="0" sz="1400" spc="-9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loop</a:t>
            </a:r>
            <a:endParaRPr sz="1400">
              <a:latin typeface="Lucida Sans Unicode"/>
              <a:cs typeface="Lucida Sans Unicode"/>
            </a:endParaRPr>
          </a:p>
          <a:p>
            <a:pPr algn="ctr" marR="3937635">
              <a:lnSpc>
                <a:spcPct val="100000"/>
              </a:lnSpc>
              <a:spcBef>
                <a:spcPts val="830"/>
              </a:spcBef>
            </a:pP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for</a:t>
            </a:r>
            <a:r>
              <a:rPr dirty="0" sz="1400" spc="-7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index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-6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sequence:</a:t>
            </a:r>
            <a:endParaRPr sz="1400">
              <a:latin typeface="Lucida Sans Unicode"/>
              <a:cs typeface="Lucida Sans Unicode"/>
            </a:endParaRPr>
          </a:p>
          <a:p>
            <a:pPr algn="ctr" marR="3956685">
              <a:lnSpc>
                <a:spcPct val="100000"/>
              </a:lnSpc>
              <a:spcBef>
                <a:spcPts val="825"/>
              </a:spcBef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statements</a:t>
            </a:r>
            <a:endParaRPr sz="1400">
              <a:latin typeface="Lucida Sans Unicode"/>
              <a:cs typeface="Lucida Sans Unicode"/>
            </a:endParaRPr>
          </a:p>
          <a:p>
            <a:pPr algn="ctr" marL="12700" marR="4334510">
              <a:lnSpc>
                <a:spcPct val="149300"/>
              </a:lnSpc>
              <a:spcBef>
                <a:spcPts val="15"/>
              </a:spcBef>
            </a:pP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for</a:t>
            </a:r>
            <a:r>
              <a:rPr dirty="0" sz="1400" spc="-7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80">
                <a:solidFill>
                  <a:srgbClr val="393E50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range(1,10):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print(i)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208915" marR="4328795" indent="-196850">
              <a:lnSpc>
                <a:spcPct val="149400"/>
              </a:lnSpc>
              <a:spcBef>
                <a:spcPts val="5"/>
              </a:spcBef>
            </a:pP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for</a:t>
            </a: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85">
                <a:solidFill>
                  <a:srgbClr val="393E50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range(0,5): print(i)</a:t>
            </a: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else:print("for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loop</a:t>
            </a:r>
            <a:r>
              <a:rPr dirty="0" sz="1400" spc="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completely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exhausted,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since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there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no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break.");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Once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for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loop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executed,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else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block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also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executed.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0"/>
              <a:t>Functions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20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82600" y="1845665"/>
            <a:ext cx="8891270" cy="213042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925"/>
              </a:spcBef>
              <a:buFont typeface="Times New Roman"/>
              <a:buChar char="●"/>
              <a:tabLst>
                <a:tab pos="2025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5">
                <a:solidFill>
                  <a:srgbClr val="393E50"/>
                </a:solidFill>
                <a:latin typeface="Lucida Sans Unicode"/>
                <a:cs typeface="Lucida Sans Unicode"/>
              </a:rPr>
              <a:t>named-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sequence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statements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that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performs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some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operations.</a:t>
            </a:r>
            <a:endParaRPr sz="1400">
              <a:latin typeface="Lucida Sans Unicode"/>
              <a:cs typeface="Lucida Sans Unicode"/>
            </a:endParaRPr>
          </a:p>
          <a:p>
            <a:pPr marL="431800">
              <a:lnSpc>
                <a:spcPct val="100000"/>
              </a:lnSpc>
              <a:spcBef>
                <a:spcPts val="830"/>
              </a:spcBef>
            </a:pPr>
            <a:r>
              <a:rPr dirty="0" sz="1400" spc="-85">
                <a:solidFill>
                  <a:srgbClr val="393E50"/>
                </a:solidFill>
                <a:latin typeface="Arial Black"/>
                <a:cs typeface="Arial Black"/>
              </a:rPr>
              <a:t>Example</a:t>
            </a:r>
            <a:r>
              <a:rPr dirty="0" sz="1400" spc="-85">
                <a:solidFill>
                  <a:srgbClr val="393E50"/>
                </a:solidFill>
                <a:latin typeface="Lucida Sans Unicode"/>
                <a:cs typeface="Lucida Sans Unicode"/>
              </a:rPr>
              <a:t>: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type(32)</a:t>
            </a:r>
            <a:endParaRPr sz="1400">
              <a:latin typeface="Lucida Sans Unicode"/>
              <a:cs typeface="Lucida Sans Unicode"/>
            </a:endParaRPr>
          </a:p>
          <a:p>
            <a:pPr marL="431800">
              <a:lnSpc>
                <a:spcPct val="100000"/>
              </a:lnSpc>
              <a:spcBef>
                <a:spcPts val="825"/>
              </a:spcBef>
            </a:pP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Here,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5">
                <a:solidFill>
                  <a:srgbClr val="393E50"/>
                </a:solidFill>
                <a:latin typeface="Lucida Sans Unicode"/>
                <a:cs typeface="Lucida Sans Unicode"/>
              </a:rPr>
              <a:t>name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type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expression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parenthesis 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called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argument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function.</a:t>
            </a:r>
            <a:endParaRPr sz="1400">
              <a:latin typeface="Lucida Sans Unicode"/>
              <a:cs typeface="Lucida Sans Unicode"/>
            </a:endParaRPr>
          </a:p>
          <a:p>
            <a:pPr marL="202565" indent="-189865">
              <a:lnSpc>
                <a:spcPts val="1595"/>
              </a:lnSpc>
              <a:spcBef>
                <a:spcPts val="840"/>
              </a:spcBef>
              <a:buFont typeface="Times New Roman"/>
              <a:buChar char="●"/>
              <a:tabLst>
                <a:tab pos="2025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Type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Conversion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85">
                <a:solidFill>
                  <a:srgbClr val="393E50"/>
                </a:solidFill>
                <a:latin typeface="Lucida Sans Unicode"/>
                <a:cs typeface="Lucida Sans Unicode"/>
              </a:rPr>
              <a:t>: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Convert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values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from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one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type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another.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Int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10">
                <a:solidFill>
                  <a:srgbClr val="393E50"/>
                </a:solidFill>
                <a:latin typeface="Lucida Sans Unicode"/>
                <a:cs typeface="Lucida Sans Unicode"/>
              </a:rPr>
              <a:t>can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convert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floating-point</a:t>
            </a:r>
            <a:endParaRPr sz="1400">
              <a:latin typeface="Lucida Sans Unicode"/>
              <a:cs typeface="Lucida Sans Unicode"/>
            </a:endParaRPr>
          </a:p>
          <a:p>
            <a:pPr marL="203200">
              <a:lnSpc>
                <a:spcPts val="1595"/>
              </a:lnSpc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values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integers</a:t>
            </a: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vice-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versa</a:t>
            </a:r>
            <a:endParaRPr sz="1400">
              <a:latin typeface="Lucida Sans Unicode"/>
              <a:cs typeface="Lucida Sans Unicode"/>
            </a:endParaRPr>
          </a:p>
          <a:p>
            <a:pPr marL="431800" marR="7509509">
              <a:lnSpc>
                <a:spcPct val="149300"/>
              </a:lnSpc>
              <a:spcBef>
                <a:spcPts val="5"/>
              </a:spcBef>
            </a:pP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int(3.4545) 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3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5"/>
              <a:t>Lambda</a:t>
            </a:r>
            <a:r>
              <a:rPr dirty="0" spc="-285"/>
              <a:t> </a:t>
            </a:r>
            <a:r>
              <a:rPr dirty="0" spc="-85"/>
              <a:t>Function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84708" y="2076704"/>
            <a:ext cx="8134350" cy="749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05"/>
              </a:spcBef>
              <a:buClr>
                <a:srgbClr val="00B5DD"/>
              </a:buClr>
              <a:buFont typeface="Cambria Math"/>
              <a:buChar char="◗"/>
              <a:tabLst>
                <a:tab pos="329565" algn="l"/>
              </a:tabLst>
            </a:pP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Lambda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small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anonymous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which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makes the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developer’s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life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easier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Clr>
                <a:srgbClr val="00B5DD"/>
              </a:buClr>
              <a:buFont typeface="Cambria Math"/>
              <a:buChar char="◗"/>
            </a:pPr>
            <a:endParaRPr sz="1400">
              <a:latin typeface="Lucida Sans Unicode"/>
              <a:cs typeface="Lucida Sans Unicode"/>
            </a:endParaRPr>
          </a:p>
          <a:p>
            <a:pPr marL="329565" indent="-316865">
              <a:lnSpc>
                <a:spcPct val="100000"/>
              </a:lnSpc>
              <a:buClr>
                <a:srgbClr val="00B5DD"/>
              </a:buClr>
              <a:buFont typeface="Cambria Math"/>
              <a:buChar char="◗"/>
              <a:tabLst>
                <a:tab pos="32956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It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10">
                <a:solidFill>
                  <a:srgbClr val="393E50"/>
                </a:solidFill>
                <a:latin typeface="Lucida Sans Unicode"/>
                <a:cs typeface="Lucida Sans Unicode"/>
              </a:rPr>
              <a:t>can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take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any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number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arguments,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but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5">
                <a:solidFill>
                  <a:srgbClr val="393E50"/>
                </a:solidFill>
                <a:latin typeface="Lucida Sans Unicode"/>
                <a:cs typeface="Lucida Sans Unicode"/>
              </a:rPr>
              <a:t>can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only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have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one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expression.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3433571"/>
            <a:ext cx="8709660" cy="131063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20</a:t>
            </a:fld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Map,</a:t>
            </a:r>
            <a:r>
              <a:rPr dirty="0" spc="-320"/>
              <a:t> </a:t>
            </a:r>
            <a:r>
              <a:rPr dirty="0" spc="-145"/>
              <a:t>Reduce</a:t>
            </a:r>
            <a:r>
              <a:rPr dirty="0" spc="-315"/>
              <a:t> </a:t>
            </a:r>
            <a:r>
              <a:rPr dirty="0" spc="-275"/>
              <a:t>&amp;</a:t>
            </a:r>
            <a:r>
              <a:rPr dirty="0" spc="-320"/>
              <a:t> </a:t>
            </a:r>
            <a:r>
              <a:rPr dirty="0" spc="-120"/>
              <a:t>Filter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20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1526286"/>
            <a:ext cx="8828405" cy="2346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solidFill>
                  <a:srgbClr val="393E50"/>
                </a:solidFill>
                <a:latin typeface="Arial Black"/>
                <a:cs typeface="Arial Black"/>
              </a:rPr>
              <a:t>Map</a:t>
            </a:r>
            <a:r>
              <a:rPr dirty="0" sz="1400" spc="-100">
                <a:solidFill>
                  <a:srgbClr val="393E50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393E50"/>
                </a:solidFill>
                <a:latin typeface="Times New Roman"/>
                <a:cs typeface="Times New Roman"/>
              </a:rPr>
              <a:t>→</a:t>
            </a:r>
            <a:r>
              <a:rPr dirty="0" sz="1400" spc="120">
                <a:solidFill>
                  <a:srgbClr val="393E50"/>
                </a:solidFill>
                <a:latin typeface="Times New Roman"/>
                <a:cs typeface="Times New Roman"/>
              </a:rPr>
              <a:t> 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Utility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function,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5">
                <a:solidFill>
                  <a:srgbClr val="393E50"/>
                </a:solidFill>
                <a:latin typeface="Lucida Sans Unicode"/>
                <a:cs typeface="Lucida Sans Unicode"/>
              </a:rPr>
              <a:t>maps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collection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another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collection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object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based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on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certain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functionality.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map(function,</a:t>
            </a:r>
            <a:r>
              <a:rPr dirty="0" sz="1400" spc="1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iterable</a:t>
            </a:r>
            <a:r>
              <a:rPr dirty="0" sz="1400" spc="2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object)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12700" marR="4955540">
              <a:lnSpc>
                <a:spcPct val="150000"/>
              </a:lnSpc>
            </a:pP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For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example: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75">
                <a:solidFill>
                  <a:srgbClr val="393E50"/>
                </a:solidFill>
                <a:latin typeface="Lucida Sans Unicode"/>
                <a:cs typeface="Lucida Sans Unicode"/>
              </a:rPr>
              <a:t>If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we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have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list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people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like: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firstname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75">
                <a:solidFill>
                  <a:srgbClr val="393E50"/>
                </a:solidFill>
                <a:latin typeface="Lucida Sans Unicode"/>
                <a:cs typeface="Lucida Sans Unicode"/>
              </a:rPr>
              <a:t>=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["Ram",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"Shyam",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"Vinay",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"Gopal"]</a:t>
            </a:r>
            <a:endParaRPr sz="1400">
              <a:latin typeface="Lucida Sans Unicode"/>
              <a:cs typeface="Lucida Sans Unicode"/>
            </a:endParaRPr>
          </a:p>
          <a:p>
            <a:pPr marL="469265" indent="-316865">
              <a:lnSpc>
                <a:spcPts val="1595"/>
              </a:lnSpc>
              <a:spcBef>
                <a:spcPts val="830"/>
              </a:spcBef>
              <a:buClr>
                <a:srgbClr val="00B5DD"/>
              </a:buClr>
              <a:buFont typeface="Cambria Math"/>
              <a:buChar char="◗"/>
              <a:tabLst>
                <a:tab pos="469265" algn="l"/>
              </a:tabLst>
            </a:pP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Map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list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to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obtain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names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upper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case</a:t>
            </a:r>
            <a:endParaRPr sz="1400">
              <a:latin typeface="Lucida Sans Unicode"/>
              <a:cs typeface="Lucida Sans Unicode"/>
            </a:endParaRPr>
          </a:p>
          <a:p>
            <a:pPr marL="469265" indent="-316865">
              <a:lnSpc>
                <a:spcPts val="1595"/>
              </a:lnSpc>
              <a:buClr>
                <a:srgbClr val="00B5DD"/>
              </a:buClr>
              <a:buFont typeface="Cambria Math"/>
              <a:buChar char="◗"/>
              <a:tabLst>
                <a:tab pos="469265" algn="l"/>
              </a:tabLst>
            </a:pP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list(map(lambda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x:x.upper(),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firstname))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Map,</a:t>
            </a:r>
            <a:r>
              <a:rPr dirty="0" spc="-320"/>
              <a:t> </a:t>
            </a:r>
            <a:r>
              <a:rPr dirty="0" spc="-145"/>
              <a:t>Reduce</a:t>
            </a:r>
            <a:r>
              <a:rPr dirty="0" spc="-315"/>
              <a:t> </a:t>
            </a:r>
            <a:r>
              <a:rPr dirty="0" spc="-275"/>
              <a:t>&amp;</a:t>
            </a:r>
            <a:r>
              <a:rPr dirty="0" spc="-320"/>
              <a:t> </a:t>
            </a:r>
            <a:r>
              <a:rPr dirty="0" spc="-120"/>
              <a:t>Filter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284858" y="6190193"/>
            <a:ext cx="2929890" cy="27559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Step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n-</a:t>
            </a:r>
            <a:r>
              <a:rPr dirty="0" sz="1400" spc="-335">
                <a:solidFill>
                  <a:srgbClr val="393E50"/>
                </a:solidFill>
                <a:latin typeface="Lucida Sans Unicode"/>
                <a:cs typeface="Lucida Sans Unicode"/>
              </a:rPr>
              <a:t>1: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val(n-</a:t>
            </a:r>
            <a:r>
              <a:rPr dirty="0" sz="1400" spc="-180">
                <a:solidFill>
                  <a:srgbClr val="393E50"/>
                </a:solidFill>
                <a:latin typeface="Lucida Sans Unicode"/>
                <a:cs typeface="Lucida Sans Unicode"/>
              </a:rPr>
              <a:t>1)</a:t>
            </a:r>
            <a:r>
              <a:rPr dirty="0" sz="1400" spc="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75">
                <a:solidFill>
                  <a:srgbClr val="393E50"/>
                </a:solidFill>
                <a:latin typeface="Lucida Sans Unicode"/>
                <a:cs typeface="Lucida Sans Unicode"/>
              </a:rPr>
              <a:t>=</a:t>
            </a:r>
            <a:r>
              <a:rPr dirty="0" sz="1400" spc="8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f(val(n-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2),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dn)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22</a:t>
            </a:fld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 marR="79375">
              <a:lnSpc>
                <a:spcPts val="1510"/>
              </a:lnSpc>
              <a:spcBef>
                <a:spcPts val="295"/>
              </a:spcBef>
            </a:pPr>
            <a:r>
              <a:rPr dirty="0" spc="-60">
                <a:latin typeface="Arial Black"/>
                <a:cs typeface="Arial Black"/>
              </a:rPr>
              <a:t>Filter</a:t>
            </a:r>
            <a:r>
              <a:rPr dirty="0" spc="-60">
                <a:latin typeface="Times New Roman"/>
                <a:cs typeface="Times New Roman"/>
              </a:rPr>
              <a:t>→</a:t>
            </a:r>
            <a:r>
              <a:rPr dirty="0" spc="10">
                <a:latin typeface="Times New Roman"/>
                <a:cs typeface="Times New Roman"/>
              </a:rPr>
              <a:t> </a:t>
            </a:r>
            <a:r>
              <a:rPr dirty="0"/>
              <a:t>Similar</a:t>
            </a:r>
            <a:r>
              <a:rPr dirty="0" spc="-45"/>
              <a:t> </a:t>
            </a:r>
            <a:r>
              <a:rPr dirty="0" spc="-20"/>
              <a:t>function,</a:t>
            </a:r>
            <a:r>
              <a:rPr dirty="0" spc="-55"/>
              <a:t> </a:t>
            </a:r>
            <a:r>
              <a:rPr dirty="0"/>
              <a:t>but</a:t>
            </a:r>
            <a:r>
              <a:rPr dirty="0" spc="-35"/>
              <a:t> </a:t>
            </a:r>
            <a:r>
              <a:rPr dirty="0" spc="-60"/>
              <a:t>it</a:t>
            </a:r>
            <a:r>
              <a:rPr dirty="0" spc="-40"/>
              <a:t> </a:t>
            </a:r>
            <a:r>
              <a:rPr dirty="0"/>
              <a:t>requires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function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 spc="-35"/>
              <a:t>look</a:t>
            </a:r>
            <a:r>
              <a:rPr dirty="0" spc="-30"/>
              <a:t> </a:t>
            </a:r>
            <a:r>
              <a:rPr dirty="0" spc="-35"/>
              <a:t>for</a:t>
            </a:r>
            <a:r>
              <a:rPr dirty="0" spc="-45"/>
              <a:t> </a:t>
            </a:r>
            <a:r>
              <a:rPr dirty="0" spc="170"/>
              <a:t>a</a:t>
            </a:r>
            <a:r>
              <a:rPr dirty="0" spc="-30"/>
              <a:t> </a:t>
            </a:r>
            <a:r>
              <a:rPr dirty="0"/>
              <a:t>condition</a:t>
            </a:r>
            <a:r>
              <a:rPr dirty="0" spc="-40"/>
              <a:t> </a:t>
            </a:r>
            <a:r>
              <a:rPr dirty="0" spc="80"/>
              <a:t>and</a:t>
            </a:r>
            <a:r>
              <a:rPr dirty="0" spc="-30"/>
              <a:t> </a:t>
            </a:r>
            <a:r>
              <a:rPr dirty="0"/>
              <a:t>then</a:t>
            </a:r>
            <a:r>
              <a:rPr dirty="0" spc="-55"/>
              <a:t> </a:t>
            </a:r>
            <a:r>
              <a:rPr dirty="0"/>
              <a:t>returns</a:t>
            </a:r>
            <a:r>
              <a:rPr dirty="0" spc="-25"/>
              <a:t> </a:t>
            </a:r>
            <a:r>
              <a:rPr dirty="0" spc="-20"/>
              <a:t>only </a:t>
            </a:r>
            <a:r>
              <a:rPr dirty="0"/>
              <a:t>those</a:t>
            </a:r>
            <a:r>
              <a:rPr dirty="0" spc="45"/>
              <a:t> </a:t>
            </a:r>
            <a:r>
              <a:rPr dirty="0"/>
              <a:t>elements</a:t>
            </a:r>
            <a:r>
              <a:rPr dirty="0" spc="30"/>
              <a:t> </a:t>
            </a:r>
            <a:r>
              <a:rPr dirty="0"/>
              <a:t>from</a:t>
            </a:r>
            <a:r>
              <a:rPr dirty="0" spc="45"/>
              <a:t> </a:t>
            </a:r>
            <a:r>
              <a:rPr dirty="0"/>
              <a:t>the</a:t>
            </a:r>
            <a:r>
              <a:rPr dirty="0" spc="65"/>
              <a:t> </a:t>
            </a:r>
            <a:r>
              <a:rPr dirty="0"/>
              <a:t>collection</a:t>
            </a:r>
            <a:r>
              <a:rPr dirty="0" spc="55"/>
              <a:t> </a:t>
            </a:r>
            <a:r>
              <a:rPr dirty="0"/>
              <a:t>that</a:t>
            </a:r>
            <a:r>
              <a:rPr dirty="0" spc="65"/>
              <a:t> </a:t>
            </a:r>
            <a:r>
              <a:rPr dirty="0"/>
              <a:t>satisfies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45"/>
              <a:t> </a:t>
            </a:r>
            <a:r>
              <a:rPr dirty="0" spc="-10"/>
              <a:t>condition.</a:t>
            </a:r>
          </a:p>
          <a:p>
            <a:pPr>
              <a:lnSpc>
                <a:spcPct val="100000"/>
              </a:lnSpc>
              <a:spcBef>
                <a:spcPts val="1370"/>
              </a:spcBef>
            </a:pPr>
          </a:p>
          <a:p>
            <a:pPr marL="12700" marR="5080">
              <a:lnSpc>
                <a:spcPts val="1510"/>
              </a:lnSpc>
            </a:pPr>
            <a:r>
              <a:rPr dirty="0" spc="-80">
                <a:latin typeface="Arial Black"/>
                <a:cs typeface="Arial Black"/>
              </a:rPr>
              <a:t>Reduce</a:t>
            </a:r>
            <a:r>
              <a:rPr dirty="0" spc="-105">
                <a:latin typeface="Arial Black"/>
                <a:cs typeface="Arial Black"/>
              </a:rPr>
              <a:t> </a:t>
            </a:r>
            <a:r>
              <a:rPr dirty="0" b="1">
                <a:latin typeface="Times New Roman"/>
                <a:cs typeface="Times New Roman"/>
              </a:rPr>
              <a:t>→</a:t>
            </a:r>
            <a:r>
              <a:rPr dirty="0" spc="25" b="1">
                <a:latin typeface="Times New Roman"/>
                <a:cs typeface="Times New Roman"/>
              </a:rPr>
              <a:t> </a:t>
            </a:r>
            <a:r>
              <a:rPr dirty="0"/>
              <a:t>An</a:t>
            </a:r>
            <a:r>
              <a:rPr dirty="0" spc="35"/>
              <a:t> </a:t>
            </a:r>
            <a:r>
              <a:rPr dirty="0"/>
              <a:t>operation</a:t>
            </a:r>
            <a:r>
              <a:rPr dirty="0" spc="55"/>
              <a:t> </a:t>
            </a:r>
            <a:r>
              <a:rPr dirty="0"/>
              <a:t>that</a:t>
            </a:r>
            <a:r>
              <a:rPr dirty="0" spc="45"/>
              <a:t> </a:t>
            </a:r>
            <a:r>
              <a:rPr dirty="0"/>
              <a:t>breaks</a:t>
            </a:r>
            <a:r>
              <a:rPr dirty="0" spc="50"/>
              <a:t> </a:t>
            </a:r>
            <a:r>
              <a:rPr dirty="0"/>
              <a:t>down</a:t>
            </a:r>
            <a:r>
              <a:rPr dirty="0" spc="50"/>
              <a:t> </a:t>
            </a:r>
            <a:r>
              <a:rPr dirty="0"/>
              <a:t>the</a:t>
            </a:r>
            <a:r>
              <a:rPr dirty="0" spc="45"/>
              <a:t> </a:t>
            </a:r>
            <a:r>
              <a:rPr dirty="0"/>
              <a:t>entire</a:t>
            </a:r>
            <a:r>
              <a:rPr dirty="0" spc="40"/>
              <a:t> </a:t>
            </a:r>
            <a:r>
              <a:rPr dirty="0"/>
              <a:t>process</a:t>
            </a:r>
            <a:r>
              <a:rPr dirty="0" spc="50"/>
              <a:t> </a:t>
            </a:r>
            <a:r>
              <a:rPr dirty="0" spc="-10"/>
              <a:t>into</a:t>
            </a:r>
            <a:r>
              <a:rPr dirty="0" spc="40"/>
              <a:t> </a:t>
            </a:r>
            <a:r>
              <a:rPr dirty="0" spc="-10"/>
              <a:t>pair-</a:t>
            </a:r>
            <a:r>
              <a:rPr dirty="0"/>
              <a:t>wise</a:t>
            </a:r>
            <a:r>
              <a:rPr dirty="0" spc="40"/>
              <a:t> </a:t>
            </a:r>
            <a:r>
              <a:rPr dirty="0"/>
              <a:t>operations</a:t>
            </a:r>
            <a:r>
              <a:rPr dirty="0" spc="40"/>
              <a:t> </a:t>
            </a:r>
            <a:r>
              <a:rPr dirty="0" spc="80"/>
              <a:t>and</a:t>
            </a:r>
            <a:r>
              <a:rPr dirty="0" spc="55"/>
              <a:t> </a:t>
            </a:r>
            <a:r>
              <a:rPr dirty="0" spc="-20"/>
              <a:t>uses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 spc="-10"/>
              <a:t>result</a:t>
            </a:r>
            <a:r>
              <a:rPr dirty="0" spc="25"/>
              <a:t> </a:t>
            </a:r>
            <a:r>
              <a:rPr dirty="0"/>
              <a:t>from</a:t>
            </a:r>
            <a:r>
              <a:rPr dirty="0" spc="10"/>
              <a:t> </a:t>
            </a:r>
            <a:r>
              <a:rPr dirty="0" spc="105"/>
              <a:t>each</a:t>
            </a:r>
            <a:r>
              <a:rPr dirty="0" spc="15"/>
              <a:t> </a:t>
            </a:r>
            <a:r>
              <a:rPr dirty="0"/>
              <a:t>operation,</a:t>
            </a:r>
            <a:r>
              <a:rPr dirty="0" spc="30"/>
              <a:t> </a:t>
            </a:r>
            <a:r>
              <a:rPr dirty="0"/>
              <a:t>with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/>
              <a:t>successive</a:t>
            </a:r>
            <a:r>
              <a:rPr dirty="0" spc="-25"/>
              <a:t> </a:t>
            </a:r>
            <a:r>
              <a:rPr dirty="0" spc="-10"/>
              <a:t>element.</a:t>
            </a:r>
          </a:p>
          <a:p>
            <a:pPr>
              <a:lnSpc>
                <a:spcPct val="100000"/>
              </a:lnSpc>
              <a:spcBef>
                <a:spcPts val="1825"/>
              </a:spcBef>
            </a:pPr>
          </a:p>
          <a:p>
            <a:pPr marL="49530">
              <a:lnSpc>
                <a:spcPct val="100000"/>
              </a:lnSpc>
            </a:pPr>
            <a:r>
              <a:rPr dirty="0" spc="-10">
                <a:latin typeface="Arial Black"/>
                <a:cs typeface="Arial Black"/>
              </a:rPr>
              <a:t>Filter</a:t>
            </a:r>
            <a:r>
              <a:rPr dirty="0" spc="-10">
                <a:latin typeface="Times New Roman"/>
                <a:cs typeface="Times New Roman"/>
              </a:rPr>
              <a:t>→</a:t>
            </a:r>
          </a:p>
          <a:p>
            <a:pPr marL="49530">
              <a:lnSpc>
                <a:spcPct val="100000"/>
              </a:lnSpc>
              <a:spcBef>
                <a:spcPts val="830"/>
              </a:spcBef>
            </a:pPr>
            <a:r>
              <a:rPr dirty="0" spc="60"/>
              <a:t>Data</a:t>
            </a:r>
            <a:r>
              <a:rPr dirty="0" spc="-60"/>
              <a:t> </a:t>
            </a:r>
            <a:r>
              <a:rPr dirty="0" spc="-175"/>
              <a:t>=</a:t>
            </a:r>
            <a:r>
              <a:rPr dirty="0" spc="-60"/>
              <a:t> </a:t>
            </a:r>
            <a:r>
              <a:rPr dirty="0" spc="-55"/>
              <a:t>[d1,d2,.....,dn]</a:t>
            </a:r>
          </a:p>
          <a:p>
            <a:pPr marL="49530">
              <a:lnSpc>
                <a:spcPct val="100000"/>
              </a:lnSpc>
              <a:spcBef>
                <a:spcPts val="840"/>
              </a:spcBef>
            </a:pPr>
            <a:r>
              <a:rPr dirty="0" spc="-40"/>
              <a:t>filter(f,</a:t>
            </a:r>
            <a:r>
              <a:rPr dirty="0" spc="-60"/>
              <a:t> </a:t>
            </a:r>
            <a:r>
              <a:rPr dirty="0" spc="90"/>
              <a:t>data)</a:t>
            </a:r>
          </a:p>
          <a:p>
            <a:pPr>
              <a:lnSpc>
                <a:spcPct val="100000"/>
              </a:lnSpc>
              <a:spcBef>
                <a:spcPts val="350"/>
              </a:spcBef>
            </a:pPr>
          </a:p>
          <a:p>
            <a:pPr marL="49530" marR="7010400">
              <a:lnSpc>
                <a:spcPct val="149700"/>
              </a:lnSpc>
            </a:pPr>
            <a:r>
              <a:rPr dirty="0" spc="-80">
                <a:latin typeface="Arial Black"/>
                <a:cs typeface="Arial Black"/>
              </a:rPr>
              <a:t>Reduce</a:t>
            </a:r>
            <a:r>
              <a:rPr dirty="0" spc="-140">
                <a:latin typeface="Arial Black"/>
                <a:cs typeface="Arial Black"/>
              </a:rPr>
              <a:t> </a:t>
            </a:r>
            <a:r>
              <a:rPr dirty="0" spc="-50" b="1">
                <a:latin typeface="Times New Roman"/>
                <a:cs typeface="Times New Roman"/>
              </a:rPr>
              <a:t>→ </a:t>
            </a:r>
            <a:r>
              <a:rPr dirty="0"/>
              <a:t>Function</a:t>
            </a:r>
            <a:r>
              <a:rPr dirty="0" spc="-55"/>
              <a:t> </a:t>
            </a:r>
            <a:r>
              <a:rPr dirty="0" spc="-175"/>
              <a:t>=</a:t>
            </a:r>
            <a:r>
              <a:rPr dirty="0" spc="-20"/>
              <a:t> </a:t>
            </a:r>
            <a:r>
              <a:rPr dirty="0" spc="-30"/>
              <a:t>f(x,y) </a:t>
            </a:r>
            <a:r>
              <a:rPr dirty="0" spc="-10"/>
              <a:t>reduce(f,data):</a:t>
            </a:r>
          </a:p>
          <a:p>
            <a:pPr marL="964565" marR="5457190">
              <a:lnSpc>
                <a:spcPts val="2520"/>
              </a:lnSpc>
              <a:spcBef>
                <a:spcPts val="90"/>
              </a:spcBef>
            </a:pPr>
            <a:r>
              <a:rPr dirty="0"/>
              <a:t>Step </a:t>
            </a:r>
            <a:r>
              <a:rPr dirty="0" spc="-335"/>
              <a:t>1:</a:t>
            </a:r>
            <a:r>
              <a:rPr dirty="0"/>
              <a:t> </a:t>
            </a:r>
            <a:r>
              <a:rPr dirty="0" spc="-100"/>
              <a:t>val1</a:t>
            </a:r>
            <a:r>
              <a:rPr dirty="0" spc="10"/>
              <a:t> </a:t>
            </a:r>
            <a:r>
              <a:rPr dirty="0" spc="-175"/>
              <a:t>=</a:t>
            </a:r>
            <a:r>
              <a:rPr dirty="0"/>
              <a:t> </a:t>
            </a:r>
            <a:r>
              <a:rPr dirty="0" spc="-10"/>
              <a:t>f(d1,d2) </a:t>
            </a:r>
            <a:r>
              <a:rPr dirty="0"/>
              <a:t>Step</a:t>
            </a:r>
            <a:r>
              <a:rPr dirty="0" spc="-10"/>
              <a:t> </a:t>
            </a:r>
            <a:r>
              <a:rPr dirty="0" spc="-140"/>
              <a:t>2:</a:t>
            </a:r>
            <a:r>
              <a:rPr dirty="0"/>
              <a:t> val2</a:t>
            </a:r>
            <a:r>
              <a:rPr dirty="0" spc="-15"/>
              <a:t> </a:t>
            </a:r>
            <a:r>
              <a:rPr dirty="0" spc="-175"/>
              <a:t>=</a:t>
            </a:r>
            <a:r>
              <a:rPr dirty="0" spc="5"/>
              <a:t> </a:t>
            </a:r>
            <a:r>
              <a:rPr dirty="0" spc="-70"/>
              <a:t>f(val1,</a:t>
            </a:r>
            <a:r>
              <a:rPr dirty="0" spc="-25"/>
              <a:t> d3)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90"/>
              <a:t>File</a:t>
            </a:r>
            <a:r>
              <a:rPr dirty="0" spc="-315"/>
              <a:t> </a:t>
            </a:r>
            <a:r>
              <a:rPr dirty="0" spc="-45"/>
              <a:t>Handling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1391869"/>
            <a:ext cx="7814945" cy="3303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189865">
              <a:lnSpc>
                <a:spcPts val="1595"/>
              </a:lnSpc>
              <a:spcBef>
                <a:spcPts val="105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Let’s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see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how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read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write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with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files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Python.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14">
                <a:solidFill>
                  <a:srgbClr val="393E50"/>
                </a:solidFill>
                <a:latin typeface="Lucida Sans Unicode"/>
                <a:cs typeface="Lucida Sans Unicode"/>
              </a:rPr>
              <a:t>We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will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use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basic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functions</a:t>
            </a:r>
            <a:r>
              <a:rPr dirty="0" sz="1400" spc="-6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5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endParaRPr sz="1400">
              <a:latin typeface="Lucida Sans Unicode"/>
              <a:cs typeface="Lucida Sans Unicode"/>
            </a:endParaRPr>
          </a:p>
          <a:p>
            <a:pPr marL="241300">
              <a:lnSpc>
                <a:spcPts val="1595"/>
              </a:lnSpc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methods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like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open(),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read(),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close()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perform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file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manipulation.</a:t>
            </a:r>
            <a:endParaRPr sz="1400">
              <a:latin typeface="Lucida Sans Unicode"/>
              <a:cs typeface="Lucida Sans Unicode"/>
            </a:endParaRPr>
          </a:p>
          <a:p>
            <a:pPr marL="240665" indent="-189865">
              <a:lnSpc>
                <a:spcPct val="100000"/>
              </a:lnSpc>
              <a:spcBef>
                <a:spcPts val="830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file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object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10">
                <a:solidFill>
                  <a:srgbClr val="393E50"/>
                </a:solidFill>
                <a:latin typeface="Lucida Sans Unicode"/>
                <a:cs typeface="Lucida Sans Unicode"/>
              </a:rPr>
              <a:t>=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open(file_name</a:t>
            </a:r>
            <a:r>
              <a:rPr dirty="0" sz="1400" spc="-6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[,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0">
                <a:solidFill>
                  <a:srgbClr val="393E50"/>
                </a:solidFill>
                <a:latin typeface="Lucida Sans Unicode"/>
                <a:cs typeface="Lucida Sans Unicode"/>
              </a:rPr>
              <a:t>access_mode][,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buffering])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12700" marR="5064760">
              <a:lnSpc>
                <a:spcPct val="149300"/>
              </a:lnSpc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Fileopen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75">
                <a:solidFill>
                  <a:srgbClr val="393E50"/>
                </a:solidFill>
                <a:latin typeface="Lucida Sans Unicode"/>
                <a:cs typeface="Lucida Sans Unicode"/>
              </a:rPr>
              <a:t>=</a:t>
            </a:r>
            <a:r>
              <a:rPr dirty="0" sz="1400" spc="8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open(“filename”,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“r”)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Fileopen.close()</a:t>
            </a:r>
            <a:r>
              <a:rPr dirty="0" sz="1400" spc="500">
                <a:solidFill>
                  <a:srgbClr val="393E50"/>
                </a:solidFill>
                <a:latin typeface="Lucida Sans Unicode"/>
                <a:cs typeface="Lucida Sans Unicode"/>
              </a:rPr>
              <a:t> 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Fileopen.read()</a:t>
            </a:r>
            <a:endParaRPr sz="1400">
              <a:latin typeface="Lucida Sans Unicode"/>
              <a:cs typeface="Lucida Sans Unicode"/>
            </a:endParaRPr>
          </a:p>
          <a:p>
            <a:pPr marL="12700" marR="4137025">
              <a:lnSpc>
                <a:spcPct val="149300"/>
              </a:lnSpc>
              <a:spcBef>
                <a:spcPts val="15"/>
              </a:spcBef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Fileopen.readline()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35">
                <a:solidFill>
                  <a:srgbClr val="393E50"/>
                </a:solidFill>
                <a:latin typeface="Lucida Sans Unicode"/>
                <a:cs typeface="Lucida Sans Unicode"/>
              </a:rPr>
              <a:t>//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Read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lines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file 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Fileopen.write(“Welcome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class”)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Let’s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see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 programs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for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file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operations.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2548127"/>
              <a:ext cx="7222490" cy="2326005"/>
            </a:xfrm>
            <a:custGeom>
              <a:avLst/>
              <a:gdLst/>
              <a:ahLst/>
              <a:cxnLst/>
              <a:rect l="l" t="t" r="r" b="b"/>
              <a:pathLst>
                <a:path w="7222490" h="2326004">
                  <a:moveTo>
                    <a:pt x="7222235" y="0"/>
                  </a:moveTo>
                  <a:lnTo>
                    <a:pt x="0" y="0"/>
                  </a:lnTo>
                  <a:lnTo>
                    <a:pt x="0" y="2325624"/>
                  </a:lnTo>
                  <a:lnTo>
                    <a:pt x="7222235" y="2325624"/>
                  </a:lnTo>
                  <a:lnTo>
                    <a:pt x="7222235" y="0"/>
                  </a:lnTo>
                  <a:close/>
                </a:path>
              </a:pathLst>
            </a:custGeom>
            <a:solidFill>
              <a:srgbClr val="00A0CC">
                <a:alpha val="84313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22023" y="126492"/>
              <a:ext cx="449579" cy="4571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00023" y="2689605"/>
            <a:ext cx="557339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4800" spc="-640">
                <a:solidFill>
                  <a:srgbClr val="FFFFFF"/>
                </a:solidFill>
                <a:latin typeface="Lucida Sans Unicode"/>
                <a:cs typeface="Lucida Sans Unicode"/>
              </a:rPr>
              <a:t>4.</a:t>
            </a:r>
            <a:r>
              <a:rPr dirty="0" sz="48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-20">
                <a:solidFill>
                  <a:srgbClr val="FFFFFF"/>
                </a:solidFill>
                <a:latin typeface="Lucida Sans Unicode"/>
                <a:cs typeface="Lucida Sans Unicode"/>
              </a:rPr>
              <a:t>Python</a:t>
            </a:r>
            <a:r>
              <a:rPr dirty="0" sz="4800" spc="-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-75">
                <a:solidFill>
                  <a:srgbClr val="FFFFFF"/>
                </a:solidFill>
                <a:latin typeface="Lucida Sans Unicode"/>
                <a:cs typeface="Lucida Sans Unicode"/>
              </a:rPr>
              <a:t>Exception</a:t>
            </a:r>
            <a:endParaRPr sz="48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00023" y="2859538"/>
            <a:ext cx="4148454" cy="1651000"/>
          </a:xfrm>
          <a:prstGeom prst="rect">
            <a:avLst/>
          </a:prstGeom>
        </p:spPr>
        <p:txBody>
          <a:bodyPr wrap="square" lIns="0" tIns="42798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69"/>
              </a:spcBef>
            </a:pPr>
            <a:r>
              <a:rPr dirty="0" sz="4800" spc="-10">
                <a:solidFill>
                  <a:srgbClr val="FFFFFF"/>
                </a:solidFill>
                <a:latin typeface="Lucida Sans Unicode"/>
                <a:cs typeface="Lucida Sans Unicode"/>
              </a:rPr>
              <a:t>Handling</a:t>
            </a:r>
            <a:endParaRPr sz="4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r>
              <a:rPr dirty="0" sz="2000" spc="-85">
                <a:solidFill>
                  <a:srgbClr val="FFFFFF"/>
                </a:solidFill>
                <a:latin typeface="Lucida Sans Unicode"/>
                <a:cs typeface="Lucida Sans Unicode"/>
              </a:rPr>
              <a:t>Let’s</a:t>
            </a:r>
            <a:r>
              <a:rPr dirty="0" sz="20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start</a:t>
            </a:r>
            <a:r>
              <a:rPr dirty="0" sz="20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0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Lucida Sans Unicode"/>
                <a:cs typeface="Lucida Sans Unicode"/>
              </a:rPr>
              <a:t>fourth</a:t>
            </a:r>
            <a:r>
              <a:rPr dirty="0" sz="20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chapter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4215" y="2894076"/>
            <a:ext cx="518159" cy="51816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45643" y="319618"/>
            <a:ext cx="11682730" cy="63874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2800" spc="60">
                <a:latin typeface="Arial Black"/>
                <a:cs typeface="Arial Black"/>
              </a:rPr>
              <a:t>Why</a:t>
            </a:r>
            <a:r>
              <a:rPr dirty="0" sz="2800" spc="-325">
                <a:latin typeface="Arial Black"/>
                <a:cs typeface="Arial Black"/>
              </a:rPr>
              <a:t> </a:t>
            </a:r>
            <a:r>
              <a:rPr dirty="0" sz="2800" spc="-10">
                <a:latin typeface="Arial Black"/>
                <a:cs typeface="Arial Black"/>
              </a:rPr>
              <a:t>Spark?</a:t>
            </a: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2800">
              <a:latin typeface="Arial Black"/>
              <a:cs typeface="Arial Black"/>
            </a:endParaRPr>
          </a:p>
          <a:p>
            <a:pPr marL="391795">
              <a:lnSpc>
                <a:spcPct val="100000"/>
              </a:lnSpc>
            </a:pPr>
            <a:r>
              <a:rPr dirty="0" sz="1400">
                <a:latin typeface="Lucida Sans Unicode"/>
                <a:cs typeface="Lucida Sans Unicode"/>
              </a:rPr>
              <a:t>In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the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-20">
                <a:latin typeface="Lucida Sans Unicode"/>
                <a:cs typeface="Lucida Sans Unicode"/>
              </a:rPr>
              <a:t>industry,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there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is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 spc="170">
                <a:latin typeface="Lucida Sans Unicode"/>
                <a:cs typeface="Lucida Sans Unicode"/>
              </a:rPr>
              <a:t>a</a:t>
            </a:r>
            <a:r>
              <a:rPr dirty="0" sz="140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need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 spc="-30">
                <a:latin typeface="Lucida Sans Unicode"/>
                <a:cs typeface="Lucida Sans Unicode"/>
              </a:rPr>
              <a:t>for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170">
                <a:latin typeface="Lucida Sans Unicode"/>
                <a:cs typeface="Lucida Sans Unicode"/>
              </a:rPr>
              <a:t>a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general-purpose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cluster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45">
                <a:latin typeface="Lucida Sans Unicode"/>
                <a:cs typeface="Lucida Sans Unicode"/>
              </a:rPr>
              <a:t>computing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tool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-25">
                <a:latin typeface="Lucida Sans Unicode"/>
                <a:cs typeface="Lucida Sans Unicode"/>
              </a:rPr>
              <a:t>as: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50">
                <a:latin typeface="Lucida Sans Unicode"/>
                <a:cs typeface="Lucida Sans Unicode"/>
              </a:rPr>
              <a:t>Hadoop</a:t>
            </a:r>
            <a:r>
              <a:rPr dirty="0" sz="1400" spc="-15">
                <a:latin typeface="Lucida Sans Unicode"/>
                <a:cs typeface="Lucida Sans Unicode"/>
              </a:rPr>
              <a:t> </a:t>
            </a:r>
            <a:r>
              <a:rPr dirty="0" sz="1400" spc="50">
                <a:latin typeface="Lucida Sans Unicode"/>
                <a:cs typeface="Lucida Sans Unicode"/>
              </a:rPr>
              <a:t>Map-</a:t>
            </a:r>
            <a:r>
              <a:rPr dirty="0" sz="1400" spc="55">
                <a:latin typeface="Lucida Sans Unicode"/>
                <a:cs typeface="Lucida Sans Unicode"/>
              </a:rPr>
              <a:t>Reduce</a:t>
            </a:r>
            <a:r>
              <a:rPr dirty="0" sz="1400" spc="-55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55">
                <a:latin typeface="Lucida Sans Unicode"/>
                <a:cs typeface="Lucida Sans Unicode"/>
              </a:rPr>
              <a:t> </a:t>
            </a:r>
            <a:r>
              <a:rPr dirty="0" sz="1400" spc="75">
                <a:latin typeface="Lucida Sans Unicode"/>
                <a:cs typeface="Lucida Sans Unicode"/>
              </a:rPr>
              <a:t>batch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processing.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Storm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S4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stream</a:t>
            </a:r>
            <a:r>
              <a:rPr dirty="0" sz="1400" spc="-5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processing.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5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Impala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75">
                <a:latin typeface="Lucida Sans Unicode"/>
                <a:cs typeface="Lucida Sans Unicode"/>
              </a:rPr>
              <a:t>Tez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 spc="105">
                <a:latin typeface="Lucida Sans Unicode"/>
                <a:cs typeface="Lucida Sans Unicode"/>
              </a:rPr>
              <a:t>can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interactive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>
                <a:latin typeface="Lucida Sans Unicode"/>
                <a:cs typeface="Lucida Sans Unicode"/>
              </a:rPr>
              <a:t>Neo4j</a:t>
            </a:r>
            <a:r>
              <a:rPr dirty="0" sz="1400" spc="-45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Giraph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graph</a:t>
            </a:r>
            <a:r>
              <a:rPr dirty="0" sz="1400" spc="-10">
                <a:latin typeface="Lucida Sans Unicode"/>
                <a:cs typeface="Lucida Sans Unicode"/>
              </a:rPr>
              <a:t> processing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48260">
              <a:lnSpc>
                <a:spcPct val="100000"/>
              </a:lnSpc>
            </a:pPr>
            <a:r>
              <a:rPr dirty="0" sz="900" spc="-25">
                <a:solidFill>
                  <a:srgbClr val="FFFFFF"/>
                </a:solidFill>
                <a:latin typeface="Lucida Sans Unicode"/>
                <a:cs typeface="Lucida Sans Unicode"/>
              </a:rPr>
              <a:t>24</a:t>
            </a:r>
            <a:endParaRPr sz="900">
              <a:latin typeface="Lucida Sans Unicode"/>
              <a:cs typeface="Lucida Sans Unicode"/>
            </a:endParaRPr>
          </a:p>
          <a:p>
            <a:pPr algn="r">
              <a:lnSpc>
                <a:spcPct val="100000"/>
              </a:lnSpc>
              <a:spcBef>
                <a:spcPts val="430"/>
              </a:spcBef>
            </a:pPr>
            <a:r>
              <a:rPr dirty="0" sz="1400">
                <a:solidFill>
                  <a:srgbClr val="496E93"/>
                </a:solidFill>
                <a:latin typeface="Arial MT"/>
                <a:cs typeface="Arial MT"/>
              </a:rPr>
              <a:t>©</a:t>
            </a:r>
            <a:r>
              <a:rPr dirty="0" sz="1400" spc="-15">
                <a:solidFill>
                  <a:srgbClr val="496E93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96E93"/>
                </a:solidFill>
                <a:latin typeface="Arial MT"/>
                <a:cs typeface="Arial MT"/>
              </a:rPr>
              <a:t>zepanalytics.com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24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zepanalytics.com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943" y="324688"/>
            <a:ext cx="35648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60"/>
              <a:t>Exception</a:t>
            </a:r>
            <a:r>
              <a:rPr dirty="0" spc="-280"/>
              <a:t> </a:t>
            </a:r>
            <a:r>
              <a:rPr dirty="0" spc="-30"/>
              <a:t>Handling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08432" rIns="0" bIns="0" rtlCol="0" vert="horz">
            <a:spAutoFit/>
          </a:bodyPr>
          <a:lstStyle/>
          <a:p>
            <a:pPr marL="351790" indent="-189865">
              <a:lnSpc>
                <a:spcPct val="100000"/>
              </a:lnSpc>
              <a:spcBef>
                <a:spcPts val="919"/>
              </a:spcBef>
              <a:buFont typeface="Times New Roman"/>
              <a:buChar char="●"/>
              <a:tabLst>
                <a:tab pos="352425" algn="l"/>
              </a:tabLst>
            </a:pPr>
            <a:r>
              <a:rPr dirty="0"/>
              <a:t>An</a:t>
            </a:r>
            <a:r>
              <a:rPr dirty="0" spc="-25"/>
              <a:t> </a:t>
            </a:r>
            <a:r>
              <a:rPr dirty="0"/>
              <a:t>exception</a:t>
            </a:r>
            <a:r>
              <a:rPr dirty="0" spc="-20"/>
              <a:t> </a:t>
            </a:r>
            <a:r>
              <a:rPr dirty="0" spc="-30"/>
              <a:t>is</a:t>
            </a:r>
            <a:r>
              <a:rPr dirty="0" spc="-10"/>
              <a:t> </a:t>
            </a:r>
            <a:r>
              <a:rPr dirty="0" spc="90"/>
              <a:t>an</a:t>
            </a:r>
            <a:r>
              <a:rPr dirty="0" spc="-10"/>
              <a:t> </a:t>
            </a:r>
            <a:r>
              <a:rPr dirty="0" spc="50"/>
              <a:t>abnormal</a:t>
            </a:r>
            <a:r>
              <a:rPr dirty="0" spc="-15"/>
              <a:t> </a:t>
            </a:r>
            <a:r>
              <a:rPr dirty="0"/>
              <a:t>condition</a:t>
            </a:r>
            <a:r>
              <a:rPr dirty="0" spc="-20"/>
              <a:t> </a:t>
            </a:r>
            <a:r>
              <a:rPr dirty="0"/>
              <a:t>or</a:t>
            </a:r>
            <a:r>
              <a:rPr dirty="0" spc="-15"/>
              <a:t> </a:t>
            </a:r>
            <a:r>
              <a:rPr dirty="0" spc="-10"/>
              <a:t>error</a:t>
            </a:r>
            <a:r>
              <a:rPr dirty="0"/>
              <a:t> that</a:t>
            </a:r>
            <a:r>
              <a:rPr dirty="0" spc="-10"/>
              <a:t> </a:t>
            </a:r>
            <a:r>
              <a:rPr dirty="0"/>
              <a:t>occurs</a:t>
            </a:r>
            <a:r>
              <a:rPr dirty="0" spc="-20"/>
              <a:t> </a:t>
            </a:r>
            <a:r>
              <a:rPr dirty="0"/>
              <a:t>during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execution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program.</a:t>
            </a:r>
          </a:p>
          <a:p>
            <a:pPr marL="351790" indent="-189865">
              <a:lnSpc>
                <a:spcPct val="100000"/>
              </a:lnSpc>
              <a:spcBef>
                <a:spcPts val="830"/>
              </a:spcBef>
              <a:buFont typeface="Times New Roman"/>
              <a:buChar char="●"/>
              <a:tabLst>
                <a:tab pos="352425" algn="l"/>
              </a:tabLst>
            </a:pPr>
            <a:r>
              <a:rPr dirty="0" spc="70"/>
              <a:t>Some</a:t>
            </a:r>
            <a:r>
              <a:rPr dirty="0" spc="-40"/>
              <a:t> </a:t>
            </a:r>
            <a:r>
              <a:rPr dirty="0" spc="75"/>
              <a:t>common</a:t>
            </a:r>
            <a:r>
              <a:rPr dirty="0" spc="-75"/>
              <a:t> </a:t>
            </a:r>
            <a:r>
              <a:rPr dirty="0"/>
              <a:t>exceptions</a:t>
            </a:r>
            <a:r>
              <a:rPr dirty="0" spc="-20"/>
              <a:t> </a:t>
            </a:r>
            <a:r>
              <a:rPr dirty="0" spc="60"/>
              <a:t>are</a:t>
            </a:r>
            <a:r>
              <a:rPr dirty="0" spc="-10"/>
              <a:t> </a:t>
            </a:r>
            <a:r>
              <a:rPr dirty="0" spc="85"/>
              <a:t>as</a:t>
            </a:r>
            <a:r>
              <a:rPr dirty="0" spc="-25"/>
              <a:t> </a:t>
            </a:r>
            <a:r>
              <a:rPr dirty="0" spc="-10"/>
              <a:t>follows:</a:t>
            </a:r>
          </a:p>
          <a:p>
            <a:pPr marL="350520" indent="-188595">
              <a:lnSpc>
                <a:spcPct val="100000"/>
              </a:lnSpc>
              <a:spcBef>
                <a:spcPts val="830"/>
              </a:spcBef>
              <a:buChar char="-"/>
              <a:tabLst>
                <a:tab pos="351155" algn="l"/>
              </a:tabLst>
            </a:pPr>
            <a:r>
              <a:rPr dirty="0" spc="-10"/>
              <a:t>NameError</a:t>
            </a:r>
          </a:p>
          <a:p>
            <a:pPr marL="350520" indent="-188595">
              <a:lnSpc>
                <a:spcPct val="100000"/>
              </a:lnSpc>
              <a:spcBef>
                <a:spcPts val="840"/>
              </a:spcBef>
              <a:buChar char="-"/>
              <a:tabLst>
                <a:tab pos="351155" algn="l"/>
              </a:tabLst>
            </a:pPr>
            <a:r>
              <a:rPr dirty="0" spc="-10"/>
              <a:t>ZeroDivisionError</a:t>
            </a:r>
          </a:p>
          <a:p>
            <a:pPr marL="350520" indent="-188595">
              <a:lnSpc>
                <a:spcPct val="100000"/>
              </a:lnSpc>
              <a:spcBef>
                <a:spcPts val="830"/>
              </a:spcBef>
              <a:buChar char="-"/>
              <a:tabLst>
                <a:tab pos="351155" algn="l"/>
              </a:tabLst>
            </a:pPr>
            <a:r>
              <a:rPr dirty="0"/>
              <a:t>Indentation</a:t>
            </a:r>
            <a:r>
              <a:rPr dirty="0" spc="125"/>
              <a:t> </a:t>
            </a:r>
            <a:r>
              <a:rPr dirty="0" spc="-10"/>
              <a:t>Error</a:t>
            </a:r>
          </a:p>
          <a:p>
            <a:pPr marL="350520" indent="-188595">
              <a:lnSpc>
                <a:spcPct val="100000"/>
              </a:lnSpc>
              <a:spcBef>
                <a:spcPts val="825"/>
              </a:spcBef>
              <a:buChar char="-"/>
              <a:tabLst>
                <a:tab pos="351155" algn="l"/>
              </a:tabLst>
            </a:pPr>
            <a:r>
              <a:rPr dirty="0" spc="-30"/>
              <a:t>IO</a:t>
            </a:r>
            <a:r>
              <a:rPr dirty="0" spc="-75"/>
              <a:t> </a:t>
            </a:r>
            <a:r>
              <a:rPr dirty="0" spc="-10"/>
              <a:t>Error</a:t>
            </a:r>
          </a:p>
          <a:p>
            <a:pPr marL="123825">
              <a:lnSpc>
                <a:spcPct val="100000"/>
              </a:lnSpc>
              <a:spcBef>
                <a:spcPts val="844"/>
              </a:spcBef>
            </a:pPr>
            <a:r>
              <a:rPr dirty="0" spc="-60"/>
              <a:t>Let’s</a:t>
            </a:r>
            <a:r>
              <a:rPr dirty="0" spc="10"/>
              <a:t> </a:t>
            </a:r>
            <a:r>
              <a:rPr dirty="0" spc="60"/>
              <a:t>see</a:t>
            </a:r>
            <a:r>
              <a:rPr dirty="0" spc="25"/>
              <a:t> </a:t>
            </a:r>
            <a:r>
              <a:rPr dirty="0"/>
              <a:t>how</a:t>
            </a:r>
            <a:r>
              <a:rPr dirty="0" spc="1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use</a:t>
            </a:r>
            <a:r>
              <a:rPr dirty="0" spc="15"/>
              <a:t> </a:t>
            </a:r>
            <a:r>
              <a:rPr dirty="0" spc="-75"/>
              <a:t>try,</a:t>
            </a:r>
            <a:r>
              <a:rPr dirty="0" spc="25"/>
              <a:t> </a:t>
            </a:r>
            <a:r>
              <a:rPr dirty="0"/>
              <a:t>catch,</a:t>
            </a:r>
            <a:r>
              <a:rPr dirty="0" spc="25"/>
              <a:t> </a:t>
            </a:r>
            <a:r>
              <a:rPr dirty="0"/>
              <a:t>except</a:t>
            </a:r>
            <a:r>
              <a:rPr dirty="0" spc="30"/>
              <a:t> </a:t>
            </a:r>
            <a:r>
              <a:rPr dirty="0" spc="80"/>
              <a:t>and</a:t>
            </a:r>
            <a:r>
              <a:rPr dirty="0" spc="25"/>
              <a:t> </a:t>
            </a:r>
            <a:r>
              <a:rPr dirty="0" spc="-20"/>
              <a:t>finally</a:t>
            </a:r>
            <a:r>
              <a:rPr dirty="0" spc="20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handle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 spc="-10"/>
              <a:t>exceptions.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2548127"/>
              <a:ext cx="7222490" cy="2326005"/>
            </a:xfrm>
            <a:custGeom>
              <a:avLst/>
              <a:gdLst/>
              <a:ahLst/>
              <a:cxnLst/>
              <a:rect l="l" t="t" r="r" b="b"/>
              <a:pathLst>
                <a:path w="7222490" h="2326004">
                  <a:moveTo>
                    <a:pt x="7222235" y="0"/>
                  </a:moveTo>
                  <a:lnTo>
                    <a:pt x="0" y="0"/>
                  </a:lnTo>
                  <a:lnTo>
                    <a:pt x="0" y="2325624"/>
                  </a:lnTo>
                  <a:lnTo>
                    <a:pt x="7222235" y="2325624"/>
                  </a:lnTo>
                  <a:lnTo>
                    <a:pt x="7222235" y="0"/>
                  </a:lnTo>
                  <a:close/>
                </a:path>
              </a:pathLst>
            </a:custGeom>
            <a:solidFill>
              <a:srgbClr val="00A0CC">
                <a:alpha val="84313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22023" y="126492"/>
              <a:ext cx="449579" cy="4571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87323" y="2382723"/>
            <a:ext cx="305435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95">
                <a:solidFill>
                  <a:srgbClr val="FFFFFF"/>
                </a:solidFill>
                <a:latin typeface="Lucida Sans Unicode"/>
                <a:cs typeface="Lucida Sans Unicode"/>
              </a:rPr>
              <a:t>5.</a:t>
            </a:r>
            <a:r>
              <a:rPr dirty="0" sz="48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-65">
                <a:solidFill>
                  <a:srgbClr val="FFFFFF"/>
                </a:solidFill>
                <a:latin typeface="Lucida Sans Unicode"/>
                <a:cs typeface="Lucida Sans Unicode"/>
              </a:rPr>
              <a:t>Iterators</a:t>
            </a:r>
            <a:endParaRPr sz="48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7323" y="2968497"/>
            <a:ext cx="435609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7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endParaRPr sz="48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7323" y="3240577"/>
            <a:ext cx="3888104" cy="1506855"/>
          </a:xfrm>
          <a:prstGeom prst="rect">
            <a:avLst/>
          </a:prstGeom>
        </p:spPr>
        <p:txBody>
          <a:bodyPr wrap="square" lIns="0" tIns="325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65"/>
              </a:spcBef>
            </a:pPr>
            <a:r>
              <a:rPr dirty="0" sz="4800" spc="-10">
                <a:solidFill>
                  <a:srgbClr val="FFFFFF"/>
                </a:solidFill>
                <a:latin typeface="Lucida Sans Unicode"/>
                <a:cs typeface="Lucida Sans Unicode"/>
              </a:rPr>
              <a:t>🟏enerators</a:t>
            </a:r>
            <a:endParaRPr sz="4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2000" spc="-85">
                <a:solidFill>
                  <a:srgbClr val="FFFFFF"/>
                </a:solidFill>
                <a:latin typeface="Lucida Sans Unicode"/>
                <a:cs typeface="Lucida Sans Unicode"/>
              </a:rPr>
              <a:t>Let’s</a:t>
            </a:r>
            <a:r>
              <a:rPr dirty="0" sz="20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start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20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Lucida Sans Unicode"/>
                <a:cs typeface="Lucida Sans Unicode"/>
              </a:rPr>
              <a:t>fifth</a:t>
            </a:r>
            <a:r>
              <a:rPr dirty="0" sz="20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chapter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4215" y="2894076"/>
            <a:ext cx="518159" cy="51816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45643" y="319618"/>
            <a:ext cx="11682730" cy="63874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2800" spc="60">
                <a:latin typeface="Arial Black"/>
                <a:cs typeface="Arial Black"/>
              </a:rPr>
              <a:t>Why</a:t>
            </a:r>
            <a:r>
              <a:rPr dirty="0" sz="2800" spc="-325">
                <a:latin typeface="Arial Black"/>
                <a:cs typeface="Arial Black"/>
              </a:rPr>
              <a:t> </a:t>
            </a:r>
            <a:r>
              <a:rPr dirty="0" sz="2800" spc="-10">
                <a:latin typeface="Arial Black"/>
                <a:cs typeface="Arial Black"/>
              </a:rPr>
              <a:t>Spark?</a:t>
            </a: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2800">
              <a:latin typeface="Arial Black"/>
              <a:cs typeface="Arial Black"/>
            </a:endParaRPr>
          </a:p>
          <a:p>
            <a:pPr marL="391795">
              <a:lnSpc>
                <a:spcPct val="100000"/>
              </a:lnSpc>
            </a:pPr>
            <a:r>
              <a:rPr dirty="0" sz="1400">
                <a:latin typeface="Lucida Sans Unicode"/>
                <a:cs typeface="Lucida Sans Unicode"/>
              </a:rPr>
              <a:t>In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the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-20">
                <a:latin typeface="Lucida Sans Unicode"/>
                <a:cs typeface="Lucida Sans Unicode"/>
              </a:rPr>
              <a:t>industry,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there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is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 spc="170">
                <a:latin typeface="Lucida Sans Unicode"/>
                <a:cs typeface="Lucida Sans Unicode"/>
              </a:rPr>
              <a:t>a</a:t>
            </a:r>
            <a:r>
              <a:rPr dirty="0" sz="140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need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 spc="-30">
                <a:latin typeface="Lucida Sans Unicode"/>
                <a:cs typeface="Lucida Sans Unicode"/>
              </a:rPr>
              <a:t>for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170">
                <a:latin typeface="Lucida Sans Unicode"/>
                <a:cs typeface="Lucida Sans Unicode"/>
              </a:rPr>
              <a:t>a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general-purpose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cluster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45">
                <a:latin typeface="Lucida Sans Unicode"/>
                <a:cs typeface="Lucida Sans Unicode"/>
              </a:rPr>
              <a:t>computing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tool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-25">
                <a:latin typeface="Lucida Sans Unicode"/>
                <a:cs typeface="Lucida Sans Unicode"/>
              </a:rPr>
              <a:t>as: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50">
                <a:latin typeface="Lucida Sans Unicode"/>
                <a:cs typeface="Lucida Sans Unicode"/>
              </a:rPr>
              <a:t>Hadoop</a:t>
            </a:r>
            <a:r>
              <a:rPr dirty="0" sz="1400" spc="-15">
                <a:latin typeface="Lucida Sans Unicode"/>
                <a:cs typeface="Lucida Sans Unicode"/>
              </a:rPr>
              <a:t> </a:t>
            </a:r>
            <a:r>
              <a:rPr dirty="0" sz="1400" spc="50">
                <a:latin typeface="Lucida Sans Unicode"/>
                <a:cs typeface="Lucida Sans Unicode"/>
              </a:rPr>
              <a:t>Map-</a:t>
            </a:r>
            <a:r>
              <a:rPr dirty="0" sz="1400" spc="55">
                <a:latin typeface="Lucida Sans Unicode"/>
                <a:cs typeface="Lucida Sans Unicode"/>
              </a:rPr>
              <a:t>Reduce</a:t>
            </a:r>
            <a:r>
              <a:rPr dirty="0" sz="1400" spc="-55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55">
                <a:latin typeface="Lucida Sans Unicode"/>
                <a:cs typeface="Lucida Sans Unicode"/>
              </a:rPr>
              <a:t> </a:t>
            </a:r>
            <a:r>
              <a:rPr dirty="0" sz="1400" spc="75">
                <a:latin typeface="Lucida Sans Unicode"/>
                <a:cs typeface="Lucida Sans Unicode"/>
              </a:rPr>
              <a:t>batch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processing.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Storm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S4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stream</a:t>
            </a:r>
            <a:r>
              <a:rPr dirty="0" sz="1400" spc="-5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processing.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5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Impala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75">
                <a:latin typeface="Lucida Sans Unicode"/>
                <a:cs typeface="Lucida Sans Unicode"/>
              </a:rPr>
              <a:t>Tez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 spc="105">
                <a:latin typeface="Lucida Sans Unicode"/>
                <a:cs typeface="Lucida Sans Unicode"/>
              </a:rPr>
              <a:t>can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interactive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>
                <a:latin typeface="Lucida Sans Unicode"/>
                <a:cs typeface="Lucida Sans Unicode"/>
              </a:rPr>
              <a:t>Neo4j</a:t>
            </a:r>
            <a:r>
              <a:rPr dirty="0" sz="1400" spc="-45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Giraph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graph</a:t>
            </a:r>
            <a:r>
              <a:rPr dirty="0" sz="1400" spc="-10">
                <a:latin typeface="Lucida Sans Unicode"/>
                <a:cs typeface="Lucida Sans Unicode"/>
              </a:rPr>
              <a:t> processing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46990">
              <a:lnSpc>
                <a:spcPct val="100000"/>
              </a:lnSpc>
            </a:pPr>
            <a:r>
              <a:rPr dirty="0" sz="900" spc="-25">
                <a:solidFill>
                  <a:srgbClr val="FFFFFF"/>
                </a:solidFill>
                <a:latin typeface="Lucida Sans Unicode"/>
                <a:cs typeface="Lucida Sans Unicode"/>
              </a:rPr>
              <a:t>26</a:t>
            </a:r>
            <a:endParaRPr sz="900">
              <a:latin typeface="Lucida Sans Unicode"/>
              <a:cs typeface="Lucida Sans Unicode"/>
            </a:endParaRPr>
          </a:p>
          <a:p>
            <a:pPr algn="r">
              <a:lnSpc>
                <a:spcPct val="100000"/>
              </a:lnSpc>
              <a:spcBef>
                <a:spcPts val="430"/>
              </a:spcBef>
            </a:pPr>
            <a:r>
              <a:rPr dirty="0" sz="1400">
                <a:solidFill>
                  <a:srgbClr val="496E93"/>
                </a:solidFill>
                <a:latin typeface="Arial MT"/>
                <a:cs typeface="Arial MT"/>
              </a:rPr>
              <a:t>©</a:t>
            </a:r>
            <a:r>
              <a:rPr dirty="0" sz="1400" spc="-15">
                <a:solidFill>
                  <a:srgbClr val="496E93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96E93"/>
                </a:solidFill>
                <a:latin typeface="Arial MT"/>
                <a:cs typeface="Arial MT"/>
              </a:rPr>
              <a:t>zepanalytics.com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zepanalytics.com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0"/>
              <a:t>Iterators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96620" y="1182700"/>
            <a:ext cx="7550150" cy="1261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2565" indent="-189865">
              <a:lnSpc>
                <a:spcPts val="1595"/>
              </a:lnSpc>
              <a:spcBef>
                <a:spcPts val="105"/>
              </a:spcBef>
              <a:buFont typeface="Times New Roman"/>
              <a:buChar char="●"/>
              <a:tabLst>
                <a:tab pos="2025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Iterator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Python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simply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0">
                <a:solidFill>
                  <a:srgbClr val="393E50"/>
                </a:solidFill>
                <a:latin typeface="Lucida Sans Unicode"/>
                <a:cs typeface="Lucida Sans Unicode"/>
              </a:rPr>
              <a:t>an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object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that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10">
                <a:solidFill>
                  <a:srgbClr val="393E50"/>
                </a:solidFill>
                <a:latin typeface="Lucida Sans Unicode"/>
                <a:cs typeface="Lucida Sans Unicode"/>
              </a:rPr>
              <a:t>can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be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iterated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upon.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An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object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which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will</a:t>
            </a:r>
            <a:endParaRPr sz="1400">
              <a:latin typeface="Lucida Sans Unicode"/>
              <a:cs typeface="Lucida Sans Unicode"/>
            </a:endParaRPr>
          </a:p>
          <a:p>
            <a:pPr marL="203200">
              <a:lnSpc>
                <a:spcPts val="1595"/>
              </a:lnSpc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return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data,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one</a:t>
            </a:r>
            <a:r>
              <a:rPr dirty="0" sz="1400" spc="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element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at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time.</a:t>
            </a:r>
            <a:endParaRPr sz="1400">
              <a:latin typeface="Lucida Sans Unicode"/>
              <a:cs typeface="Lucida Sans Unicode"/>
            </a:endParaRPr>
          </a:p>
          <a:p>
            <a:pPr marL="203200" marR="120650" indent="-190500">
              <a:lnSpc>
                <a:spcPts val="1510"/>
              </a:lnSpc>
              <a:spcBef>
                <a:spcPts val="1019"/>
              </a:spcBef>
              <a:buFont typeface="Times New Roman"/>
              <a:buChar char="●"/>
              <a:tabLst>
                <a:tab pos="203200" algn="l"/>
                <a:tab pos="3536950" algn="l"/>
                <a:tab pos="4057650" algn="l"/>
                <a:tab pos="4895850" algn="l"/>
                <a:tab pos="5505450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It</a:t>
            </a:r>
            <a:r>
              <a:rPr dirty="0" sz="1400" spc="1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implement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two</a:t>
            </a:r>
            <a:r>
              <a:rPr dirty="0" sz="1400" spc="9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special</a:t>
            </a:r>
            <a:r>
              <a:rPr dirty="0" sz="1400" spc="1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methods,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u="sng" sz="1400">
                <a:solidFill>
                  <a:srgbClr val="393E50"/>
                </a:solidFill>
                <a:uFill>
                  <a:solidFill>
                    <a:srgbClr val="383D4F"/>
                  </a:solidFill>
                </a:uFill>
                <a:latin typeface="Lucida Sans Unicode"/>
                <a:cs typeface="Lucida Sans Unicode"/>
              </a:rPr>
              <a:t>	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iter</a:t>
            </a:r>
            <a:r>
              <a:rPr dirty="0" u="sng" sz="1400">
                <a:solidFill>
                  <a:srgbClr val="393E50"/>
                </a:solidFill>
                <a:uFill>
                  <a:solidFill>
                    <a:srgbClr val="383D4F"/>
                  </a:solidFill>
                </a:uFill>
                <a:latin typeface="Lucida Sans Unicode"/>
                <a:cs typeface="Lucida Sans Unicode"/>
              </a:rPr>
              <a:t>	</a:t>
            </a:r>
            <a:r>
              <a:rPr dirty="0" sz="1400" spc="135">
                <a:solidFill>
                  <a:srgbClr val="393E50"/>
                </a:solidFill>
                <a:latin typeface="Lucida Sans Unicode"/>
                <a:cs typeface="Lucida Sans Unicode"/>
              </a:rPr>
              <a:t>()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u="sng" sz="1400">
                <a:solidFill>
                  <a:srgbClr val="393E50"/>
                </a:solidFill>
                <a:uFill>
                  <a:solidFill>
                    <a:srgbClr val="383D4F"/>
                  </a:solidFill>
                </a:uFill>
                <a:latin typeface="Lucida Sans Unicode"/>
                <a:cs typeface="Lucida Sans Unicode"/>
              </a:rPr>
              <a:t>	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next</a:t>
            </a:r>
            <a:r>
              <a:rPr dirty="0" u="sng" sz="1400">
                <a:solidFill>
                  <a:srgbClr val="393E50"/>
                </a:solidFill>
                <a:uFill>
                  <a:solidFill>
                    <a:srgbClr val="383D4F"/>
                  </a:solidFill>
                </a:uFill>
                <a:latin typeface="Lucida Sans Unicode"/>
                <a:cs typeface="Lucida Sans Unicode"/>
              </a:rPr>
              <a:t>	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(),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together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called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the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iterator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protocol.</a:t>
            </a:r>
            <a:endParaRPr sz="1400">
              <a:latin typeface="Lucida Sans Unicode"/>
              <a:cs typeface="Lucida Sans Unicode"/>
            </a:endParaRPr>
          </a:p>
          <a:p>
            <a:pPr marL="202565" indent="-189865">
              <a:lnSpc>
                <a:spcPct val="100000"/>
              </a:lnSpc>
              <a:spcBef>
                <a:spcPts val="810"/>
              </a:spcBef>
              <a:buFont typeface="Times New Roman"/>
              <a:buChar char="●"/>
              <a:tabLst>
                <a:tab pos="20256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Let’s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understand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more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detail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with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help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program.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2943" y="2903600"/>
            <a:ext cx="208851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85">
                <a:latin typeface="Arial Black"/>
                <a:cs typeface="Arial Black"/>
              </a:rPr>
              <a:t>Generators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0336" y="3914013"/>
            <a:ext cx="7807959" cy="1965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9565" indent="-316865">
              <a:lnSpc>
                <a:spcPts val="1595"/>
              </a:lnSpc>
              <a:spcBef>
                <a:spcPts val="100"/>
              </a:spcBef>
              <a:buFont typeface="Times New Roman"/>
              <a:buChar char="●"/>
              <a:tabLst>
                <a:tab pos="3295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Python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Generators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are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simple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5">
                <a:solidFill>
                  <a:srgbClr val="393E50"/>
                </a:solidFill>
                <a:latin typeface="Lucida Sans Unicode"/>
                <a:cs typeface="Lucida Sans Unicode"/>
              </a:rPr>
              <a:t>way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creating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iterators.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Basically,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it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that</a:t>
            </a:r>
            <a:endParaRPr sz="1400">
              <a:latin typeface="Lucida Sans Unicode"/>
              <a:cs typeface="Lucida Sans Unicode"/>
            </a:endParaRPr>
          </a:p>
          <a:p>
            <a:pPr marL="329565">
              <a:lnSpc>
                <a:spcPts val="1595"/>
              </a:lnSpc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returns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0">
                <a:solidFill>
                  <a:srgbClr val="393E50"/>
                </a:solidFill>
                <a:latin typeface="Lucida Sans Unicode"/>
                <a:cs typeface="Lucida Sans Unicode"/>
              </a:rPr>
              <a:t>an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object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(iterator)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which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we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10">
                <a:solidFill>
                  <a:srgbClr val="393E50"/>
                </a:solidFill>
                <a:latin typeface="Lucida Sans Unicode"/>
                <a:cs typeface="Lucida Sans Unicode"/>
              </a:rPr>
              <a:t>can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iterate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over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(one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at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time).</a:t>
            </a:r>
            <a:endParaRPr sz="1400">
              <a:latin typeface="Lucida Sans Unicode"/>
              <a:cs typeface="Lucida Sans Unicode"/>
            </a:endParaRPr>
          </a:p>
          <a:p>
            <a:pPr marL="329565" marR="426084" indent="-317500">
              <a:lnSpc>
                <a:spcPts val="1510"/>
              </a:lnSpc>
              <a:spcBef>
                <a:spcPts val="1025"/>
              </a:spcBef>
              <a:buFont typeface="Times New Roman"/>
              <a:buChar char="●"/>
              <a:tabLst>
                <a:tab pos="329565" algn="l"/>
              </a:tabLst>
            </a:pP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If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contains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at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least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one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yield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statement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(it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0">
                <a:solidFill>
                  <a:srgbClr val="393E50"/>
                </a:solidFill>
                <a:latin typeface="Lucida Sans Unicode"/>
                <a:cs typeface="Lucida Sans Unicode"/>
              </a:rPr>
              <a:t>may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contain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yield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or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return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statements),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it</a:t>
            </a:r>
            <a:r>
              <a:rPr dirty="0" sz="1400" spc="9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becomes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generator</a:t>
            </a:r>
            <a:r>
              <a:rPr dirty="0" sz="1400" spc="9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function.</a:t>
            </a:r>
            <a:endParaRPr sz="1400">
              <a:latin typeface="Lucida Sans Unicode"/>
              <a:cs typeface="Lucida Sans Unicode"/>
            </a:endParaRPr>
          </a:p>
          <a:p>
            <a:pPr marL="329565" marR="5080" indent="-317500">
              <a:lnSpc>
                <a:spcPts val="1510"/>
              </a:lnSpc>
              <a:spcBef>
                <a:spcPts val="1000"/>
              </a:spcBef>
              <a:buFont typeface="Times New Roman"/>
              <a:buChar char="●"/>
              <a:tabLst>
                <a:tab pos="329565" algn="l"/>
              </a:tabLst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difference,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that,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while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return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statement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terminates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entirely,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yield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statement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pauses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function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saving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all</a:t>
            </a: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its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states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later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continues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from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there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on 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successive</a:t>
            </a:r>
            <a:r>
              <a:rPr dirty="0" sz="1400" spc="18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calls.</a:t>
            </a:r>
            <a:endParaRPr sz="1400">
              <a:latin typeface="Lucida Sans Unicode"/>
              <a:cs typeface="Lucida Sans Unicode"/>
            </a:endParaRPr>
          </a:p>
          <a:p>
            <a:pPr marL="329565" indent="-316865">
              <a:lnSpc>
                <a:spcPct val="100000"/>
              </a:lnSpc>
              <a:spcBef>
                <a:spcPts val="819"/>
              </a:spcBef>
              <a:buFont typeface="Times New Roman"/>
              <a:buChar char="●"/>
              <a:tabLst>
                <a:tab pos="32956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Let’s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understand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more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details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with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help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program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2548127"/>
              <a:ext cx="7222490" cy="2326005"/>
            </a:xfrm>
            <a:custGeom>
              <a:avLst/>
              <a:gdLst/>
              <a:ahLst/>
              <a:cxnLst/>
              <a:rect l="l" t="t" r="r" b="b"/>
              <a:pathLst>
                <a:path w="7222490" h="2326004">
                  <a:moveTo>
                    <a:pt x="7222235" y="0"/>
                  </a:moveTo>
                  <a:lnTo>
                    <a:pt x="0" y="0"/>
                  </a:lnTo>
                  <a:lnTo>
                    <a:pt x="0" y="2325624"/>
                  </a:lnTo>
                  <a:lnTo>
                    <a:pt x="7222235" y="2325624"/>
                  </a:lnTo>
                  <a:lnTo>
                    <a:pt x="7222235" y="0"/>
                  </a:lnTo>
                  <a:close/>
                </a:path>
              </a:pathLst>
            </a:custGeom>
            <a:solidFill>
              <a:srgbClr val="00A0CC">
                <a:alpha val="84313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22023" y="126492"/>
              <a:ext cx="449579" cy="4571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00023" y="2589098"/>
            <a:ext cx="521208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4800" spc="-550">
                <a:solidFill>
                  <a:srgbClr val="FFFFFF"/>
                </a:solidFill>
                <a:latin typeface="Lucida Sans Unicode"/>
                <a:cs typeface="Lucida Sans Unicode"/>
              </a:rPr>
              <a:t>6.</a:t>
            </a:r>
            <a:r>
              <a:rPr dirty="0" sz="48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-20">
                <a:solidFill>
                  <a:srgbClr val="FFFFFF"/>
                </a:solidFill>
                <a:latin typeface="Lucida Sans Unicode"/>
                <a:cs typeface="Lucida Sans Unicode"/>
              </a:rPr>
              <a:t>Python</a:t>
            </a:r>
            <a:r>
              <a:rPr dirty="0" sz="4800" spc="-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-12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48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140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endParaRPr sz="48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00023" y="3174873"/>
            <a:ext cx="3956050" cy="1363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4800" spc="160">
                <a:solidFill>
                  <a:srgbClr val="FFFFFF"/>
                </a:solidFill>
                <a:latin typeface="Lucida Sans Unicode"/>
                <a:cs typeface="Lucida Sans Unicode"/>
              </a:rPr>
              <a:t>Science</a:t>
            </a:r>
            <a:endParaRPr sz="4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370"/>
              </a:spcBef>
            </a:pPr>
            <a:r>
              <a:rPr dirty="0" sz="2000" spc="-85">
                <a:solidFill>
                  <a:srgbClr val="FFFFFF"/>
                </a:solidFill>
                <a:latin typeface="Lucida Sans Unicode"/>
                <a:cs typeface="Lucida Sans Unicode"/>
              </a:rPr>
              <a:t>Let’s</a:t>
            </a:r>
            <a:r>
              <a:rPr dirty="0" sz="20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start</a:t>
            </a:r>
            <a:r>
              <a:rPr dirty="0" sz="20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20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0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95">
                <a:solidFill>
                  <a:srgbClr val="FFFFFF"/>
                </a:solidFill>
                <a:latin typeface="Lucida Sans Unicode"/>
                <a:cs typeface="Lucida Sans Unicode"/>
              </a:rPr>
              <a:t>sixth</a:t>
            </a:r>
            <a:r>
              <a:rPr dirty="0" sz="20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chapter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4215" y="2894076"/>
            <a:ext cx="518159" cy="51816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45643" y="319618"/>
            <a:ext cx="11682730" cy="63874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2800" spc="60">
                <a:latin typeface="Arial Black"/>
                <a:cs typeface="Arial Black"/>
              </a:rPr>
              <a:t>Why</a:t>
            </a:r>
            <a:r>
              <a:rPr dirty="0" sz="2800" spc="-325">
                <a:latin typeface="Arial Black"/>
                <a:cs typeface="Arial Black"/>
              </a:rPr>
              <a:t> </a:t>
            </a:r>
            <a:r>
              <a:rPr dirty="0" sz="2800" spc="-10">
                <a:latin typeface="Arial Black"/>
                <a:cs typeface="Arial Black"/>
              </a:rPr>
              <a:t>Spark?</a:t>
            </a: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2800">
              <a:latin typeface="Arial Black"/>
              <a:cs typeface="Arial Black"/>
            </a:endParaRPr>
          </a:p>
          <a:p>
            <a:pPr marL="391795">
              <a:lnSpc>
                <a:spcPct val="100000"/>
              </a:lnSpc>
            </a:pPr>
            <a:r>
              <a:rPr dirty="0" sz="1400">
                <a:latin typeface="Lucida Sans Unicode"/>
                <a:cs typeface="Lucida Sans Unicode"/>
              </a:rPr>
              <a:t>In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the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-20">
                <a:latin typeface="Lucida Sans Unicode"/>
                <a:cs typeface="Lucida Sans Unicode"/>
              </a:rPr>
              <a:t>industry,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there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is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 spc="170">
                <a:latin typeface="Lucida Sans Unicode"/>
                <a:cs typeface="Lucida Sans Unicode"/>
              </a:rPr>
              <a:t>a</a:t>
            </a:r>
            <a:r>
              <a:rPr dirty="0" sz="140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need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 spc="-30">
                <a:latin typeface="Lucida Sans Unicode"/>
                <a:cs typeface="Lucida Sans Unicode"/>
              </a:rPr>
              <a:t>for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170">
                <a:latin typeface="Lucida Sans Unicode"/>
                <a:cs typeface="Lucida Sans Unicode"/>
              </a:rPr>
              <a:t>a</a:t>
            </a:r>
            <a:r>
              <a:rPr dirty="0" sz="1400" spc="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general-purpose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cluster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45">
                <a:latin typeface="Lucida Sans Unicode"/>
                <a:cs typeface="Lucida Sans Unicode"/>
              </a:rPr>
              <a:t>computing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tool</a:t>
            </a:r>
            <a:r>
              <a:rPr dirty="0" sz="1400" spc="20">
                <a:latin typeface="Lucida Sans Unicode"/>
                <a:cs typeface="Lucida Sans Unicode"/>
              </a:rPr>
              <a:t> </a:t>
            </a:r>
            <a:r>
              <a:rPr dirty="0" sz="1400" spc="-25">
                <a:latin typeface="Lucida Sans Unicode"/>
                <a:cs typeface="Lucida Sans Unicode"/>
              </a:rPr>
              <a:t>as: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50">
                <a:latin typeface="Lucida Sans Unicode"/>
                <a:cs typeface="Lucida Sans Unicode"/>
              </a:rPr>
              <a:t>Hadoop</a:t>
            </a:r>
            <a:r>
              <a:rPr dirty="0" sz="1400" spc="-15">
                <a:latin typeface="Lucida Sans Unicode"/>
                <a:cs typeface="Lucida Sans Unicode"/>
              </a:rPr>
              <a:t> </a:t>
            </a:r>
            <a:r>
              <a:rPr dirty="0" sz="1400" spc="50">
                <a:latin typeface="Lucida Sans Unicode"/>
                <a:cs typeface="Lucida Sans Unicode"/>
              </a:rPr>
              <a:t>Map-</a:t>
            </a:r>
            <a:r>
              <a:rPr dirty="0" sz="1400" spc="55">
                <a:latin typeface="Lucida Sans Unicode"/>
                <a:cs typeface="Lucida Sans Unicode"/>
              </a:rPr>
              <a:t>Reduce</a:t>
            </a:r>
            <a:r>
              <a:rPr dirty="0" sz="1400" spc="-55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55">
                <a:latin typeface="Lucida Sans Unicode"/>
                <a:cs typeface="Lucida Sans Unicode"/>
              </a:rPr>
              <a:t> </a:t>
            </a:r>
            <a:r>
              <a:rPr dirty="0" sz="1400" spc="75">
                <a:latin typeface="Lucida Sans Unicode"/>
                <a:cs typeface="Lucida Sans Unicode"/>
              </a:rPr>
              <a:t>batch</a:t>
            </a:r>
            <a:r>
              <a:rPr dirty="0" sz="1400" spc="-25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processing.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Storm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S4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stream</a:t>
            </a:r>
            <a:r>
              <a:rPr dirty="0" sz="1400" spc="-5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processing.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5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Impala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75">
                <a:latin typeface="Lucida Sans Unicode"/>
                <a:cs typeface="Lucida Sans Unicode"/>
              </a:rPr>
              <a:t>Tez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 spc="105">
                <a:latin typeface="Lucida Sans Unicode"/>
                <a:cs typeface="Lucida Sans Unicode"/>
              </a:rPr>
              <a:t>can</a:t>
            </a:r>
            <a:r>
              <a:rPr dirty="0" sz="1400" spc="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1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interactive</a:t>
            </a:r>
            <a:r>
              <a:rPr dirty="0" sz="1400" spc="-20">
                <a:latin typeface="Lucida Sans Unicode"/>
                <a:cs typeface="Lucida Sans Unicode"/>
              </a:rPr>
              <a:t> </a:t>
            </a:r>
            <a:r>
              <a:rPr dirty="0" sz="1400" spc="-10">
                <a:latin typeface="Lucida Sans Unicode"/>
                <a:cs typeface="Lucida Sans Unicode"/>
              </a:rPr>
              <a:t>processing</a:t>
            </a:r>
            <a:endParaRPr sz="1400">
              <a:latin typeface="Lucida Sans Unicode"/>
              <a:cs typeface="Lucida Sans Unicode"/>
            </a:endParaRPr>
          </a:p>
          <a:p>
            <a:pPr marL="532130">
              <a:lnSpc>
                <a:spcPct val="100000"/>
              </a:lnSpc>
              <a:spcBef>
                <a:spcPts val="1680"/>
              </a:spcBef>
              <a:tabLst>
                <a:tab pos="848994" algn="l"/>
              </a:tabLst>
            </a:pPr>
            <a:r>
              <a:rPr dirty="0" sz="1400" spc="-50">
                <a:latin typeface="Segoe UI Symbol"/>
                <a:cs typeface="Segoe UI Symbol"/>
              </a:rPr>
              <a:t>➢</a:t>
            </a:r>
            <a:r>
              <a:rPr dirty="0" sz="1400">
                <a:latin typeface="Segoe UI Symbol"/>
                <a:cs typeface="Segoe UI Symbol"/>
              </a:rPr>
              <a:t>	</a:t>
            </a:r>
            <a:r>
              <a:rPr dirty="0" sz="1400">
                <a:latin typeface="Lucida Sans Unicode"/>
                <a:cs typeface="Lucida Sans Unicode"/>
              </a:rPr>
              <a:t>Neo4j</a:t>
            </a:r>
            <a:r>
              <a:rPr dirty="0" sz="1400" spc="-45">
                <a:latin typeface="Lucida Sans Unicode"/>
                <a:cs typeface="Lucida Sans Unicode"/>
              </a:rPr>
              <a:t> </a:t>
            </a:r>
            <a:r>
              <a:rPr dirty="0" sz="1400" spc="-80">
                <a:latin typeface="Lucida Sans Unicode"/>
                <a:cs typeface="Lucida Sans Unicode"/>
              </a:rPr>
              <a:t>/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 spc="70">
                <a:latin typeface="Lucida Sans Unicode"/>
                <a:cs typeface="Lucida Sans Unicode"/>
              </a:rPr>
              <a:t>Apache</a:t>
            </a:r>
            <a:r>
              <a:rPr dirty="0" sz="1400" spc="-35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Giraph</a:t>
            </a:r>
            <a:r>
              <a:rPr dirty="0" sz="1400" spc="-5">
                <a:latin typeface="Lucida Sans Unicode"/>
                <a:cs typeface="Lucida Sans Unicode"/>
              </a:rPr>
              <a:t> </a:t>
            </a:r>
            <a:r>
              <a:rPr dirty="0" sz="1400" spc="110">
                <a:latin typeface="Lucida Sans Unicode"/>
                <a:cs typeface="Lucida Sans Unicode"/>
              </a:rPr>
              <a:t>can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only</a:t>
            </a:r>
            <a:r>
              <a:rPr dirty="0" sz="1400" spc="-10">
                <a:latin typeface="Lucida Sans Unicode"/>
                <a:cs typeface="Lucida Sans Unicode"/>
              </a:rPr>
              <a:t> </a:t>
            </a:r>
            <a:r>
              <a:rPr dirty="0" sz="1400">
                <a:latin typeface="Lucida Sans Unicode"/>
                <a:cs typeface="Lucida Sans Unicode"/>
              </a:rPr>
              <a:t>perform</a:t>
            </a:r>
            <a:r>
              <a:rPr dirty="0" sz="1400" spc="-40">
                <a:latin typeface="Lucida Sans Unicode"/>
                <a:cs typeface="Lucida Sans Unicode"/>
              </a:rPr>
              <a:t> </a:t>
            </a:r>
            <a:r>
              <a:rPr dirty="0" sz="1400" spc="55">
                <a:latin typeface="Lucida Sans Unicode"/>
                <a:cs typeface="Lucida Sans Unicode"/>
              </a:rPr>
              <a:t>graph</a:t>
            </a:r>
            <a:r>
              <a:rPr dirty="0" sz="1400" spc="-10">
                <a:latin typeface="Lucida Sans Unicode"/>
                <a:cs typeface="Lucida Sans Unicode"/>
              </a:rPr>
              <a:t> processing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48260">
              <a:lnSpc>
                <a:spcPct val="100000"/>
              </a:lnSpc>
            </a:pPr>
            <a:r>
              <a:rPr dirty="0" sz="900" spc="-25">
                <a:solidFill>
                  <a:srgbClr val="FFFFFF"/>
                </a:solidFill>
                <a:latin typeface="Lucida Sans Unicode"/>
                <a:cs typeface="Lucida Sans Unicode"/>
              </a:rPr>
              <a:t>28</a:t>
            </a:r>
            <a:endParaRPr sz="900">
              <a:latin typeface="Lucida Sans Unicode"/>
              <a:cs typeface="Lucida Sans Unicode"/>
            </a:endParaRPr>
          </a:p>
          <a:p>
            <a:pPr algn="r">
              <a:lnSpc>
                <a:spcPct val="100000"/>
              </a:lnSpc>
              <a:spcBef>
                <a:spcPts val="430"/>
              </a:spcBef>
            </a:pPr>
            <a:r>
              <a:rPr dirty="0" sz="1400">
                <a:solidFill>
                  <a:srgbClr val="496E93"/>
                </a:solidFill>
                <a:latin typeface="Arial MT"/>
                <a:cs typeface="Arial MT"/>
              </a:rPr>
              <a:t>©</a:t>
            </a:r>
            <a:r>
              <a:rPr dirty="0" sz="1400" spc="-15">
                <a:solidFill>
                  <a:srgbClr val="496E93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96E93"/>
                </a:solidFill>
                <a:latin typeface="Arial MT"/>
                <a:cs typeface="Arial MT"/>
              </a:rPr>
              <a:t>zepanalytics.com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28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zepanalytics.com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947" y="864107"/>
            <a:ext cx="9133331" cy="53614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943" y="324688"/>
            <a:ext cx="13538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5"/>
              <a:t>NumPy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047" y="1444752"/>
            <a:ext cx="7789164" cy="46329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943" y="324688"/>
            <a:ext cx="13538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5"/>
              <a:t>NumPy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943" y="324688"/>
            <a:ext cx="13538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5"/>
              <a:t>NumPy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1317091"/>
            <a:ext cx="8400415" cy="213360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240665" indent="-189865">
              <a:lnSpc>
                <a:spcPct val="100000"/>
              </a:lnSpc>
              <a:spcBef>
                <a:spcPts val="925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It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used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for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computation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processing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single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multi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dimensional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array</a:t>
            </a: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elements.</a:t>
            </a:r>
            <a:endParaRPr sz="1400">
              <a:latin typeface="Lucida Sans Unicode"/>
              <a:cs typeface="Lucida Sans Unicode"/>
            </a:endParaRPr>
          </a:p>
          <a:p>
            <a:pPr marL="240665" indent="-189865">
              <a:lnSpc>
                <a:spcPts val="1595"/>
              </a:lnSpc>
              <a:spcBef>
                <a:spcPts val="830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Smaller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memory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consumption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better</a:t>
            </a: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runtime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behavior.</a:t>
            </a:r>
            <a:endParaRPr sz="1400">
              <a:latin typeface="Lucida Sans Unicode"/>
              <a:cs typeface="Lucida Sans Unicode"/>
            </a:endParaRPr>
          </a:p>
          <a:p>
            <a:pPr lvl="1" marL="469265" indent="-316865">
              <a:lnSpc>
                <a:spcPts val="1510"/>
              </a:lnSpc>
              <a:buClr>
                <a:srgbClr val="00B5DD"/>
              </a:buClr>
              <a:buFont typeface="Microsoft Sans Serif"/>
              <a:buChar char="●"/>
              <a:tabLst>
                <a:tab pos="469265" algn="l"/>
              </a:tabLst>
            </a:pP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install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module: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Arial Black"/>
                <a:cs typeface="Arial Black"/>
              </a:rPr>
              <a:t>pip</a:t>
            </a:r>
            <a:r>
              <a:rPr dirty="0" sz="1400" spc="-145">
                <a:solidFill>
                  <a:srgbClr val="393E50"/>
                </a:solidFill>
                <a:latin typeface="Arial Black"/>
                <a:cs typeface="Arial Black"/>
              </a:rPr>
              <a:t> </a:t>
            </a:r>
            <a:r>
              <a:rPr dirty="0" sz="1400" spc="-45">
                <a:solidFill>
                  <a:srgbClr val="393E50"/>
                </a:solidFill>
                <a:latin typeface="Arial Black"/>
                <a:cs typeface="Arial Black"/>
              </a:rPr>
              <a:t>install</a:t>
            </a:r>
            <a:r>
              <a:rPr dirty="0" sz="1400" spc="-185">
                <a:solidFill>
                  <a:srgbClr val="393E50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Arial Black"/>
                <a:cs typeface="Arial Black"/>
              </a:rPr>
              <a:t>numpy</a:t>
            </a:r>
            <a:endParaRPr sz="1400">
              <a:latin typeface="Arial Black"/>
              <a:cs typeface="Arial Black"/>
            </a:endParaRPr>
          </a:p>
          <a:p>
            <a:pPr lvl="1" marL="469265" indent="-316865">
              <a:lnSpc>
                <a:spcPts val="1510"/>
              </a:lnSpc>
              <a:buClr>
                <a:srgbClr val="00B5DD"/>
              </a:buClr>
              <a:buFont typeface="Times New Roman"/>
              <a:buChar char="●"/>
              <a:tabLst>
                <a:tab pos="469265" algn="l"/>
              </a:tabLst>
            </a:pP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use NumPy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85">
                <a:solidFill>
                  <a:srgbClr val="393E50"/>
                </a:solidFill>
                <a:latin typeface="Lucida Sans Unicode"/>
                <a:cs typeface="Lucida Sans Unicode"/>
              </a:rPr>
              <a:t>: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import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numpy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as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np</a:t>
            </a:r>
            <a:endParaRPr sz="1400">
              <a:latin typeface="Lucida Sans Unicode"/>
              <a:cs typeface="Lucida Sans Unicode"/>
            </a:endParaRPr>
          </a:p>
          <a:p>
            <a:pPr lvl="1" marL="469265" indent="-316865">
              <a:lnSpc>
                <a:spcPts val="1510"/>
              </a:lnSpc>
              <a:buClr>
                <a:srgbClr val="00B5DD"/>
              </a:buClr>
              <a:buFont typeface="Times New Roman"/>
              <a:buChar char="●"/>
              <a:tabLst>
                <a:tab pos="4692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values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75">
                <a:solidFill>
                  <a:srgbClr val="393E50"/>
                </a:solidFill>
                <a:latin typeface="Lucida Sans Unicode"/>
                <a:cs typeface="Lucida Sans Unicode"/>
              </a:rPr>
              <a:t>=</a:t>
            </a:r>
            <a:r>
              <a:rPr dirty="0" sz="1400" spc="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55">
                <a:solidFill>
                  <a:srgbClr val="393E50"/>
                </a:solidFill>
                <a:latin typeface="Lucida Sans Unicode"/>
                <a:cs typeface="Lucida Sans Unicode"/>
              </a:rPr>
              <a:t>[20.1,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14">
                <a:solidFill>
                  <a:srgbClr val="393E50"/>
                </a:solidFill>
                <a:latin typeface="Lucida Sans Unicode"/>
                <a:cs typeface="Lucida Sans Unicode"/>
              </a:rPr>
              <a:t>20.4,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20">
                <a:solidFill>
                  <a:srgbClr val="393E50"/>
                </a:solidFill>
                <a:latin typeface="Lucida Sans Unicode"/>
                <a:cs typeface="Lucida Sans Unicode"/>
              </a:rPr>
              <a:t>12.3,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14">
                <a:solidFill>
                  <a:srgbClr val="393E50"/>
                </a:solidFill>
                <a:latin typeface="Lucida Sans Unicode"/>
                <a:cs typeface="Lucida Sans Unicode"/>
              </a:rPr>
              <a:t>43.5,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95">
                <a:solidFill>
                  <a:srgbClr val="393E50"/>
                </a:solidFill>
                <a:latin typeface="Lucida Sans Unicode"/>
                <a:cs typeface="Lucida Sans Unicode"/>
              </a:rPr>
              <a:t>54.4,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23.5]</a:t>
            </a:r>
            <a:endParaRPr sz="1400">
              <a:latin typeface="Lucida Sans Unicode"/>
              <a:cs typeface="Lucida Sans Unicode"/>
            </a:endParaRPr>
          </a:p>
          <a:p>
            <a:pPr lvl="1" marL="469265" indent="-316865">
              <a:lnSpc>
                <a:spcPts val="1515"/>
              </a:lnSpc>
              <a:buClr>
                <a:srgbClr val="00B5DD"/>
              </a:buClr>
              <a:buFont typeface="Times New Roman"/>
              <a:buChar char="●"/>
              <a:tabLst>
                <a:tab pos="4692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Convert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75">
                <a:solidFill>
                  <a:srgbClr val="393E50"/>
                </a:solidFill>
                <a:latin typeface="Lucida Sans Unicode"/>
                <a:cs typeface="Lucida Sans Unicode"/>
              </a:rPr>
              <a:t>=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np.array(values)</a:t>
            </a:r>
            <a:endParaRPr sz="1400">
              <a:latin typeface="Lucida Sans Unicode"/>
              <a:cs typeface="Lucida Sans Unicode"/>
            </a:endParaRPr>
          </a:p>
          <a:p>
            <a:pPr lvl="1" marL="469265" indent="-316865">
              <a:lnSpc>
                <a:spcPts val="1515"/>
              </a:lnSpc>
              <a:buClr>
                <a:srgbClr val="00B5DD"/>
              </a:buClr>
              <a:buFont typeface="Times New Roman"/>
              <a:buChar char="●"/>
              <a:tabLst>
                <a:tab pos="469265" algn="l"/>
              </a:tabLst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print(Convert)</a:t>
            </a:r>
            <a:endParaRPr sz="1400">
              <a:latin typeface="Lucida Sans Unicode"/>
              <a:cs typeface="Lucida Sans Unicode"/>
            </a:endParaRPr>
          </a:p>
          <a:p>
            <a:pPr lvl="1" marL="469265" indent="-316865">
              <a:lnSpc>
                <a:spcPts val="1595"/>
              </a:lnSpc>
              <a:buClr>
                <a:srgbClr val="00B5DD"/>
              </a:buClr>
              <a:buFont typeface="Times New Roman"/>
              <a:buChar char="●"/>
              <a:tabLst>
                <a:tab pos="469265" algn="l"/>
              </a:tabLst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print(Convert+20)</a:t>
            </a: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Let’s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see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more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examples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on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this.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943" y="324688"/>
            <a:ext cx="140652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0"/>
              <a:t>Pandas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1354799"/>
            <a:ext cx="8692515" cy="175513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50"/>
              </a:spcBef>
            </a:pP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Pandas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fast,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powerful,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flexible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0">
                <a:solidFill>
                  <a:srgbClr val="393E50"/>
                </a:solidFill>
                <a:latin typeface="Lucida Sans Unicode"/>
                <a:cs typeface="Lucida Sans Unicode"/>
              </a:rPr>
              <a:t>easy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to use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open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source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5">
                <a:solidFill>
                  <a:srgbClr val="393E50"/>
                </a:solidFill>
                <a:latin typeface="Lucida Sans Unicode"/>
                <a:cs typeface="Lucida Sans Unicode"/>
              </a:rPr>
              <a:t>data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analysis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manipulation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tool. </a:t>
            </a: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install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pandas: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393E50"/>
                </a:solidFill>
                <a:latin typeface="Arial Black"/>
                <a:cs typeface="Arial Black"/>
              </a:rPr>
              <a:t>pip</a:t>
            </a:r>
            <a:r>
              <a:rPr dirty="0" sz="1500" spc="-150">
                <a:solidFill>
                  <a:srgbClr val="393E50"/>
                </a:solidFill>
                <a:latin typeface="Arial Black"/>
                <a:cs typeface="Arial Black"/>
              </a:rPr>
              <a:t> </a:t>
            </a:r>
            <a:r>
              <a:rPr dirty="0" sz="1500" spc="-50">
                <a:solidFill>
                  <a:srgbClr val="393E50"/>
                </a:solidFill>
                <a:latin typeface="Arial Black"/>
                <a:cs typeface="Arial Black"/>
              </a:rPr>
              <a:t>install</a:t>
            </a:r>
            <a:r>
              <a:rPr dirty="0" sz="1500" spc="-145">
                <a:solidFill>
                  <a:srgbClr val="393E50"/>
                </a:solidFill>
                <a:latin typeface="Arial Black"/>
                <a:cs typeface="Arial Black"/>
              </a:rPr>
              <a:t> </a:t>
            </a:r>
            <a:r>
              <a:rPr dirty="0" sz="1500" spc="-10">
                <a:solidFill>
                  <a:srgbClr val="393E50"/>
                </a:solidFill>
                <a:latin typeface="Arial Black"/>
                <a:cs typeface="Arial Black"/>
              </a:rPr>
              <a:t>pandas</a:t>
            </a:r>
            <a:endParaRPr sz="1500">
              <a:latin typeface="Arial Black"/>
              <a:cs typeface="Arial Black"/>
            </a:endParaRPr>
          </a:p>
          <a:p>
            <a:pPr marL="469265" indent="-316865">
              <a:lnSpc>
                <a:spcPts val="1595"/>
              </a:lnSpc>
              <a:spcBef>
                <a:spcPts val="835"/>
              </a:spcBef>
              <a:buClr>
                <a:srgbClr val="00B5DD"/>
              </a:buClr>
              <a:buFont typeface="Cambria Math"/>
              <a:buChar char="◗"/>
              <a:tabLst>
                <a:tab pos="4692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Used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handle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5">
                <a:solidFill>
                  <a:srgbClr val="393E50"/>
                </a:solidFill>
                <a:latin typeface="Lucida Sans Unicode"/>
                <a:cs typeface="Lucida Sans Unicode"/>
              </a:rPr>
              <a:t>data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for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single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multi-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dimensional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5">
                <a:solidFill>
                  <a:srgbClr val="393E50"/>
                </a:solidFill>
                <a:latin typeface="Lucida Sans Unicode"/>
                <a:cs typeface="Lucida Sans Unicode"/>
              </a:rPr>
              <a:t>data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structure.</a:t>
            </a:r>
            <a:endParaRPr sz="1400">
              <a:latin typeface="Lucida Sans Unicode"/>
              <a:cs typeface="Lucida Sans Unicode"/>
            </a:endParaRPr>
          </a:p>
          <a:p>
            <a:pPr marL="469265" indent="-316865">
              <a:lnSpc>
                <a:spcPts val="1510"/>
              </a:lnSpc>
              <a:buClr>
                <a:srgbClr val="00B5DD"/>
              </a:buClr>
              <a:buFont typeface="Cambria Math"/>
              <a:buChar char="◗"/>
              <a:tabLst>
                <a:tab pos="469265" algn="l"/>
              </a:tabLst>
            </a:pP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Creates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powerful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5">
                <a:solidFill>
                  <a:srgbClr val="393E50"/>
                </a:solidFill>
                <a:latin typeface="Lucida Sans Unicode"/>
                <a:cs typeface="Lucida Sans Unicode"/>
              </a:rPr>
              <a:t>data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frame.</a:t>
            </a:r>
            <a:endParaRPr sz="1400">
              <a:latin typeface="Lucida Sans Unicode"/>
              <a:cs typeface="Lucida Sans Unicode"/>
            </a:endParaRPr>
          </a:p>
          <a:p>
            <a:pPr marL="469900" marR="144780" indent="-317500">
              <a:lnSpc>
                <a:spcPts val="1510"/>
              </a:lnSpc>
              <a:spcBef>
                <a:spcPts val="110"/>
              </a:spcBef>
              <a:buClr>
                <a:srgbClr val="00B5DD"/>
              </a:buClr>
              <a:buFont typeface="Cambria Math"/>
              <a:buChar char="◗"/>
              <a:tabLst>
                <a:tab pos="469900" algn="l"/>
              </a:tabLst>
            </a:pP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Data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frame</a:t>
            </a:r>
            <a:r>
              <a:rPr dirty="0" sz="1400" spc="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two-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dimensional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array</a:t>
            </a: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used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store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5">
                <a:solidFill>
                  <a:srgbClr val="393E50"/>
                </a:solidFill>
                <a:latin typeface="Lucida Sans Unicode"/>
                <a:cs typeface="Lucida Sans Unicode"/>
              </a:rPr>
              <a:t>data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whereas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Series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one-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dimensional array.</a:t>
            </a:r>
            <a:endParaRPr sz="1400">
              <a:latin typeface="Lucida Sans Unicode"/>
              <a:cs typeface="Lucida Sans Unicode"/>
            </a:endParaRPr>
          </a:p>
          <a:p>
            <a:pPr marL="469265" indent="-316865">
              <a:lnSpc>
                <a:spcPts val="1490"/>
              </a:lnSpc>
              <a:buClr>
                <a:srgbClr val="00B5DD"/>
              </a:buClr>
              <a:buFont typeface="Cambria Math"/>
              <a:buChar char="◗"/>
              <a:tabLst>
                <a:tab pos="46926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Let’s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see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more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practical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use of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Pandas.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943" y="324688"/>
            <a:ext cx="140652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0"/>
              <a:t>Pandas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1473656"/>
            <a:ext cx="5897245" cy="66230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Combining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95">
                <a:solidFill>
                  <a:srgbClr val="393E50"/>
                </a:solidFill>
                <a:latin typeface="Lucida Sans Unicode"/>
                <a:cs typeface="Lucida Sans Unicode"/>
              </a:rPr>
              <a:t>data</a:t>
            </a: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frames</a:t>
            </a:r>
            <a:endParaRPr sz="1400">
              <a:latin typeface="Lucida Sans Unicode"/>
              <a:cs typeface="Lucida Sans Unicode"/>
            </a:endParaRPr>
          </a:p>
          <a:p>
            <a:pPr marL="469265" indent="-316865">
              <a:lnSpc>
                <a:spcPct val="100000"/>
              </a:lnSpc>
              <a:spcBef>
                <a:spcPts val="830"/>
              </a:spcBef>
              <a:buClr>
                <a:srgbClr val="00B5DD"/>
              </a:buClr>
              <a:buFont typeface="Cambria Math"/>
              <a:buChar char="◗"/>
              <a:tabLst>
                <a:tab pos="4692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Merge:merge(left_df,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right_df,</a:t>
            </a:r>
            <a:r>
              <a:rPr dirty="0" sz="1400" spc="8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on=’Customer_id’,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how=’inner’)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4708" y="4345508"/>
            <a:ext cx="2725420" cy="85471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919"/>
              </a:spcBef>
              <a:buClr>
                <a:srgbClr val="00B5DD"/>
              </a:buClr>
              <a:buFont typeface="Cambria Math"/>
              <a:buChar char="◗"/>
              <a:tabLst>
                <a:tab pos="329565" algn="l"/>
              </a:tabLst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Concat:</a:t>
            </a:r>
            <a:endParaRPr sz="1400">
              <a:latin typeface="Lucida Sans Unicode"/>
              <a:cs typeface="Lucida Sans Unicode"/>
            </a:endParaRPr>
          </a:p>
          <a:p>
            <a:pPr marL="329565">
              <a:lnSpc>
                <a:spcPts val="1595"/>
              </a:lnSpc>
              <a:spcBef>
                <a:spcPts val="830"/>
              </a:spcBef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frames</a:t>
            </a:r>
            <a:r>
              <a:rPr dirty="0" sz="1400" spc="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75">
                <a:solidFill>
                  <a:srgbClr val="393E50"/>
                </a:solidFill>
                <a:latin typeface="Lucida Sans Unicode"/>
                <a:cs typeface="Lucida Sans Unicode"/>
              </a:rPr>
              <a:t>=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35">
                <a:solidFill>
                  <a:srgbClr val="393E50"/>
                </a:solidFill>
                <a:latin typeface="Lucida Sans Unicode"/>
                <a:cs typeface="Lucida Sans Unicode"/>
              </a:rPr>
              <a:t>[df1,</a:t>
            </a:r>
            <a:r>
              <a:rPr dirty="0" sz="1400" spc="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df2]</a:t>
            </a:r>
            <a:endParaRPr sz="1400">
              <a:latin typeface="Lucida Sans Unicode"/>
              <a:cs typeface="Lucida Sans Unicode"/>
            </a:endParaRPr>
          </a:p>
          <a:p>
            <a:pPr marL="329565">
              <a:lnSpc>
                <a:spcPts val="1595"/>
              </a:lnSpc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result</a:t>
            </a: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75">
                <a:solidFill>
                  <a:srgbClr val="393E50"/>
                </a:solidFill>
                <a:latin typeface="Lucida Sans Unicode"/>
                <a:cs typeface="Lucida Sans Unicode"/>
              </a:rPr>
              <a:t>=</a:t>
            </a: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45">
                <a:solidFill>
                  <a:srgbClr val="393E50"/>
                </a:solidFill>
                <a:latin typeface="Lucida Sans Unicode"/>
                <a:cs typeface="Lucida Sans Unicode"/>
              </a:rPr>
              <a:t>pd.concat(frames)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8424" y="2370731"/>
            <a:ext cx="4328565" cy="1216023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Matplotlib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1464967"/>
            <a:ext cx="5652770" cy="226441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240665" indent="-189865">
              <a:lnSpc>
                <a:spcPct val="100000"/>
              </a:lnSpc>
              <a:spcBef>
                <a:spcPts val="860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Graphical</a:t>
            </a:r>
            <a:r>
              <a:rPr dirty="0" sz="1400" spc="9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Representation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6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">
                <a:solidFill>
                  <a:srgbClr val="393E50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values</a:t>
            </a:r>
            <a:endParaRPr sz="1400">
              <a:latin typeface="Lucida Sans Unicode"/>
              <a:cs typeface="Lucida Sans Unicode"/>
            </a:endParaRPr>
          </a:p>
          <a:p>
            <a:pPr marL="241300" indent="-190500">
              <a:lnSpc>
                <a:spcPct val="100000"/>
              </a:lnSpc>
              <a:spcBef>
                <a:spcPts val="810"/>
              </a:spcBef>
              <a:buFont typeface="Microsoft Sans Serif"/>
              <a:buChar char="●"/>
              <a:tabLst>
                <a:tab pos="241300" algn="l"/>
              </a:tabLst>
            </a:pP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install:</a:t>
            </a:r>
            <a:r>
              <a:rPr dirty="0" sz="1400" spc="-4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393E50"/>
                </a:solidFill>
                <a:latin typeface="Arial Black"/>
                <a:cs typeface="Arial Black"/>
              </a:rPr>
              <a:t>pip</a:t>
            </a:r>
            <a:r>
              <a:rPr dirty="0" sz="1500" spc="-180">
                <a:solidFill>
                  <a:srgbClr val="393E50"/>
                </a:solidFill>
                <a:latin typeface="Arial Black"/>
                <a:cs typeface="Arial Black"/>
              </a:rPr>
              <a:t> </a:t>
            </a:r>
            <a:r>
              <a:rPr dirty="0" sz="1500" spc="-50">
                <a:solidFill>
                  <a:srgbClr val="393E50"/>
                </a:solidFill>
                <a:latin typeface="Arial Black"/>
                <a:cs typeface="Arial Black"/>
              </a:rPr>
              <a:t>install</a:t>
            </a:r>
            <a:r>
              <a:rPr dirty="0" sz="1500" spc="-195">
                <a:solidFill>
                  <a:srgbClr val="393E50"/>
                </a:solidFill>
                <a:latin typeface="Arial Black"/>
                <a:cs typeface="Arial Black"/>
              </a:rPr>
              <a:t> </a:t>
            </a:r>
            <a:r>
              <a:rPr dirty="0" sz="1500" spc="-10">
                <a:solidFill>
                  <a:srgbClr val="393E50"/>
                </a:solidFill>
                <a:latin typeface="Arial Black"/>
                <a:cs typeface="Arial Black"/>
              </a:rPr>
              <a:t>matplotlib</a:t>
            </a:r>
            <a:endParaRPr sz="1500">
              <a:latin typeface="Arial Black"/>
              <a:cs typeface="Arial Black"/>
            </a:endParaRPr>
          </a:p>
          <a:p>
            <a:pPr marL="240665" indent="-189865">
              <a:lnSpc>
                <a:spcPct val="100000"/>
              </a:lnSpc>
              <a:spcBef>
                <a:spcPts val="835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use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in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program: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import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matplotlib</a:t>
            </a:r>
            <a:endParaRPr sz="1400">
              <a:latin typeface="Lucida Sans Unicode"/>
              <a:cs typeface="Lucida Sans Unicode"/>
            </a:endParaRPr>
          </a:p>
          <a:p>
            <a:pPr marL="12700" marR="5080" indent="227965">
              <a:lnSpc>
                <a:spcPct val="149300"/>
              </a:lnSpc>
              <a:spcBef>
                <a:spcPts val="10"/>
              </a:spcBef>
              <a:buFont typeface="Times New Roman"/>
              <a:buChar char="●"/>
              <a:tabLst>
                <a:tab pos="240665" algn="l"/>
              </a:tabLst>
            </a:pPr>
            <a:r>
              <a:rPr dirty="0" sz="1400" spc="-60">
                <a:solidFill>
                  <a:srgbClr val="393E50"/>
                </a:solidFill>
                <a:latin typeface="Lucida Sans Unicode"/>
                <a:cs typeface="Lucida Sans Unicode"/>
              </a:rPr>
              <a:t>Let’s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393E50"/>
                </a:solidFill>
                <a:latin typeface="Lucida Sans Unicode"/>
                <a:cs typeface="Lucida Sans Unicode"/>
              </a:rPr>
              <a:t>say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70">
                <a:solidFill>
                  <a:srgbClr val="393E50"/>
                </a:solidFill>
                <a:latin typeface="Lucida Sans Unicode"/>
                <a:cs typeface="Lucida Sans Unicode"/>
              </a:rPr>
              <a:t>if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we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have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populate</a:t>
            </a:r>
            <a:r>
              <a:rPr dirty="0" sz="1400" spc="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our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previous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5">
                <a:solidFill>
                  <a:srgbClr val="393E50"/>
                </a:solidFill>
                <a:latin typeface="Lucida Sans Unicode"/>
                <a:cs typeface="Lucida Sans Unicode"/>
              </a:rPr>
              <a:t>lists,</a:t>
            </a:r>
            <a:r>
              <a:rPr dirty="0" sz="1400" spc="-5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75">
                <a:solidFill>
                  <a:srgbClr val="393E50"/>
                </a:solidFill>
                <a:latin typeface="Lucida Sans Unicode"/>
                <a:cs typeface="Lucida Sans Unicode"/>
              </a:rPr>
              <a:t>we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05">
                <a:solidFill>
                  <a:srgbClr val="393E50"/>
                </a:solidFill>
                <a:latin typeface="Lucida Sans Unicode"/>
                <a:cs typeface="Lucida Sans Unicode"/>
              </a:rPr>
              <a:t>can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use: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Import</a:t>
            </a:r>
            <a:r>
              <a:rPr dirty="0" sz="1400" spc="-3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matplotlib.pyplot</a:t>
            </a:r>
            <a:r>
              <a:rPr dirty="0" sz="1400" spc="-5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0">
                <a:solidFill>
                  <a:srgbClr val="393E50"/>
                </a:solidFill>
                <a:latin typeface="Lucida Sans Unicode"/>
                <a:cs typeface="Lucida Sans Unicode"/>
              </a:rPr>
              <a:t>as</a:t>
            </a:r>
            <a:r>
              <a:rPr dirty="0" sz="1400" spc="-3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393E50"/>
                </a:solidFill>
                <a:latin typeface="Lucida Sans Unicode"/>
                <a:cs typeface="Lucida Sans Unicode"/>
              </a:rPr>
              <a:t>plt</a:t>
            </a:r>
            <a:endParaRPr sz="1400">
              <a:latin typeface="Lucida Sans Unicode"/>
              <a:cs typeface="Lucida Sans Unicode"/>
            </a:endParaRPr>
          </a:p>
          <a:p>
            <a:pPr marL="12700" marR="4204335">
              <a:lnSpc>
                <a:spcPts val="2520"/>
              </a:lnSpc>
              <a:spcBef>
                <a:spcPts val="95"/>
              </a:spcBef>
            </a:pP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Plt.plot(Convert) Plt.show()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Matplotlib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85978" y="1245463"/>
            <a:ext cx="3618865" cy="66294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400" spc="-75">
                <a:solidFill>
                  <a:srgbClr val="393E50"/>
                </a:solidFill>
                <a:latin typeface="Arial Black"/>
                <a:cs typeface="Arial Black"/>
              </a:rPr>
              <a:t>Bar</a:t>
            </a:r>
            <a:r>
              <a:rPr dirty="0" sz="1400" spc="-145">
                <a:solidFill>
                  <a:srgbClr val="393E50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Arial Black"/>
                <a:cs typeface="Arial Black"/>
              </a:rPr>
              <a:t>Graph</a:t>
            </a:r>
            <a:endParaRPr sz="1400">
              <a:latin typeface="Arial Black"/>
              <a:cs typeface="Arial Black"/>
            </a:endParaRPr>
          </a:p>
          <a:p>
            <a:pPr marL="469265" indent="-316865">
              <a:lnSpc>
                <a:spcPct val="100000"/>
              </a:lnSpc>
              <a:spcBef>
                <a:spcPts val="830"/>
              </a:spcBef>
              <a:buClr>
                <a:srgbClr val="00B5DD"/>
              </a:buClr>
              <a:buFont typeface="Cambria Math"/>
              <a:buChar char="◗"/>
              <a:tabLst>
                <a:tab pos="469265" algn="l"/>
              </a:tabLst>
            </a:pP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Helps</a:t>
            </a:r>
            <a:r>
              <a:rPr dirty="0" sz="1400" spc="-20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visualize</a:t>
            </a:r>
            <a:r>
              <a:rPr dirty="0" sz="1400" spc="-4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70">
                <a:solidFill>
                  <a:srgbClr val="393E50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393E50"/>
                </a:solidFill>
                <a:latin typeface="Lucida Sans Unicode"/>
                <a:cs typeface="Lucida Sans Unicode"/>
              </a:rPr>
              <a:t>numeric</a:t>
            </a:r>
            <a:r>
              <a:rPr dirty="0" sz="1400" spc="-15">
                <a:solidFill>
                  <a:srgbClr val="393E50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393E50"/>
                </a:solidFill>
                <a:latin typeface="Lucida Sans Unicode"/>
                <a:cs typeface="Lucida Sans Unicode"/>
              </a:rPr>
              <a:t>feature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916" y="2241804"/>
            <a:ext cx="5896356" cy="3139440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447" y="2688336"/>
            <a:ext cx="2927604" cy="3139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Matplotlib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85978" y="1350009"/>
            <a:ext cx="10807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75">
                <a:solidFill>
                  <a:srgbClr val="393E50"/>
                </a:solidFill>
                <a:latin typeface="Arial Black"/>
                <a:cs typeface="Arial Black"/>
              </a:rPr>
              <a:t>Scatter</a:t>
            </a:r>
            <a:r>
              <a:rPr dirty="0" sz="1400" spc="-160">
                <a:solidFill>
                  <a:srgbClr val="393E50"/>
                </a:solidFill>
                <a:latin typeface="Arial Black"/>
                <a:cs typeface="Arial Black"/>
              </a:rPr>
              <a:t> </a:t>
            </a:r>
            <a:r>
              <a:rPr dirty="0" sz="1400" spc="-45">
                <a:solidFill>
                  <a:srgbClr val="393E50"/>
                </a:solidFill>
                <a:latin typeface="Arial Black"/>
                <a:cs typeface="Arial Black"/>
              </a:rPr>
              <a:t>Plot</a:t>
            </a:r>
            <a:endParaRPr sz="1400">
              <a:latin typeface="Arial Black"/>
              <a:cs typeface="Arial Black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526" y="2569927"/>
            <a:ext cx="4713444" cy="2735616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84631" y="126492"/>
            <a:ext cx="11587480" cy="6125845"/>
            <a:chOff x="484631" y="126492"/>
            <a:chExt cx="11587480" cy="612584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448" y="2688336"/>
              <a:ext cx="2927604" cy="313944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631" y="1943099"/>
              <a:ext cx="6359652" cy="354025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Matplotlib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843178" y="1350009"/>
            <a:ext cx="10007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30">
                <a:solidFill>
                  <a:srgbClr val="393E50"/>
                </a:solidFill>
                <a:latin typeface="Arial Black"/>
                <a:cs typeface="Arial Black"/>
              </a:rPr>
              <a:t>Histogram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57200" y="126492"/>
            <a:ext cx="11614785" cy="6125845"/>
            <a:chOff x="457200" y="126492"/>
            <a:chExt cx="11614785" cy="612584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8447" y="2688336"/>
              <a:ext cx="2927604" cy="313944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830324"/>
              <a:ext cx="6051804" cy="40706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Matplotlib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843178" y="1350009"/>
            <a:ext cx="7499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20">
                <a:solidFill>
                  <a:srgbClr val="393E50"/>
                </a:solidFill>
                <a:latin typeface="Arial Black"/>
                <a:cs typeface="Arial Black"/>
              </a:rPr>
              <a:t>Box</a:t>
            </a:r>
            <a:r>
              <a:rPr dirty="0" sz="1400" spc="-160">
                <a:solidFill>
                  <a:srgbClr val="393E50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393E50"/>
                </a:solidFill>
                <a:latin typeface="Arial Black"/>
                <a:cs typeface="Arial Black"/>
              </a:rPr>
              <a:t>Plot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2615" y="606199"/>
            <a:ext cx="5618988" cy="5645601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0"/>
            <a:ext cx="4648200" cy="6858000"/>
          </a:xfrm>
          <a:custGeom>
            <a:avLst/>
            <a:gdLst/>
            <a:ahLst/>
            <a:cxnLst/>
            <a:rect l="l" t="t" r="r" b="b"/>
            <a:pathLst>
              <a:path w="4648200" h="6858000">
                <a:moveTo>
                  <a:pt x="4648200" y="0"/>
                </a:moveTo>
                <a:lnTo>
                  <a:pt x="0" y="0"/>
                </a:lnTo>
                <a:lnTo>
                  <a:pt x="0" y="6858000"/>
                </a:lnTo>
                <a:lnTo>
                  <a:pt x="4648200" y="6858000"/>
                </a:lnTo>
                <a:lnTo>
                  <a:pt x="4648200" y="0"/>
                </a:lnTo>
                <a:close/>
              </a:path>
            </a:pathLst>
          </a:custGeom>
          <a:solidFill>
            <a:srgbClr val="F3F7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6953" y="2833827"/>
            <a:ext cx="304038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55"/>
              <a:t>Thank</a:t>
            </a:r>
            <a:r>
              <a:rPr dirty="0" sz="4400" spc="-495"/>
              <a:t> </a:t>
            </a:r>
            <a:r>
              <a:rPr dirty="0" sz="4400" spc="-25"/>
              <a:t>you</a:t>
            </a:r>
            <a:endParaRPr sz="4400"/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22023" y="126492"/>
            <a:ext cx="449579" cy="4571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727" y="6403847"/>
            <a:ext cx="249936" cy="248411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354787" y="6280886"/>
            <a:ext cx="342265" cy="33782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0"/>
              </a:spcBef>
            </a:pPr>
            <a:endParaRPr sz="9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</a:pPr>
            <a:r>
              <a:rPr dirty="0" sz="900" spc="-25">
                <a:solidFill>
                  <a:srgbClr val="FFFFFF"/>
                </a:solidFill>
                <a:latin typeface="Lucida Sans Unicode"/>
                <a:cs typeface="Lucida Sans Unicode"/>
              </a:rPr>
              <a:t>39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©</a:t>
            </a:r>
            <a:r>
              <a:rPr dirty="0" spc="-15"/>
              <a:t> </a:t>
            </a:r>
            <a:r>
              <a:rPr dirty="0" spc="-10"/>
              <a:t>zepanalytics.com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FEEE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Satyajit</dc:creator>
  <dcterms:created xsi:type="dcterms:W3CDTF">2025-10-02T19:49:06Z</dcterms:created>
  <dcterms:modified xsi:type="dcterms:W3CDTF">2025-10-02T19:49:06Z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2023-03-08T00:00:00Z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2025-10-02T00:00:00Z</vt:filetime>
  </property>
  <property fmtid="{D5CDD505-2E9C-101B-9397-08002B2CF9AE}" pid="5" name="Producer">
    <vt:lpwstr>Microsoft® PowerPoint® 2013</vt:lpwstr>
  </property>
</Properties>
</file>